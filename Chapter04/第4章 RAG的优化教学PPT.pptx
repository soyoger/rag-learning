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9.svg" ContentType="image/svg+xml"/>
  <Override PartName="/ppt/media/image151.svg" ContentType="image/svg+xml"/>
  <Override PartName="/ppt/media/image153.svg" ContentType="image/svg+xml"/>
  <Override PartName="/ppt/media/image155.svg" ContentType="image/svg+xml"/>
  <Override PartName="/ppt/media/image157.svg" ContentType="image/svg+xml"/>
  <Override PartName="/ppt/media/image159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9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课程。今天我们将深入探讨第四章的内容——RAG的优化。在第三章中，我们了解了RAG的基本流程和架构，而本章将聚焦于项目实际落地过程中的具体优化策略，旨在全面提升RAG系统的整体性能。我们将从源数据处理、向量数据库、检索质量、提示词工程以及LLM模型这几个关键方面展开详细的讲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本次课程的整体框架。我们将首先从最基础的数据层开始，探讨源数据的清洗与整合策略。接着，深入到向量数据库的优化，这是连接检索与生成的核心。然后，我们会重点讲解如何提升检索质量，这直接决定了生成内容的相关性。之后，我们会学习提示词工程的优化技巧，以更好地引导大语言模型。最后，我们将探讨LLM模型本身的优化方法。希望通过这个完整的体系，能帮助大家构建出更高效、更精准的RAG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章节：源数据清洗与整合。常言道，“垃圾进，垃圾出”，数据质量是整个RAG系统性能的基石。同时，在实际应用中，我们往往需要处理来自不同渠道、不同格式的数据，因此多数据源和多模态数据的整合能力也至关重要。本章节将详细介绍相关的优化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源数据清洗。数据清洗的核心就是“去伪存真”。我们需要主动识别并处理数据中的各种问题，比如缺失值、重复项、格式错误等。只有保证了输入数据的高质量，后续的检索和生成环节才能建立在坚实的基础之上，最终输出的结果才值得信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缺失值是数据中最常见的问题之一。处理缺失值有多种策略。简单直接的方法是删除，但要注意不能因此丢失关键信息。更常用的是填充，比如用平均值或中位数来填补数值型数据的空缺。对于一些特殊情况，我们也可以选择标记或直接忽略。选择哪种方法，需要根据数据的具体情况和业务需求来决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重复数据会增加存储负担，降低检索效率，还可能导致生成结果的冗余。去除重复数据是数据清洗的重要环节。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精确匹配去重适用于内容完全相同的情况，比如复制粘贴的文本，我们可以用哈希值快速识别。而对于语义相似但表述不同的文本，则需要用到相似匹配或聚类的方法。这里展示的代码就是一个简单的精确去重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缺失和重复，数据中还可能存在各种错误。我们需要主动识别这些错误数据。可以通过预设规则进行简单验证，也可以利用更复杂的算法进行异常检测。现在，借助大语言模型的能力，我们还可以进行上下文一致性检测，发现那些逻辑上自相矛盾的内容。当然，人工检查作为最终的把关环节，也是必不可少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格式的标准化是确保多源数据能够有效整合和处理的关键。想象一下，如果你的数据有的是JSON格式，有的是CSV，编码有的是UTF-8，有的是GBK，那后续的处理将变得异常困难。因此，我们需要统一数据结构、编码格式、数据类型，甚至对命名实体进行标准化处理，为后续的流程扫清障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应用中，我们很少只处理单一来源的数据。多数据源整合的目标是将不同来源的信息高效聚合，以生成更全面和准确的回答。我们需要对不同来源的数据进行分类和加权，确保重要的信息被优先考虑。同时，必须处理好数据的重复和一致性问题。更高级的做法是能够根据用户的查询意图，动态地调整不同数据源的优先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随着技术的发展，RAG系统不再局限于文本数据，图像、音频、视频等多模态数据的融合成为趋势。要实现这一点，我们需要设计专门的多模态编码器，将不同类型的数据映射到统一的向量空间。然后，我们可以进行跨模态的检索和信息融合，并根据查询的类型动态调整不同模态信息的权重，最终生成包含多模态信息的丰富回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章：向量数据库优化。在RAG框架中，向量数据库是连接检索和生成的关键组件。它的性能直接影响着系统的响应速度和生成结果的准确性。本章我们将从存储格式、量化压缩、检索算法以及工程实践这四个方面，探讨如何对向量数据库进行全面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存储格式的选择对向量数据库的性能影响很大。传统的行式存储在处理高维向量时效率低下。我们推荐使用Parquet这样的列式存储格式，它不仅节省空间，还能加速数据的读取。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当然，更专业的做法是使用像Faiss或Milvus这样的专用向量数据库，它们针对向量检索做了深度优化。对于超大规模的数据，分布式存储则是必然选择。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右侧的代码展示了如何使用Pandas将向量数据高效存储为Parquet格式，这是一个在实际工程中非常实用的技巧。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量化压缩是提升向量检索效率的关键技术。它的核心思想是“用精度换空间和速度”。通过将高精度的浮点向量转换为低精度的整数表示，我们可以极大地减少存储空间和计算量，同时通过巧妙的算法设计，尽量保证向量间的相似度信息不丢失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产品量化（PQ）就是其中一种非常有效的方法。这里的代码演示了如何使用FAISS库来构建一个量化索引。我们首先生成了随机数据，然后创建了一个IVFPQ索引，它结合了倒排索引和产品量化技术，能够在保证一定精度的前提下，实现极高的检索速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高效的存储和压缩，我们还需要优化检索算法本身。最常用的方法之一是基于聚类的IVF索引，它将向量空间划分为多个簇，查询时只需在与查询向量最相似的几个簇内进行搜索，从而大大减少了计算量。结合我们之前提到的产品量化，可以进一步优化性能。此外，利用并行计算和GPU加速也是提升检索速度的有效途径。这里的代码展示了如何结合IVF和PQ来优化检索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算法层面的优化，工程实践中的一些技巧也能带来显著的性能提升。比如，在进行耗时的向量计算之前，我们可以先用元数据进行预过滤，快速排除掉明显不相关的候选向量。对于返回结果，我们只需要关注最相关的Top-K个，这也能节省计算资源。另外，利用缓存技术存储热门查询的结果，以及通过分布式和GPU进行并行检索，都是在工程上提升系统性能的常用手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章：检索质量提升。即使向量数据库的性能再好，如果检索出来的内容与用户的查询不相关，那么整个RAG系统的效果也会大打折扣。因此，提升检索质量是优化RAG系统的核心环节。本章将介绍一系列策略，从文本分块到查询重写，再到结果重排序，旨在确保我们能为生成模型提供最精准、最相关的上下文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文本分块是检索模块的第一步，也是非常关键的一步。我们知道，大多数检索系统对输入长度都有限制，而且直接检索超长文本效率低下。因此，我们需要将长文档拆分成合适大小的块。分块的核心原则是“既不能太碎，也不能太大”，要保证每个块的内容在语义上是完整的，这样才能让检索系统准确地找到与用户问题最相关的信息片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文本分块有多种方法。最简单的是固定长度分块，但它很容易把一个完整的语义单元切开。基于句子的分块能更好地保留语义，但块的大小会参差不齐。更智能的方法是语义分块，它利用AI模型来判断句子之间的语义关联，从而动态地划分出语义完整的块。此外，还可以根据文档的天然结构（如标题、段落）进行分块，或者使用滑动窗口的方式来确保上下文的连续性。每种方法都有其优缺点，需要根据具体场景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我们展示一个基于语义的文本分块的具体实现代码。它的核心思路很清晰：首先，我们使用一个预训练的嵌入模型，把每个句子都转换成一个能代表其语义的向量。然后，我们计算相邻句子向量之间的余弦相似度。如果相似度低于我们设定的阈值，就认为这两个句子的语义关联不大，应该分开成两个不同的块。反之，则将它们合并到同一个块中。通过这种方式，我们就能得到语义上连贯的文本块，为后续的精准检索打下良好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嵌入模型是将文本转换为向量的关键，它的质量直接决定了向量检索的效果。因此，选择一个合适的、高质量的嵌入模型至关重要。市面上有很多优秀的预训练模型，比如BGE、Sentence-BERT等，它们在检索任务上表现出色。更进一步，我们还可以在自己的业务数据上对这些通用模型进行微调，让它们更贴合我们的具体场景，从而获得更好的检索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户的查询有时可能是模糊的、不完整的，甚至带有歧义。这时候，直接用原始查询去检索可能无法得到理想的结果。查询重写技术就是用来解决这个问题的。我们可以利用大语言模型的能力，对用户的原始查询进行改写、扩展或澄清，生成一个或多个更精确、更完整的查询语句，然后用这些优化后的查询去进行检索，从而大大提高检索的召回率和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向量检索虽然快，但有时为了速度会牺牲一部分精度，返回的初始结果排序可能不是最理想的。这时候，重排序器就派上用场了。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它会对初步检索出的候选文档进行二次评估，通常使用更复杂、更精确的模型，比如Cross-Encoder，来计算查询和每个文档之间的真实语义相似度，然后根据这个更精确的相似度得分对结果进行重新排序。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这一步虽然增加了一些计算开销，但能极大地提升最终检索结果的相关性。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有时候，单一的检索策略可能无法覆盖所有情况。比如，不同的嵌入模型可能擅长不同类型的语义匹配。这时候，我们可以采用结果融合的方法。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RF，也就是排序检索融合，是一种常用的技术。它的思路很简单：我们先用多种不同的方法得到多个检索结果列表，然后给每个文档在不同列表中的排名计算一个分数，最后将所有分数相加，得到一个综合的排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这样做可以综合各种方法的优势，让最终的检索结果更全面、更准确。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再次回到多模态的话题。多模态检索是多模态数据融合在检索阶段的具体应用。它允许我们用一种模态的信息去检索另一种模态的信息，比如用文字描述去搜索相关的图片，或者用一张图片去查找相关的文字资料。这需要我们将所有模态的数据都嵌入到同一个向量空间中，从而实现跨模态的语义匹配。多模态检索极大地丰富了RAG系统的能力，使其能够处理更复杂、更多样化的用户查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高质量的检索结果，接下来就是如何有效地利用这些结果来引导大语言模型生成回答。这就涉及到提示词工程。提示词是连接用户查询、检索到的上下文和大语言模型的桥梁。一个好的提示词能够清晰地告诉模型“要做什么”、“根据什么做”以及“做成什么样”。本章我们将探讨如何优化提示词，以充分发挥大语言模型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设计一个好的提示词需要遵循一些基本原则。首先，指令必须清晰明确，让模型知道你想要它做什么。其次，要简洁精炼，避免无关信息的干扰。结构化的提示词，比如使用列表和标题，能帮助模型更好地理解你的意图。最重要的是，一定要将我们前面辛苦检索到的上下文信息包含进去，这是RAG的核心。最后，通过提供示例来引导模型，往往能取得事半功倍的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开发中，我们通常会为特定的任务设计一个固定的提示词模板。这样做的好处是显而易见的：首先，它能大大提高开发效率，我们只需要填充变量即可；其次，它能保证不同用户查询下，生成结果的格式和风格是一致的，提升了用户体验。这里展示的就是一个典型的问答任务提示词模板，它包含了指令、上下文占位符和用户问题占位符，结构清晰，易于使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一些需要逻辑推理的复杂问题，直接让模型给出答案可能会出错。思维链（CoT）提示技术就是为了解决这个问题。它通过在提示词中引导模型“一步步思考”，或者提供一个包含详细推理步骤的示例，来鼓励模型展示自己的思考过程。这样做不仅能让模型得出更准确的答案，还能让我们理解模型是如何得出这个答案的，增加了结果的可信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少样本提示是一种非常强大的技术，它允许我们在不修改模型参数的情况下，通过提供几个示例来教模型完成新的任务。这对于快速适配新场景非常有用。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设计少样本提示时，关键在于选择具有代表性和多样性的示例，并且确保输入输出的格式清晰易懂。模型能够从这些示例中学习到任务的模式，从而在面对新的输入时，生成符合预期的输出。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关注生成环节的核心——大语言模型本身的优化。即使有了最好的检索结果和提示词，如果模型本身性能不足，也无法生成高质量的回答。本章将探讨如何从模型选择、量化蒸馏、参数高效微调以及模型集成等多个角度，对大语言模型进行优化，以提升其在RAG系统中的表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择合适的大语言模型是构建RAG系统的第一步。我们需要综合考虑多个因素：首先是任务需求，不同的任务可能需要不同特点的模型；其次是计算资源，模型越大，对硬件的要求越高；再次是模型的性能表现，这需要通过实际测试来评估；最后还要考虑模型是开源还是闭源，开源模型更便于我们进行二次开发和优化。在实际应用中，我们需要在性能和资源之间找到最佳平衡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资源有限的部署环境，直接使用大模型可能不现实。这时候，模型量化和蒸馏技术就显得尤为重要。模型量化通过降低数据精度来减小模型体积和计算量。而模型蒸馏则更巧妙，它把一个大模型的“知识”传授给一个小模型，让小模型也能拥有接近大模型的性能。这两种技术都能帮助我们在性能和效率之间找到更好的平衡，让大语言模型能够更广泛地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我们需要让通用大模型适应我们特定的业务场景时，通常需要进行微调。但全量微调一个大模型的成本非常高。参数高效微调（PEFT）技术为我们提供了一个更经济的解决方案。它的核心思想是“冻结大部分，只微调小部分”。通过只调整模型中新增的一小部分参数，就能让模型快速适应新任务，同时大大降低了训练所需的计算资源和时间。LoRA是其中最具代表性的方法之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与检索结果融合类似，我们也可以对多个不同的大语言模型的输出结果进行集成。模型集成的思想是“三个臭皮匠，顶个诸葛亮”。通过综合多个模型的预测结果，我们可以得到一个更稳健、更准确的最终答案。常用的方法包括简单的投票法和更复杂的加权平均法。这种方法可以有效降低单一模型可能存在的偏差和不确定性，提升整个系统的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简单回顾一下第一章节的内容。源数据的清洗与整合是整个RAG系统的基础。我们强调了处理缺失值、重复数据、错误数据以及标准化格式的重要性，这些都是为了保证输入数据的高质量。同时，我们也探讨了如何整合多源数据和多模态数据，以构建一个更全面的知识库。记住，数据质量是决定系统最终性能的根本因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章节我们聚焦于向量数据库的优化。我们从四个维度展开：使用更高效的存储格式，通过量化技术进行压缩，优化检索算法，以及应用各种工程技巧。所有这些优化的目标都是一致的：在不牺牲太多精度的情况下，尽可能地提升向量检索的速度，降低系统的资源开销，从而为用户提供更流畅的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章节是关于检索质量的提升。我们讨论了一系列策略，从如何更智能地分块文本，到如何优化嵌入模型，再到如何通过查询重写、结果重排序和多策略融合来提升最终的检索效果。所有这些努力都是为了一个目标：让检索系统能够精准地找到与用户问题最相关的信息，为后续的生成环节提供高质量的“原材料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两章，我们关注了生成环节的优化。提示词工程教会我们如何“指挥”大语言模型，让它更好地利用检索到的信息。而模型优化则从模型本身出发，通过选择、压缩、微调等手段，提升其性能和效率。这两个方面相辅相成，共同决定了最终生成答案的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最后，我们对整个RAG优化体系进行一个总结。RAG的优化并非单一环节的调整，而是一个涉及数据、检索、生成三个核心环节的系统工程。数据是基础，检索是关键，生成是核心，三者必须协同优化，才能构建出真正高效、精准的RAG系统。当然，优化之路没有终点，我们需要在实际应用中不断收集反馈，持续迭代，让我们的系统变得越来越完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我的讲解到此结束，感谢大家的观看。接下来是问答环节，大家有任何问题都可以提出来，我们一起交流探讨。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8.svg"/><Relationship Id="rId1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1.svg"/><Relationship Id="rId7" Type="http://schemas.openxmlformats.org/officeDocument/2006/relationships/image" Target="../media/image40.png"/><Relationship Id="rId6" Type="http://schemas.openxmlformats.org/officeDocument/2006/relationships/image" Target="../media/image33.svg"/><Relationship Id="rId5" Type="http://schemas.openxmlformats.org/officeDocument/2006/relationships/image" Target="../media/image39.png"/><Relationship Id="rId4" Type="http://schemas.openxmlformats.org/officeDocument/2006/relationships/image" Target="../media/image22.svg"/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9.svg"/><Relationship Id="rId7" Type="http://schemas.openxmlformats.org/officeDocument/2006/relationships/image" Target="../media/image48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18.svg"/><Relationship Id="rId3" Type="http://schemas.openxmlformats.org/officeDocument/2006/relationships/image" Target="../media/image50.png"/><Relationship Id="rId2" Type="http://schemas.openxmlformats.org/officeDocument/2006/relationships/image" Target="../media/image22.svg"/><Relationship Id="rId1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svg"/><Relationship Id="rId7" Type="http://schemas.openxmlformats.org/officeDocument/2006/relationships/image" Target="../media/image54.png"/><Relationship Id="rId6" Type="http://schemas.openxmlformats.org/officeDocument/2006/relationships/image" Target="../media/image33.svg"/><Relationship Id="rId5" Type="http://schemas.openxmlformats.org/officeDocument/2006/relationships/image" Target="../media/image39.png"/><Relationship Id="rId4" Type="http://schemas.openxmlformats.org/officeDocument/2006/relationships/image" Target="../media/image8.svg"/><Relationship Id="rId3" Type="http://schemas.openxmlformats.org/officeDocument/2006/relationships/image" Target="../media/image31.png"/><Relationship Id="rId2" Type="http://schemas.openxmlformats.org/officeDocument/2006/relationships/image" Target="../media/image45.sv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9.svg"/><Relationship Id="rId11" Type="http://schemas.openxmlformats.org/officeDocument/2006/relationships/image" Target="../media/image58.png"/><Relationship Id="rId10" Type="http://schemas.openxmlformats.org/officeDocument/2006/relationships/image" Target="../media/image57.svg"/><Relationship Id="rId1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6.svg"/><Relationship Id="rId7" Type="http://schemas.openxmlformats.org/officeDocument/2006/relationships/image" Target="../media/image65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Relationship Id="rId3" Type="http://schemas.openxmlformats.org/officeDocument/2006/relationships/image" Target="../media/image61.png"/><Relationship Id="rId2" Type="http://schemas.openxmlformats.org/officeDocument/2006/relationships/image" Target="../media/image6.sv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60.png"/><Relationship Id="rId4" Type="http://schemas.openxmlformats.org/officeDocument/2006/relationships/image" Target="../media/image69.svg"/><Relationship Id="rId3" Type="http://schemas.openxmlformats.org/officeDocument/2006/relationships/image" Target="../media/image68.png"/><Relationship Id="rId2" Type="http://schemas.openxmlformats.org/officeDocument/2006/relationships/image" Target="../media/image43.svg"/><Relationship Id="rId1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Relationship Id="rId3" Type="http://schemas.openxmlformats.org/officeDocument/2006/relationships/image" Target="../media/image71.png"/><Relationship Id="rId2" Type="http://schemas.openxmlformats.org/officeDocument/2006/relationships/image" Target="../media/image35.svg"/><Relationship Id="rId1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5.svg"/><Relationship Id="rId5" Type="http://schemas.openxmlformats.org/officeDocument/2006/relationships/image" Target="../media/image77.png"/><Relationship Id="rId4" Type="http://schemas.openxmlformats.org/officeDocument/2006/relationships/image" Target="../media/image72.svg"/><Relationship Id="rId3" Type="http://schemas.openxmlformats.org/officeDocument/2006/relationships/image" Target="../media/image71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.svg"/><Relationship Id="rId7" Type="http://schemas.openxmlformats.org/officeDocument/2006/relationships/image" Target="../media/image60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79.svg"/><Relationship Id="rId3" Type="http://schemas.openxmlformats.org/officeDocument/2006/relationships/image" Target="../media/image78.png"/><Relationship Id="rId2" Type="http://schemas.openxmlformats.org/officeDocument/2006/relationships/image" Target="../media/image18.sv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5" Type="http://schemas.openxmlformats.org/officeDocument/2006/relationships/image" Target="../media/image86.png"/><Relationship Id="rId4" Type="http://schemas.openxmlformats.org/officeDocument/2006/relationships/image" Target="../media/image85.svg"/><Relationship Id="rId3" Type="http://schemas.openxmlformats.org/officeDocument/2006/relationships/image" Target="../media/image84.png"/><Relationship Id="rId2" Type="http://schemas.openxmlformats.org/officeDocument/2006/relationships/image" Target="../media/image83.svg"/><Relationship Id="rId1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70.png"/><Relationship Id="rId4" Type="http://schemas.openxmlformats.org/officeDocument/2006/relationships/image" Target="../media/image88.svg"/><Relationship Id="rId3" Type="http://schemas.openxmlformats.org/officeDocument/2006/relationships/image" Target="../media/image87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95.svg"/><Relationship Id="rId7" Type="http://schemas.openxmlformats.org/officeDocument/2006/relationships/image" Target="../media/image94.png"/><Relationship Id="rId6" Type="http://schemas.openxmlformats.org/officeDocument/2006/relationships/image" Target="../media/image12.svg"/><Relationship Id="rId5" Type="http://schemas.openxmlformats.org/officeDocument/2006/relationships/image" Target="../media/image93.png"/><Relationship Id="rId4" Type="http://schemas.openxmlformats.org/officeDocument/2006/relationships/image" Target="../media/image92.svg"/><Relationship Id="rId3" Type="http://schemas.openxmlformats.org/officeDocument/2006/relationships/image" Target="../media/image91.png"/><Relationship Id="rId2" Type="http://schemas.openxmlformats.org/officeDocument/2006/relationships/image" Target="../media/image90.svg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99.svg"/><Relationship Id="rId11" Type="http://schemas.openxmlformats.org/officeDocument/2006/relationships/image" Target="../media/image98.png"/><Relationship Id="rId10" Type="http://schemas.openxmlformats.org/officeDocument/2006/relationships/image" Target="../media/image97.svg"/><Relationship Id="rId1" Type="http://schemas.openxmlformats.org/officeDocument/2006/relationships/image" Target="../media/image8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101.svg"/><Relationship Id="rId7" Type="http://schemas.openxmlformats.org/officeDocument/2006/relationships/image" Target="../media/image100.png"/><Relationship Id="rId6" Type="http://schemas.openxmlformats.org/officeDocument/2006/relationships/image" Target="../media/image22.svg"/><Relationship Id="rId5" Type="http://schemas.openxmlformats.org/officeDocument/2006/relationships/image" Target="../media/image38.png"/><Relationship Id="rId4" Type="http://schemas.openxmlformats.org/officeDocument/2006/relationships/image" Target="../media/image43.svg"/><Relationship Id="rId3" Type="http://schemas.openxmlformats.org/officeDocument/2006/relationships/image" Target="../media/image67.png"/><Relationship Id="rId2" Type="http://schemas.openxmlformats.org/officeDocument/2006/relationships/image" Target="../media/image35.svg"/><Relationship Id="rId12" Type="http://schemas.openxmlformats.org/officeDocument/2006/relationships/notesSlide" Target="../notesSlides/notesSlide1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03.svg"/><Relationship Id="rId1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38.png"/><Relationship Id="rId4" Type="http://schemas.openxmlformats.org/officeDocument/2006/relationships/image" Target="../media/image105.svg"/><Relationship Id="rId3" Type="http://schemas.openxmlformats.org/officeDocument/2006/relationships/image" Target="../media/image104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107.svg"/><Relationship Id="rId7" Type="http://schemas.openxmlformats.org/officeDocument/2006/relationships/image" Target="../media/image106.png"/><Relationship Id="rId6" Type="http://schemas.openxmlformats.org/officeDocument/2006/relationships/image" Target="../media/image101.svg"/><Relationship Id="rId5" Type="http://schemas.openxmlformats.org/officeDocument/2006/relationships/image" Target="../media/image100.png"/><Relationship Id="rId4" Type="http://schemas.openxmlformats.org/officeDocument/2006/relationships/image" Target="../media/image85.svg"/><Relationship Id="rId3" Type="http://schemas.openxmlformats.org/officeDocument/2006/relationships/image" Target="../media/image84.png"/><Relationship Id="rId2" Type="http://schemas.openxmlformats.org/officeDocument/2006/relationships/image" Target="../media/image76.svg"/><Relationship Id="rId12" Type="http://schemas.openxmlformats.org/officeDocument/2006/relationships/notesSlide" Target="../notesSlides/notesSlide2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72.svg"/><Relationship Id="rId1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4" Type="http://schemas.openxmlformats.org/officeDocument/2006/relationships/image" Target="../media/image12.svg"/><Relationship Id="rId3" Type="http://schemas.openxmlformats.org/officeDocument/2006/relationships/image" Target="../media/image93.png"/><Relationship Id="rId2" Type="http://schemas.openxmlformats.org/officeDocument/2006/relationships/image" Target="../media/image52.svg"/><Relationship Id="rId1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3.svg"/><Relationship Id="rId5" Type="http://schemas.openxmlformats.org/officeDocument/2006/relationships/image" Target="../media/image112.png"/><Relationship Id="rId4" Type="http://schemas.openxmlformats.org/officeDocument/2006/relationships/image" Target="../media/image79.svg"/><Relationship Id="rId3" Type="http://schemas.openxmlformats.org/officeDocument/2006/relationships/image" Target="../media/image78.png"/><Relationship Id="rId2" Type="http://schemas.openxmlformats.org/officeDocument/2006/relationships/image" Target="../media/image111.svg"/><Relationship Id="rId1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7.svg"/><Relationship Id="rId5" Type="http://schemas.openxmlformats.org/officeDocument/2006/relationships/image" Target="../media/image116.png"/><Relationship Id="rId4" Type="http://schemas.openxmlformats.org/officeDocument/2006/relationships/image" Target="../media/image33.svg"/><Relationship Id="rId3" Type="http://schemas.openxmlformats.org/officeDocument/2006/relationships/image" Target="../media/image39.png"/><Relationship Id="rId2" Type="http://schemas.openxmlformats.org/officeDocument/2006/relationships/image" Target="../media/image115.svg"/><Relationship Id="rId1" Type="http://schemas.openxmlformats.org/officeDocument/2006/relationships/image" Target="../media/image11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9.svg"/><Relationship Id="rId1" Type="http://schemas.openxmlformats.org/officeDocument/2006/relationships/image" Target="../media/image118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95.svg"/><Relationship Id="rId7" Type="http://schemas.openxmlformats.org/officeDocument/2006/relationships/image" Target="../media/image94.png"/><Relationship Id="rId6" Type="http://schemas.openxmlformats.org/officeDocument/2006/relationships/image" Target="../media/image47.svg"/><Relationship Id="rId5" Type="http://schemas.openxmlformats.org/officeDocument/2006/relationships/image" Target="../media/image122.png"/><Relationship Id="rId4" Type="http://schemas.openxmlformats.org/officeDocument/2006/relationships/image" Target="../media/image121.svg"/><Relationship Id="rId3" Type="http://schemas.openxmlformats.org/officeDocument/2006/relationships/image" Target="../media/image120.png"/><Relationship Id="rId2" Type="http://schemas.openxmlformats.org/officeDocument/2006/relationships/image" Target="../media/image76.svg"/><Relationship Id="rId14" Type="http://schemas.openxmlformats.org/officeDocument/2006/relationships/notesSlide" Target="../notesSlides/notesSlide2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26.svg"/><Relationship Id="rId11" Type="http://schemas.openxmlformats.org/officeDocument/2006/relationships/image" Target="../media/image125.png"/><Relationship Id="rId10" Type="http://schemas.openxmlformats.org/officeDocument/2006/relationships/image" Target="../media/image124.svg"/><Relationship Id="rId1" Type="http://schemas.openxmlformats.org/officeDocument/2006/relationships/image" Target="../media/image75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9.svg"/><Relationship Id="rId7" Type="http://schemas.openxmlformats.org/officeDocument/2006/relationships/image" Target="../media/image98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35.svg"/><Relationship Id="rId3" Type="http://schemas.openxmlformats.org/officeDocument/2006/relationships/image" Target="../media/image70.png"/><Relationship Id="rId2" Type="http://schemas.openxmlformats.org/officeDocument/2006/relationships/image" Target="../media/image74.svg"/><Relationship Id="rId10" Type="http://schemas.openxmlformats.org/officeDocument/2006/relationships/notesSlide" Target="../notesSlides/notesSlide27.xml"/><Relationship Id="rId1" Type="http://schemas.openxmlformats.org/officeDocument/2006/relationships/image" Target="../media/image73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0.svg"/><Relationship Id="rId7" Type="http://schemas.openxmlformats.org/officeDocument/2006/relationships/image" Target="../media/image129.png"/><Relationship Id="rId6" Type="http://schemas.openxmlformats.org/officeDocument/2006/relationships/image" Target="../media/image128.svg"/><Relationship Id="rId5" Type="http://schemas.openxmlformats.org/officeDocument/2006/relationships/image" Target="../media/image127.png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12.svg"/><Relationship Id="rId10" Type="http://schemas.openxmlformats.org/officeDocument/2006/relationships/notesSlide" Target="../notesSlides/notesSlide28.xml"/><Relationship Id="rId1" Type="http://schemas.openxmlformats.org/officeDocument/2006/relationships/image" Target="../media/image93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9.svg"/><Relationship Id="rId7" Type="http://schemas.openxmlformats.org/officeDocument/2006/relationships/image" Target="../media/image98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132.svg"/><Relationship Id="rId3" Type="http://schemas.openxmlformats.org/officeDocument/2006/relationships/image" Target="../media/image131.png"/><Relationship Id="rId2" Type="http://schemas.openxmlformats.org/officeDocument/2006/relationships/image" Target="../media/image72.svg"/><Relationship Id="rId10" Type="http://schemas.openxmlformats.org/officeDocument/2006/relationships/notesSlide" Target="../notesSlides/notesSlide29.xml"/><Relationship Id="rId1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3.svg"/><Relationship Id="rId7" Type="http://schemas.openxmlformats.org/officeDocument/2006/relationships/image" Target="../media/image39.png"/><Relationship Id="rId6" Type="http://schemas.openxmlformats.org/officeDocument/2006/relationships/image" Target="../media/image2.svg"/><Relationship Id="rId5" Type="http://schemas.openxmlformats.org/officeDocument/2006/relationships/image" Target="../media/image133.png"/><Relationship Id="rId4" Type="http://schemas.openxmlformats.org/officeDocument/2006/relationships/image" Target="../media/image62.svg"/><Relationship Id="rId3" Type="http://schemas.openxmlformats.org/officeDocument/2006/relationships/image" Target="../media/image61.png"/><Relationship Id="rId2" Type="http://schemas.openxmlformats.org/officeDocument/2006/relationships/image" Target="../media/image72.svg"/><Relationship Id="rId10" Type="http://schemas.openxmlformats.org/officeDocument/2006/relationships/notesSlide" Target="../notesSlides/notesSlide30.xml"/><Relationship Id="rId1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137.svg"/><Relationship Id="rId7" Type="http://schemas.openxmlformats.org/officeDocument/2006/relationships/image" Target="../media/image136.png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72.svg"/><Relationship Id="rId3" Type="http://schemas.openxmlformats.org/officeDocument/2006/relationships/image" Target="../media/image71.png"/><Relationship Id="rId2" Type="http://schemas.openxmlformats.org/officeDocument/2006/relationships/image" Target="../media/image135.svg"/><Relationship Id="rId12" Type="http://schemas.openxmlformats.org/officeDocument/2006/relationships/notesSlide" Target="../notesSlides/notesSlide31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9.svg"/><Relationship Id="rId1" Type="http://schemas.openxmlformats.org/officeDocument/2006/relationships/image" Target="../media/image13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1.svg"/><Relationship Id="rId5" Type="http://schemas.openxmlformats.org/officeDocument/2006/relationships/image" Target="../media/image140.png"/><Relationship Id="rId4" Type="http://schemas.openxmlformats.org/officeDocument/2006/relationships/image" Target="../media/image139.svg"/><Relationship Id="rId3" Type="http://schemas.openxmlformats.org/officeDocument/2006/relationships/image" Target="../media/image138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101.svg"/><Relationship Id="rId3" Type="http://schemas.openxmlformats.org/officeDocument/2006/relationships/image" Target="../media/image100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0.svg"/><Relationship Id="rId7" Type="http://schemas.openxmlformats.org/officeDocument/2006/relationships/image" Target="../media/image146.png"/><Relationship Id="rId6" Type="http://schemas.openxmlformats.org/officeDocument/2006/relationships/image" Target="../media/image145.svg"/><Relationship Id="rId5" Type="http://schemas.openxmlformats.org/officeDocument/2006/relationships/image" Target="../media/image144.png"/><Relationship Id="rId4" Type="http://schemas.openxmlformats.org/officeDocument/2006/relationships/image" Target="../media/image143.svg"/><Relationship Id="rId3" Type="http://schemas.openxmlformats.org/officeDocument/2006/relationships/image" Target="../media/image142.png"/><Relationship Id="rId2" Type="http://schemas.openxmlformats.org/officeDocument/2006/relationships/image" Target="../media/image35.svg"/><Relationship Id="rId10" Type="http://schemas.openxmlformats.org/officeDocument/2006/relationships/notesSlide" Target="../notesSlides/notesSlide34.xml"/><Relationship Id="rId1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9.svg"/><Relationship Id="rId7" Type="http://schemas.openxmlformats.org/officeDocument/2006/relationships/image" Target="../media/image98.png"/><Relationship Id="rId6" Type="http://schemas.openxmlformats.org/officeDocument/2006/relationships/image" Target="../media/image149.svg"/><Relationship Id="rId5" Type="http://schemas.openxmlformats.org/officeDocument/2006/relationships/image" Target="../media/image148.png"/><Relationship Id="rId4" Type="http://schemas.openxmlformats.org/officeDocument/2006/relationships/image" Target="../media/image18.svg"/><Relationship Id="rId3" Type="http://schemas.openxmlformats.org/officeDocument/2006/relationships/image" Target="../media/image50.png"/><Relationship Id="rId2" Type="http://schemas.openxmlformats.org/officeDocument/2006/relationships/image" Target="../media/image4.svg"/><Relationship Id="rId10" Type="http://schemas.openxmlformats.org/officeDocument/2006/relationships/notesSlide" Target="../notesSlides/notesSlide35.xml"/><Relationship Id="rId1" Type="http://schemas.openxmlformats.org/officeDocument/2006/relationships/image" Target="../media/image147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64.svg"/><Relationship Id="rId7" Type="http://schemas.openxmlformats.org/officeDocument/2006/relationships/image" Target="../media/image63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151.svg"/><Relationship Id="rId3" Type="http://schemas.openxmlformats.org/officeDocument/2006/relationships/image" Target="../media/image150.png"/><Relationship Id="rId2" Type="http://schemas.openxmlformats.org/officeDocument/2006/relationships/image" Target="../media/image33.svg"/><Relationship Id="rId14" Type="http://schemas.openxmlformats.org/officeDocument/2006/relationships/notesSlide" Target="../notesSlides/notesSlide3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1.svg"/><Relationship Id="rId11" Type="http://schemas.openxmlformats.org/officeDocument/2006/relationships/image" Target="../media/image140.png"/><Relationship Id="rId10" Type="http://schemas.openxmlformats.org/officeDocument/2006/relationships/image" Target="../media/image66.svg"/><Relationship Id="rId1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1.svg"/><Relationship Id="rId5" Type="http://schemas.openxmlformats.org/officeDocument/2006/relationships/image" Target="../media/image140.png"/><Relationship Id="rId4" Type="http://schemas.openxmlformats.org/officeDocument/2006/relationships/image" Target="../media/image2.svg"/><Relationship Id="rId3" Type="http://schemas.openxmlformats.org/officeDocument/2006/relationships/image" Target="../media/image133.png"/><Relationship Id="rId2" Type="http://schemas.openxmlformats.org/officeDocument/2006/relationships/image" Target="../media/image35.svg"/><Relationship Id="rId1" Type="http://schemas.openxmlformats.org/officeDocument/2006/relationships/image" Target="../media/image7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1.svg"/><Relationship Id="rId5" Type="http://schemas.openxmlformats.org/officeDocument/2006/relationships/image" Target="../media/image140.png"/><Relationship Id="rId4" Type="http://schemas.openxmlformats.org/officeDocument/2006/relationships/image" Target="../media/image2.svg"/><Relationship Id="rId3" Type="http://schemas.openxmlformats.org/officeDocument/2006/relationships/image" Target="../media/image133.png"/><Relationship Id="rId2" Type="http://schemas.openxmlformats.org/officeDocument/2006/relationships/image" Target="../media/image153.svg"/><Relationship Id="rId1" Type="http://schemas.openxmlformats.org/officeDocument/2006/relationships/image" Target="../media/image152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png"/><Relationship Id="rId8" Type="http://schemas.openxmlformats.org/officeDocument/2006/relationships/image" Target="../media/image155.svg"/><Relationship Id="rId7" Type="http://schemas.openxmlformats.org/officeDocument/2006/relationships/image" Target="../media/image154.png"/><Relationship Id="rId6" Type="http://schemas.openxmlformats.org/officeDocument/2006/relationships/image" Target="../media/image8.svg"/><Relationship Id="rId5" Type="http://schemas.openxmlformats.org/officeDocument/2006/relationships/image" Target="../media/image31.png"/><Relationship Id="rId4" Type="http://schemas.openxmlformats.org/officeDocument/2006/relationships/image" Target="../media/image4.svg"/><Relationship Id="rId3" Type="http://schemas.openxmlformats.org/officeDocument/2006/relationships/image" Target="../media/image147.png"/><Relationship Id="rId2" Type="http://schemas.openxmlformats.org/officeDocument/2006/relationships/image" Target="../media/image35.svg"/><Relationship Id="rId12" Type="http://schemas.openxmlformats.org/officeDocument/2006/relationships/notesSlide" Target="../notesSlides/notesSlide3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57.svg"/><Relationship Id="rId1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9.svg"/><Relationship Id="rId1" Type="http://schemas.openxmlformats.org/officeDocument/2006/relationships/image" Target="../media/image1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81000" y="-381000"/>
            <a:ext cx="1905000" cy="1905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0" y="4826000"/>
            <a:ext cx="2540000" cy="2540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270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3581400" y="2286000"/>
            <a:ext cx="5029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第4章 RAG的优化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168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rnd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工程优化策略与实践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0" y="5334000"/>
            <a:ext cx="203200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大学教学课件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429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4.1 源数据清洗与整合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4.1.1 源数据清洗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4.1.2 多数据源整合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4.1.3 多模态数据融合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1397000"/>
            <a:ext cx="3429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587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165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4.2 向量数据库优化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032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4.2.1 存储格式优化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4.2.2 量化压缩优化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4.2.3 检索算法优化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4.2.4 工程优化技术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01000" y="1397000"/>
            <a:ext cx="3429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58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360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 检索质量提升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032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4.3.1 文本分块优化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4.3.2 嵌入模型优化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4.3.3 查询重写（Rewrite）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4.3.4 重排序器（Reranker）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4.3.5 RRF融合方法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4.3.6 多模态检索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000500"/>
            <a:ext cx="3429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191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152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4.4 提示词工程优化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6355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4.4.1 提示词设计原则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4.4.2 模板化提示词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4.4.3 思维链提示（CoT）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4.4.4 少样本提示（Few-shot）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381500" y="4000500"/>
            <a:ext cx="3429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4191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16500" y="4152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4.5 LLM模型优化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35500" y="46355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4.5.1 模型选择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4.5.2 量化与蒸馏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4.5.3 参数高效微调（PEFT）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4.5.4 模型集成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001000" y="4000500"/>
            <a:ext cx="3429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55000" y="4191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636000" y="4152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课程总结与展望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5000" y="46355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构建高效RAG系统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实战案例分析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未来技术趋势探讨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1143000"/>
            <a:ext cx="10922000" cy="4572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04.1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源数据清洗与整合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2914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3175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3937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数据清洗是基础，多源与多模态数据整合是趋势。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7632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4.1.1 源数据清洗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854200"/>
            <a:ext cx="400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定义 Definition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4130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对原始数据进行处理，识别并纠正其中的错误、缺失、不一致和重复等问题，确保数据“去伪存真”。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651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75500" y="1854200"/>
            <a:ext cx="400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目的 Purpose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67500" y="24130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提高数据质量，确保数据在后续应用中的准确性和可靠性。这是构建任何可靠AI系统至关重要的第一步。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0277BD">
              <a:alpha val="8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7498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4508500"/>
            <a:ext cx="927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只有保证了输入数据的高质量，后续的检索和生成环节才能建立在坚实的基础之上，最终输出的结果才值得信赖。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2235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处理缺失值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762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727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删除缺失值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当缺失值占比很小且不影响整体数据时，可以直接删除包含缺失值的行、列或文档中的空白项，以减少数据噪声。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778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1727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填充缺失值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286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数值型数据用均值、中位数或众数填充；时间序列数据可插值推断；也可利用机器学习算法预测缺失值。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3886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标记缺失值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445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将缺失值当作一个特殊类别处理，例如通过提示词告知模型，或作为检索过滤条件。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3683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937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3886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忽略缺失值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4445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在某些场景下，如文本检索任务中，可以直接忽略缺失值，不进行任何处理。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2679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去除重复数据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8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精确匹配去重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1968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通过计算哈希值（如MD5）标记完全相同的内容，适用于结构化或高一致性文本。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845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238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175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相似匹配去重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3556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计算文本或向量的相似度，合并或删除语义相近但表达不同的文本。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2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76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聚类分组去重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5143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使用聚类算法对相似数据分组，再在组内去重，有效减少冗余。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397000"/>
            <a:ext cx="4953000" cy="4572000"/>
          </a:xfrm>
          <a:prstGeom prst="roundRect">
            <a:avLst>
              <a:gd name="adj" fmla="val 2777"/>
            </a:avLst>
          </a:prstGeom>
          <a:solidFill>
            <a:srgbClr val="21212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1587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实现示例：MD5哈希计算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032000"/>
            <a:ext cx="4445000" cy="2921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2159000"/>
            <a:ext cx="419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hashlib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def</a:t>
            </a:r>
            <a:r>
              <a:rPr lang="en-US" sz="1400" b="0" i="0" u="none" strike="noStrike">
                <a:solidFill>
                  <a:srgbClr val="61AFEF"/>
                </a:solidFill>
                <a:latin typeface="Noto Sans SC"/>
                <a:ea typeface="Noto Sans SC"/>
                <a:cs typeface="Noto Sans SC"/>
                <a:sym typeface="Noto Sans SC"/>
              </a:rPr>
              <a:t>get_md5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(data: str):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if not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data: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return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None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return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hashlib.md5(data.encode(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'utf8'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)).hexdigest()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5080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此代码展示了如何利用Python的hashlib库计算字符串的MD5哈希值，这是精确匹配去重中常用的核心算法。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2679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识别错误数据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00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验证数据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使用预设规则校验数据格式、类型和范围，例如检查年龄是否在合理区间、日期格式是否正确。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397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600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异常检测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159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运用规则、统计方法或机器学习算法识别数据噪声、极端值和异常长的文本片段。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140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上下文一致性检测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699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利用大语言模型检查文本上下文是否一致，自动发现内容矛盾或不符合预期的地方。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937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191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4140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人工检查与反馈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699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建立人工审核机制，定期抽查自动化处理过的数据，并通过反馈持续优化自动化识别能力。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标准化数据格式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00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统一数据结构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将不同来源的文本、表格、图像等转换为统一的结构（如JSON或CSV），确保字段名称和层级一致。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397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600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统一编码格式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095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确保所有文本使用相同的字符编码（如UTF-8），避免乱码或数据损失。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140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统一数据类型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635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对相同字段采用统一的格式和类型，如统一数值单位、大小写、标点符号等。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937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191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4140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命名实体标准化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635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对文本中的人名、地名、公司名等实体采用统一的表达方式，例如将“北京”和“Bei Jing”统一。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4.1.2 多数据源整合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968500" y="1651000"/>
            <a:ext cx="889000" cy="889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59000" y="184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分类与权重分配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按数据库、文档、网页等载体分类，根据任务需求设置权重，确保高质量内容优先展现。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651500" y="1651000"/>
            <a:ext cx="889000" cy="889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1841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去重与一致性管理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进行精确、模糊或语义去重，解决数据一致性问题，避免内容自相矛盾，提升可信度。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334500" y="1651000"/>
            <a:ext cx="889000" cy="889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1841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动态调整优先级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根据用户查询上下文和意图，动态调整数据源优先级，优先检索权威知识库或最新信息。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8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将不同来源的信息高效聚合，解决冲突与冗余，生成更全面、准确的回答。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4.1.3 多模态数据融合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0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设计多模态编码器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利用多模态Transformer或跨模态注意力机制，将文本、图像、音频等转化为同一向量空间。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397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56200" y="160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模态间并行检索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48200" y="2159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对用户查询，在不同模态数据源中并行检索，补充多维度信息，提升检索全面性。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26400" y="1397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165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88400" y="160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模态间信息融合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80400" y="2159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使用多模态对齐技术，将不同模态特征在向量空间对齐，确保信息连贯一致。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14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模态间权重设定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699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根据查询类型自动判断模态优先级，如文本问题优先文本数据，视觉问题优先图像数据。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94200" y="3937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8200" y="4191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156200" y="414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多模态结果生成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48200" y="4699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构建能生成文本、图像、音视频等多模态形式的答案输出，丰富交互体验。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26400" y="3937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8000" y="4445000"/>
            <a:ext cx="635000" cy="635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153400" y="5207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智能融合 · 多维交互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4.2 向量数据库优化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651000" y="1206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从存储、压缩、算法和工程四个层面，提升向量检索的效率与精度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2286000" cy="2540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1500" y="23495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存储优化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619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优化存储格式与索引结构，降低IO开销，提升数据吞吐量。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721100" y="2032000"/>
            <a:ext cx="2286000" cy="2540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6600" y="23495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7211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量化压缩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48100" y="3619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通过量化技术减少向量维度与占用空间，平衡精度与性能。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26200" y="2032000"/>
            <a:ext cx="2286000" cy="2540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1700" y="23495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4262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算法优化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53200" y="3619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引入高效检索算法，在海量数据中快速定位相似向量。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0" y="2032000"/>
            <a:ext cx="2286000" cy="2540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69500" y="2349500"/>
            <a:ext cx="635000" cy="635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工程实践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71000" y="3619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分布式部署与负载均衡，确保高并发场景下的系统稳定性。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4.2.1 存储格式优化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24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高效存储格式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1905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使用Parquet等列式存储格式，显著减少存储开销并提高读取效率。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11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984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专用数据库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51000" y="3365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借助Faiss、Milvus等数据库，利用内置高效索引结构优化检索。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72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445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分布式存储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826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拆分向量块进行分布式存储，便于大规模数据的并行处理。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397000"/>
            <a:ext cx="5207000" cy="4191000"/>
          </a:xfrm>
          <a:prstGeom prst="roundRect">
            <a:avLst>
              <a:gd name="adj" fmla="val 3030"/>
            </a:avLst>
          </a:prstGeom>
          <a:solidFill>
            <a:srgbClr val="1E1E1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1397000"/>
            <a:ext cx="5207000" cy="4064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1524000"/>
            <a:ext cx="127000" cy="1270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67500" y="1524000"/>
            <a:ext cx="127000" cy="1270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921500" y="1524000"/>
            <a:ext cx="127000" cy="1270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239000" y="1460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vector_parquet.py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1905000"/>
            <a:ext cx="4953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numpy</a:t>
            </a: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np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pandas</a:t>
            </a: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pd</a:t>
            </a:r>
            <a:endParaRPr lang="en-US" sz="1200" b="0" i="0" u="none" strike="noStrike">
              <a:solidFill>
                <a:srgbClr val="DCDF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生成随机向量数据</a:t>
            </a:r>
            <a:endParaRPr lang="en-US" sz="1200" b="0" i="0" u="none" strike="noStrike">
              <a:solidFill>
                <a:srgbClr val="5C637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num_vectors =</a:t>
            </a:r>
            <a:r>
              <a:rPr lang="en-US" sz="12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10000</a:t>
            </a:r>
            <a:endParaRPr lang="en-US" sz="1200" b="0" i="0" u="none" strike="noStrike">
              <a:solidFill>
                <a:srgbClr val="D19A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dim =</a:t>
            </a:r>
            <a:r>
              <a:rPr lang="en-US" sz="1200" b="0" i="0" u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128</a:t>
            </a:r>
            <a:endParaRPr lang="en-US" sz="1200" b="0" i="0" u="none" strike="noStrike">
              <a:solidFill>
                <a:srgbClr val="D19A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vectors = np.random.random((num_vectors, dim)).astype(</a:t>
            </a:r>
            <a:r>
              <a:rPr lang="en-US" sz="12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'float32'</a:t>
            </a: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n-US" sz="1200" b="0" i="0" u="none" strike="noStrike">
              <a:solidFill>
                <a:srgbClr val="DCDF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转换为DataFrame并写入Parquet</a:t>
            </a:r>
            <a:endParaRPr lang="en-US" sz="1200" b="0" i="0" u="none" strike="noStrike">
              <a:solidFill>
                <a:srgbClr val="5C637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vector_df = pd.DataFrame(vectors, columns=[</a:t>
            </a:r>
            <a:r>
              <a:rPr lang="en-US" sz="12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f"dim_{i}"</a:t>
            </a: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range(dim)])</a:t>
            </a:r>
            <a:endParaRPr lang="en-US" sz="1200" b="0" i="0" u="none" strike="noStrike">
              <a:solidFill>
                <a:srgbClr val="DCDF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vector_df.to_parquet(</a:t>
            </a:r>
            <a:r>
              <a:rPr lang="en-US" sz="12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"vectors.parquet"</a:t>
            </a: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, engine=</a:t>
            </a:r>
            <a:r>
              <a:rPr lang="en-US" sz="12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"pyarrow"</a:t>
            </a: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n-US" sz="1200" b="0" i="0" u="none" strike="noStrike">
              <a:solidFill>
                <a:srgbClr val="DCDF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读取并验证</a:t>
            </a:r>
            <a:endParaRPr lang="en-US" sz="1200" b="0" i="0" u="none" strike="noStrike">
              <a:solidFill>
                <a:srgbClr val="5C637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loaded_df = pd.read_parquet(</a:t>
            </a:r>
            <a:r>
              <a:rPr lang="en-US" sz="12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"vectors.parquet"</a:t>
            </a: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lang="en-US" sz="1200" b="0" i="0" u="none" strike="noStrike">
              <a:solidFill>
                <a:srgbClr val="DCDFE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print(np.allclose(vectors, loaded_df.values))</a:t>
            </a:r>
            <a:endParaRPr lang="en-US" sz="1200" b="0" i="0" u="none" strike="noStrike">
              <a:solidFill>
                <a:srgbClr val="DCDFE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选择合适的存储格式是提升向量检索性能的关键第一步，结合专用数据库和分布式架构可应对大规模挑战。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4.2.2 量化压缩优化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460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422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将高维浮点向量（如FP32）压缩为更小的低精度表示（如INT8），同时尽可能保留向量的相似性特征。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845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136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常见技术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包括产品量化（PQ）、整数量化（INT8）、对称/非对称量化和稀疏化等技术手段。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89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851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应用目的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270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显著降低存储需求和计算复杂度，提升检索效率，尤其适用于资源有限的场景。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1270000"/>
            <a:ext cx="5334000" cy="4953000"/>
          </a:xfrm>
          <a:prstGeom prst="roundRect">
            <a:avLst>
              <a:gd name="adj" fmla="val 2564"/>
            </a:avLst>
          </a:prstGeom>
          <a:solidFill>
            <a:srgbClr val="1E1E1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1460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代码示例：FAISS 产品量化 (PQ)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905000"/>
            <a:ext cx="4826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faiss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import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numpy</a:t>
            </a:r>
            <a:r>
              <a:rPr lang="en-US" sz="1400" b="0" i="0" u="none" strike="noStrike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np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# 生成随机数据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num_vectors =</a:t>
            </a:r>
            <a:r>
              <a:rPr lang="en-US" sz="1400" b="0" i="0" u="none" strike="noStrike">
                <a:solidFill>
                  <a:srgbClr val="D19A66"/>
                </a:solidFill>
                <a:latin typeface="Noto Sans SC"/>
                <a:ea typeface="Noto Sans SC"/>
                <a:cs typeface="Noto Sans SC"/>
                <a:sym typeface="Noto Sans SC"/>
              </a:rPr>
              <a:t>10000</a:t>
            </a:r>
            <a:endParaRPr lang="en-US" sz="1400" b="0" i="0" u="none" strike="noStrike">
              <a:solidFill>
                <a:srgbClr val="D19A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dim =</a:t>
            </a:r>
            <a:r>
              <a:rPr lang="en-US" sz="1400" b="0" i="0" u="none" strike="noStrike">
                <a:solidFill>
                  <a:srgbClr val="D19A66"/>
                </a:solidFill>
                <a:latin typeface="Noto Sans SC"/>
                <a:ea typeface="Noto Sans SC"/>
                <a:cs typeface="Noto Sans SC"/>
                <a:sym typeface="Noto Sans SC"/>
              </a:rPr>
              <a:t>128</a:t>
            </a:r>
            <a:endParaRPr lang="en-US" sz="1400" b="0" i="0" u="none" strike="noStrike">
              <a:solidFill>
                <a:srgbClr val="D19A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vectors = np.random.random((num_vectors, dim)).astype(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'float32'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# 创建并训练 PQ 索引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quantizer = faiss.IndexFlatL2(dim)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index = faiss.IndexIVFPQ(quantizer, dim,</a:t>
            </a:r>
            <a:r>
              <a:rPr lang="en-US" sz="1400" b="0" i="0" u="none" strike="noStrike">
                <a:solidFill>
                  <a:srgbClr val="D19A66"/>
                </a:solidFill>
                <a:latin typeface="Noto Sans SC"/>
                <a:ea typeface="Noto Sans SC"/>
                <a:cs typeface="Noto Sans SC"/>
                <a:sym typeface="Noto Sans SC"/>
              </a:rPr>
              <a:t>100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sz="1400" b="0" i="0" u="none" strike="noStrike">
                <a:solidFill>
                  <a:srgbClr val="D19A66"/>
                </a:solidFill>
                <a:latin typeface="Noto Sans SC"/>
                <a:ea typeface="Noto Sans SC"/>
                <a:cs typeface="Noto Sans SC"/>
                <a:sym typeface="Noto Sans SC"/>
              </a:rPr>
              <a:t>16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sz="1400" b="0" i="0" u="none" strike="noStrike">
                <a:solidFill>
                  <a:srgbClr val="D19A66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index.train(vectors)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index.add(vectors)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# 保存索引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faiss.write_index(index,</a:t>
            </a:r>
            <a:r>
              <a:rPr lang="en-US" sz="1400" b="0" i="0" u="none" strike="noStrike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'quantized_index.faiss'</a:t>
            </a:r>
            <a:r>
              <a:rPr lang="en-US" sz="1400" b="0" i="0" u="none" strike="noStrike">
                <a:solidFill>
                  <a:srgbClr val="DCDFE4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400" b="0" i="0" u="none" strike="noStrike">
              <a:solidFill>
                <a:srgbClr val="DCDFE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4.2.3 检索算法优化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460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333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在保证检索精度的前提下，通过算法优化显著提升检索速度。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540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413000"/>
            <a:ext cx="444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常见优化方法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IVF索引：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通过聚类减少搜索范围，仅在相关簇内搜索。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并行搜索：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利用多节点并行处理大规模向量检索任务。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424242"/>
              </a:buClr>
              <a:buChar char="•"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GPU加速：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利用GPU并行计算能力大幅提高检索速度。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635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508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平衡精度与速度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通过调整参数（如nprobe），在检索精度和速度之间找到最佳平衡点。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0" y="1270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1E1E1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40500" y="1397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代码示例：FAISS 优化检索性能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500" y="1841500"/>
            <a:ext cx="4699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C678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</a:t>
            </a:r>
            <a:r>
              <a:rPr lang="en-US" sz="1300" b="0" i="0" u="none" strike="noStrike">
                <a:solidFill>
                  <a:srgbClr val="787878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创建IVF索引并查询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06C75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index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300" b="0" i="0" u="none" strike="noStrike">
                <a:solidFill>
                  <a:srgbClr val="E5C07B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faiss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.IndexIVFFlat(quantizer, dim, num_clusters)</a:t>
            </a:r>
            <a:endParaRPr lang="en-US" sz="1300" b="0" i="0" u="none" strike="noStrike">
              <a:solidFill>
                <a:srgbClr val="ABB2BF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06C75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index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.train(vectors)</a:t>
            </a:r>
            <a:endParaRPr lang="en-US" sz="1300" b="0" i="0" u="none" strike="noStrike">
              <a:solidFill>
                <a:srgbClr val="ABB2BF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06C75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index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.add(vectors)</a:t>
            </a:r>
            <a:endParaRPr lang="en-US" sz="1300" b="0" i="0" u="none" strike="noStrike">
              <a:solidFill>
                <a:srgbClr val="ABB2BF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06C75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index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.nprobe =</a:t>
            </a:r>
            <a:r>
              <a:rPr lang="en-US" sz="1300" b="0" i="0" u="none" strike="noStrike">
                <a:solidFill>
                  <a:srgbClr val="D19A66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10</a:t>
            </a:r>
            <a:r>
              <a:rPr lang="en-US" sz="1300" b="0" i="0" u="none" strike="noStrike">
                <a:solidFill>
                  <a:srgbClr val="C678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</a:t>
            </a:r>
            <a:r>
              <a:rPr lang="en-US" sz="1300" b="0" i="0" u="none" strike="noStrike">
                <a:solidFill>
                  <a:srgbClr val="787878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搜索的簇数量</a:t>
            </a:r>
            <a:endParaRPr lang="en-US" sz="1300" b="0" i="0" u="none" strike="noStrike">
              <a:solidFill>
                <a:srgbClr val="787878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06C75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query_vector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300" b="0" i="0" u="none" strike="noStrike">
                <a:solidFill>
                  <a:srgbClr val="E5C07B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np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.random.random((</a:t>
            </a:r>
            <a:r>
              <a:rPr lang="en-US" sz="1300" b="0" i="0" u="none" strike="noStrike">
                <a:solidFill>
                  <a:srgbClr val="D19A66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1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 dim)).astype(</a:t>
            </a:r>
            <a:r>
              <a:rPr lang="en-US" sz="1300" b="0" i="0" u="none" strike="noStrike">
                <a:solidFill>
                  <a:srgbClr val="98C379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'float32'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endParaRPr lang="en-US" sz="1300" b="0" i="0" u="none" strike="noStrike">
              <a:solidFill>
                <a:srgbClr val="ABB2BF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06C75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distances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300" b="0" i="0" u="none" strike="noStrike">
                <a:solidFill>
                  <a:srgbClr val="E06C75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indices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300" b="0" i="0" u="none" strike="noStrike">
                <a:solidFill>
                  <a:srgbClr val="E06C75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index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.search(query_vector, k=</a:t>
            </a:r>
            <a:r>
              <a:rPr lang="en-US" sz="1300" b="0" i="0" u="none" strike="noStrike">
                <a:solidFill>
                  <a:srgbClr val="D19A66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5</a:t>
            </a:r>
            <a:r>
              <a:rPr lang="en-US" sz="1300" b="0" i="0" u="none" strike="noStrike">
                <a:solidFill>
                  <a:srgbClr val="ABB2B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endParaRPr lang="en-US" sz="1300" b="0" i="0" u="none" strike="noStrike">
              <a:solidFill>
                <a:srgbClr val="ABB2BF"/>
              </a:solidFill>
              <a:latin typeface="Menlo" panose="020B0609030804020204"/>
              <a:ea typeface="Menlo" panose="020B0609030804020204"/>
              <a:cs typeface="Menlo" panose="020B0609030804020204"/>
              <a:sym typeface="Menlo" panose="020B060903080402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4.2.4 工程优化技术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87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预过滤 (Pre-filtering)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0320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在向量检索前，根据元数据（标签、时间、类别）筛选候选向量，减少无关计算。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86500" y="1397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651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75500" y="1587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Top-K 优化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75500" y="20320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结合剪枝算法，仅保留与目标最相关的k个候选向量，降低计算复杂度。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10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746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查询缓存 (Caching)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1910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缓存高频查询的检索结果，减少重复计算，提升系统吞吐量。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3556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3810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75500" y="3746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并行化检索 (Parallelization)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75500" y="4191000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利用分布式技术（如Milvus）或GPU集群进行批量并行处理，降低整体延迟。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33900" y="635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 检索质量提升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88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651000" y="1778000"/>
            <a:ext cx="889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905000" y="1968500"/>
            <a:ext cx="838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通过分块、重写、重排序等策略，提升检索的相关性与准确性，为生成提供高质量上下文。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31750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68600" y="3429000"/>
            <a:ext cx="558800" cy="558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406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文本分块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444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合理分割文档，确保信息颗粒度适中，提升匹配精度。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1750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6600" y="34290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99000" y="406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查询重写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26000" y="444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优化用户提问，消除歧义，增强与知识库的语义关联。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747000" y="3175000"/>
            <a:ext cx="279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4600" y="3429000"/>
            <a:ext cx="558800" cy="558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747000" y="406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结果重排序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874000" y="444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利用交叉编码器等技术，对检索结果进行重新排序。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651000" y="5461000"/>
            <a:ext cx="8890000" cy="508000"/>
          </a:xfrm>
          <a:prstGeom prst="roundRect">
            <a:avLst>
              <a:gd name="adj" fmla="val 25000"/>
            </a:avLst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651000" y="5461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目标：构建精准、高效的上下文供给机制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6261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4.3.1 文本分块优化 - 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651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921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将长文档拆分为更小的逻辑单元，使检索系统能高效处理并定位与查询相关的上下文信息。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651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关键重要性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921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直接影响生成的质量和效率。过长易冗余或忽略关键信息；过短则可能丢失重要上下文。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651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执行原则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921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在保证上下文完整性的前提下，尽可能缩小检索范围，提高检索的相关性和系统响应速度。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总结：分块是检索的第一步，核心在于平衡“完整性”与“精准性”，避免信息丢失或冗余。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常见文本分块方法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732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固定长度分块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按字符数或词数分割，简单高效，但可能切断语义。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397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1587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054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基于句子分块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48200" y="2032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按句子分割，保留语义完整性，但块大小不一。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26400" y="1397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1587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37600" y="154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语义分块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80400" y="2032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利用语义模型判断相似度，动态分块，语义关联性强。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302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492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73200" y="345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标题/段落分块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393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基于文档结构分块，适合结构化文档，非结构化效果有限。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94200" y="3302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8200" y="3492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105400" y="345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滑动窗口分块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48200" y="393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使用重叠窗口分割，保留上下文连续性，但增加开销。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26400" y="3302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80400" y="3492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737600" y="345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策略选择建议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80400" y="393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根据具体场景需求平衡效率与语义完整性，推荐优先尝试语义分块。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16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基于语义的文本分块代码示例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524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87500" y="1397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利用句子嵌入模型生成语义向量，通过计算余弦相似度判断语义关联，动态划分文本块。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实现步骤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2413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317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3149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嵌入生成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556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将每个句子转换为高维语义向量，捕捉语义特征。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29000" y="3048000"/>
            <a:ext cx="2413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000" y="3175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937000" y="3149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相似度计算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56000" y="3556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计算当前句子与当前块代表向量的余弦相似度。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2413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000" y="4445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70000" y="4419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阈值判断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9000" y="4826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若相似度低于阈值则开启新块，否则合并。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429000" y="4318000"/>
            <a:ext cx="2413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56000" y="4445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3937000" y="4419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动态分块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556000" y="4826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遍历文本，逐步构建语义连贯的文本块集合。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1270000"/>
            <a:ext cx="5207000" cy="4191000"/>
          </a:xfrm>
          <a:prstGeom prst="roundRect">
            <a:avLst>
              <a:gd name="adj" fmla="val 3030"/>
            </a:avLst>
          </a:prstGeom>
          <a:solidFill>
            <a:srgbClr val="1E1E1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223000" y="1270000"/>
            <a:ext cx="5207000" cy="381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0" y="13716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604000" y="13716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858000" y="13716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112000" y="1270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semantic_chunking.py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1778000"/>
            <a:ext cx="4953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langchain_community.embeddings</a:t>
            </a: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US" sz="13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HuggingFaceEmbeddings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sklearn.metrics.pairwise</a:t>
            </a: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US" sz="13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cosine_similarity</a:t>
            </a:r>
            <a:endParaRPr lang="en-US" sz="1300" b="0" i="0" u="none" strike="noStrike">
              <a:solidFill>
                <a:srgbClr val="61AFE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model_name =</a:t>
            </a:r>
            <a:r>
              <a:rPr lang="en-US" sz="13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"bge-large-zh-v1.5"</a:t>
            </a:r>
            <a:endParaRPr lang="en-US" sz="1300" b="0" i="0" u="none" strike="noStrike">
              <a:solidFill>
                <a:srgbClr val="98C37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embeddings =</a:t>
            </a:r>
            <a:r>
              <a:rPr lang="en-US" sz="13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HuggingFaceEmbeddings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(model_name=model_name)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-US" sz="13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semantic_chunking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(texts, threshold=0.7):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chunks, current_chunk = [], [texts[0]]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current_embedding = embeddings.embed_query(current_chunk[0])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chunk</a:t>
            </a: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texts[1:]: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chunk_embedding = embeddings.embed_query(chunk)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 = cosine_similarity([current_embedding], [chunk_embedding])[0][0]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 &lt; threshold: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chunks.append(</a:t>
            </a:r>
            <a:r>
              <a:rPr lang="en-US" sz="13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 "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.join(current_chunk))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current_chunk = [chunk]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current_embedding = chunk_embedding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current_chunk.append(chunk)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current_chunk: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chunks.append(</a:t>
            </a:r>
            <a:r>
              <a:rPr lang="en-US" sz="13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 "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.join(current_chunk))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</a:t>
            </a:r>
            <a:r>
              <a:rPr lang="en-US" sz="1300" b="0" i="0" u="none" strike="noStrike">
                <a:solidFill>
                  <a:srgbClr val="DCDFE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chunks</a:t>
            </a:r>
            <a:endParaRPr lang="en-US" sz="1300" b="0" i="0" u="none" strike="noStrike">
              <a:solidFill>
                <a:srgbClr val="DCDFE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77BD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技术栈：Python, LangChain, HuggingFace, Scikit-learn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4.3.2 嵌入模型优化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778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54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模型选择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048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选择高质量的嵌入模型是提升检索效果的基础。推荐使用针对检索任务优化的模型，如BGE, Sentence-BERT等。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778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54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模型微调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048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在特定领域的数据集上对通用嵌入模型进行微调，可以显著提升该领域内的检索准确性。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778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54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模型评估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048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使用合适的评估指标（如召回率、精确率）对嵌入模型的性能进行评估，选择最优模型。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588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16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4.3.3 查询重写（Rewrite）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24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397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核心目的：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通过改写或扩展用户的原始查询，使其语义更清晰、更完整，从而增强检索的匹配全面性和召回率。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0100" y="2730500"/>
            <a:ext cx="762000" cy="762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556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改写 Rewrite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将模糊、口语化的查询改写为更规范、清晰的表达。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94200" y="2540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02300" y="2730500"/>
            <a:ext cx="762000" cy="762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21200" y="3556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扩展 Expand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根据上下文或常识，补充查询中缺失的关键信息。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26400" y="2540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4500" y="27305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153400" y="3556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澄清 Clarify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对于歧义查询，生成多个可能的解释进行检索。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953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826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通常利用大语言模型（LLM）强大的语义理解能力来自动完成查询重写，提升检索效率。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670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4.3.4 重排序器（Reranker）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651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921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对向量检索得到的初始结果进行重新排序，优先提供与查询最相关的内容。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651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技术原理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921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利用精细模型（如Cross-Encoder），对查询和候选文档进行深度交互与匹配度计算，修正近似算法的误差。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651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实际效果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921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显著提升检索结果的相关性，是弥补速度与精度矛盾、提升检索质量的关键步骤。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20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重排序器通过“慢而准”的模型对“快而糙”的检索结果进行二次精修，是现代检索系统中不可或缺的一环。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4.3.5 RRF融合方法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651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921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将多种不同检索策略（如不同嵌入模型、分块方式或查询重写结果）的排序结果进行融合，以提升最终结果的准确性和多样性。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651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计算原理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921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基于公式 1/(k+rank) 计算每个文档在不同排序中的分数，将所有分数相加得到融合分数，最终按此分数重新排序。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651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显著优势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921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综合利用多种检索策略的优点，有效避免单一策略的局限性，提升检索系统的鲁棒性和覆盖范围。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270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RRF（Ranked Retrieval Fusion）是一种简单而有效的融合方法，通过聚合多个来源的排名信息，解决单一检索策略可能存在的偏见或盲区。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4.3.6 多模态检索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651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921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综合处理文本、图像、音频、视频等多种模态数据的检索任务。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651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方法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921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结合数据融合技术，将不同模态数据映射到统一向量空间，实现跨模态检索（如文本查图、图查文本）。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651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921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极大地扩展了RAG系统的应用范围，使其能够处理更丰富的信息类型，生成更全面的回答。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270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打破单一模态限制，通过统一向量空间实现语义层面的深度匹配，提升系统的泛化能力与交互体验。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397000"/>
            <a:ext cx="10160000" cy="4064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1778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860800" y="2540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4.4 提示词工程优化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2321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77BD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778000" y="3556000"/>
            <a:ext cx="863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通过精心设计提示词，引导大语言模型生成更准确、更有用的回答。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914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4.4.1 提示词设计原则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00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清晰明确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明确告知模型任务目标和具体要求，避免模糊不清，确保指令无歧义。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600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简洁精炼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095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用最简洁的语言传达核心指令，去除冗余信息，减少干扰，提升效率。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65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600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095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使用编号、标题等清晰结构组织提示词，帮助模型理解逻辑层次。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556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759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包含上下文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254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将检索到的相关文档内容作为上下文提供给模型，增强回答的准确性。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3556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3810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207000" y="3759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示例引导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99000" y="4254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通过提供少样本示例，帮助模型理解期望的输出格式和内容风格。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8000" y="3556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0" y="3810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890000" y="3759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4254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通过优化提示词，让模型输出更精准、更符合预期的高质量结果。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4.4.2 模板化提示词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58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提高开发效率，保证不同查询下生成结果的格式和风格一致性。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302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23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设计方法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定义一个固定的提示词模板，其中包含静态的指令部分和动态的变量部分（如用户查询、检索到的上下文）。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65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158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模板示例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2095500"/>
            <a:ext cx="4572000" cy="2349500"/>
          </a:xfrm>
          <a:prstGeom prst="roundRect">
            <a:avLst>
              <a:gd name="adj" fmla="val 2702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731000" y="2222500"/>
            <a:ext cx="4318000" cy="209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请根据以下提供的上下文信息，回答用户的问题。回答应简洁、准确，并基于提供的上下文。</a:t>
            </a:r>
            <a:endParaRPr lang="en-US" sz="1100"/>
          </a:p>
          <a:p>
            <a:pPr indent="0" algn="l">
              <a:lnSpc>
                <a:spcPct val="108000"/>
              </a:lnSpc>
            </a:p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上下文：{context}</a:t>
            </a:r>
            <a:endParaRPr lang="en-US" sz="1400" b="1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用户问题：{question}</a:t>
            </a:r>
            <a:endParaRPr lang="en-US" sz="1400" b="1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回答：</a:t>
            </a:r>
            <a:endParaRPr lang="en-US" sz="1400" b="0" i="0" u="none" strike="noStrike">
              <a:solidFill>
                <a:srgbClr val="61616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70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60500" y="5207000"/>
            <a:ext cx="977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关键提示：</a:t>
            </a: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通过将静态指令与动态变量分离，我们可以构建出既灵活又可控的提示词系统，是实现大模型应用落地的最佳实践之一。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4.4.3 思维链提示（CoT）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6002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引导大语言模型逐步推理，展示思考过程，从而提升其在复杂逻辑推理任务上的表现。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794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7432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实现原理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通过明确要求“一步步思考”或提供推理示例，鼓励模型模仿人类思维，先分析问题，再逐步推导。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96000" y="1397000"/>
            <a:ext cx="5334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1651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94500" y="1600200"/>
            <a:ext cx="438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应用示例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095500"/>
            <a:ext cx="4826000" cy="1587500"/>
          </a:xfrm>
          <a:prstGeom prst="roundRect">
            <a:avLst>
              <a:gd name="adj" fmla="val 4000"/>
            </a:avLst>
          </a:prstGeom>
          <a:solidFill>
            <a:srgbClr val="F0F7FA">
              <a:alpha val="100000"/>
            </a:srgbClr>
          </a:solidFill>
          <a:ln w="12700" cap="flat" cmpd="sng">
            <a:solidFill>
              <a:srgbClr val="B3E5F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2159000"/>
            <a:ext cx="457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书架5层，每层放10本，已放3层，还能放多少？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</a:t>
            </a:r>
            <a:r>
              <a:rPr lang="en-US" sz="1400" b="0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先算总量：5×10=50；再算已放：3×10=30；最后相减：50-30=20。</a:t>
            </a:r>
            <a:endParaRPr lang="en-US" sz="1400" b="0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还能放20本书。</a:t>
            </a:r>
            <a:endParaRPr lang="en-US" sz="14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572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4381500"/>
            <a:ext cx="939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关键价值：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E0F7FA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通过让模型“自言自语”地展示思考路径，不仅显著提升了复杂问题的准确率，还增加了结果的可解释性和可信度，让AI的决策过程“有迹可循”。</a:t>
            </a:r>
            <a:endParaRPr lang="en-US" sz="1600" b="0" i="0" u="none" strike="noStrike">
              <a:solidFill>
                <a:srgbClr val="E0F7F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940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4.4.4 少样本提示（Few-shot）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24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4732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通过提供少量示例（1-5个），指导模型学习特定任务模式、输出格式或推理逻辑，无需大规模微调。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794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7432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设计要点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17000"/>
              </a:lnSpc>
              <a:buClr>
                <a:srgbClr val="757575"/>
              </a:buClr>
              <a:buChar char="•"/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代表性：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示例应能代表任务的典型情况。</a:t>
            </a:r>
            <a:endParaRPr lang="en-US" sz="1100"/>
          </a:p>
          <a:p>
            <a:pPr marL="203200" indent="-203200" algn="l">
              <a:lnSpc>
                <a:spcPct val="117000"/>
              </a:lnSpc>
              <a:buClr>
                <a:srgbClr val="757575"/>
              </a:buClr>
              <a:buChar char="•"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多样性：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示例应覆盖不同的场景或变化。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03200" indent="-203200" algn="l">
              <a:lnSpc>
                <a:spcPct val="117000"/>
              </a:lnSpc>
              <a:buClr>
                <a:srgbClr val="757575"/>
              </a:buClr>
              <a:buChar char="•"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清晰性：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示例的输入和输出应清晰明确。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270000"/>
            <a:ext cx="5207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524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858000" y="1473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应用示例：翻译任务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1968500"/>
            <a:ext cx="4699000" cy="2794000"/>
          </a:xfrm>
          <a:prstGeom prst="roundRect">
            <a:avLst>
              <a:gd name="adj" fmla="val 2272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04000" y="2095500"/>
            <a:ext cx="4445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任务指令：</a:t>
            </a: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请将以下句子翻译成英文。</a:t>
            </a:r>
            <a:endParaRPr lang="en-US" sz="1100"/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示例1：</a:t>
            </a:r>
            <a:endParaRPr lang="en-US" sz="1600" b="1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输入：我爱中国。</a:t>
            </a:r>
            <a:endParaRPr lang="en-US" sz="1600" b="0" i="0" u="none" strike="noStrike">
              <a:solidFill>
                <a:srgbClr val="61616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输出：I love China.</a:t>
            </a:r>
            <a:endParaRPr lang="en-US" sz="1600" b="0" i="0" u="none" strike="noStrike">
              <a:solidFill>
                <a:srgbClr val="61616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示例2：</a:t>
            </a:r>
            <a:endParaRPr lang="en-US" sz="1600" b="1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输入：今天天气很好。</a:t>
            </a:r>
            <a:endParaRPr lang="en-US" sz="1600" b="0" i="0" u="none" strike="noStrike">
              <a:solidFill>
                <a:srgbClr val="61616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输出：The weather is nice today.</a:t>
            </a:r>
            <a:endParaRPr lang="en-US" sz="1600" b="0" i="0" u="none" strike="noStrike">
              <a:solidFill>
                <a:srgbClr val="61616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用户输入：</a:t>
            </a:r>
            <a:r>
              <a:rPr lang="en-US" sz="16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我喜欢学习人工智能。</a:t>
            </a:r>
            <a:endParaRPr lang="en-US" sz="1600" b="0" i="0" u="none" strike="noStrike">
              <a:solidFill>
                <a:srgbClr val="61616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I like learning AI.</a:t>
            </a:r>
            <a:endParaRPr lang="en-US" sz="1600" b="1" i="0" u="none" strike="noStrike">
              <a:solidFill>
                <a:srgbClr val="0277B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5372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5486400"/>
            <a:ext cx="977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关键点：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少样本提示通过“示范”而非“训练”让模型快速适应新任务，是提升模型泛化能力的高效手段。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4.5 LLM模型优化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651000" y="1270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从模型选择、量化、微调、集成等方面，提升大语言模型的性能、效率和适用性。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2286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1500" y="24130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模型选择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619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根据场景需求选择合适的基座模型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683000" y="2159000"/>
            <a:ext cx="2286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24130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6830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量化蒸馏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10000" y="3619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降低推理成本，提升运行效率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159000"/>
            <a:ext cx="2286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5500" y="24130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3500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参数微调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3619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PEFT高效微调，增强领域适应性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17000" y="2159000"/>
            <a:ext cx="2286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42500" y="2413000"/>
            <a:ext cx="635000" cy="635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0170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模型集成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3619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结合多个模型优势，提升回答质量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4572000"/>
            <a:ext cx="10287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cap="flat" cmpd="sng">
            <a:solidFill>
              <a:srgbClr val="0066A4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270000" y="4762500"/>
            <a:ext cx="977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通过全方位的优化策略，构建高效、准确、低成本的大语言模型应用系统。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4.5.1 模型选择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24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任务需求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根据具体任务（如问答、摘要、创意写作）选择合适的模型。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0" y="1397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651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239000" y="1524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计算资源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考虑模型的大小、推理速度和硬件要求，平衡性能与成本。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279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048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2921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性能表现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评估模型在特定任务上的准确率、流畅度及生成质量。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0" y="279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048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39000" y="2921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开源/闭源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权衡开源模型的可定制性与闭源模型的高性能优势。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572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445000"/>
            <a:ext cx="952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专家建议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在满足性能要求的前提下，优先选择轻量级、开源的模型，以便于后续的优化和部署。这不仅能降低硬件成本，还能确保系统的灵活性和可维护性。</a:t>
            </a:r>
            <a:endParaRPr lang="en-US" sz="1600" b="0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4.5.2 量化与蒸馏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889000" cy="889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184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159000" y="1524000"/>
            <a:ext cx="901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模型量化 (Quantization)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通过降低模型权重的精度（如从FP32降至INT8或FP16），减少模型的内存占用和计算量，从而提升推理速度，降低部署成本。</a:t>
            </a:r>
            <a:endParaRPr lang="en-US" sz="18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889000" cy="889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3492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159000" y="3175000"/>
            <a:ext cx="901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模型蒸馏 (Distillation)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将一个大型、高性能的“教师模型”的知识迁移到一个小型、高效的“学生模型”中，使其在保持较高性能的同时拥有更快的推理速度。</a:t>
            </a:r>
            <a:endParaRPr lang="en-US" sz="18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953000"/>
            <a:ext cx="889000" cy="889000"/>
          </a:xfrm>
          <a:prstGeom prst="ellipse">
            <a:avLst/>
          </a:prstGeom>
          <a:solidFill>
            <a:srgbClr val="0277B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5143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159000" y="4826000"/>
            <a:ext cx="901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在尽量不损失模型性能的前提下，实现模型的轻量化和加速，使其能够部署在资源受限的环境中。</a:t>
            </a:r>
            <a:endParaRPr lang="en-US" sz="18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150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4.5.3 参数高效微调（PEFT）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651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92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冻结预训练模型大部分参数，仅微调少量新增参数（如LoRA矩阵），大幅降低计算成本与资源消耗。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651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常见方法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92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主流技术包括：</a:t>
            </a:r>
            <a:endParaRPr lang="en-US" sz="1100"/>
          </a:p>
          <a:p>
            <a:pPr marL="203200" indent="-203200" algn="l">
              <a:lnSpc>
                <a:spcPct val="108000"/>
              </a:lnSpc>
              <a:buClr>
                <a:srgbClr val="757575"/>
              </a:buClr>
              <a:buChar char="•"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LoRA (Low-Rank Adaptation)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03200" indent="-203200" algn="l">
              <a:lnSpc>
                <a:spcPct val="108000"/>
              </a:lnSpc>
              <a:buClr>
                <a:srgbClr val="757575"/>
              </a:buClr>
              <a:buChar char="•"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AdaLoRA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03200" indent="-203200" algn="l">
              <a:lnSpc>
                <a:spcPct val="108000"/>
              </a:lnSpc>
              <a:buClr>
                <a:srgbClr val="757575"/>
              </a:buClr>
              <a:buChar char="•"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Prefix Tuning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651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92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非常适合在特定领域的小数据集上对大模型进行微调，使其快速适应特定业务任务，实现降本增效。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PEFT技术通过“冻结大部分，微调小部分”的策略，解决了大模型全量微调成本高昂的痛点，是实现大模型落地应用的关键技术。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4.5.4 模型集成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651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841500" y="15240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841500" y="1905000"/>
            <a:ext cx="927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融合多个不同模型的预测结果，以提升最终输出的鲁棒性、准确性和多样性。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3048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41500" y="298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投票法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841500" y="3365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对多个模型的输出结果进行投票，选择得票最高的结果作为最终预测。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794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3048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02500" y="298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加权平均法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302500" y="3365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根据每个模型的性能表现，为其输出分配不同的权重，然后计算加权平均值。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826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500" y="5080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841500" y="49530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841500" y="5334000"/>
            <a:ext cx="927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可以弥补单一模型的不足，降低因模型选择不当或过拟合带来的风险，提升系统稳定性。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章节总结：源数据清洗与整合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651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857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数据是RAG系统的基石，高质量的数据是后续所有环节成功的前提。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651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关键步骤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857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通过清洗（处理缺失、重复、错误，标准化格式）提升数据质量；通过整合（多源、多模态）丰富数据维度。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651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重要性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857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“垃圾进，垃圾出”，数据质量直接决定了整个系统的上限。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080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953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章节回顾：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本章重点强调了数据清洗与整合的必要性，这是构建高性能知识库的第一步，也是最关键的一步。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625856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章节总结：向量数据库优化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24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397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核心要点：向量数据库是连接检索与生成的桥梁，其性能直接影响系统的响应速度和效率。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2476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6400" y="2730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62000" y="3429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存储优化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8735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采用高效的</a:t>
            </a:r>
            <a:b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Parquet存储格式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2540000"/>
            <a:ext cx="2476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6900" y="2730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492500" y="3429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压缩技术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38735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通过量化技术</a:t>
            </a:r>
            <a:b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降低内存占用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2540000"/>
            <a:ext cx="2476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7400" y="2730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223000" y="3429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算法优化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8735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应用IVF、PQ等</a:t>
            </a:r>
            <a:b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高效检索算法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53500" y="2540000"/>
            <a:ext cx="24765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67900" y="27305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953500" y="34290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工程技巧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80500" y="38735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预过滤、缓存机制</a:t>
            </a:r>
            <a:b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与并行计算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50800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651000" y="4953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优化目标：在保证检索精度的前提下，最大化提升检索速度，降低资源消耗。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章节总结：检索质量提升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651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92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检索质量是RAG系统的核心，决定了生成内容的相关性和准确性。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651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优化策略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92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通过优化文本分块、选择优质嵌入模型、重写查询、重排序结果及融合多种策略，全面提升召回率和精确率。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651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92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确保为生成模型提供最相关、最精准的上下文信息，提升回答质量。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总结：检索质量是 RAG 系统的基石，直接决定了最终生成内容的可靠性与价值。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章节总结：提示词与模型优化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651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提示词工程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857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通过遵循设计原则、使用模板、思维链和少样本提示等技巧，有效引导大语言模型生成高质量回答。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651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模型优化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2857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通过合理选择模型、进行量化蒸馏、参数高效微调以及模型集成，提升模型的性能、效率和适用性。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397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651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857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充分发挥大语言模型的能力，将高质量的检索结果转化为准确、有用的最终答案。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77BD">
              <a:alpha val="10000"/>
            </a:srgbClr>
          </a:solidFill>
          <a:ln w="12700" cap="flat" cmpd="sng">
            <a:solidFill>
              <a:srgbClr val="0277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495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提示词工程与模型优化是生成环节的两大核心驱动力，二者相辅相成，共同决定了最终生成答案的质量与效率。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790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460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3970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系统工程：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RAG优化涉及数据、检索、生成三个核心环节的协同优化，缺一不可。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3600" y="2603500"/>
            <a:ext cx="635000" cy="635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302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数据是基础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683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高质量、多维度的数据是一切优化的前提。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413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5800" y="2603500"/>
            <a:ext cx="6350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21200" y="3302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检索是关键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21200" y="3683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精准、高效的检索为生成提供高质量的上下文。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413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98000" y="26035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153400" y="3302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生成是核心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53400" y="3683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强大的模型和提示词工程将上下文转化为有价值的答案。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572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762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46990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持续迭代：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RAG系统的优化没有终点，需要根据实际应用效果不断迭代和改进。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842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540000" cy="2540000"/>
          </a:xfrm>
          <a:prstGeom prst="ellipse">
            <a:avLst/>
          </a:prstGeom>
          <a:solidFill>
            <a:srgbClr val="0277B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286000" y="1651000"/>
            <a:ext cx="762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77B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2032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540000" y="29210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277B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540000" y="36830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问答环节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5000" y="4318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77B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9122</Words>
  <Application>WPS 演示</Application>
  <PresentationFormat/>
  <Paragraphs>778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61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Consolas</vt:lpstr>
      <vt:lpstr>Menlo</vt:lpstr>
      <vt:lpstr>Source Code Pro</vt:lpstr>
      <vt:lpstr>Consolas</vt:lpstr>
      <vt:lpstr>Menlo</vt:lpstr>
      <vt:lpstr>Noto Sans SC</vt:lpstr>
      <vt:lpstr>Source Code Pro</vt:lpstr>
      <vt:lpstr>苹方-简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Soyoger</cp:lastModifiedBy>
  <cp:revision>1</cp:revision>
  <dcterms:created xsi:type="dcterms:W3CDTF">2026-03-15T04:13:29Z</dcterms:created>
  <dcterms:modified xsi:type="dcterms:W3CDTF">2026-03-15T04:13:29Z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51A1FD1D357151F7E831B669FA0F8391_42</vt:lpwstr>
  </property>
  <property fmtid="{D5CDD505-2E9C-101B-9397-08002B2CF9AE}" pid="3" name="KSOProductBuildVer">
    <vt:lpwstr>2052-7.2.1.8947</vt:lpwstr>
  </property>
</Properties>
</file>
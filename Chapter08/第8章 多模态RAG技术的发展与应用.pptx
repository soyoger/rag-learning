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9.svg" ContentType="image/svg+xml"/>
  <Override PartName="/ppt/media/image15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深入探讨一个前沿且重要的主题——第8章，基于RAG的多模态系统设计与实现。随着人工智能技术的飞速发展，单一模态的信息处理已经难以满足复杂的应用需求，多模态RAG技术应运而生，它结合了检索增强生成与多模态理解的优势，为我们带来了更强大的信息处理能力。在本章中，我们将系统地学习其原理、关键技术、模型实现以及实际应用，希望能帮助大家建立起对这一领域的全面而深入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开始之前，我们先来看一下本章的整体结构。本章内容将分为五个主要部分。首先，我们会从基础的多模态技术原理讲起，为后续内容打下理论基础。接着，我们会聚焦于视觉语言模型这一关键技术，并以Qwen 2.5-VL为例进行深入剖析和实践演示。之后，我们会介绍多模态嵌入模型。在此基础上，我们将进入本章的核心——多模态RAG系统的设计与实现，详细拆解其构建过程。最后，我们会通过一些应用案例来巩固所学知识，了解其在真实世界中的应用。希望这个清晰的脉络能帮助大家更好地吸收本章的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现在，我们进入第一个小节：8.1 多模态技术原理。在前面的学习中，我们了解了传统的RAG技术，它主要处理文本数据。但现实世界是丰富多彩的，我们接触到的信息不仅仅是文字，还有图像、声音、视频等等。因此，将RAG技术扩展到多模态领域，是其发展的必然趋势。这一小节，我们将从最基础的多模态技术原理入手，理解它是如何打破单一模态的限制，实现对复杂信息的全面理解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什么是多模态技术。简单来说，它就是让AI系统能够像人一样，同时处理和理解来自不同渠道的信息，比如我们看到的图片、听到的声音、读到的文字等等。它的核心目标，就是通过融合这些不同类型的信息，让AI系统变得更聪明、更强大。我们知道，早期的AI大多只能“看懂”文字或者“识别”图像，但多模态技术的出现，正是为了打破这种壁垒，让AI能够更全面地感知和理解我们所处的这个复杂世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了多模态技术的定义后，我们来深入其内部，看看它具体是如何工作的。第一个关键环节，就是如何表示不同模态的数据。我们知道，计算机只能处理数字。所以，无论是文字、图片还是声音，都必须先被“翻译”成数字形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对于文本，我们用BERT这类模型把它变成词向量；对于图像，我们用CNN或ViT提取它的视觉特征；对于声音，我们可以先把它变成声谱图，再当作图像来处理。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但更关键的一步是跨模态表示，也就是如何把这些不同来源的数字表示，放到同一个“坐标系”里去。只有这样，计算机才能知道“猫”这个词和一张猫的图片在语义上是相关的。这是实现多模态理解的基石。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统一的表示空间，接下来的问题就是如何让模型知道，这个空间里的哪些点是相关的。这就是模态对齐要解决的问题。比如说，我们给模型一张猫的图片和一句话“这是一只狗”，模型需要能够判断出这两者是不匹配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实现对齐的方法主要有三种：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显式对齐：就像是我们教孩子看图识字，用大量配对好的数据来训练。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隐式对齐：则更高级，它通过注意力机制，让模型自己去发现图片和文字之间的联系。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时序对齐：则是针对视频、音频这种有时间顺序的数据，确保画面和声音是同步的。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这一步是实现跨模态理解的关键。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完成了模态对齐，我们就进入了多模态技术的核心——模态融合。简单来说，就是把来自不同模态的信息“揉”在一起，形成一个更强大的综合信息。融合的时机和方式决定了最终效果。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早期融合是在最开始就把所有数据混在一起，简单直接但效果可能不好，容易产生维度灾难。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晚期融合则是让每个模态先独立处理，得出自己的结论，最后再综合这些结论，这种方式比较稳健，解释性也强。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而目前最主流、效果也最好的是中期融合，它在模型处理的中间阶段进行信息交换和整合，能够更好地捕捉模态间的复杂关系。这一步直接决定了模型能否真正“融会贯通”不同类型的信息。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除了理解信息，多模态技术还能进行信息的创造，这就是跨模态生成。它让模型能够根据一种类型的输入，生成另一种类型的输出。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比如，我们输入一段文字描述，模型就能为我们画出一幅画，这就是文生图；反过来，我们给模型看一张图，它能告诉我们图里有什么，这就是图生文。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此外，我们平时使用的语音转文字、文字转语音功能，也都属于跨模态生成的范畴。这一能力极大地拓展了AI的应用边界，让机器不仅能理解世界，还能创造内容。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谈谈多模态模型是如何被高效训练和应用的，这离不开预训练和微调这两个关键步骤。首先是预训练，我们用海量的、比如从互联网上收集的图文数据，去训练一个基础模型。这个过程就像是让模型在学校里学习通用知识，打下坚实的基础。然后是微调，当我们要把模型用在某个具体任务，比如医疗影像诊断时，我们不需要从头开始训练，只需要用少量的医疗相关数据，对预训练好的模型进行“再教育”，让它快速适应新的领域。此外，为了让模型能在手机等小设备上运行，我们还会用到模型蒸馏技术，把大模型的“智慧”浓缩到小模型里。这一套组合拳，是现代多模态模型能够高效落地的重要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了解了多模态技术的原理，我们再来看看它在现实世界中都有哪些具体的应用。可以说，多模态技术的应用已经渗透到了我们生活的方方面面。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电商领域，它让推荐系统更懂你，能根据你看过的图片和评价精准推荐商品；在智能驾驶领域，它是汽车的“眼睛”和“耳朵”，融合多种传感器数据，确保行车安全；在医疗领域，它帮助医生综合分析影像和病历，做出更准确的诊断；在我们日常使用的手机和智能音箱中，它实现了更自然的语音和视觉交互；甚至在艺术创作领域，它也能成为创作者的得力助手。这些应用充分展示了多模态技术的巨大价值和潜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多模态技术前景广阔，但也并非一帆风顺。我们来客观地看一下它的优势和面临的挑战。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优势方面，它能让AI更全面地理解信息，做出更准确的判断，并且能提供更自然的交互方式，这些都是单一模态技术难以比拟的。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挑战也同样严峻。首先，如何把差异巨大的不同模态数据真正融合好，是一个技术上的核心难题。其次，训练和运行这些复杂的模型需要巨大的计算资源，成本很高。再者，高质量的训练数据非常稀缺，获取和标注都很困难。最后，让模型真正具备像人一样的推理能力，而不仅仅是表面的关联，这仍然是我们需要不断努力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面临挑战，但多模态技术的未来发展方向是明确且令人期待的。未来，我们会看到模型越来越“聪明”，能够通过自监督学习从海量数据中自己学知识，或者仅用少量例子就掌握新技能。它们的推理和创造能力也会更强，能理解更复杂的逻辑，并生成更逼真的内容。同时，模型会变得越来越“小巧”，通过模型压缩技术，我们可以在手机等小设备上运行强大的多模态AI。更重要的是，多模态技术将深入到各行各业，与具体业务深度融合，最终成为我们工作和生活中不可或缺的智能伙伴，辅助我们做出更明智的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接下来，我们进入第二个重要的小节：8.2 视觉语言模型，也就是VLM。如果说多模态技术是AI感知世界的“五官”，那么视觉语言模型就是连接“眼睛”（视觉）和“语言中枢”（文本）的关键桥梁。它让AI不仅能“看到”图像，还能“读懂”图像中的内容，并能用语言描述出来，或者根据语言指令去分析图像。这一小节，我们将首先了解VLM的基本情况，然后，我们会以一个非常强大的开源模型——Qwen 2.5-VL为例，进行深入的技术剖析和实战演示，看看如何在自己的电脑上运行这样一个模型。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什么是视觉语言模型。简单来说，它就是一个既能“看”又能“说”的AI模型。它的核心任务，就是建立图像和文字之间的联系，让计算机能够理解“这张图里有一只猫”这句话和一张猫的图片在语义上是等价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回顾VLM的发展历程，它从最初只能简单描述图片内容，到后来通过大规模预训练具备了强大的泛化能力，再到如今能够根据文字生成逼真的图像，每一步都代表着技术的巨大进步。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现在，VLM已经被广泛应用于图像搜索、智能问答、内容创作等多个领域，成为了多模态AI的核心技术之一。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理论讲完了，我们现在进入实战环节。我们将以阿里云推出的Qwen 2.5-VL模型为例，来看看如何进行本地推理。首先，简单介绍一下这个模型。Qwen 2.5-VL是一个非常强大的多模态模型，它不仅能处理图片，还能理解长达一小时的视频内容。它采用了一些先进的技术，比如动态帧率采样和窗口注意力机制，这让它在处理长视频和大分辨率图像时效率更高。它的能力也非常全面，能识别图片里的文字、图表，甚至能像个小助手一样帮我们操作电脑和手机。官方提供了不同参数大小的版本，我们可以根据自己的硬件条件来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要在自己的电脑上运行Qwen 2.5-VL，第一步当然是把模型的“大脑”——也就是模型权重文件下载下来。这里我们推荐使用阿里的魔搭平台，它就像一个AI模型的应用商店，非常方便。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需要安装它的Python工具包。然后，有两种方式可以下载模型：一种是直接在命令行里输入一条指令，非常快捷；另一种是用Python代码来下载，适合需要自动化处理的场景。大家可以看到屏幕上的具体命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需要注意的是，这个模型文件很大，下载前请确保你的硬盘有足够空间，并且网络连接稳定。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下载模型可能需要一些时间，在等待的同时，我们可以先通过在线API来尝鲜。魔搭平台提供了非常方便的在线推理服务，我们不需要自己的电脑有强大的GPU，就能直接调用Qwen 2.5-VL的能力。它的API接口和我们熟悉的OpenAI很像，所以我们可以直接用OpenAI的Python库来调用。大家可以看屏幕上的代码示例，只需要替换成自己在魔搭平台获取的API密钥和要分析的图片地址，就能快速得到模型的回复。这对于快速验证想法、进行原型开发非常有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现在假设模型已经下载完成，我们来进行本地推理的实战。首先，我们需要安装一些必要的Python库，包括最新版的Transformers和Qwen的工具包。然后，通过代码加载我们下载好的模型文件和对应的处理器。处理器的作用是帮我们把图片和文字转换成模型能理解的格式。接下来，我们构造一个输入，比如给模型一张图片和一个问题。最后，运行推理代码，模型就会在我们的本地GPU上进行计算，并给出回答。需要强调的是，本地推理对硬件有一定要求，至少需要一块性能不错的NVIDIA显卡和相应的驱动环境。这个过程虽然比在线调用复杂一些，但能让我们完全掌控数据和模型，非常适合进行深入的研究和开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了视觉语言模型之后，我们现在来了解多模态RAG系统中的另一个核心组件：多模态嵌入模型。如果说VLM是负责理解和生成的“大脑”，那么多模态嵌入模型就是负责建立“索引”的“图书管理员”。它的主要工作，就是把我们知识库中的每一份资料，无论是一篇文章、一张图片还是一个视频片段，都转换成一串数字，也就是向量。同样，用户的查询也会被转换成向量。这样，系统就可以通过比较向量之间的相似度，快速地从知识库中找到与用户查询最相关的资料。这一小节，我们就来深入了解这个“图书管理员”是如何工作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多模态嵌入模型的定义和作用。简单来说，它的任务就是“翻译”，把各种不同类型的信息，比如文字和图片，都翻译成同一种“语言”——也就是向量。在这个向量空间里，意思相近的内容，它们的向量就离得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这样做的好处非常明显：首先，它让我们可以对不同类型的信息进行比较；其次，基于向量的检索非常高效，可以在瞬间从海量数据中找到我们需要的信息。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需要区分一下它和我们之前学的VLM：VLM更像是个“全才”，能理解能创造；而嵌入模型更像是个“专家”，专精于生成用于检索的高质量向量。当然，很多强大的VLM本身也具备优秀的嵌入能力，所以在实际应用中，它们经常是同一个模型的不同应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本概念后，我们来看几个业界非常有代表性的多模态嵌入模型。首先是OpenAI的CLIP，它可以说是这个领域的“开山鼻祖”，通过对比学习的方法，让模型学会了图文之间的关联，影响力巨大。然后是Salesforce的ALBEF和BLIP系列，它们在模型效率和性能上做了很多优化，特别是BLIP-2，它巧妙地引入了一个Q-Former作为中间桥梁，让我们可以很方便地把视觉模型和各种语言大模型结合起来。最后，还有我们熟悉的阿里云的Qwen-VL，它不仅是一个优秀的VLM，也提供了强大的嵌入能力，并且对中文场景进行了特别优化，非常适合我们国内的开发者使用。这些模型各有千秋，我们可以根据具体的应用场景和需求来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好了，前面的知识铺垫已经完成，现在我们将进入本章最核心、最激动人心的部分：8.4 多模态RAG系统的设计与实现。如果说前面学的多模态技术、VLM和嵌入模型是一块块的“砖”，那么这一小节，我们就要学习如何用这些“砖”来搭建一座宏伟的“大厦”——一个完整的多模态RAG系统。这个系统将不仅能理解文字问题，还能看懂图片，然后从我们的多模态知识库中找到最相关的资料，最后生成一个结合了图文信息的、高质量的回答。接下来，我们将一步一步地拆解这个系统的结构，并学习如何亲手实现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首先，我们来宏观地看一下一个多模态RAG系统的整体架构。它主要由四个核心模块组成，像一条流水线一样协同工作。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第一个是“多模态数据预处理模块”，它的工作是把我们收集到的各种原始资料，比如PDF、图片、网页，进行清洗和拆解，变成系统能处理的结构化数据。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第二个是“多模态嵌入与索引模块”，这是我们之前学的嵌入模型大显身手的地方，它把所有资料都转换成向量，并在向量数据库里建立好索引，方便快速查找。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第三个是“多模态检索模块”，当用户提出问题时，它会把问题也转换成向量，然后去向量数据库里“大海捞针”，找出最相关的资料。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最后一个是“多模态生成模块”，它把用户的问题和找到的资料组合起来，交给VLM这个“大脑”，由它来生成最终的、结合了知识库信息的回答。这四个模块环环相扣，共同构成了一个完整的多模态RAG系统。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开始一步步地实现多模态RAG系统。第一步，也是非常关键的一步，是数据准备和预处理。巧妇难为无米之炊，我们首先得有“米”，也就是我们的知识库数据。这些数据可以来自各种地方，比如产品手册、学术论文、公司内部文档等，格式也多种多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拿到这些原始数据后，我们需要对它们进行“清洗”和“切割”。对于文本，我们要把它从PDF或Word里提取出来，然后分割成一个个小的、意思完整的“文本块”，太长的文本不利于后续的精准检索。对于图片，我们要把它们从各种文件里提取出来，统一格式和大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最后，我们要把这些处理好的文本块和图片有条理地存起来，并给它们贴上标签，方便后续管理。这一步虽然繁琐，但直接决定了我们整个系统的“知识储备”质量。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数据准备好了，接下来就是构建我们的“知识索引”——也就是向量数据库。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首先，我们要选一个合适的多模态嵌入模型，记住，索引和检索时必须用同一个模型，否则向量就无法比较了。例如中文场景选Qwen-VL，通用场景选CLIP。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然后，我们用这个模型，把上一步处理好的所有文本块和图片都转换成向量。这个过程可能需要一些时间，尤其是数据量很大的时候，最好能用上GPU来加速。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向量生成好之后，我们需要一个专门的“容器”来存放和管理它们，这就是向量数据库。市面上有很多选择，从简单的FAISS到功能强大的Milvus，再到云服务Pinecone，我们可以根据自己的需求来选。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最后，我们把所有的向量和它们对应的原始数据信息一起存入数据库，数据库会自动为我们建立好索引。这样，我们的“知识宝库”就搭建完成了，随时准备为用户的查询提供服务。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的“知识宝库”已经建好，接下来就是实现“寻宝”的功能——也就是多模态检索。当用户提出一个问题，比如“这个产品的XX功能怎么用？”并可能附上一张产品图片时，我们的系统首先要理解这个查询。它会判断用户输入的是文字还是图片，然后用和之前一样的嵌入模型，把这个查询也转换成一个向量。接着，系统会拿着这个“寻宝图”（查询向量），去我们的向量数据库里搜索，找出和它最像的几个“宝藏”（知识片段）。数据库会根据向量的相似度进行排序，把最相关的结果返回给我们。最后，我们把这些找到的文本和图片整理一下，就可以交给下一个模块——生成模块，让它来生成最终的回答了。这一步的关键在于确保查询向量和知识库向量是“同一种语言”，也就是使用同一个嵌入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找到了相关的资料，现在就到了最后一步：生成回答。这一步的关键在于“提示词工程”。我们不能简单地把用户的问题和找到的资料丢给模型，而是要像一个老师指导学生写作文一样，给模型一个清晰的“提示词”。这个提示词要明确告诉模型：“你的任务是根据我给你的这些资料，来回答用户的这个问题。”并且，要把用户的问题和找到的文本、图片资料清晰地组织在提示词里。然后，我们把这个精心构造的提示词和相关的图片一起，发送给VLM模型。模型会结合它自己的知识和我们提供的资料，生成一个准确、详实的回答。最后，我们把模型生成的文字和对应的图片整理好，展示给用户，这样一次完整的多模态RAG交互就完成了。提示词的设计非常重要，好的提示词能让模型的回答质量提升一个档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了多模态RAG系统的设计与实现，我们来看看它在现实世界中都有哪些具体的应用。理论联系实际，才能真正掌握知识。多模态RAG技术的应用范围非常广泛，只要是需要处理大量多模态资料，并基于这些资料进行智能问答或内容生成的场景，都可以发挥它的作用。在这一小节，我们将通过几个具体的案例，来看看多模态RAG是如何在智能客服、医疗诊断辅助、教育学习等领域大显身手的。希望这些案例能给大家带来启发，帮助大家思考如何将所学的技术应用到自己的研究或工作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案例，我们来看智能产品顾问。想象一下，你买了一个新电子产品，有很多功能不会用，或者想了解某个具体参数，这时候你可以直接拍照并提问，AI客服就能立刻给你准确的答案和相关的图片说明。这背后就是多模态RAG在工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首先，我们把产品的所有说明书、图片、参数表都处理后存入向量数据库。当用户提问时，系统会去数据库里找到最相关的资料，然后由VLM生成结合了文本和图片的回答。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这个应用不仅能大大提升用户的咨询体验，还能为企业节省大量的客服成本，并且保证了信息的准确性和一致性。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第二个案例，我们来看一个更具挑战性的应用：医疗影像辅助诊断。医生在分析一张CT或X光片时，需要结合自己的经验、患者的病历以及最新的医学研究。多模态RAG系统可以成为医生的得力助手。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把海量的医学影像数据、病历资料和学术论文构建成一个知识库。当医生上传一张患者的影像并提出问题时，系统会迅速检索出相似的病例和相关的医学知识，然后由专业的医疗VLM生成一份详细的分析报告，指出可能的问题，并给出参考意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这个应用虽然不能替代医生的最终诊断，但它可以极大地提升诊断效率，减少误诊的可能性，特别是对于基层医疗机构来说，能带来非常大的帮助。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案例，我们来看看多模态RAG在教育领域的应用——智能教育辅导系统。学生在学习时，经常会遇到各种问题，传统的答疑方式可能不够及时或个性化。基于多模态RAG的辅导系统可以很好地解决这个问题。我们将教材、课件、习题解析等都纳入知识库。当学生遇到一道难题，拍下题目并提问时，系统会立刻找到相关的知识点讲解和相似的例题，然后为学生提供详细的、一步步的解答和分析，还能配上相关的图表。这不仅能做到即时答疑，还能根据学生的具体问题提供个性化的辅导，帮助他们真正理解和掌握知识，同时也能大大减轻老师的重复劳动负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对第八章的内容进行一个简要的总结。在这一章里，我们从多模态技术的基本原理出发，了解了它是如何让AI理解不同类型信息的。然后，我们深入学习了两个核心模型：负责理解和生成的VLM，以及负责建立索引的多模态嵌入模型，并亲手实践了Qwen 2.5-VL的本地推理。接着，我们详细拆解了多模态RAG系统的完整架构，并一步步学习了如何实现它。最后，通过几个生动的应用案例，我们看到了这项技术在现实世界中的巨大价值。总而言之，多模态RAG技术通过融合多源信息，极大地增强了AI的能力，是通往更智能、更通用人工智能的重要一步。希望通过本章的学习，大家能够对多模态RAG技术有一个全面而深入的理解，并能将其应用到实际的研究和工作中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就全部结束了。非常感谢大家的认真聆听。在课程的最后，我们留出一些时间进行问答环节。如果大家对今天讲的多模态RAG技术有任何疑问，或者有自己的想法和见解，都欢迎提出来，我们一起交流和探讨。再次感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.svg"/><Relationship Id="rId11" Type="http://schemas.openxmlformats.org/officeDocument/2006/relationships/image" Target="../media/image11.png"/><Relationship Id="rId10" Type="http://schemas.openxmlformats.org/officeDocument/2006/relationships/image" Target="../media/image27.sv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svg"/><Relationship Id="rId7" Type="http://schemas.openxmlformats.org/officeDocument/2006/relationships/image" Target="../media/image32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7.sv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27.svg"/><Relationship Id="rId3" Type="http://schemas.openxmlformats.org/officeDocument/2006/relationships/image" Target="../media/image34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23.svg"/><Relationship Id="rId7" Type="http://schemas.openxmlformats.org/officeDocument/2006/relationships/image" Target="../media/image42.png"/><Relationship Id="rId6" Type="http://schemas.openxmlformats.org/officeDocument/2006/relationships/image" Target="../media/image19.svg"/><Relationship Id="rId5" Type="http://schemas.openxmlformats.org/officeDocument/2006/relationships/image" Target="../media/image41.png"/><Relationship Id="rId4" Type="http://schemas.openxmlformats.org/officeDocument/2006/relationships/image" Target="../media/image21.svg"/><Relationship Id="rId3" Type="http://schemas.openxmlformats.org/officeDocument/2006/relationships/image" Target="../media/image40.png"/><Relationship Id="rId2" Type="http://schemas.openxmlformats.org/officeDocument/2006/relationships/image" Target="../media/image15.sv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.svg"/><Relationship Id="rId1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15.svg"/><Relationship Id="rId1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4.svg"/><Relationship Id="rId7" Type="http://schemas.openxmlformats.org/officeDocument/2006/relationships/image" Target="../media/image53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7.svg"/><Relationship Id="rId11" Type="http://schemas.openxmlformats.org/officeDocument/2006/relationships/image" Target="../media/image56.png"/><Relationship Id="rId10" Type="http://schemas.openxmlformats.org/officeDocument/2006/relationships/image" Target="../media/image55.svg"/><Relationship Id="rId1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27.svg"/><Relationship Id="rId7" Type="http://schemas.openxmlformats.org/officeDocument/2006/relationships/image" Target="../media/image34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31.svg"/><Relationship Id="rId15" Type="http://schemas.openxmlformats.org/officeDocument/2006/relationships/image" Target="../media/image70.png"/><Relationship Id="rId14" Type="http://schemas.openxmlformats.org/officeDocument/2006/relationships/image" Target="../media/image69.svg"/><Relationship Id="rId13" Type="http://schemas.openxmlformats.org/officeDocument/2006/relationships/image" Target="../media/image68.png"/><Relationship Id="rId12" Type="http://schemas.openxmlformats.org/officeDocument/2006/relationships/image" Target="../media/image67.svg"/><Relationship Id="rId11" Type="http://schemas.openxmlformats.org/officeDocument/2006/relationships/image" Target="../media/image66.png"/><Relationship Id="rId10" Type="http://schemas.openxmlformats.org/officeDocument/2006/relationships/image" Target="../media/image65.svg"/><Relationship Id="rId1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png"/><Relationship Id="rId8" Type="http://schemas.openxmlformats.org/officeDocument/2006/relationships/image" Target="../media/image72.svg"/><Relationship Id="rId7" Type="http://schemas.openxmlformats.org/officeDocument/2006/relationships/image" Target="../media/image71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27.svg"/><Relationship Id="rId3" Type="http://schemas.openxmlformats.org/officeDocument/2006/relationships/image" Target="../media/image34.png"/><Relationship Id="rId2" Type="http://schemas.openxmlformats.org/officeDocument/2006/relationships/image" Target="../media/image31.sv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4.svg"/><Relationship Id="rId1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31.svg"/><Relationship Id="rId1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31.svg"/><Relationship Id="rId1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image" Target="../media/image4.svg"/><Relationship Id="rId7" Type="http://schemas.openxmlformats.org/officeDocument/2006/relationships/image" Target="../media/image53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80.sv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86.svg"/><Relationship Id="rId11" Type="http://schemas.openxmlformats.org/officeDocument/2006/relationships/image" Target="../media/image85.png"/><Relationship Id="rId10" Type="http://schemas.openxmlformats.org/officeDocument/2006/relationships/image" Target="../media/image84.svg"/><Relationship Id="rId1" Type="http://schemas.openxmlformats.org/officeDocument/2006/relationships/image" Target="../media/image7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94.svg"/><Relationship Id="rId7" Type="http://schemas.openxmlformats.org/officeDocument/2006/relationships/image" Target="../media/image93.png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" Type="http://schemas.openxmlformats.org/officeDocument/2006/relationships/image" Target="../media/image88.sv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6.svg"/><Relationship Id="rId1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0.svg"/><Relationship Id="rId3" Type="http://schemas.openxmlformats.org/officeDocument/2006/relationships/image" Target="../media/image99.png"/><Relationship Id="rId2" Type="http://schemas.openxmlformats.org/officeDocument/2006/relationships/image" Target="../media/image98.svg"/><Relationship Id="rId1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104.svg"/><Relationship Id="rId7" Type="http://schemas.openxmlformats.org/officeDocument/2006/relationships/image" Target="../media/image103.png"/><Relationship Id="rId6" Type="http://schemas.openxmlformats.org/officeDocument/2006/relationships/image" Target="../media/image19.svg"/><Relationship Id="rId5" Type="http://schemas.openxmlformats.org/officeDocument/2006/relationships/image" Target="../media/image41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100.sv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6.svg"/><Relationship Id="rId1" Type="http://schemas.openxmlformats.org/officeDocument/2006/relationships/image" Target="../media/image9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6.svg"/><Relationship Id="rId7" Type="http://schemas.openxmlformats.org/officeDocument/2006/relationships/image" Target="../media/image75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2.svg"/><Relationship Id="rId3" Type="http://schemas.openxmlformats.org/officeDocument/2006/relationships/image" Target="../media/image11.png"/><Relationship Id="rId2" Type="http://schemas.openxmlformats.org/officeDocument/2006/relationships/image" Target="../media/image36.sv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107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3.svg"/><Relationship Id="rId7" Type="http://schemas.openxmlformats.org/officeDocument/2006/relationships/image" Target="../media/image112.png"/><Relationship Id="rId6" Type="http://schemas.openxmlformats.org/officeDocument/2006/relationships/image" Target="../media/image27.svg"/><Relationship Id="rId5" Type="http://schemas.openxmlformats.org/officeDocument/2006/relationships/image" Target="../media/image34.png"/><Relationship Id="rId4" Type="http://schemas.openxmlformats.org/officeDocument/2006/relationships/image" Target="../media/image111.svg"/><Relationship Id="rId3" Type="http://schemas.openxmlformats.org/officeDocument/2006/relationships/image" Target="../media/image110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20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6.svg"/><Relationship Id="rId7" Type="http://schemas.openxmlformats.org/officeDocument/2006/relationships/image" Target="../media/image115.png"/><Relationship Id="rId6" Type="http://schemas.openxmlformats.org/officeDocument/2006/relationships/image" Target="../media/image38.svg"/><Relationship Id="rId5" Type="http://schemas.openxmlformats.org/officeDocument/2006/relationships/image" Target="../media/image114.png"/><Relationship Id="rId4" Type="http://schemas.openxmlformats.org/officeDocument/2006/relationships/image" Target="../media/image27.svg"/><Relationship Id="rId3" Type="http://schemas.openxmlformats.org/officeDocument/2006/relationships/image" Target="../media/image34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88.svg"/><Relationship Id="rId1" Type="http://schemas.openxmlformats.org/officeDocument/2006/relationships/image" Target="../media/image8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.svg"/><Relationship Id="rId7" Type="http://schemas.openxmlformats.org/officeDocument/2006/relationships/image" Target="../media/image53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120.svg"/><Relationship Id="rId3" Type="http://schemas.openxmlformats.org/officeDocument/2006/relationships/image" Target="../media/image119.png"/><Relationship Id="rId2" Type="http://schemas.openxmlformats.org/officeDocument/2006/relationships/image" Target="../media/image118.svg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21.svg"/><Relationship Id="rId7" Type="http://schemas.openxmlformats.org/officeDocument/2006/relationships/image" Target="../media/image40.png"/><Relationship Id="rId6" Type="http://schemas.openxmlformats.org/officeDocument/2006/relationships/image" Target="../media/image122.svg"/><Relationship Id="rId5" Type="http://schemas.openxmlformats.org/officeDocument/2006/relationships/image" Target="../media/image121.png"/><Relationship Id="rId4" Type="http://schemas.openxmlformats.org/officeDocument/2006/relationships/image" Target="../media/image118.svg"/><Relationship Id="rId3" Type="http://schemas.openxmlformats.org/officeDocument/2006/relationships/image" Target="../media/image117.png"/><Relationship Id="rId2" Type="http://schemas.openxmlformats.org/officeDocument/2006/relationships/image" Target="../media/image120.svg"/><Relationship Id="rId12" Type="http://schemas.openxmlformats.org/officeDocument/2006/relationships/notesSlide" Target="../notesSlides/notesSlide2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4.svg"/><Relationship Id="rId1" Type="http://schemas.openxmlformats.org/officeDocument/2006/relationships/image" Target="../media/image11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6.svg"/><Relationship Id="rId7" Type="http://schemas.openxmlformats.org/officeDocument/2006/relationships/image" Target="../media/image125.png"/><Relationship Id="rId6" Type="http://schemas.openxmlformats.org/officeDocument/2006/relationships/image" Target="../media/image120.svg"/><Relationship Id="rId5" Type="http://schemas.openxmlformats.org/officeDocument/2006/relationships/image" Target="../media/image119.png"/><Relationship Id="rId4" Type="http://schemas.openxmlformats.org/officeDocument/2006/relationships/image" Target="../media/image118.svg"/><Relationship Id="rId3" Type="http://schemas.openxmlformats.org/officeDocument/2006/relationships/image" Target="../media/image117.png"/><Relationship Id="rId2" Type="http://schemas.openxmlformats.org/officeDocument/2006/relationships/image" Target="../media/image67.sv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0.svg"/><Relationship Id="rId7" Type="http://schemas.openxmlformats.org/officeDocument/2006/relationships/image" Target="../media/image129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" Type="http://schemas.openxmlformats.org/officeDocument/2006/relationships/image" Target="../media/image128.svg"/><Relationship Id="rId10" Type="http://schemas.openxmlformats.org/officeDocument/2006/relationships/notesSlide" Target="../notesSlides/notesSlide26.xml"/><Relationship Id="rId1" Type="http://schemas.openxmlformats.org/officeDocument/2006/relationships/image" Target="../media/image127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6.svg"/><Relationship Id="rId7" Type="http://schemas.openxmlformats.org/officeDocument/2006/relationships/image" Target="../media/image135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132.svg"/><Relationship Id="rId10" Type="http://schemas.openxmlformats.org/officeDocument/2006/relationships/notesSlide" Target="../notesSlides/notesSlide27.xml"/><Relationship Id="rId1" Type="http://schemas.openxmlformats.org/officeDocument/2006/relationships/image" Target="../media/image13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39.png"/><Relationship Id="rId4" Type="http://schemas.openxmlformats.org/officeDocument/2006/relationships/image" Target="../media/image140.svg"/><Relationship Id="rId3" Type="http://schemas.openxmlformats.org/officeDocument/2006/relationships/image" Target="../media/image139.png"/><Relationship Id="rId2" Type="http://schemas.openxmlformats.org/officeDocument/2006/relationships/image" Target="../media/image138.svg"/><Relationship Id="rId1" Type="http://schemas.openxmlformats.org/officeDocument/2006/relationships/image" Target="../media/image137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.svg"/><Relationship Id="rId7" Type="http://schemas.openxmlformats.org/officeDocument/2006/relationships/image" Target="../media/image53.png"/><Relationship Id="rId6" Type="http://schemas.openxmlformats.org/officeDocument/2006/relationships/image" Target="../media/image144.svg"/><Relationship Id="rId5" Type="http://schemas.openxmlformats.org/officeDocument/2006/relationships/image" Target="../media/image143.png"/><Relationship Id="rId4" Type="http://schemas.openxmlformats.org/officeDocument/2006/relationships/image" Target="../media/image142.svg"/><Relationship Id="rId3" Type="http://schemas.openxmlformats.org/officeDocument/2006/relationships/image" Target="../media/image141.png"/><Relationship Id="rId2" Type="http://schemas.openxmlformats.org/officeDocument/2006/relationships/image" Target="../media/image120.sv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2.svg"/><Relationship Id="rId7" Type="http://schemas.openxmlformats.org/officeDocument/2006/relationships/image" Target="../media/image147.png"/><Relationship Id="rId6" Type="http://schemas.openxmlformats.org/officeDocument/2006/relationships/image" Target="../media/image146.svg"/><Relationship Id="rId5" Type="http://schemas.openxmlformats.org/officeDocument/2006/relationships/image" Target="../media/image145.png"/><Relationship Id="rId4" Type="http://schemas.openxmlformats.org/officeDocument/2006/relationships/image" Target="../media/image31.svg"/><Relationship Id="rId3" Type="http://schemas.openxmlformats.org/officeDocument/2006/relationships/image" Target="../media/image70.png"/><Relationship Id="rId2" Type="http://schemas.openxmlformats.org/officeDocument/2006/relationships/image" Target="../media/image120.svg"/><Relationship Id="rId10" Type="http://schemas.openxmlformats.org/officeDocument/2006/relationships/notesSlide" Target="../notesSlides/notesSlide30.xml"/><Relationship Id="rId1" Type="http://schemas.openxmlformats.org/officeDocument/2006/relationships/image" Target="../media/image11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4.svg"/><Relationship Id="rId5" Type="http://schemas.openxmlformats.org/officeDocument/2006/relationships/image" Target="../media/image143.png"/><Relationship Id="rId4" Type="http://schemas.openxmlformats.org/officeDocument/2006/relationships/image" Target="../media/image149.svg"/><Relationship Id="rId3" Type="http://schemas.openxmlformats.org/officeDocument/2006/relationships/image" Target="../media/image148.png"/><Relationship Id="rId2" Type="http://schemas.openxmlformats.org/officeDocument/2006/relationships/image" Target="../media/image120.svg"/><Relationship Id="rId1" Type="http://schemas.openxmlformats.org/officeDocument/2006/relationships/image" Target="../media/image119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152.svg"/><Relationship Id="rId7" Type="http://schemas.openxmlformats.org/officeDocument/2006/relationships/image" Target="../media/image151.png"/><Relationship Id="rId6" Type="http://schemas.openxmlformats.org/officeDocument/2006/relationships/image" Target="../media/image8.svg"/><Relationship Id="rId5" Type="http://schemas.openxmlformats.org/officeDocument/2006/relationships/image" Target="../media/image150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3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54.svg"/><Relationship Id="rId1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6.svg"/><Relationship Id="rId1" Type="http://schemas.openxmlformats.org/officeDocument/2006/relationships/image" Target="../media/image1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625600" y="2540000"/>
            <a:ext cx="8940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第8章 基于RAG的多模态系统设计与实现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286000" y="3683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大学教学课件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00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人工智能与大数据系列课程 · 2024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01752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本章内容概览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002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498600"/>
            <a:ext cx="9525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多模态技术原理：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回顾基本概念、核心原理、广泛应用及未来发展趋势。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876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908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489200"/>
            <a:ext cx="9525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视觉语言模型 (VLM)：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以Qwen 2.5-VL为例，讲解模型特性和本地推理实现方法。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3782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5814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479800"/>
            <a:ext cx="9525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多模态嵌入模型：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探讨发展历程、分类体系以及典型模型的实际应用场景。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3688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72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470400"/>
            <a:ext cx="9525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多模态RAG系统设计与实现：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详解系统架构、关键模块及完整的构建实现步骤。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594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5626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461000"/>
            <a:ext cx="9525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应用案例与实践：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通过具体案例，理解多模态RAG技术在实际场景中的价值。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 多模态技术原理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14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667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2286000"/>
            <a:ext cx="8763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spcAft>
                <a:spcPts val="1500"/>
              </a:spcAft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背景与趋势：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随着RAG技术的发展，单一文本依赖已难以满足需求，多模态RAG正成为主流趋势。</a:t>
            </a:r>
            <a:endParaRPr lang="en-US" sz="1100"/>
          </a:p>
          <a:p>
            <a:pPr indent="0" algn="l">
              <a:lnSpc>
                <a:spcPct val="108000"/>
              </a:lnSpc>
              <a:spcAft>
                <a:spcPts val="1500"/>
              </a:spcAft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传统局限：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传统文本嵌入模型在语义检索上表现出色，但在处理图像、音频等非文本数据时面临局限。</a:t>
            </a:r>
            <a:endParaRPr lang="en-US" sz="20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多模态技术能高效整合图像、音频、视频等多种数据类型，实现跨模态理解，极大拓宽了AI应用场景。</a:t>
            </a:r>
            <a:endParaRPr lang="en-US" sz="20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5842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5905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核心目标：打破单一模态限制，实现对复杂信息的全面理解与整合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553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8.1.1 多模态技术概述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9304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处理和整合文本、图像、音频等多模态数据，通过跨模态融合提升AI系统表现的技术。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778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96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48500" y="19304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0500" y="2413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结合多种数据源，增强系统在感知、理解和决策方面的综合能力，实现更自然的交互。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27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0894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技术背景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突破传统单一数据处理局限，模拟人类多感官感知方式，以应对现实世界的多维复杂性。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3937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127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48500" y="40894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发展现状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572000"/>
            <a:ext cx="463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随深度学习发展成为AI重要方向，在NLP、计算机视觉、语音识别等领域取得显著进展。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8.1.2 多模态技术原理：模态数据的表示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多模态技术的核心原理涉及多个关键模块，我们首先来看第一个模块：模态数据的表示。不同模态的数据需要被转化为计算机能够处理的格式。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单模态表示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76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384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文本数据：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通过词嵌入模型（如BERT、M3E、BGE）转化为稠密向量。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1369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图像数据：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利用CNN或ViT等深度学习模型提取视觉特征。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7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8354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音频数据：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转换为声谱图或时序特征，再由模型处理。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跨模态表示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476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24384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将不同模态信息转换到统一语义空间，实现有效融合与比较。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175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31369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通过统一嵌入模型，将多模态数据映射到同一高维向量空间，奠定跨模态学习基础。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5334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207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8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将非结构化的文本、图像、音频等信息转化为结构化的数字向量，并在统一空间中建立关联，实现多模态理解。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8.1.2 多模态技术原理：模态对齐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460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333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通过建立不同模态间的语义或时序关联，解决“图文匹配”、“视听同步”等问题。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782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0100" y="2603500"/>
            <a:ext cx="762000" cy="762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429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显式对齐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8735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利用大量标注好的配对数据（如图文对）进行监督学习，直接建立映射关系。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413000"/>
            <a:ext cx="33782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02300" y="26035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21200" y="3429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隐式对齐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21200" y="38735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利用注意力机制自动捕捉跨模态数据间的潜在关系，无需显式标注。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413000"/>
            <a:ext cx="33782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4500" y="26035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153400" y="3429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时序对齐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53400" y="3873500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针对音频、视频等有时序信息的数据，确保不同模态数据在时间轴上的同步。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cap="flat" cmpd="sng">
            <a:solidFill>
              <a:srgbClr val="0066A4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97500"/>
            <a:ext cx="635000" cy="635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52705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模态对齐是实现跨模态理解的关键，让模型能够“读懂”不同类型数据之间的联系。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206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8.1.2 多模态技术原理（三）：模态融合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371600"/>
            <a:ext cx="1028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通过整合不同模态的特征表示，以增强模型在特定任务上的理解和决策能力。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76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438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早期融合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84500"/>
            <a:ext cx="2997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时机：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数据处理最底层，直接拼接原始数据。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操作简单，但易致维度灾难和信息冗余。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94200" y="2286000"/>
            <a:ext cx="33782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47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56200" y="2438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中期融合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84700" y="2984500"/>
            <a:ext cx="2997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时机：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模型网络中间层，如Transformer。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保留独特特征，促进模态交互，主流方法。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026400" y="2286000"/>
            <a:ext cx="33782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476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88400" y="2438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晚期融合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16900" y="2984500"/>
            <a:ext cx="2997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时机：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独立处理生成结果后，加权或投票。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适用于特征独立场景，模型解释性强。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5181600"/>
            <a:ext cx="1028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融合时机决定了模型对跨模态信息的捕捉能力，中期融合是当前平衡效果与效率的最优解。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155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8.1.2 多模态技术原理（四）：跨模态生成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460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3970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模型根据一种模态的输入，生成另一种或多种模态的输出内容，展现多模态技术的创造力。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30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540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文本生成图像/视频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根据文字描述生成对应图像或视频片段，如 Stable Diffusion、DALL·E 等。</a:t>
            </a:r>
            <a:endParaRPr lang="en-US" sz="16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730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2540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图像/视频生成文本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对输入内容进行描述、总结或问答，如图像描述（Image Captioning）、视频分析。</a:t>
            </a:r>
            <a:endParaRPr lang="en-US" sz="16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81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191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语音与文本转换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语音识别（ASR）与语音合成（TTS），实现听觉与文字模态的双向转换。</a:t>
            </a:r>
            <a:endParaRPr lang="en-US" sz="16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064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381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191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其他复杂转换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如图像风格迁移、文本生成音乐等，是跨模态生成能力的延伸。</a:t>
            </a:r>
            <a:endParaRPr lang="en-US" sz="16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极大地拓展了 AI 的应用边界，让机器不仅能理解世界，还能创造内容。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8.1.2 多模态技术原理（五）：预训练与微调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7145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 (Pre-training)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8575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利用大规模未标注数据（如图文对）训练通用模型。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学习通用知识与跨模态关联，建立基础理解能力，提升泛化性。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7145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微调 (Fine-tuning)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8575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在特定领域的小样本数据上进一步训练通用模型。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适配具体下游任务（如医疗影像），减少对大规模标注数据的依赖。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714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模型蒸馏 (Distillation)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8575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将大模型（教师）的知识迁移至小模型（学生）中。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保持性能前提下减小体积，降低计算消耗，适配移动端等受限设备。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预训练奠定通用基础，微调实现领域适配，模型蒸馏助力高效落地。三者共同构成了现代多模态模型高效训练与应用的关键工程实践。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8.1.3 多模态技术的应用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综合分析用户行为、文本、图像和音频数据，实现精准的商品与内容推荐，提升用户体验。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815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43500" y="16002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智能驾驶系统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0955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融合摄像头、雷达及语音交互等多模态数据，精准感知复杂交通环境，提升自动驾驶安全性。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63000" y="16002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医疗诊断技术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55000" y="20955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结合医学影像、电子病历及基因数据，为医生提供全面诊断建议，辅助实现精准医疗。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1402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人机自然交互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6355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通过语音、手势、表情等多种方式交互，使智能设备更自然、更智能地理解和响应用户需求。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81500" y="393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4191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43500" y="41402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多模态内容创作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35500" y="46355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辅助创意工作者生成内容，如根据剧本生成视频分镜、根据文字生成插画或背景音乐。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01000" y="393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5000" y="4191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63000" y="41402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价值与潜力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46355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多模态技术极大地推动了各行业的智能化进程，从商业到医疗，从出行到娱乐，展现了巨大的应用潜力。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8.1.4 多模态技术：优势与挑战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95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更全面的信息理解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融合多源数据，提供比单一模态更完整、深入的解读。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857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更高的准确性和鲁棒性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弥补单一模态不足，有效抗噪，提升系统稳定性。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683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619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更自然的交互体验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支持语音、视觉等多模态交互，贴近人类自然习惯。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381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更强的跨领域迁移能力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学习通用知识表示，易于迁移至不同垂直领域。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1397000"/>
            <a:ext cx="5080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面临挑战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159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095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模态对齐与融合的复杂性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处理异构数据差异，寻找最优融合策略是核心难题。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292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857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高昂的计算与资源成本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模型规模庞大，训练与推理需巨大算力与存储空间。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368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619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高质量跨模态数据稀缺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大规模精准标注数据获取困难，限制模型训练效果。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4445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381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深层语义理解与推理的难度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实现类人的复杂逻辑推理和因果关系理解仍有瓶颈。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8.1.4 多模态技术的发展（二）：未来趋势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展望未来，多模态技术将朝着更智能、更高效、更通用的方向发展。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95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032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自监督与少样本学习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减少对大规模标注数据依赖，从海量无标签数据自主学习，或快速适应新任务。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905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095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80000" y="2032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跨模态推理与生成深化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54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具备更强逻辑推理能力，基于多模态信息进行复杂因果推断，生成高质量创意内容。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905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095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99500" y="2032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模型压缩与轻量化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54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通过量化、剪枝等技术减小体积，广泛部署在边缘设备，实现端侧AI应用。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476500" y="3810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7000" y="400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175000" y="3937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跨领域融合应用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6670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与法律、金融、教育等垂直领域深度融合，催生创新应用，推动行业数字化转型。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096000" y="3810000"/>
            <a:ext cx="3429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000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3937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人机协作与智能决策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865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AI系统不仅是工具，更是提供深度决策支持的智能伙伴，实现高效人机协作。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8.2 视觉语言模型 (VLM)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14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2606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核心地位：多模态融合的桥梁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视觉语言模型（VLM）是融合计算机视觉（CV）与自然语言处理（NLP）的深度学习模型。它不仅能处理图像、视频等视觉信息，还能理解文本语言，实现二者的深度交互与跨模态理解。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393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277B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191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41656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本节重点：Qwen 2.5-VL 实战解析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本小节将深入剖析业界领先的 Qwen 2.5-VL 模型，讲解其技术特性，并演示如何在本地环境实现高效推理。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8.2.1 视觉语言模型的概述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549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核心定义与任务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能够同时处理视觉（图像/视频）和语言信息的深度学习模型，实现异构数据的统一理解。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将视觉与语言映射至统一语义空间，建立语义关联，支持推理与生成。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746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708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275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涵盖图像理解与描述、视觉问答(VQA)、跨模态检索（图搜文/文搜图）、文本生成图像及多模态智能对话等领域。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0" y="1397000"/>
            <a:ext cx="5334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1587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94500" y="1549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技术发展历程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2095500"/>
            <a:ext cx="4826000" cy="762000"/>
          </a:xfrm>
          <a:prstGeom prst="roundRect">
            <a:avLst>
              <a:gd name="adj" fmla="val 8333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2159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早期阶段：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聚焦图像描述生成与VQA，采用CNN提取视觉特征，结合RNN/Transformer处理语言。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2984500"/>
            <a:ext cx="4826000" cy="762000"/>
          </a:xfrm>
          <a:prstGeom prst="roundRect">
            <a:avLst>
              <a:gd name="adj" fmla="val 8333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3048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预训练时代：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受BERT/GPT启发，CLIP/ALBEF等模型利用大规模图文对联合训练，大幅提升泛化能力。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3873500"/>
            <a:ext cx="4826000" cy="762000"/>
          </a:xfrm>
          <a:prstGeom prst="roundRect">
            <a:avLst>
              <a:gd name="adj" fmla="val 8333"/>
            </a:avLst>
          </a:prstGeom>
          <a:solidFill>
            <a:srgbClr val="E0F7F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3937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生成式崛起：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以DALL·E/Flamingo为代表，实现高质量图文生成与复杂交互，能力质的飞跃。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核心价值：打破视觉与语言的壁垒，构建统一的多模态智能理解与生成能力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Qwen 2.5-VL 模型简介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Qwen 2.5-VL是阿里云推出的新一代旗舰级视觉语言模型，在多模态理解与生成方面表现卓越。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685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133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动态帧率采样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03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将动态分辨率扩展到时间维度，精准理解长达一小时的视频内容。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19685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2159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29200" y="2133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窗口注意力机制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84700" y="2603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融合ViT窗口注意力，大幅提升模型训练与推理效率。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19685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900" y="2159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61400" y="2133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强大的理解能力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16900" y="2603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精确识别图像中的物体、文本、图表及布局，支持视频片段定位。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810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000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实用的工具能力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445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具备代理功能，可动态调度工具，实现对计算机和手机的智能操作。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94200" y="3810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4700" y="4000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292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结构化输出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84700" y="4445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为发票、表格等数据生成标准化结果，满足金融商业专业需求。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26400" y="3810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16900" y="4000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614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多版本支持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16900" y="4445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提供30亿、70亿及720亿三种参数规模版本，适应不同算力场景。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715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8.2.2 Qwen 2.5-VL 模型权重下载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81000" cy="381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460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魔搭 (ModelScope)：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开源机器学习模型社区，提供丰富的模型资源与工具，是获取Qwen模型的首选平台。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13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安装依赖：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执行</a:t>
            </a:r>
            <a:r>
              <a:rPr lang="en-US" sz="1600" b="1" i="0" u="none" strike="noStrike">
                <a:solidFill>
                  <a:srgbClr val="D32F2F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modelscope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安装Python SDK。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290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238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命令行下载：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400" b="1" i="0" u="none" strike="noStrike">
                <a:solidFill>
                  <a:srgbClr val="D32F2F"/>
                </a:solidFill>
                <a:latin typeface="Noto Sans SC"/>
                <a:ea typeface="Noto Sans SC"/>
                <a:cs typeface="Noto Sans SC"/>
                <a:sym typeface="Noto Sans SC"/>
              </a:rPr>
              <a:t>modelscope download --model="Qwen/Qwen2.5-VL-7B-Instruct" --local_dir ./model-dir</a:t>
            </a: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将模型下载到指定目录。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2545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08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318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SDK下载：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导入 snapshot_download 函数，编写代码下载，便于集成到自动化脚本中。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3E0">
              <a:alpha val="100000"/>
            </a:srgbClr>
          </a:solidFill>
          <a:ln w="12700" cap="flat" cmpd="sng">
            <a:solidFill>
              <a:srgbClr val="FFA72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524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397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6C00"/>
                </a:solidFill>
                <a:latin typeface="Noto Sans SC"/>
                <a:ea typeface="Noto Sans SC"/>
                <a:cs typeface="Noto Sans SC"/>
                <a:sym typeface="Noto Sans SC"/>
              </a:rPr>
              <a:t>注意事项：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模型体积巨大（约14GB），请确保磁盘空间充足及网络稳定。可通过</a:t>
            </a:r>
            <a:r>
              <a:rPr lang="en-US" sz="1600" b="1" i="0" u="none" strike="noStrike">
                <a:solidFill>
                  <a:srgbClr val="D32F2F"/>
                </a:solidFill>
                <a:latin typeface="Noto Sans SC"/>
                <a:ea typeface="Noto Sans SC"/>
                <a:cs typeface="Noto Sans SC"/>
                <a:sym typeface="Noto Sans SC"/>
              </a:rPr>
              <a:t>MODELSCOPE_CACHE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环境变量修改缓存路径。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8.2.2 Qwen 2.5-VL 本地推理（三）：在线推理体验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460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422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在线 API 优势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免本地环境配置、免 GPU 资源，快速验证模型效果，方便集成到应用中。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82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安装依赖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302000"/>
            <a:ext cx="4572000" cy="457200"/>
          </a:xfrm>
          <a:prstGeom prst="roundRect">
            <a:avLst>
              <a:gd name="adj" fmla="val 13888"/>
            </a:avLst>
          </a:prstGeom>
          <a:solidFill>
            <a:srgbClr val="F1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3327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openai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254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21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关键步骤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635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000000"/>
              </a:buClr>
              <a:buChar char="•"/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在魔搭平台注册并获取个人 API Key (Token)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准备好图片，获取其可公开访问的 URL 地址</a:t>
            </a:r>
            <a:endParaRPr lang="en-US" sz="1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运行代码，获取模型对图片的描述或回答</a:t>
            </a:r>
            <a:endParaRPr lang="en-US" sz="1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096000" y="1270000"/>
            <a:ext cx="5334000" cy="4699000"/>
          </a:xfrm>
          <a:prstGeom prst="roundRect">
            <a:avLst>
              <a:gd name="adj" fmla="val 2702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1460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调用示例代码 (Python)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905000"/>
            <a:ext cx="4826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openai</a:t>
            </a: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OpenAI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client = OpenAI(base_url=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'https://api-inference.modelscope.cn/v1/'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, api_key=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'你的Token'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resp = client.chat.completions.create(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model=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'Qwen/Qwen2.5-VL-7B-Instruct'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messages=[{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06C75"/>
                </a:solidFill>
                <a:latin typeface="Noto Sans SC"/>
                <a:ea typeface="Noto Sans SC"/>
                <a:cs typeface="Noto Sans SC"/>
                <a:sym typeface="Noto Sans SC"/>
              </a:rPr>
              <a:t>'role'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'user'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06C75"/>
                </a:solidFill>
                <a:latin typeface="Noto Sans SC"/>
                <a:ea typeface="Noto Sans SC"/>
                <a:cs typeface="Noto Sans SC"/>
                <a:sym typeface="Noto Sans SC"/>
              </a:rPr>
              <a:t>'content'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 [{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06C75"/>
                </a:solidFill>
                <a:latin typeface="Noto Sans SC"/>
                <a:ea typeface="Noto Sans SC"/>
                <a:cs typeface="Noto Sans SC"/>
                <a:sym typeface="Noto Sans SC"/>
              </a:rPr>
              <a:t>'type'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'text'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>
                <a:solidFill>
                  <a:srgbClr val="E06C75"/>
                </a:solidFill>
                <a:latin typeface="Noto Sans SC"/>
                <a:ea typeface="Noto Sans SC"/>
                <a:cs typeface="Noto Sans SC"/>
                <a:sym typeface="Noto Sans SC"/>
              </a:rPr>
              <a:t>'text'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'请描述这幅图'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}, {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06C75"/>
                </a:solidFill>
                <a:latin typeface="Noto Sans SC"/>
                <a:ea typeface="Noto Sans SC"/>
                <a:cs typeface="Noto Sans SC"/>
                <a:sym typeface="Noto Sans SC"/>
              </a:rPr>
              <a:t>'type'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'image_url'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06C75"/>
                </a:solidFill>
                <a:latin typeface="Noto Sans SC"/>
                <a:ea typeface="Noto Sans SC"/>
                <a:cs typeface="Noto Sans SC"/>
                <a:sym typeface="Noto Sans SC"/>
              </a:rPr>
              <a:t>'image_url'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 {</a:t>
            </a:r>
            <a:r>
              <a:rPr lang="en-US" sz="1400" b="0" i="0" u="none" strike="noStrike">
                <a:solidFill>
                  <a:srgbClr val="E06C75"/>
                </a:solidFill>
                <a:latin typeface="Noto Sans SC"/>
                <a:ea typeface="Noto Sans SC"/>
                <a:cs typeface="Noto Sans SC"/>
                <a:sym typeface="Noto Sans SC"/>
              </a:rPr>
              <a:t>'url'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'图片URL'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}]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}], stream=False)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print</a:t>
            </a:r>
            <a:r>
              <a:rPr lang="en-US" sz="14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(resp.choices[0].message.content)</a:t>
            </a:r>
            <a:endParaRPr lang="en-US" sz="1400" b="0" i="0" u="none" strike="noStrike">
              <a:solidFill>
                <a:srgbClr val="ABB2B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8.2.2 Qwen 2.5-VL 本地推理实战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模型权重下载完成后，即可在本地环境进行推理，获得更高隐私性与更快响应速度。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93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环境准备与安装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安装依赖库：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highlight>
                  <a:srgbClr val="F0F0F0">
                    <a:alpha val="100000"/>
                  </a:srgbClr>
                </a:highlight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pip install git+https://github.com/huggingface/transformers accelerate</a:t>
            </a:r>
            <a:endParaRPr lang="en-US" sz="1200" b="0" i="0" u="none" strike="noStrike">
              <a:solidFill>
                <a:srgbClr val="000000"/>
              </a:solidFill>
              <a:highlight>
                <a:srgbClr val="F0F0F0">
                  <a:alpha val="100000"/>
                </a:srgbClr>
              </a:highlight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highlight>
                  <a:srgbClr val="F0F0F0">
                    <a:alpha val="100000"/>
                  </a:srgbClr>
                </a:highlight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pip install qwen-vl-utils[decord]==0.0.8</a:t>
            </a:r>
            <a:endParaRPr lang="en-US" sz="1200" b="0" i="0" u="none" strike="noStrike">
              <a:solidFill>
                <a:srgbClr val="000000"/>
              </a:solidFill>
              <a:highlight>
                <a:srgbClr val="F0F0F0">
                  <a:alpha val="100000"/>
                </a:srgbClr>
              </a:highlight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930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加载模型与处理器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34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highlight>
                  <a:srgbClr val="F0F0F0">
                    <a:alpha val="100000"/>
                  </a:srgbClr>
                </a:highlight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from transformers import Qwen2_5_VLForConditionalGeneration, AutoProcessor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highlight>
                  <a:srgbClr val="F0F0F0">
                    <a:alpha val="100000"/>
                  </a:srgbClr>
                </a:highlight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model = Qwen2_5_VLForConditionalGeneration.from_pretrained("./model-dir", device_map="auto")</a:t>
            </a:r>
            <a:endParaRPr lang="en-US" sz="1200" b="0" i="0" u="none" strike="noStrike">
              <a:solidFill>
                <a:srgbClr val="000000"/>
              </a:solidFill>
              <a:highlight>
                <a:srgbClr val="F0F0F0">
                  <a:alpha val="100000"/>
                </a:srgbClr>
              </a:highlight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highlight>
                  <a:srgbClr val="F0F0F0">
                    <a:alpha val="100000"/>
                  </a:srgbClr>
                </a:highlight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processor = AutoProcessor.from_pretrained("./model-dir")</a:t>
            </a:r>
            <a:endParaRPr lang="en-US" sz="1200" b="0" i="0" u="none" strike="noStrike">
              <a:solidFill>
                <a:srgbClr val="000000"/>
              </a:solidFill>
              <a:highlight>
                <a:srgbClr val="F0F0F0">
                  <a:alpha val="100000"/>
                </a:srgbClr>
              </a:highlight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2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089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 构建输入消息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08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highlight>
                  <a:srgbClr val="F0F0F0">
                    <a:alpha val="100000"/>
                  </a:srgbClr>
                </a:highlight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messages = [{"role": "user", "content": [{"type": "image", "image": "path"}, {"type": "text", "text": "描述图片内容"}] }]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937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127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4089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 执行推理生成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508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highlight>
                  <a:srgbClr val="F0F0F0">
                    <a:alpha val="100000"/>
                  </a:srgbClr>
                </a:highlight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inputs = processor(text=[text], images=image_inputs, padding=True, return_tensors="pt").to("cuda")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highlight>
                  <a:srgbClr val="F0F0F0">
                    <a:alpha val="100000"/>
                  </a:srgbClr>
                </a:highlight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generated_ids = model.generate(**inputs, max_new_tokens=128)</a:t>
            </a:r>
            <a:endParaRPr lang="en-US" sz="1200" b="0" i="0" u="none" strike="noStrike">
              <a:solidFill>
                <a:srgbClr val="000000"/>
              </a:solidFill>
              <a:highlight>
                <a:srgbClr val="F0F0F0">
                  <a:alpha val="100000"/>
                </a:srgbClr>
              </a:highlight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8801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5816600"/>
            <a:ext cx="977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关键说明：本地推理需配备 NVIDIA GPU（建议显存10GB+）并安装 CUDA 环境，以确保流畅运行。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8.3 多模态嵌入模型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14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667000"/>
            <a:ext cx="1016000" cy="1016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413000" y="2286000"/>
            <a:ext cx="8763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在多模态RAG系统中，多模态嵌入模型扮演着基石的角色。它负责将不同模态的信息（文本、图像、音频等）转换为统一的、可比较的向量表示（Embedding）。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正是这种统一的表示，使得系统能够在海量的多模态知识库中，根据用户的查询（无论是文本还是图片）高效地检索出相关的信息。本小节将介绍多模态嵌入模型的概念、发展以及典型模型的应用。</a:t>
            </a:r>
            <a:endParaRPr lang="en-US" sz="20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5080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50165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统一向量表示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打破模态壁垒，实现互操作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5080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715000" y="50165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高效相似检索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快速定位海量知识库中的相关信息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0" y="508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525000" y="50165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文本、图像、音频全覆盖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4672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8.3.1 多模态嵌入模型的概述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24000"/>
            <a:ext cx="952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将不同模态（文本、图像等）映射到同一高维向量空间，语义相似的内容在空间中距离相近。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30500"/>
            <a:ext cx="10668000" cy="13335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1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794000"/>
            <a:ext cx="952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统一表示：</a:t>
            </a: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解决不同模态数据“不可比”问题，支持跨模态任务。</a:t>
            </a:r>
            <a:endParaRPr lang="en-US" sz="1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高效检索：</a:t>
            </a: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利用向量数据库与ANN算法实现毫秒级海量检索。</a:t>
            </a:r>
            <a:endParaRPr lang="en-US" sz="1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知识融合：</a:t>
            </a: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以向量形式融合多模态知识，便于后续模型统一处理。</a:t>
            </a:r>
            <a:endParaRPr lang="en-US" sz="1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254500"/>
            <a:ext cx="10668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974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318000"/>
            <a:ext cx="952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与VLM的关系：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区别：</a:t>
            </a: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VLM侧重复杂理解与生成，嵌入模型专注于高质量向量生成。</a:t>
            </a:r>
            <a:endParaRPr lang="en-US" sz="1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联系：</a:t>
            </a: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许多VLM（如CLIP）具备嵌入能力，常为“同一模型，不同用法”。</a:t>
            </a:r>
            <a:endParaRPr lang="en-US" sz="1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8420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5651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发展趋势：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从特定任务模型向大规模预训练通用模型演进，性能与通用性显著提升。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5496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8.3.2 典型多模态嵌入模型介绍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54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CLIP (OpenAI)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对比学习，大规模图文对预训练。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多模态对比学习先驱，泛化能力极强，广泛用于图像检索与零样本分类。</a:t>
            </a:r>
            <a:endParaRPr lang="en-US" sz="1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587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21500" y="154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ALBEF (Salesforce)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结合对比学习与动量蒸馏技术。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结构简洁，在保持高性能的同时，具备较高的训练效率，擅长图文对齐。</a:t>
            </a:r>
            <a:endParaRPr lang="en-US" sz="1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0005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152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BLIP &amp; BLIP-2 (Salesforce)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6355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BLIP对比与匹配；BLIP-2引入Q-Former连接视觉与大模型。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高效迁移，无需训练视觉编码器即可对接不同LLM，适配成本极低。</a:t>
            </a:r>
            <a:endParaRPr lang="en-US" sz="1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0005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191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4152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Qwen-VL-Embedding (阿里云)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6355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基于Qwen体系，提供高质量多模态嵌入能力。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深度优化中文场景，兼容性强，适合构建端到端的中文多模态应用。</a:t>
            </a:r>
            <a:endParaRPr lang="en-US" sz="1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8547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8.4 多模态RAG系统设计与实现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7081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2032000"/>
            <a:ext cx="1066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222500"/>
            <a:ext cx="939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章节引言：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在掌握了多模态技术原理、视觉语言模型和多模态嵌入模型之后，我们终于来到了本章的核心内容——多模态RAG系统的设计与实现。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系统定义：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多模态RAG（Retrieval-Augmented Generation）系统将传统的文本RAG技术扩展到了多模态领域，它能够利用多模态知识库来增强大语言模型的生成能力，使其能够处理包含图像、文本等多种类型的查询。</a:t>
            </a:r>
            <a:endParaRPr lang="en-US" sz="20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通过结合多模态信息检索，生成更加准确、丰富的回答。本小节将详细拆解多模态RAG系统的架构，并介绍其实现的关键步骤。</a:t>
            </a:r>
            <a:endParaRPr lang="en-US" sz="20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511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5397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关键能力：</a:t>
            </a: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融合多模态知识库，增强大模型生成能力，实现跨模态理解与精准回答。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703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8.4.1 多模态RAG系统架构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1435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460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422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多模态数据预处理模块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635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清洗、解析原始多模态数据（PDF、图片、视频等）。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endParaRPr lang="en-US" sz="14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文本处理：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提取内容，分句分块。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图像处理：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格式转换与尺寸调整。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元数据提取：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提取来源、标题等信息。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86500" y="1270000"/>
            <a:ext cx="51435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460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422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多模态嵌入与索引模块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0500" y="1905000"/>
            <a:ext cx="4635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将数据转换为统一向量，构建高效检索索引。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endParaRPr lang="en-US" sz="14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生成向量：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利用CLIP/Qwen-VL生成嵌入向量。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构建库：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存储向量及元数据至Milvus/FAISS。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建立索引：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支持快速相似度检索。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1435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27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08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多模态检索模块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4635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解析用户查询，检索最相关的知识片段。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endParaRPr lang="en-US" sz="14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查询理解：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判断纯文本、图像或混合模态。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匹配搜索：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执行ANN搜索，找到Top-K相似向量。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结果返回：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返回关联的文本片段与图片内容。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86500" y="3937000"/>
            <a:ext cx="51435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127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089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多模态生成模块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572000"/>
            <a:ext cx="4635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结合检索知识与原始查询，生成最终回答。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</a:t>
            </a:r>
            <a:endParaRPr lang="en-US" sz="14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结构化组织查询与知识片段。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模型调用：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输入VLM/增强LLM生成答案。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结果输出：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整合图文信息，返回给用户。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206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8.4.2 实现步骤（一）：数据准备与预处理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数据收集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</a:t>
            </a: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根据场景收集产品手册、论文等多模态数据。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格式：</a:t>
            </a: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涵盖 PDF、DOCX、PNG/JPG、MP4、HTML 等。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39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60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文本提取与清洗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032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提取：</a:t>
            </a: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PyPDF2、pdfplumber、python-docx 提取内容。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清洗：</a:t>
            </a: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去除无关字符、页眉页脚，保证数据纯净。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2385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4417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 文本分块 (Chunking)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873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分割：</a:t>
            </a: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按语义或固定长度（如512 tokens）切分长文本。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元数据：</a:t>
            </a: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为每个Chunk生成唯一ID，记录来源与页码。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32385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492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4417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 图像提取与标准化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3873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提取：</a:t>
            </a: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从PDF或网页中批量提取图片文件。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标准化：</a:t>
            </a: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统一尺寸与格式（如JPEG），建立索引ID。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34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5283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5. 数据组织与存储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71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将处理后的文本块和图片按照结构化目录或数据库表进行组织，建立清晰的索引关系，确保后续检索与调用的高效性。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8.4.2 实现步骤（二）：构建多模态向量数据库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预处理完成后，我们需要为这些数据构建向量索引，这是实现高效检索的基础。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选择嵌入模型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场景匹配：中文选Qwen-VL-Embedding，通用选CLIP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一致性：检索阶段必须使用完全相同的模型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841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生成嵌入向量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286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文本与图像：遍历预处理数据，生成对应向量表示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性能优化：大规模数据建议使用GPU加速计算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746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370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 选择向量数据库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191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FAISS：轻量高效，适合小规模或本地部署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Milvus：云原生，支持大规模分布式部署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Pinecone/Weaviate：托管服务，免运维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74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370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 建立索引并入库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191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创建集合：在数据库中创建索引结构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插入数据：存入向量、ID、元数据及原始引用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自动索引：支持IVF_FLAT、HNSW等算法加速检索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构建完成后，即可支持基于语义的快速相似性检索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155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8.4.2 实现步骤（三）：实现多模态检索功能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184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接收用户查询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设计交互界面支持文本、图片或混合输入；后端服务接收并解析用户提交的查询请求和数据。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2032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222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48500" y="2184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处理用户查询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0500" y="26670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解析查询类型（文本/图片/混合），利用嵌入模型将查询内容转换为统一的向量表示，混合查询需进行向量融合。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254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216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 执行相似度检索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6990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调用向量数据库搜索接口，执行近似最近邻（ANN）搜索，返回相似度最高的前N个结果及元数据。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4064000"/>
            <a:ext cx="5143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254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48500" y="4216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 整理并返回结果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6990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根据ID获取原始内容，过滤低相似度结果，整理文本与图片片段，返回给生成模块作为回答依据。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206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8.4.2 实现步骤（四）：实现多模态生成功能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96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1. 提示词（Prompt）构建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将用户查询与检索知识组织成清晰指令。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自然语言指令开头，明确分隔问题与资料，按相似度排序知识片段。</a:t>
            </a:r>
            <a:endParaRPr lang="en-US" sz="16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96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2. 调用生成模型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41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选用具备多模态能力的模型（如Qwen 2.5-VL）。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输入构造：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将提示词与图片URL作为输入，配置max_new_tokens等参数。</a:t>
            </a:r>
            <a:endParaRPr lang="en-US" sz="16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127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3. 处理生成结果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解析与关联：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解析文本中的图片引用标识，将文本与对应图片进行关联。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迭代优化：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若结果不符预期，调整提示词或重新检索。</a:t>
            </a:r>
            <a:endParaRPr lang="en-US" sz="16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3937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191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127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 结果展示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572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界面呈现：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在前端界面组合展示最终的回答文本与关联图片。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交互闭环：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完成一次完整的多模态RAG交互流程。</a:t>
            </a:r>
            <a:endParaRPr lang="en-US" sz="16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9042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8.5 多模态RAG应用案例与实践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771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215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349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理论学习的最终目的是为了指导实践。多模态RAG技术凭借其强大的信息整合与生成能力，已经在多个领域展现出巨大的应用价值。本小节将通过几个典型的应用案例，展示多模态RAG系统在实际业务场景中的具体应用，帮助大家更好地理解和借鉴其落地方法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937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191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412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智能客服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762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整合产品手册与历史对话，精准理解用户意图并提供多模态解决方案。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3937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4191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83200" y="412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医疗辅助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48200" y="4762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结合影像数据与病历文本，辅助医生快速分析病情，提供诊断参考。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3937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4191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15400" y="412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教育学习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80400" y="4762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构建个性化学习路径，解析图文资料，提供沉浸式的交互式学习体验。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应用案例一：智能产品顾问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知识库构建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产品说明书、官网介绍、规格参数表、FAQ等多模态数据。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处理过程：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文本分块、图片处理，利用多模态嵌入模型生成向量并入库。</a:t>
            </a:r>
            <a:endParaRPr lang="en-US" sz="14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6002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用户交互流程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15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用户查询：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自然语言提问，可附带产品图片。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检索与生成：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检索相关文本与图片，VLM生成图文并茂的精准回答。</a:t>
            </a:r>
            <a:endParaRPr lang="en-US" sz="14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6002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15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体验提升：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24小时在线，快速准确响应。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降本增效：</a:t>
            </a:r>
            <a:r>
              <a:rPr lang="en-US" sz="14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减少人工客服依赖，统一知识口径。</a:t>
            </a:r>
            <a:endParaRPr lang="en-US" sz="14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953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7625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核心场景：智能问答服务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基于产品手册、说明书及宣传图片，为消费者提供即时、准确的多模态智能问答服务，解决用户对产品功能与参数的困惑。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应用案例二：医疗影像辅助诊断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知识库构建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整合标注影像、电子病历(EMR)、教科书及最新学术论文。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处理过程：</a:t>
            </a:r>
            <a:endParaRPr lang="en-US" sz="18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标准化处理影像，提取文本特征，利用多模态模型生成向量索引。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587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临床应用流程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15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输入与检索：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上传影像并提问，系统转换向量检索相似病例与文献。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智能生成：</a:t>
            </a:r>
            <a:endParaRPr lang="en-US" sz="18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VLM结合知识分析影像，定位病灶，生成含诊断与方案的报告。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587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核心应用价值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15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效率与质量：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缩短诊断时间，减少误诊，整合前沿研究辅助决策。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普惠医疗：</a:t>
            </a:r>
            <a:endParaRPr lang="en-US" sz="18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赋能基层医生，提供高级别诊断支持，缩小医疗资源差距。</a:t>
            </a:r>
            <a:endParaRPr lang="en-US" sz="16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016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8895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应用场景总结：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系统通过整合多模态医疗数据，构建强大的辅助诊断知识库。在临床场景中，它能辅助医生快速分析X光、CT等影像，结合病历与最新文献，提供精准的诊断参考与治疗建议，显著提升诊疗效率与准确性。</a:t>
            </a:r>
            <a:endParaRPr lang="en-US" sz="1800" b="0" i="0" u="none" strike="noStrike">
              <a:solidFill>
                <a:srgbClr val="3232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应用案例三：智能教育辅导系统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76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知识库构建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整合电子教材、课件、视频关键帧及习题解析。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处理过程：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提取知识点分块，生成多模态向量并建立索引。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14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676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学习交互流程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159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学生提问：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上传题目图片或输入问题。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智能检索：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匹配相关知识点与相似例题。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生成讲解：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提供通俗易懂的分步解析与图示。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14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676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核心应用价值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159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因材施教，针对性辅导。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即时性：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随时答疑，解决即时困惑。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减负增效：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释放教师精力，专注教学设计。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445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635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应用场景总结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08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该系统为学生提供基于教材、课件、习题集的个性化学习辅导和答疑服务。通过整合多模态数据，实现了从“被动学习”到“主动答疑”的转变，不仅丰富了学习资源，更通过自动化处理大量重复性工作，显著提升了教育效率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006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本章总结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多模态技术基础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1968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回顾模态表示、对齐、融合与生成原理，理解其优势、挑战及未来趋势。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58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核心模型解析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0" y="1968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详解VLM（如Qwen 2.5-VL）与多模态嵌入模型（如CLIP）的特性与实现方法。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048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系统设计与实现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619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拆解数据预处理、嵌入索引、检索生成四大模块，掌握从数据准备到部署的完整流程。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048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30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应用案例实践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3619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涵盖智能产品顾问、医疗影像辅助诊断及智能教育辅导系统，展示技术落地价值。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4889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关键启示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5270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多模态RAG整合多源信息，增强LLM知识获取与生成准确性，是下一代智能应用的关键技术，未来将持续拓展应用边界。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525000" y="3810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8000" y="1270000"/>
            <a:ext cx="1016000" cy="1016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584700" y="2540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与致谢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30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感谢聆听，欢迎提问！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4057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9388</Words>
  <Application>WPS 演示</Application>
  <PresentationFormat/>
  <Paragraphs>651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Menlo</vt:lpstr>
      <vt:lpstr>Menlo</vt:lpstr>
      <vt:lpstr>Noto Sans SC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1</cp:revision>
  <dcterms:created xsi:type="dcterms:W3CDTF">2026-03-15T05:46:14Z</dcterms:created>
  <dcterms:modified xsi:type="dcterms:W3CDTF">2026-03-15T05:46:14Z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02C4B88A86BB220DA647B669AD43B1FE_42</vt:lpwstr>
  </property>
  <property fmtid="{D5CDD505-2E9C-101B-9397-08002B2CF9AE}" pid="3" name="KSOProductBuildVer">
    <vt:lpwstr>2052-7.2.1.8947</vt:lpwstr>
  </property>
</Properties>
</file>
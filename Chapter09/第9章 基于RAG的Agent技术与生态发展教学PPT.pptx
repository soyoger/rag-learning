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4.svg" ContentType="image/svg+xml"/>
  <Override PartName="/ppt/media/image126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6.svg" ContentType="image/svg+xml"/>
  <Override PartName="/ppt/media/image19.svg" ContentType="image/svg+xml"/>
  <Override PartName="/ppt/media/image2.svg" ContentType="image/svg+xml"/>
  <Override PartName="/ppt/media/image22.svg" ContentType="image/svg+xml"/>
  <Override PartName="/ppt/media/image24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5.svg" ContentType="image/svg+xml"/>
  <Override PartName="/ppt/media/image77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5.svg" ContentType="image/svg+xml"/>
  <Override PartName="/ppt/media/image88.svg" ContentType="image/svg+xml"/>
  <Override PartName="/ppt/media/image90.svg" ContentType="image/svg+xml"/>
  <Override PartName="/ppt/media/image93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课程。今天我们将深入探讨一个非常前沿且重要的话题——基于RAG的Agent技术与生态发展。随着人工智能技术的飞速发展，Agent作为一种具备自主学习和任务管理能力的智能系统，正逐渐成为推动各行业智能化转型的关键力量。本次课程将系统地介绍Agent的概念、技术框架、设计实现以及未来的发展趋势，希望能帮助大家对这一领域有一个全面而深入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五个部分。首先，我们会对Agent进行一个全面的概述，了解它的定义、发展历程、分类和应用。接着，我们将深入探讨Agent的技术框架，包括其核心组件和关键的推理框架。第三部分，我们将重点介绍基于RAG的Agent的设计与实现方法。第四部分，我们会分析Agent的生态发展现状并展望其未来。最后，我们将对整个课程内容进行总结，并留出时间进行讨论和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现在，让我们进入第一部分：Agent概述。在这一部分，我们将回答几个基本问题：什么是Agent？它是如何发展而来的？有哪些常见的类型？以及它在各个行业有哪些具体的应用？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首先，我们来明确一下Agent的定义。Agent这个词来源于拉丁语，意思是“行动”或“执行”。在中文里，我们通常称之为“智能体”或“代理”。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在大模型的应用场景下，Agent指的是一种能够在特定环境中持续自主运行的智能体。它不仅仅是被动地执行指令，更重要的是具备自主性、社会性和主动性。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它能够感知环境的变化，做出适应性的响应，还能与外部系统进行交互，利用工具来完成任务，并且是基于目标驱动的。简单来说，Agent是一个能够自主思考和行动的智能系统。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gent技术并非一蹴而就，它经历了一个逐步演进的过程。最早的阶段是提示词工程，我们通过设计巧妙的提示词来引导大模型生成我们想要的内容。但这种方法很快遇到了瓶颈，比如模型会产生信息幻觉，泛化能力也有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于是，少样本学习应运而生，通过给模型提供少量示例，帮助它更好地理解任务。大家看右侧的示意图，这展示了少样本学习的典型流程：输入示例经过AI大脑的模式识别和风格融合，最终生成新内容。但这仍然无法从根本上解决知识更新慢和推理能力不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为了解决知识更新的问题，RAG技术出现了。它通过检索外部知识库，为大模型提供实时、准确的信息，从而大大减少了幻觉的产生。这是AI从封闭知识生成迈向动态知识获取的重要一步。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接着，ReAct框架将推理和行动结合起来，让模型能够在执行任务的过程中不断思考和调整策略，这使得AI开始向具备自主规划和决策能力的智能体进化。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终，我们来到了Agent阶段。现代的Agent通过规划、记忆、工具和执行这四大组件的协同工作，具备了前所未有的自主性。它能够感知环境，主动调用工具，执行复杂的任务，并形成一个具备持久性和适应性的智能系统。这标志着AI从一个简单的任务处理者，真正进化成为了一个能够自主思考和行动的智能自主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了解了Agent的定义和发展后，我们来看看它的常见分类。首先是按数量分类，可以分为单Agent和多Agent。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单Agent就是一个独立的智能体，适合处理一些相对简单的任务，比如我们常见的智能客服。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而多Agent则是由多个智能体组成的系统，它们可以相互协作或竞争，共同完成更复杂的任务，比如在智能驾驶中，感知、决策、控制等可能由不同的Agent协同完成。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我们可以按应用类型来划分Agent。通用Agent，比如ChatGPT，它具备广泛的适应性，可以处理各种跨领域的任务。工具Agent则更专注于调用外部工具或API来完成特定任务，比如AI编程助手。模拟Agent用于模拟各种环境和行为，在仿真训练等领域有重要应用。而Web Agent则主要用于自动化的网络操作。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还可以根据自主性来分类。被动Agent比较简单，它只是对输入做出反应，没有长期的规划能力。而自主Agent则具备强大的规划、记忆和工具调用能力，能够自主做出决策，是我们当前研究的重点。混合Agent则结合了规则驱动和自主学习的优点，在一些特定场景下表现出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gent技术的应用非常广泛，几乎渗透到了各个行业。在搜索与问答领域，结合RAG技术的Agent可以提供更精准、更实时的智能客服和知识管理服务。在内容创作方面，Agent能够理解用户需求，自动生成高质量的文本内容。在金融与交易领域，Agent可以自动分析市场信息，执行复杂的交易策略，大大提高了投资决策的效率和智能化水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办公领域，Agent可以帮助我们自动化处理日程、邮件和会议纪要等繁琐任务，极大地提升了办公效率。在电商和营销领域，Agent能够精准预测用户需求，实现个性化推荐和精准营销。在IT运维方面，Agent可以实时监控系统状态，自动诊断和修复故障，保障系统的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医疗健康领域，Agent可以辅助医生进行诊断，提供个性化的健康建议。在智能制造领域，Agent能够实现智能生产调度和设备的预测性维护，提高生产效率。而在智能驾驶领域，Agent更是核心，它负责环境感知、决策控制，是实现自动驾驶的关键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Agent技术将朝着几个重要方向发展。首先，它将具备更强的自主性和泛化能力，能够适应更复杂多变的环境。其次，多模态交互将更加高效和自然。长期记忆和自我优化能力的提升也将是一个重要趋势。同时，与RAG的深度结合将进一步提升其知识获取和应用能力。此外，对于实时性、安全性和可控性的要求也会越来越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了解了Agent的基本概念和应用后，我们现在深入到技术层面，探讨Agent的技术框架。这一部分将帮助我们理解Agent是如何具体工作的。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现代主流的Agent架构主要由四大核心组件构成：规划、记忆、工具和执行。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规划组件负责思考和决策，决定下一步该做什么。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记忆组件负责存储信息，包括短期的上下文和长期的知识。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工具组件允许Agent调用外部资源来完成任务。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最后，执行组件将规划和记忆转化为具体的行动，并根据环境的反馈来调整策略。这四个组件协同工作，构成了Agent的核心能力。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在众多的Agent推理框架中，ReAct框架因其强大的能力而备受关注。它的核心思想是将推理和行动紧密结合起来。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gent通过一个“观察-思考-行动-再观察”的循环来完成任务。首先，它观察环境和任务目标；然后，它进行思考，决定下一步的行动；接着，它执行这个行动；最后，它再次观察行动的结果，并根据反馈调整策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这个循环使得Agent能够在动态变化的环境中不断优化决策，不仅提高了智能决策的准确性，也增强了系统的适应性和灵活性。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详细看一下ReAct框架的三个核心环节。首先是“思考”，Agent会评估当前的环境和已有的信息，然后推理出下一步应该采取什么行动。接着是“行动”，根据思考的结果，Agent会执行具体的操作，比如调用一个工具或者去检索一些信息。最后是“观察”，Agent会观察行动带来的结果，获取新的信息，并根据这些反馈来调整自己的推理和决策。这个循环不断进行，直到任务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在实际应用中，我们可以使用像LangChain这样的框架来实现ReAct。这是一个简单的代码示例。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首先，我们定义一个自定义的工具类，继承自BaseTool，并实现_run方法来处理具体逻辑。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然后，我们创建一个大模型实例，并使用create_react_agent函数将模型和工具结合起来，创建一个Agent。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最后，我们就可以向这个Agent发送消息，并获取它的流式响应。这个例子展示了如何利用LangChain快速构建一个具备ReAct能力的Agent。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除了LangChain，OpenAI在2025年3月也推出了自己的Agent SDK，这为Agent开发带来了新的便利。这个SDK设计轻量但功能强大，并且优先支持Python，降低了开发者的学习成本。它内置了Agent循环、任务交接、安全防护和调试工具等功能，使得开发者可以更专注于业务逻辑的实现，而不必过多关注底层细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这是一个使用OpenAI Agent SDK的快速入门示例。我们只需要几行代码，就可以创建一个具备Web搜索能力的Agent。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首先，我们导入必要的类，然后创建一个Web搜索工具和一个Agent实例，并指定使用的模型。最后，我们运行这个Agent，向它提问，就可以得到回答。这个过程非常简洁，体现了SDK的易用性。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接下来，我们将重点讨论基于RAG的Agent的设计与实现。RAG技术为Agent提供了强大的外部知识获取能力，是构建高效Agent的关键技术之一。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RAG的Agent是当前Agent技术发展的一个重要方向。它将RAG技术与Agent架构深度融合，使得Agent能够实时获取外部知识库的信息，从而大大提升了回答的准确性和时效性，并有效减少了信息幻觉。这使得Agent不再仅仅依赖于训练时的静态知识，而是能够动态地获取和应用最新的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一个典型的基于RAG的Agent系统架构通常包括用户输入、意图识别、检索模块、生成模块和工具调用等部分。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当用户提出问题后，系统首先识别用户意图，然后通过检索模块从外部知识库中查找相关信息，接着将这些信息和用户问题一起输入到大模型中进行生成，最后得到回答。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如果需要，系统还可以调用其他工具来辅助完成任务。这个架构充分结合了RAG的知识检索能力和大模型的生成能力。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了解了技术实现之后，我们再来看看Agent技术的整体生态发展状况以及未来的发展趋势。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当前，Agent技术的市场正在快速增长，吸引了众多科技巨头的参与。同时，开源社区也非常活跃，出现了许多优秀的开源框架和工具，这为开发者提供了丰富的资源，也加速了Agent技术的创新和应用落地。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Agent技术发展迅速，但它也面临着一些挑战，比如在长期记忆、复杂推理等方面的技术难题，以及隐私、伦理和标准化等方面的问题。但同时，它也充满了机遇，比如在更多行业的深化应用，与其他新技术的融合创新，以及推动人机协作模式的变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Agent技术有着广阔的发展前景。它被认为是实现通用人工智能（AGI）的关键路径之一。未来的Agent将更加个性化，能够更好地理解和满足用户的需求。它们还将具备自主进化的能力，能够不断学习和优化自身。甚至，我们可能会看到由大量Agent组成的智能体社会，它们能够相互协作，共同完成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现在，我们对本次课程的内容进行一个总结，并留出时间进行讨论和交流。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总结一下，本次课程我们学习了Agent的基本概念、发展历程、技术框架和应用场景。我们了解到Agent是由规划、记忆、工具和执行四大组件构成的智能系统，ReAct和OpenAI Agent SDK是构建Agent的重要工具。基于RAG的Agent通过结合外部知识，显著提升了性能。尽管面临一些挑战，但Agent技术的未来发展前景非常广阔。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讨论环节，我提出几个问题供大家思考和交流。第一个问题，你认为Agent技术将最先在哪个行业实现大规模应用？为什么？第二个问题，在构建Agent时，我们如何平衡它的自主性和可控性？第三个问题，基于RAG的Agent相比传统的大模型，在哪些方面具有明显的优势？大家可以自由发言，分享自己的观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本次课程到此结束，感谢大家的聆听！希望通过这次课程，大家对基于RAG的Agent技术有了更深入的了解。如果大家还有其他问题，欢迎在课后继续交流。谢谢！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2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5.jpe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12.svg"/><Relationship Id="rId3" Type="http://schemas.openxmlformats.org/officeDocument/2006/relationships/image" Target="../media/image17.png"/><Relationship Id="rId2" Type="http://schemas.openxmlformats.org/officeDocument/2006/relationships/image" Target="../media/image28.sv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12.sv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1.svg"/><Relationship Id="rId7" Type="http://schemas.openxmlformats.org/officeDocument/2006/relationships/image" Target="../media/image40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44.png"/><Relationship Id="rId4" Type="http://schemas.openxmlformats.org/officeDocument/2006/relationships/image" Target="../media/image28.svg"/><Relationship Id="rId3" Type="http://schemas.openxmlformats.org/officeDocument/2006/relationships/image" Target="../media/image29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1.jpe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8.jpe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5.jpe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png"/><Relationship Id="rId8" Type="http://schemas.openxmlformats.org/officeDocument/2006/relationships/image" Target="../media/image33.svg"/><Relationship Id="rId7" Type="http://schemas.openxmlformats.org/officeDocument/2006/relationships/image" Target="../media/image44.png"/><Relationship Id="rId6" Type="http://schemas.openxmlformats.org/officeDocument/2006/relationships/image" Target="../media/image28.svg"/><Relationship Id="rId5" Type="http://schemas.openxmlformats.org/officeDocument/2006/relationships/image" Target="../media/image29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12.sv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71.svg"/><Relationship Id="rId11" Type="http://schemas.openxmlformats.org/officeDocument/2006/relationships/image" Target="../media/image70.png"/><Relationship Id="rId10" Type="http://schemas.openxmlformats.org/officeDocument/2006/relationships/image" Target="../media/image69.sv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svg"/><Relationship Id="rId1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svg"/><Relationship Id="rId8" Type="http://schemas.openxmlformats.org/officeDocument/2006/relationships/image" Target="../media/image79.png"/><Relationship Id="rId7" Type="http://schemas.openxmlformats.org/officeDocument/2006/relationships/image" Target="../media/image37.svg"/><Relationship Id="rId6" Type="http://schemas.openxmlformats.org/officeDocument/2006/relationships/image" Target="../media/image78.png"/><Relationship Id="rId5" Type="http://schemas.openxmlformats.org/officeDocument/2006/relationships/image" Target="../media/image77.svg"/><Relationship Id="rId4" Type="http://schemas.openxmlformats.org/officeDocument/2006/relationships/image" Target="../media/image76.png"/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83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" Type="http://schemas.openxmlformats.org/officeDocument/2006/relationships/image" Target="../media/image28.sv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37.svg"/><Relationship Id="rId3" Type="http://schemas.openxmlformats.org/officeDocument/2006/relationships/image" Target="../media/image78.png"/><Relationship Id="rId2" Type="http://schemas.openxmlformats.org/officeDocument/2006/relationships/image" Target="../media/image28.sv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44.png"/><Relationship Id="rId4" Type="http://schemas.openxmlformats.org/officeDocument/2006/relationships/image" Target="../media/image6.svg"/><Relationship Id="rId3" Type="http://schemas.openxmlformats.org/officeDocument/2006/relationships/image" Target="../media/image72.png"/><Relationship Id="rId2" Type="http://schemas.openxmlformats.org/officeDocument/2006/relationships/image" Target="../media/image37.svg"/><Relationship Id="rId1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82.svg"/><Relationship Id="rId7" Type="http://schemas.openxmlformats.org/officeDocument/2006/relationships/image" Target="../media/image81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6.svg"/><Relationship Id="rId3" Type="http://schemas.openxmlformats.org/officeDocument/2006/relationships/image" Target="../media/image72.png"/><Relationship Id="rId2" Type="http://schemas.openxmlformats.org/officeDocument/2006/relationships/image" Target="../media/image24.svg"/><Relationship Id="rId18" Type="http://schemas.openxmlformats.org/officeDocument/2006/relationships/notesSlide" Target="../notesSlides/notesSlide20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90.svg"/><Relationship Id="rId15" Type="http://schemas.openxmlformats.org/officeDocument/2006/relationships/image" Target="../media/image89.png"/><Relationship Id="rId14" Type="http://schemas.openxmlformats.org/officeDocument/2006/relationships/image" Target="../media/image46.svg"/><Relationship Id="rId13" Type="http://schemas.openxmlformats.org/officeDocument/2006/relationships/image" Target="../media/image45.png"/><Relationship Id="rId12" Type="http://schemas.openxmlformats.org/officeDocument/2006/relationships/image" Target="../media/image71.svg"/><Relationship Id="rId11" Type="http://schemas.openxmlformats.org/officeDocument/2006/relationships/image" Target="../media/image70.png"/><Relationship Id="rId10" Type="http://schemas.openxmlformats.org/officeDocument/2006/relationships/image" Target="../media/image33.svg"/><Relationship Id="rId1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19.svg"/><Relationship Id="rId3" Type="http://schemas.openxmlformats.org/officeDocument/2006/relationships/image" Target="../media/image91.png"/><Relationship Id="rId2" Type="http://schemas.openxmlformats.org/officeDocument/2006/relationships/image" Target="../media/image6.svg"/><Relationship Id="rId1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svg"/><Relationship Id="rId1" Type="http://schemas.openxmlformats.org/officeDocument/2006/relationships/image" Target="../media/image94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9.jpeg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14.svg"/><Relationship Id="rId3" Type="http://schemas.openxmlformats.org/officeDocument/2006/relationships/image" Target="../media/image94.png"/><Relationship Id="rId2" Type="http://schemas.openxmlformats.org/officeDocument/2006/relationships/image" Target="../media/image96.svg"/><Relationship Id="rId1" Type="http://schemas.openxmlformats.org/officeDocument/2006/relationships/image" Target="../media/image95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svg"/><Relationship Id="rId8" Type="http://schemas.openxmlformats.org/officeDocument/2006/relationships/image" Target="../media/image78.png"/><Relationship Id="rId7" Type="http://schemas.openxmlformats.org/officeDocument/2006/relationships/image" Target="../media/image104.svg"/><Relationship Id="rId6" Type="http://schemas.openxmlformats.org/officeDocument/2006/relationships/image" Target="../media/image103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102.svg"/><Relationship Id="rId2" Type="http://schemas.openxmlformats.org/officeDocument/2006/relationships/image" Target="../media/image101.png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00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6.svg"/><Relationship Id="rId1" Type="http://schemas.openxmlformats.org/officeDocument/2006/relationships/image" Target="../media/image10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6.svg"/><Relationship Id="rId3" Type="http://schemas.openxmlformats.org/officeDocument/2006/relationships/image" Target="../media/image72.png"/><Relationship Id="rId2" Type="http://schemas.openxmlformats.org/officeDocument/2006/relationships/image" Target="../media/image108.svg"/><Relationship Id="rId1" Type="http://schemas.openxmlformats.org/officeDocument/2006/relationships/image" Target="../media/image107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png"/><Relationship Id="rId8" Type="http://schemas.openxmlformats.org/officeDocument/2006/relationships/image" Target="../media/image116.svg"/><Relationship Id="rId7" Type="http://schemas.openxmlformats.org/officeDocument/2006/relationships/image" Target="../media/image115.png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4" Type="http://schemas.openxmlformats.org/officeDocument/2006/relationships/image" Target="../media/image6.svg"/><Relationship Id="rId3" Type="http://schemas.openxmlformats.org/officeDocument/2006/relationships/image" Target="../media/image72.png"/><Relationship Id="rId2" Type="http://schemas.openxmlformats.org/officeDocument/2006/relationships/image" Target="../media/image112.svg"/><Relationship Id="rId18" Type="http://schemas.openxmlformats.org/officeDocument/2006/relationships/notesSlide" Target="../notesSlides/notesSlide27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21.svg"/><Relationship Id="rId15" Type="http://schemas.openxmlformats.org/officeDocument/2006/relationships/image" Target="../media/image120.png"/><Relationship Id="rId14" Type="http://schemas.openxmlformats.org/officeDocument/2006/relationships/image" Target="../media/image33.svg"/><Relationship Id="rId13" Type="http://schemas.openxmlformats.org/officeDocument/2006/relationships/image" Target="../media/image44.png"/><Relationship Id="rId12" Type="http://schemas.openxmlformats.org/officeDocument/2006/relationships/image" Target="../media/image119.svg"/><Relationship Id="rId11" Type="http://schemas.openxmlformats.org/officeDocument/2006/relationships/image" Target="../media/image118.png"/><Relationship Id="rId10" Type="http://schemas.openxmlformats.org/officeDocument/2006/relationships/image" Target="../media/image31.svg"/><Relationship Id="rId1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svg"/><Relationship Id="rId8" Type="http://schemas.openxmlformats.org/officeDocument/2006/relationships/image" Target="../media/image125.png"/><Relationship Id="rId7" Type="http://schemas.openxmlformats.org/officeDocument/2006/relationships/image" Target="../media/image82.svg"/><Relationship Id="rId6" Type="http://schemas.openxmlformats.org/officeDocument/2006/relationships/image" Target="../media/image81.png"/><Relationship Id="rId5" Type="http://schemas.openxmlformats.org/officeDocument/2006/relationships/image" Target="../media/image124.svg"/><Relationship Id="rId4" Type="http://schemas.openxmlformats.org/officeDocument/2006/relationships/image" Target="../media/image123.png"/><Relationship Id="rId3" Type="http://schemas.openxmlformats.org/officeDocument/2006/relationships/image" Target="../media/image6.svg"/><Relationship Id="rId2" Type="http://schemas.openxmlformats.org/officeDocument/2006/relationships/image" Target="../media/image72.png"/><Relationship Id="rId11" Type="http://schemas.openxmlformats.org/officeDocument/2006/relationships/notesSlide" Target="../notesSlides/notesSlide2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22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3.svg"/><Relationship Id="rId7" Type="http://schemas.openxmlformats.org/officeDocument/2006/relationships/image" Target="../media/image132.png"/><Relationship Id="rId6" Type="http://schemas.openxmlformats.org/officeDocument/2006/relationships/image" Target="../media/image131.svg"/><Relationship Id="rId5" Type="http://schemas.openxmlformats.org/officeDocument/2006/relationships/image" Target="../media/image130.png"/><Relationship Id="rId4" Type="http://schemas.openxmlformats.org/officeDocument/2006/relationships/image" Target="../media/image129.svg"/><Relationship Id="rId3" Type="http://schemas.openxmlformats.org/officeDocument/2006/relationships/image" Target="../media/image128.pn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127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png"/><Relationship Id="rId8" Type="http://schemas.openxmlformats.org/officeDocument/2006/relationships/image" Target="../media/image14.svg"/><Relationship Id="rId7" Type="http://schemas.openxmlformats.org/officeDocument/2006/relationships/image" Target="../media/image94.png"/><Relationship Id="rId6" Type="http://schemas.openxmlformats.org/officeDocument/2006/relationships/image" Target="../media/image37.svg"/><Relationship Id="rId5" Type="http://schemas.openxmlformats.org/officeDocument/2006/relationships/image" Target="../media/image78.png"/><Relationship Id="rId4" Type="http://schemas.openxmlformats.org/officeDocument/2006/relationships/image" Target="../media/image35.svg"/><Relationship Id="rId3" Type="http://schemas.openxmlformats.org/officeDocument/2006/relationships/image" Target="../media/image134.png"/><Relationship Id="rId2" Type="http://schemas.openxmlformats.org/officeDocument/2006/relationships/image" Target="../media/image12.svg"/><Relationship Id="rId14" Type="http://schemas.openxmlformats.org/officeDocument/2006/relationships/notesSlide" Target="../notesSlides/notesSlide3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8.svg"/><Relationship Id="rId11" Type="http://schemas.openxmlformats.org/officeDocument/2006/relationships/image" Target="../media/image137.png"/><Relationship Id="rId10" Type="http://schemas.openxmlformats.org/officeDocument/2006/relationships/image" Target="../media/image136.svg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140.svg"/><Relationship Id="rId3" Type="http://schemas.openxmlformats.org/officeDocument/2006/relationships/image" Target="../media/image139.png"/><Relationship Id="rId2" Type="http://schemas.openxmlformats.org/officeDocument/2006/relationships/image" Target="../media/image119.svg"/><Relationship Id="rId1" Type="http://schemas.openxmlformats.org/officeDocument/2006/relationships/image" Target="../media/image118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2.svg"/><Relationship Id="rId1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74800" y="1651000"/>
            <a:ext cx="904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基于RAG的Agent技术与生态发展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286000" y="2540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大学教学课件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5461032" y="3295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3556000" y="381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讲师：[待填写]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431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2026年3月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6413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Education Series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50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1397000"/>
            <a:ext cx="914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0000" y="1600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175000" y="15494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01. Agent概述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2336800"/>
            <a:ext cx="914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0000" y="2540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175000" y="24892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02. Agent的技术框架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3276600"/>
            <a:ext cx="914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40000" y="3479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175000" y="3429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03. 基于RAG的Agent设计与实现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86000" y="4216400"/>
            <a:ext cx="914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40000" y="44196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175000" y="43688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04. Agent生态发展与未来展望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286000" y="5156200"/>
            <a:ext cx="914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40000" y="53594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175000" y="53086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05. 总结与讨论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1651000"/>
            <a:ext cx="762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540000" y="27305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 Agent概述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7188">
            <a:off x="4826016" y="3676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2540000" y="39370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探索智能体的核心概念、发展历程与应用场景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86000" y="5130800"/>
            <a:ext cx="7620000" cy="762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9.1.1 什么是Agent？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587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460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词源追溯：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源自拉丁语Agere，意为“to do”（行动、执行）。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603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476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中文翻译：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通常译为“智能体”或“代理”，强调其执行能力。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74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492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在特定环境中持续自主运行的智能体，具备自主性、社会性和主动性等核心特征。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016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762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关键能力：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感知环境变化并自适应响应，与外部系统交互，利用工具执行任务，具备目标驱动模式。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604000" y="1524000"/>
            <a:ext cx="4318000" cy="2159000"/>
          </a:xfrm>
          <a:prstGeom prst="roundRect">
            <a:avLst>
              <a:gd name="adj" fmla="val 5882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604000" y="3810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 智能体概念示意图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4318000"/>
            <a:ext cx="4318000" cy="1524000"/>
          </a:xfrm>
          <a:prstGeom prst="roundRect">
            <a:avLst>
              <a:gd name="adj" fmla="val 8333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731000" y="4445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简单来说：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Agent 是一个能够自主思考、感知环境并采取行动的智能系统，是连接大模型与现实世界的桥梁。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496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9.1.2 Agent的演进之路（一）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54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阶段一：提示词工程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通过精心设计的输入提示引导大模型生成符合预期内容。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存在信息幻觉，泛化能力不足。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390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阶段二：少样本学习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提供少量示例，帮助模型更准确理解任务。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难以解决知识滞后与推理受限问题。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397000"/>
            <a:ext cx="4826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t="88" b="88"/>
          <a:stretch>
            <a:fillRect/>
          </a:stretch>
        </p:blipFill>
        <p:spPr>
          <a:xfrm>
            <a:off x="6350000" y="1524000"/>
            <a:ext cx="4572000" cy="167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223000" y="34925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3619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演进总结：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从简单的指令引导到引入示例辅助，Agent的能力边界在不断拓展，但仍受限于静态知识库与推理深度。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下一阶段：从少样本学习迈向工具使用与自主规划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6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9.1.2 Agent的演进之路（二）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阶段三：知识增强检索 (RAG)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结合外部知识库的增强型AI生成技术。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提高实时性和准确性，减少幻觉问题。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意义：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从封闭知识生成进化为动态知识获取。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94" b="94"/>
          <a:stretch>
            <a:fillRect/>
          </a:stretch>
        </p:blipFill>
        <p:spPr>
          <a:xfrm>
            <a:off x="1016000" y="3302000"/>
            <a:ext cx="4572000" cy="2235200"/>
          </a:xfrm>
          <a:prstGeom prst="roundRect">
            <a:avLst>
              <a:gd name="adj" fmla="val 284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350000" y="1397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阶段四：ReAct框架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032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融合推理与行动的Agent框架。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动态调整策略，提升智能决策能力。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意义：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向具备自主规划与决策能力的智能体进化。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3302000"/>
            <a:ext cx="4572000" cy="2235200"/>
          </a:xfrm>
          <a:prstGeom prst="roundRect">
            <a:avLst>
              <a:gd name="adj" fmla="val 2840"/>
            </a:avLst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0" y="36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6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9.1.2 Agent的演进之路（三）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05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阶段五：Agent定义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通过规划、记忆、工具和执行的协同，使AI具备更强的自主性，不再局限于单一指令。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05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核心能力特征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能够感知环境变化，主动调用外部工具，执行复杂任务，形成具备持久性和适应性的智能系统。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05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演进重要意义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推动AI从单一的任务处理者进化为真正的智能自主体，开启了通用人工智能的新篇章。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3594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总结：Agent 是 AI 进化的关键里程碑，实现了从被动响应到主动创造的跨越。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50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9.1.3 Agent的常见分类（一）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841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41500" y="1803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单Agent (Single-Agent)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6035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单个Agent独立运行，适用于个体简单类型的任务。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智能客服、推荐系统等。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841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29500" y="1803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 (Multi-Agent)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67500" y="26035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由多个Agent组成，具备协作或竞争能力，广泛应用于复杂环境。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分布式计算、智能驾驶等。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207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5143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单Agent强调独立处理能力，适合简单任务；多Agent强调群体智能与协作，适合复杂、动态的任务环境。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50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9.1.3 Agent的常见分类（二）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通用 Agent (General Agent)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286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具备广泛适应性的智能体，可执行跨领域任务，如 ChatGPT、Claude 等。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0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工具 Agent (Tool Agent)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0" y="2286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专门用于调用外部工具或API，如AI编程助手、金融分析Agent。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064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000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模拟 Agent (Simulation Agent)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445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用于模拟环境、用户行为或物理系统，常见于智能决策、仿真训练等领域。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810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064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4000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Web Agent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4445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用于自动化操作，如 Mobile-Agent 等，专注于网络自动化任务。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6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9.1.3 Agent的常见分类（三）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05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被动 Agent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048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Reactive Agent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42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仅对输入作出反应，无长期规划能力。结构简单，响应迅速。</a:t>
            </a:r>
            <a:endParaRPr lang="en-US" sz="1100"/>
          </a:p>
          <a:p>
            <a:pPr indent="0" algn="just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例：简单的推荐系统、基础聊天机器人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05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自主 Agent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048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Autonomous Agent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42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具备规划、记忆、工具调用等能力，可根据目标自主决策。</a:t>
            </a:r>
            <a:endParaRPr lang="en-US" sz="1100"/>
          </a:p>
          <a:p>
            <a:pPr indent="0" algn="just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例：智能搜索Agent、自动驾驶AI、复杂任务规划系统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050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混合 Agent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3048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Hybrid Agent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342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结合规则驱动与自主学习，兼顾效率与灵活性，适用于特定场景。</a:t>
            </a:r>
            <a:endParaRPr lang="en-US" sz="1100"/>
          </a:p>
          <a:p>
            <a:pPr indent="0" algn="just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例：金融风控系统、智能法律咨询、医疗诊断辅助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20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核心差异：</a:t>
            </a: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从“被动响应”到“自主决策”再到“混合协同”，体现了 Agent 智能化程度的逐步提升。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496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9.1.4 Agent的行业应用（一）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651000"/>
            <a:ext cx="406400" cy="4064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270000" y="1587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搜索与问答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1968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结合RAG技术，用于智能客服、知识管理和精准问答，提升信息获取效率。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92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857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内容创作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3238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深度理解用户需求，自动生成高质量文本内容，并根据反馈不断迭代优化。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191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4127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金融与交易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4508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自动收集和分析市场信息，执行复杂交易策略，提高投资决策的智能化水平。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 t="119" b="119"/>
          <a:stretch>
            <a:fillRect/>
          </a:stretch>
        </p:blipFill>
        <p:spPr>
          <a:xfrm>
            <a:off x="6604000" y="1651000"/>
            <a:ext cx="3810000" cy="2641600"/>
          </a:xfrm>
          <a:prstGeom prst="roundRect">
            <a:avLst>
              <a:gd name="adj" fmla="val 7211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0277BD">
                <a:alpha val="20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6604000" y="444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智能客服场景下的Agent应用示例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9.1.4 Agent的行业应用（二）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14500" y="16510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自动化办公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14500" y="2032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用于日程管理、邮件处理、会议纪要生成等，显著提高日常办公效率。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365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14500" y="31750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电商与营销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14500" y="3556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分析用户行为预测需求，通过精准营销提供定制化产品推荐，提升转化率。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89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14500" y="46990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智能运维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14500" y="5080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实时监测IT运行状态，自动进行服务器管理与故障诊断，执行自修复策略。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112000" y="1778000"/>
            <a:ext cx="34290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76200" dir="54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7112000" y="419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Agent赋能自动化办公场景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0" y="4699000"/>
            <a:ext cx="3429000" cy="1143000"/>
          </a:xfrm>
          <a:prstGeom prst="roundRect">
            <a:avLst>
              <a:gd name="adj" fmla="val 11111"/>
            </a:avLst>
          </a:prstGeom>
          <a:solidFill>
            <a:srgbClr val="0277B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239000" y="4826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降本增效 · 精准决策 · 实时响应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70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9.1.4 Agent的行业应用（三）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65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医疗健康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032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协助医生进行精准诊断，提供健康建议，优化医疗资源分配，提升诊疗效率。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365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17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智能制造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3556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通过数据分析和自动化控制，实现智能生产调度、质量检测及设备预测性维护。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89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69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智能驾驶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5080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结合环境感知与决策控制，实现自动驾驶、智能交通调度和车队管理等功能。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1524000"/>
            <a:ext cx="4318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l="58" r="58"/>
          <a:stretch>
            <a:fillRect/>
          </a:stretch>
        </p:blipFill>
        <p:spPr>
          <a:xfrm>
            <a:off x="6731000" y="1625600"/>
            <a:ext cx="4064000" cy="2717800"/>
          </a:xfrm>
          <a:prstGeom prst="roundRect">
            <a:avLst>
              <a:gd name="adj" fmla="val 46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604000" y="4572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1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Agent在医疗健康领域的应用场景示意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9.1.5 Agent的未来发展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841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更强的自主性与泛化能力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适应复杂环境，具备更强的独立决策与任务执行能力。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45000" y="1651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68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334000" y="1841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更高效的多模态交互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融合语音、视觉等多种交互方式，实现更自然流畅的人机协作。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28000" y="1651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68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017000" y="1841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长期记忆与自我优化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建立长期记忆机制，通过经验积累不断迭代优化自身能力。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873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3746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与RAG的深度结合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结合检索增强生成技术，提升知识获取的准确性与时效性。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445000" y="3556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873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334000" y="3746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更高的实时性要求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能够快速响应动态环境变化，提供低延迟的决策支持。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128000" y="3556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3873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17000" y="3746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更高的安全性与可控性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建立完善的安全机制，确保Agent行为符合伦理与规范。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651000"/>
            <a:ext cx="9652000" cy="3556000"/>
          </a:xfrm>
          <a:prstGeom prst="roundRect">
            <a:avLst>
              <a:gd name="adj" fmla="val 53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667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9.2 Agent的技术框架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778000" y="3810000"/>
            <a:ext cx="863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深入技术层面，剖析智能体的核心架构与工作原理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5130800"/>
            <a:ext cx="9652000" cy="762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9.2.1 Agent的四大组件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12" r="112"/>
          <a:stretch>
            <a:fillRect/>
          </a:stretch>
        </p:blipFill>
        <p:spPr>
          <a:xfrm>
            <a:off x="762000" y="1524000"/>
            <a:ext cx="3556000" cy="2514600"/>
          </a:xfrm>
          <a:prstGeom prst="roundRect">
            <a:avLst>
              <a:gd name="adj" fmla="val 505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4826000" y="1524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0" y="1778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715000" y="1651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规划（Planning）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负责自我反思与评判、任务拆解、路径优化和策略制定。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826000" y="2667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2921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715000" y="2794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记忆（Memory）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负责存储短中期上下文和长期记忆，结合外部知识库。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826000" y="3810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4064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715000" y="3937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工具（Tools）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调用搜索引擎、计算工具和代码执行环境等外部工具。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826000" y="4953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0000" y="5207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715000" y="5080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执行（Action）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将规划与记忆转化为具体的行动，并结合环境反馈优化决策。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9.2.2 ReAct框架的原理（一）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ReAct框架简介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通过推理（Reasoning）与行动（Acting）的紧密结合，提升大模型在任务执行中的智能决策、交互灵活性及适应性。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49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核心循环机制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构建“观察—思考—行动—再观察”的闭环系统，使Agent能够在动态环境中不断优化决策策略。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397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l="125" r="125"/>
          <a:stretch>
            <a:fillRect/>
          </a:stretch>
        </p:blipFill>
        <p:spPr>
          <a:xfrm>
            <a:off x="6350000" y="1524000"/>
            <a:ext cx="4572000" cy="2413000"/>
          </a:xfrm>
          <a:prstGeom prst="roundRect">
            <a:avLst>
              <a:gd name="adj" fmla="val 526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62000" y="5334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ReAct：让智能体像人类一样“边想边做”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70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9.2.2 ReAct框架的原理（二）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6600" y="2032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971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思考 (Reasoning)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429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评估当前环境状态，分析信息，推理出合理的下一步行动方案。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2032000"/>
            <a:ext cx="812800" cy="812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971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行动 (Acting)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429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根据推理结果，选择并执行适当的操作，如调用外部工具、检索信息等。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600" y="2032000"/>
            <a:ext cx="812800" cy="812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971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观察 (Observation)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429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执行行动后，持续监测环境反馈，收集新信息，调整后续推理方向。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524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循环迭代：思考 → 行动 → 观察 → 思考...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50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9.2.2 ReAct框架的原理（三）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LangChain中ReAct的实现：从工具定义到Agent执行的完整流程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3556000"/>
          </a:xfrm>
          <a:prstGeom prst="roundRect">
            <a:avLst>
              <a:gd name="adj" fmla="val 3571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30400"/>
            <a:ext cx="127000" cy="1270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68400" y="1930400"/>
            <a:ext cx="127000" cy="1270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384300" y="1930400"/>
            <a:ext cx="127000" cy="1270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159000"/>
            <a:ext cx="10287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langchain_core.messages</a:t>
            </a: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HumanMessage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langchain_core.tools</a:t>
            </a: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BaseTool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langgraph.prebuilt</a:t>
            </a: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create_react_agent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langchain_community.chat_models</a:t>
            </a: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ChatTongyi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1. 定义工具：继承BaseTool实现自定义逻辑</a:t>
            </a:r>
            <a:endParaRPr lang="en-US" sz="13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class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MyCustomTool(BaseTool):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name:</a:t>
            </a:r>
            <a:r>
              <a:rPr lang="en-US" sz="13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US" sz="13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"自定义工具"</a:t>
            </a:r>
            <a:endParaRPr lang="en-US" sz="1300" b="0" i="0" u="none" strike="noStrike">
              <a:solidFill>
                <a:srgbClr val="98C37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description:</a:t>
            </a:r>
            <a:r>
              <a:rPr lang="en-US" sz="13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US" sz="13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"自定义工具描述"</a:t>
            </a:r>
            <a:endParaRPr lang="en-US" sz="1300" b="0" i="0" u="none" strike="noStrike">
              <a:solidFill>
                <a:srgbClr val="98C37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_run(self, query:</a:t>
            </a:r>
            <a:r>
              <a:rPr lang="en-US" sz="13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-&gt;</a:t>
            </a:r>
            <a:r>
              <a:rPr lang="en-US" sz="13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工具的自定义实现逻辑</a:t>
            </a:r>
            <a:endParaRPr lang="en-US" sz="13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query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2. 初始化模型与工具，构建Agent</a:t>
            </a:r>
            <a:endParaRPr lang="en-US" sz="13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model = ChatTongyi(model=</a:t>
            </a:r>
            <a:r>
              <a:rPr lang="en-US" sz="13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"qwen-long"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dashscope_api_key=</a:t>
            </a:r>
            <a:r>
              <a:rPr lang="en-US" sz="13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"sk-xxx"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agent = create_react_agent(model, [MyCustomTool()])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3. 执行推理：流式获取Agent响应</a:t>
            </a:r>
            <a:endParaRPr lang="en-US" sz="13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messages = {</a:t>
            </a:r>
            <a:r>
              <a:rPr lang="en-US" sz="13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"messages"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 [HumanMessage(content=</a:t>
            </a:r>
            <a:r>
              <a:rPr lang="en-US" sz="13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"介绍一下Agent"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)]}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chunk</a:t>
            </a:r>
            <a:r>
              <a:rPr lang="en-US" sz="13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agent.stream(messages):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</a:t>
            </a:r>
            <a:r>
              <a:rPr lang="en-US" sz="13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(chunk)</a:t>
            </a:r>
            <a:endParaRPr lang="en-US" sz="13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5524500"/>
            <a:ext cx="10668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B2DF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71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5651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工具定义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继承 BaseTool 实现自定义功能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571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5651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Agent构建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模型与工具结合，赋予推理能力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4000" y="571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82000" y="5651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执行推理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流式响应，动态调用工具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496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9.2.3 OpenAI的Agent SDK（一）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240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2025年3月推出，使开发者能够通过极简的代码快速构建Agent应用，降低开发门槛。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857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730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轻量但强大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极简设计，功能完备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81500" y="2540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2857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2730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Python优先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降低开发者学习成本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01000" y="2540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0" y="2857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2730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内置Agent循环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自动处理思考与执行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381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254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任务交接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支持多代理协作分工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381500" y="4064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500" y="4381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143500" y="4254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内置安全防护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保障应用运行安全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001000" y="4064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55000" y="4381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763000" y="4254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便捷跟踪调试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快速定位问题所在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5588000"/>
            <a:ext cx="3429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57658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524000" y="5588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极简上手体验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381500" y="5588000"/>
            <a:ext cx="70485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4572000" y="5588000"/>
            <a:ext cx="666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让开发者专注于业务逻辑实现，减少底层细节关注。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9.2.3 OpenAI的Agent SDK（二）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快速入门：构建具备Web搜索能力的Agent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6350000" cy="3302000"/>
          </a:xfrm>
          <a:prstGeom prst="roundRect">
            <a:avLst>
              <a:gd name="adj" fmla="val 3846"/>
            </a:avLst>
          </a:prstGeom>
          <a:solidFill>
            <a:srgbClr val="1E1E1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5842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agents</a:t>
            </a: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Agent, WebSearchTool, Runner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C6370"/>
                </a:solidFill>
                <a:latin typeface="Noto Sans SC"/>
                <a:ea typeface="Noto Sans SC"/>
                <a:cs typeface="Noto Sans SC"/>
                <a:sym typeface="Noto Sans SC"/>
              </a:rPr>
              <a:t># 定义一个Web搜索Agent</a:t>
            </a:r>
            <a:endParaRPr lang="en-US" sz="1400" b="0" i="0" u="none" strike="noStrike">
              <a:solidFill>
                <a:srgbClr val="5C637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web_search = WebSearchTool()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agent = Agent(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name=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"搜索助手"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tools=[web_search],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model=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"gpt-4-turbo"</a:t>
            </a:r>
            <a:endParaRPr lang="en-US" sz="1400" b="0" i="0" u="none" strike="noStrike">
              <a:solidFill>
                <a:srgbClr val="98C37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response = Runner.run_sync(agent,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"OpenAI的Agent SDK怎么使用？"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print(response.final_output)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493000" y="1905000"/>
            <a:ext cx="393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7000" y="2095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255000" y="2032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核心组件导入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47000" y="2540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Agent 基类、WebSearchTool 工具类以及 Runner 运行器，构建基础环境。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493000" y="3556000"/>
            <a:ext cx="393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000" y="3746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255000" y="3683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配置与运行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47000" y="4191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配置Agent名称、挂载工具并指定模型，通过Runner同步执行任务并获取输出。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65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5588000"/>
            <a:ext cx="977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仅需几行代码即可构建具备复杂能力的智能体，SDK封装了底层逻辑，极大降低了开发门槛。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016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2159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2921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9.3 基于RAG的Agent设计与实现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7188">
            <a:off x="4826016" y="3676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5757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270000" y="3937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从理论到实践：构建具备外部知识获取能力的智能体系统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26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9.3.1 基于RAG的Agent概述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587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524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发展趋势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460500" y="1879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Agent逐步集成RAG、联网搜索和多模态交互等先进能力，向更智能方向演进。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2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857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RAG的核心作用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60500" y="32131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结合大模型推理能力与外部知识库实时信息，提供更强的知识获取与生成能力。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254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191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60500" y="4546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实现信息的实时性和准确性，有效减少大模型的幻觉问题，提升内容可靠性。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1397000"/>
            <a:ext cx="5334000" cy="2984500"/>
          </a:xfrm>
          <a:prstGeom prst="roundRect">
            <a:avLst>
              <a:gd name="adj" fmla="val 4255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t="1262" b="1262"/>
          <a:stretch>
            <a:fillRect/>
          </a:stretch>
        </p:blipFill>
        <p:spPr>
          <a:xfrm>
            <a:off x="6223000" y="1524000"/>
            <a:ext cx="5080000" cy="2730500"/>
          </a:xfrm>
          <a:prstGeom prst="roundRect">
            <a:avLst>
              <a:gd name="adj" fmla="val 465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096000" y="4445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图：RAG架构体系示意图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9.3.2 基于RAG的Agent系统设计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524000"/>
            <a:ext cx="3048000" cy="30480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101600" dir="2700000" algn="tl" rotWithShape="0">
              <a:srgbClr val="0277BD">
                <a:alpha val="2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4318000" y="1524000"/>
            <a:ext cx="711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0" y="1714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143500" y="1587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用户输入与意图识别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143500" y="1930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接收用户自然语言输入，通过NLP模型精准识别用户意图与问题核心，为后续检索提供方向。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2603500"/>
            <a:ext cx="711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2794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43500" y="26670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检索增强模块 (RAG)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143500" y="30099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根据意图从外部知识库、联网资源或本地文档中检索相关信息，补充大模型的时效性与准确性。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3683000"/>
            <a:ext cx="711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0" y="3873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3746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生成与推理模块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143500" y="4089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将用户问题与检索到的知识片段结合，输入大模型进行推理，生成基于事实的准确回答。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18000" y="4762500"/>
            <a:ext cx="711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8500" y="4953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143500" y="48260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工具调用与反馈闭环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143500" y="51689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根据任务需求调用计算器、浏览器等外部工具，并将结果反馈至生成模块，形成完整的解决闭环。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0" y="241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324100" y="2921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9.4 Agent生态发展与未来展望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740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从技术实现走向生态繁荣，探索未来无限可能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0" y="60960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0277BD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816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9.4.1 Agent生态发展现状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05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市场规模激增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Agent市场呈现快速增长趋势，预计在未来几年内将达到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数百亿美元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的规模，发展潜力巨大。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05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巨头争相布局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OpenAI、Google、微软、百度、阿里等国内外科技巨头均在积极投入资源，抢占Agent技术高地。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05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开源生态活跃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LangChain、AutoGPT、BabyAGI等开源框架层出不穷，极大地降低了开发门槛，推动技术普及。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270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Agent技术正处于爆发前夜，市场潜力与巨头投入相互促进，开源社区的活跃更是加速了技术落地与创新迭代。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6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9.4.2 Agent面临的挑战与机遇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367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498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面临挑战 Challenges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222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技术瓶颈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在长期记忆、复杂推理及多模态融合等方面仍存在技术难题。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17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111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安全与伦理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隐私数据保护、算法偏见风险及恶意使用等伦理问题亟待解决。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06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000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标准化缺失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行业缺乏统一的开发标准和规范，阻碍了技术的规模化推广。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1397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1397000"/>
            <a:ext cx="5080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15367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86600" y="1498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发展机遇 Opportunities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2222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行业应用深化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在医疗、金融、制造等垂直领域落地，创造实际业务价值。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3175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3111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技术融合创新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与区块链、物联网等前沿技术深度融合，催生全新应用场景。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4064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48500" y="4000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人机协作变革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从单一工具使用向“人类+Agent”的伙伴协作模式转变。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715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5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尽管面临技术与伦理挑战，但Agent技术在行业应用与模式创新上潜力巨大，未来可期。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816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9.4.3 Agent的未来展望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524000"/>
            <a:ext cx="2540000" cy="2540000"/>
          </a:xfrm>
          <a:prstGeom prst="roundRect">
            <a:avLst>
              <a:gd name="adj" fmla="val 10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277BD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524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318000" y="14986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通用人工智能（AGI）的关键路径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0" y="18542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Agent被视为实现AGI的重要途径，通过模拟智能体的感知、决策与行动，逐步逼近通用智能水平。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0" y="247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318000" y="24511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个性化智能助手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28067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未来的Agent将具备更强的个性化理解能力，精准捕捉用户习惯与偏好，提供定制化服务。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0" y="342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318000" y="34036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自主进化的智能系统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37592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Agent将具备自我学习与优化的能力，在与环境交互中不断迭代算法，实现系统的自我进化。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10000" y="4381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318000" y="43561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智能体社会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0" y="47117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构建由大量Agent组成的协作网络，不同角色的智能体分工协作，共同解决复杂的现实问题。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419600" y="2540000"/>
            <a:ext cx="335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总结与讨论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3429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and Discussion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930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回顾课程重点 · 交流学习心得 · 解答疑难问题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5080000"/>
            <a:ext cx="3048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0" y="5080000"/>
            <a:ext cx="3048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1200" y="5080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19200"/>
            <a:ext cx="50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54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Agent是具备自主学习与任务管理能力的智能系统，是AI发展的重要方向。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1651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56200" y="1854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技术框架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48200" y="2413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技术框架由规划、记忆、工具和执行四大核心组件构成，协同工作实现智能。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1651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88400" y="1854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构建工具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80400" y="2413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ReAct和OpenAI Agent SDK是当前构建Agent系统的重要框架和实用工具。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3886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RAG赋能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445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基于RAG的Agent结合了外部知识库，显著提升了智能体回答的准确性和实时性。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94200" y="3683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8200" y="3937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156200" y="3886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48200" y="4445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尽管面临技术挑战，但Agent技术应用场景广阔，未来发展潜力巨大。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26400" y="3683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80400" y="3937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788400" y="3886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课程回顾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80400" y="4445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系统回顾了基本概念、发展历程、技术框架及实际应用场景，夯实基础。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715000"/>
            <a:ext cx="106426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016000" y="5842000"/>
            <a:ext cx="10134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Agent技术正处于快速发展期，掌握核心原理与工具是把握未来AI机遇的关键。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23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讨论与交流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762000" cy="762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0955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778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问题一：行业应用展望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你认为Agent技术将最先在哪个行业实现大规模应用？为什么？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762000" cy="762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619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3302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问题二：自主与可控的平衡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在构建Agent时，如何平衡其自主性和可控性？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953000"/>
            <a:ext cx="762000" cy="762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51435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4826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问题三：技术优势对比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基于RAG的Agent相比传统大模型，在哪些方面具有明显优势？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cap="flat" cmpd="sng">
            <a:solidFill>
              <a:srgbClr val="0066A4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cap="flat" cmpd="sng">
            <a:solidFill>
              <a:srgbClr val="0066A4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651000"/>
            <a:ext cx="1219200" cy="1219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209800" y="3048000"/>
            <a:ext cx="777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393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基于RAG的Agent技术课程回顾与总结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457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286000" y="4953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欢迎课后继续交流与探讨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5965</Words>
  <Application>WPS 演示</Application>
  <PresentationFormat/>
  <Paragraphs>500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9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Source Code Pro</vt:lpstr>
      <vt:lpstr>Noto Sans SC</vt:lpstr>
      <vt:lpstr>Source Code Pro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Soyoger</cp:lastModifiedBy>
  <cp:revision>1</cp:revision>
  <dcterms:created xsi:type="dcterms:W3CDTF">2026-03-15T06:00:35Z</dcterms:created>
  <dcterms:modified xsi:type="dcterms:W3CDTF">2026-03-15T06:00:35Z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C1E44B0D7EE1C5A9034BB669CF016DCB_42</vt:lpwstr>
  </property>
  <property fmtid="{D5CDD505-2E9C-101B-9397-08002B2CF9AE}" pid="3" name="KSOProductBuildVer">
    <vt:lpwstr>2052-7.2.1.8947</vt:lpwstr>
  </property>
</Properties>
</file>
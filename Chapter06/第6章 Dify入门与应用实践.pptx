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11.svg" ContentType="image/svg+xml"/>
  <Override PartName="/ppt/media/image114.svg" ContentType="image/svg+xml"/>
  <Override PartName="/ppt/media/image117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8.svg" ContentType="image/svg+xml"/>
  <Override PartName="/ppt/media/image131.svg" ContentType="image/svg+xml"/>
  <Override PartName="/ppt/media/image133.svg" ContentType="image/svg+xml"/>
  <Override PartName="/ppt/media/image135.svg" ContentType="image/svg+xml"/>
  <Override PartName="/ppt/media/image137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课程。今天我们将共同学习第6章的内容——Dify入门与应用实践。在这一章中，我们将深入了解Dify这款强大的开源大语言模型应用开发平台，从它的基本概念、安装部署，到核心功能模块和实际应用案例，进行全面的讲解。希望通过本章的学习，大家能够掌握Dify的使用方法，并能够将其应用到实际的项目开发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本次课程的整体目录。我们将首先从Dify的入门简介开始，了解它的基本概念和核心理念。接着，我们会详细讲解Dify的多种安装部署方式，包括云服务、Docker和本地源码部署。之后，我们将深入探讨Dify的四大核心功能模块：探索、工作室、知识库和工具。在掌握了基础操作后，我们会学习如何创建和管理Dify知识库。最后，通过实际的应用案例分析，加深大家对Dify的理解和应用能力，并对本章内容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现在，我们正式进入第一章节——Dify入门简介。在这一部分，我们将回答一个基本问题：Dify究竟是什么？它的核心理念和技术优势又体现在哪里？让我们一起揭开Dify的神秘面纱。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明确Dify的定义。它不仅仅是一个工具，而是一个完整的开源平台，旨在帮助开发者快速构建生产级的生成式AI应用。它的名字Dify，结合了“定义”和“改进”，很好地诠释了它的核心理念——为用户提供一个可以不断迭代和优化AI应用的平台。正如其CEO所说，Dify的特点是简单、克制且迭代迅速，这使得它无论是对开发者还是非技术人员都非常友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ify之所以强大，得益于其内置的一套完整的核心技术栈。它支持市面上数百种主流的大语言模型，提供了直观的Prompt编排界面，让提示词工程变得更加简单。同时，它内置了高效的RAG引擎和强大的Agent框架，能够帮助我们构建知识丰富、具备自主能力的AI应用。此外，灵活的流程编排工具和简洁的API接口，使得Dify的扩展性和易用性都非常出色。这套一站式的解决方案，极大地简化了AI应用的开发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了解了Dify的基本概念后，我们接下来学习如何将它安装和部署到我们的环境中。Dify提供了多种部署方式，以满足不同用户的需求。在这一章节，我们将详细介绍云服务、Dify Premium以及两种主流的私有化部署方式：Docker和本地源码部署。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在开始具体的部署操作之前，我们先对Dify的安装部署方式有一个整体的了解。主要分为三大类：云服务、Dify Premium和私有化部署。云服务最方便，直接注册就能用；Dify Premium则提供了基于AWS的私有化方案；而私有化部署又分为Docker和本地源码两种方式，前者快捷，后者灵活。大家可以根据自己的实际需求和技术能力来选择合适的部署方式。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云服务。这是最简单的方式，你只需要有一个GitHub或Google账号，就可以直接登录使用Dify的所有功能，非常适合想要快速体验的用户。但它的缺点也很明显，对于国内用户来说，访问可能存在困难，而且数据安全问题也需要考虑。因此，对于企业用户或对数据安全有要求的场景，我们通常会推荐私有化部署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接下来是Dify Premium。这是一个基于AWS的商业解决方案，它允许用户一键将Dify部署到自己的AWS虚拟私有云（VPC）中，并且支持自定义品牌。这种方式非常适合有一定规模的中小企业，他们既需要私有化部署来保证数据安全，又希望简化部署流程。同时，它也适用于那些需要在正式大规模部署前进行概念验证（POC）的企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现在我们开始介绍最常用的私有化部署方式——Docker部署。在开始之前，我们需要确认一下服务器的配置是否达标。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Docker部署对系统的要求不高，CPU至少2核，内存至少4GB，这对于大多数现代服务器来说都是很容易满足的。请大家在部署前检查一下自己的服务器配置。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Docker部署的第一步，是获取Dify的源代码。我们使用git clone命令，从官方的GitHub仓库中将代码下载到我们的服务器上。这个过程非常简单，只需要一行命令即可完成。请大家在自己的服务器上执行这个命令。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代码克隆完成后，我们进入到dify目录下的docker文件夹。这里存放着Docker部署所需的配置文件。我们首先复制一份示例环境配置文件，然后使用docker-compose命令启动所有必要的容器。这里需要注意一下你安装的Docker Compose版本，不同版本的命令略有不同，V2版本使用`docker compose`，而V1版本使用`docker-compose`。执行启动命令后，系统会自动下载并安装所有依赖的镜像和容器。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容器启动成功后，我们就可以通过浏览器访问Dify了。首先，我们需要访问服务器IP的/install路径来初始化管理员账户，设置用户名和密码。完成初始化后，再访问/apps路径，就可以看到Dify的登录界面，如图所示。输入刚才设置的管理员账户，就可以成功登录Dify的控制台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际使用中，我们可能需要根据自己的需求调整Dify的一些配置，比如文件上传大小限制、数据库连接信息等。这些配置都存储在docker目录下的.env文件中。我们可以使用vim等编辑器修改这个文件，修改完成后，需要重启Docker容器才能让新的配置生效。重启命令很简单，先down掉所有容器，再重新up起来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除了Docker部署，我们还可以选择本地源码部署，这种方式可以让我们对Dify进行更深度的定制和二次开发。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首先，同样需要满足基本的系统要求并克隆代码。我们需要确保服务器至少有2核CPU和4GB内存，并已安装Git工具。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然后，由于Dify采用前后端分离架构，依赖PostgreSQL、Redis和Weaviate等中间件，我们需要先启动这些中间件服务。这里我们同样使用Docker Compose来快速部署这些中间件，进入docker目录，复制示例配置文件，然后执行启动命令即可。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间件启动后，我们开始部署服务端。服务端基于Python开发，需要3.11或3.12版本。我们进入api目录，复制环境配置文件并生成密钥。然后使用Poetry这个Python包管理工具来安装所有依赖。安装完成后，执行数据库迁移命令初始化数据库结构。最后，分别启动API服务和Celery Worker服务，这样服务端就部署完成了。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服务端部署好之后，我们来部署前端页面。前端基于Node.js开发，需要v18.x版本。进入web目录，安装依赖包，然后创建一个.env.local文件来配置API服务的地址，这样前端才能正确地与后端通信。配置完成后，执行build命令构建生产版本的代码，最后启动web服务。此时，我们就可以通过浏览器访问本地的3000端口来使用Dify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功部署Dify后，我们来深入了解它的核心功能模块。Dify的界面主要分为四大模块：探索、工作室、知识库和工具。这些模块各司其职，共同构成了一个完整的AI应用开发平台。接下来，我们将逐一介绍这些模块的功能和使用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Dify的四大核心功能模块。“探索”模块就像一个应用商店，提供了各种现成的模板供我们参考和使用。“工作室”是我们主要的开发工作区，所有应用的创建和管理都在这里进行。“知识库”模块用于管理我们上传的文档和知识，是实现RAG功能的核心。而“工具”模块则极大地扩展了大语言模型的能力边界，让它能够完成更多复杂的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“探索”模块。正如大家在图片中看到的，这里汇集了大量高质量的应用模板。这些模板由Dify官方和社区开发者共同维护，覆盖了各种常见的AI应用场景。对于新手来说，直接使用这些模板是最快上手的方式；对于有经验的开发者，也可以借鉴这些模板的设计思路，在此基础上进行二次开发，大大提高开发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核心的“工作室”模块。在这里，我们有三种创建应用的方式。第一种是创建空白应用，适合需要高度定制的场景。第二种是基于模板创建，这是最常用的方式，可以快速生成应用雏形。第三种是导入DSL文件，这是一种更高级的方式，允许我们通过代码化的配置来定义应用，便于团队协作和版本控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来看如何创建空白应用。进入工作室后，点击“从空白创建”，就会弹出一个表单，让我们为应用命名、选择图标并添加描述。最重要的一步是选择应用类型，Dify提供了四种主要的应用类型，分别适用于不同的场景。我们需要根据具体的业务需求来选择合适的类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基于模板创建应用则更加简单。同样在工作室中，选择“从应用模版创建”，就会看到与“探索”模块类似的模板列表。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我们可以根据自己的需求筛选和选择模板，选中后，这个模板就会被复制到我们的工作区，成为一个可以自由编辑和修改的应用。这种方式能够极大地缩短开发周期。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种方式是导入DSL文件。DSL，即领域特定语言，在这里是Dify定义的一种YML格式文件，它可以完整地描述一个AI应用的所有配置。通过导入这种文件，我们可以一键生成应用，这对于团队协作和应用的备份、迁移非常有用。我们可以从本地文件或者网络URL导入DSL文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详细了解一下Dify支持的四种应用类型。首先是“聊天助手”和“文本生成应用”。聊天助手是最常见的类型，通过对话模式与用户互动，广泛应用于客服、教育等领域。而文本生成应用则专注于根据用户的提示生成各种类型的文本，比如文章、摘要、广告文案等，是内容创作的好帮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更高级的两种类型：Agent和工作流。Agent，也就是智能助手，它具备自主思考和决策的能力，可以根据用户的目标，自己规划步骤、调用工具来完成复杂任务，是实现自动化的关键。而工作流则是通过可视化的方式，将复杂任务拆解成多个步骤，每个步骤可以独立配置和优化，这使得整个流程更加清晰、可控，也更容易调试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接下来是“知识库”模块。这是实现RAG（检索增强生成）功能的核心。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Dify将RAG流程中的文档上传、文本分段、向量化、索引等步骤都进行了可视化，让我们可以非常方便地创建和管理自己的知识库。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创建流程也很清晰，从上传文档开始，经过一系列配置，最终生成一个可以被AI应用调用的知识库。这个模块对于构建知识驱动的AI应用至关重要。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最后是“工具”模块。这个模块赋予了大语言模型“手脚”，让它不再仅仅是一个语言模型，而是能够与外部世界交互的智能体。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Dify提供了一些内置的第一方工具，同时也支持我们导入自定义的API工具。通过合理地编排和调用这些工具，我们可以构建出功能更加强大和灵活的AI应用，比如让AI能够联网搜索最新信息、调用企业内部系统等。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知识库模块的基本功能后，我们接下来将深入学习如何具体地创建和配置一个Dify知识库。这是实现RAG功能的关键步骤，直接关系到AI应用回答的准确性和丰富度。在这一章节，我们将详细讲解从选择数据源到文本处理的全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创建知识库的第一步是选择数据源。Dify支持多种类型的数据源，包括本地文档、Notion数据库和网页内容。这里有一个非常重要的原则需要注意：一个知识库只能对应一种数据源类型，并且一旦创建就无法更改。因此，在实际应用中，我们通常会为不同类型的资料创建多个独立的知识库，然后在应用中同时调用它们，这种多路召回的策略可以获得更全面的信息。同时，平台对文件上传的大小和数量也有默认限制，我们可以根据需要进行调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文件上传后，下一步是对文本进行分段与清洗。这是一个非常关键的预处理步骤。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因为大语言模型一次能处理的文本长度是有限的，所以我们必须把长文档切成一个个小的片段。同时，为了保证检索的准确性，我们还需要对文本进行清洗，去除那些无用的符号和格式。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Dify提供了两种处理策略：自动模式和自定义模式，分别满足不同用户的需求。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自动分段与清洗。这是默认的处理方式，也是推荐给新手用户的方式。在这种模式下，我们不需要做任何额外的配置，Dify会根据内置的算法自动对文本进行分段和清洗。这大大降低了使用门槛，让用户可以快速地完成知识库的创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有经验的用户，Dify提供了自定义分段和清洗的功能。在这种模式下，我们可以精确地控制文本如何被分割。比如，我们可以指定按特定的标题级别来分段，或者设置每段的最大长度和重叠部分，以确保上下文的连贯性。同时，我们还可以配置文本清洗规则，去除特定的格式或内容。通过这些精细的配置，我们可以获得更符合业务需求的知识库片段，从而提升AI应用的回答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来看一些实际的应用案例。通过这些案例，我们可以更好地理解Dify在真实业务场景中的应用方式和价值。这些案例将展示Dify如何与企业的自研业务深度结合，以及它在不同场景下的灵活性和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实践案例部分，我们将重点关注Dify如何解决实际问题。无论是构建企业内部的知识库，还是开发面向客户的智能客服，Dify都展现出了强大的灵活性和高效性。这些案例不仅能帮助我们理解技术的应用方式，更能为我们在实际工作中采用Dify提供宝贵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案例是企业知识库的构建。很多企业都有大量的文档资料，但如何让员工和客户方便地获取这些知识是一个难题。通过Dify，我们可以将这些文档快速构建成一个智能知识库。结合RAG技术，AI应用能够理解用户的问题，并从知识库中检索出最相关的信息进行回答，从而大大提升了知识获取的效率，降低了沟通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案例是智能客服应用。这是Dify最典型的应用场景之一。我们可以创建一个聊天助手应用，并将它与企业的知识库关联起来。这样，这个AI客服就能理解客户的问题，并从知识库中找到答案，实现7x24小时的自动化客户服务。这不仅大大提升了服务效率，还能为客户提供更加个性化和及时的响应，从而提升客户满意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章内容进行一个总结。Dify的核心优势在于它的低门槛和强扩展性，无论是开发者还是非技术人员都能轻松上手。我们学习了它的多种部署方式、四大核心功能模块、知识库的创建流程，并通过案例了解了它的实际应用。展望未来，随着大模型技术的不断进步，Dify也将持续发展，为我们带来更多强大的功能和更广阔的应用前景。希望大家通过本章的学习，能够在自己的项目中成功应用Dify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我的讲解到此结束，接下来是问答环节。大家对今天所学的内容有任何疑问，或者在实际操作中遇到了什么问题，都可以提出来，我们一起交流探讨。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再次感谢大家的聆听，希望本次课程能对大家有所帮助。谢谢！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svg"/><Relationship Id="rId7" Type="http://schemas.openxmlformats.org/officeDocument/2006/relationships/image" Target="../media/image27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14.sv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32.svg"/><Relationship Id="rId11" Type="http://schemas.openxmlformats.org/officeDocument/2006/relationships/image" Target="../media/image31.png"/><Relationship Id="rId10" Type="http://schemas.openxmlformats.org/officeDocument/2006/relationships/image" Target="../media/image30.svg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svg"/><Relationship Id="rId1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4.svg"/><Relationship Id="rId5" Type="http://schemas.openxmlformats.org/officeDocument/2006/relationships/image" Target="../media/image33.png"/><Relationship Id="rId4" Type="http://schemas.openxmlformats.org/officeDocument/2006/relationships/image" Target="../media/image37.svg"/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6.svg"/><Relationship Id="rId1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7.svg"/><Relationship Id="rId7" Type="http://schemas.openxmlformats.org/officeDocument/2006/relationships/image" Target="../media/image46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35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4.sv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7.svg"/><Relationship Id="rId5" Type="http://schemas.openxmlformats.org/officeDocument/2006/relationships/image" Target="../media/image56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7.svg"/><Relationship Id="rId3" Type="http://schemas.openxmlformats.org/officeDocument/2006/relationships/image" Target="../media/image56.png"/><Relationship Id="rId2" Type="http://schemas.openxmlformats.org/officeDocument/2006/relationships/image" Target="../media/image58.svg"/><Relationship Id="rId1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9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7.svg"/><Relationship Id="rId7" Type="http://schemas.openxmlformats.org/officeDocument/2006/relationships/image" Target="../media/image56.png"/><Relationship Id="rId6" Type="http://schemas.openxmlformats.org/officeDocument/2006/relationships/image" Target="../media/image4.svg"/><Relationship Id="rId5" Type="http://schemas.openxmlformats.org/officeDocument/2006/relationships/image" Target="../media/image33.png"/><Relationship Id="rId4" Type="http://schemas.openxmlformats.org/officeDocument/2006/relationships/image" Target="../media/image58.svg"/><Relationship Id="rId3" Type="http://schemas.openxmlformats.org/officeDocument/2006/relationships/image" Target="../media/image57.png"/><Relationship Id="rId2" Type="http://schemas.openxmlformats.org/officeDocument/2006/relationships/image" Target="../media/image77.svg"/><Relationship Id="rId10" Type="http://schemas.openxmlformats.org/officeDocument/2006/relationships/notesSlide" Target="../notesSlides/notesSlide15.xml"/><Relationship Id="rId1" Type="http://schemas.openxmlformats.org/officeDocument/2006/relationships/image" Target="../media/image7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39.svg"/><Relationship Id="rId7" Type="http://schemas.openxmlformats.org/officeDocument/2006/relationships/image" Target="../media/image78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2.svg"/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81.svg"/><Relationship Id="rId13" Type="http://schemas.openxmlformats.org/officeDocument/2006/relationships/image" Target="../media/image80.png"/><Relationship Id="rId12" Type="http://schemas.openxmlformats.org/officeDocument/2006/relationships/image" Target="../media/image4.svg"/><Relationship Id="rId11" Type="http://schemas.openxmlformats.org/officeDocument/2006/relationships/image" Target="../media/image33.png"/><Relationship Id="rId10" Type="http://schemas.openxmlformats.org/officeDocument/2006/relationships/image" Target="../media/image8.svg"/><Relationship Id="rId1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6.png"/><Relationship Id="rId8" Type="http://schemas.openxmlformats.org/officeDocument/2006/relationships/image" Target="../media/image85.svg"/><Relationship Id="rId7" Type="http://schemas.openxmlformats.org/officeDocument/2006/relationships/image" Target="../media/image84.png"/><Relationship Id="rId6" Type="http://schemas.openxmlformats.org/officeDocument/2006/relationships/image" Target="../media/image83.svg"/><Relationship Id="rId5" Type="http://schemas.openxmlformats.org/officeDocument/2006/relationships/image" Target="../media/image82.png"/><Relationship Id="rId4" Type="http://schemas.openxmlformats.org/officeDocument/2006/relationships/image" Target="../media/image60.svg"/><Relationship Id="rId3" Type="http://schemas.openxmlformats.org/officeDocument/2006/relationships/image" Target="../media/image59.png"/><Relationship Id="rId2" Type="http://schemas.openxmlformats.org/officeDocument/2006/relationships/image" Target="../media/image47.svg"/><Relationship Id="rId16" Type="http://schemas.openxmlformats.org/officeDocument/2006/relationships/notesSlide" Target="../notesSlides/notesSlide17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91.svg"/><Relationship Id="rId13" Type="http://schemas.openxmlformats.org/officeDocument/2006/relationships/image" Target="../media/image90.png"/><Relationship Id="rId12" Type="http://schemas.openxmlformats.org/officeDocument/2006/relationships/image" Target="../media/image89.svg"/><Relationship Id="rId11" Type="http://schemas.openxmlformats.org/officeDocument/2006/relationships/image" Target="../media/image88.png"/><Relationship Id="rId10" Type="http://schemas.openxmlformats.org/officeDocument/2006/relationships/image" Target="../media/image87.svg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93.svg"/><Relationship Id="rId10" Type="http://schemas.openxmlformats.org/officeDocument/2006/relationships/notesSlide" Target="../notesSlides/notesSlide18.xml"/><Relationship Id="rId1" Type="http://schemas.openxmlformats.org/officeDocument/2006/relationships/image" Target="../media/image9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9.svg"/><Relationship Id="rId7" Type="http://schemas.openxmlformats.org/officeDocument/2006/relationships/image" Target="../media/image98.png"/><Relationship Id="rId6" Type="http://schemas.openxmlformats.org/officeDocument/2006/relationships/image" Target="../media/image97.svg"/><Relationship Id="rId5" Type="http://schemas.openxmlformats.org/officeDocument/2006/relationships/image" Target="../media/image96.png"/><Relationship Id="rId4" Type="http://schemas.openxmlformats.org/officeDocument/2006/relationships/image" Target="../media/image103.svg"/><Relationship Id="rId3" Type="http://schemas.openxmlformats.org/officeDocument/2006/relationships/image" Target="../media/image102.png"/><Relationship Id="rId2" Type="http://schemas.openxmlformats.org/officeDocument/2006/relationships/image" Target="../media/image101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40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62.svg"/><Relationship Id="rId1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8.png"/><Relationship Id="rId6" Type="http://schemas.openxmlformats.org/officeDocument/2006/relationships/image" Target="../media/image6.svg"/><Relationship Id="rId5" Type="http://schemas.openxmlformats.org/officeDocument/2006/relationships/image" Target="../media/image107.png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12.png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image" Target="../media/image101.svg"/><Relationship Id="rId3" Type="http://schemas.openxmlformats.org/officeDocument/2006/relationships/image" Target="../media/image100.png"/><Relationship Id="rId2" Type="http://schemas.openxmlformats.org/officeDocument/2006/relationships/image" Target="../media/image51.svg"/><Relationship Id="rId1" Type="http://schemas.openxmlformats.org/officeDocument/2006/relationships/image" Target="../media/image109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5.png"/><Relationship Id="rId4" Type="http://schemas.openxmlformats.org/officeDocument/2006/relationships/image" Target="../media/image114.svg"/><Relationship Id="rId3" Type="http://schemas.openxmlformats.org/officeDocument/2006/relationships/image" Target="../media/image113.png"/><Relationship Id="rId2" Type="http://schemas.openxmlformats.org/officeDocument/2006/relationships/image" Target="../media/image16.svg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117.svg"/><Relationship Id="rId1" Type="http://schemas.openxmlformats.org/officeDocument/2006/relationships/image" Target="../media/image116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0.svg"/><Relationship Id="rId3" Type="http://schemas.openxmlformats.org/officeDocument/2006/relationships/image" Target="../media/image119.png"/><Relationship Id="rId2" Type="http://schemas.openxmlformats.org/officeDocument/2006/relationships/image" Target="../media/image28.svg"/><Relationship Id="rId1" Type="http://schemas.openxmlformats.org/officeDocument/2006/relationships/image" Target="../media/image118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png"/><Relationship Id="rId8" Type="http://schemas.openxmlformats.org/officeDocument/2006/relationships/image" Target="../media/image123.svg"/><Relationship Id="rId7" Type="http://schemas.openxmlformats.org/officeDocument/2006/relationships/image" Target="../media/image122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121.svg"/><Relationship Id="rId3" Type="http://schemas.openxmlformats.org/officeDocument/2006/relationships/image" Target="../media/image120.png"/><Relationship Id="rId2" Type="http://schemas.openxmlformats.org/officeDocument/2006/relationships/image" Target="../media/image62.svg"/><Relationship Id="rId13" Type="http://schemas.openxmlformats.org/officeDocument/2006/relationships/notesSlide" Target="../notesSlides/notesSlide2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6.png"/><Relationship Id="rId10" Type="http://schemas.openxmlformats.org/officeDocument/2006/relationships/image" Target="../media/image125.svg"/><Relationship Id="rId1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118.png"/><Relationship Id="rId4" Type="http://schemas.openxmlformats.org/officeDocument/2006/relationships/image" Target="../media/image83.svg"/><Relationship Id="rId3" Type="http://schemas.openxmlformats.org/officeDocument/2006/relationships/image" Target="../media/image82.png"/><Relationship Id="rId2" Type="http://schemas.openxmlformats.org/officeDocument/2006/relationships/image" Target="../media/image128.svg"/><Relationship Id="rId1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29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9.svg"/><Relationship Id="rId7" Type="http://schemas.openxmlformats.org/officeDocument/2006/relationships/image" Target="../media/image78.png"/><Relationship Id="rId6" Type="http://schemas.openxmlformats.org/officeDocument/2006/relationships/image" Target="../media/image30.svg"/><Relationship Id="rId5" Type="http://schemas.openxmlformats.org/officeDocument/2006/relationships/image" Target="../media/image119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60.svg"/><Relationship Id="rId10" Type="http://schemas.openxmlformats.org/officeDocument/2006/relationships/notesSlide" Target="../notesSlides/notesSlide30.xml"/><Relationship Id="rId1" Type="http://schemas.openxmlformats.org/officeDocument/2006/relationships/image" Target="../media/image59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28.svg"/><Relationship Id="rId5" Type="http://schemas.openxmlformats.org/officeDocument/2006/relationships/image" Target="../media/image118.png"/><Relationship Id="rId4" Type="http://schemas.openxmlformats.org/officeDocument/2006/relationships/image" Target="../media/image121.svg"/><Relationship Id="rId3" Type="http://schemas.openxmlformats.org/officeDocument/2006/relationships/image" Target="../media/image120.png"/><Relationship Id="rId2" Type="http://schemas.openxmlformats.org/officeDocument/2006/relationships/image" Target="../media/image131.svg"/><Relationship Id="rId10" Type="http://schemas.openxmlformats.org/officeDocument/2006/relationships/notesSlide" Target="../notesSlides/notesSlide31.xml"/><Relationship Id="rId1" Type="http://schemas.openxmlformats.org/officeDocument/2006/relationships/image" Target="../media/image1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118.png"/><Relationship Id="rId4" Type="http://schemas.openxmlformats.org/officeDocument/2006/relationships/image" Target="../media/image133.svg"/><Relationship Id="rId3" Type="http://schemas.openxmlformats.org/officeDocument/2006/relationships/image" Target="../media/image132.png"/><Relationship Id="rId2" Type="http://schemas.openxmlformats.org/officeDocument/2006/relationships/image" Target="../media/image95.svg"/><Relationship Id="rId1" Type="http://schemas.openxmlformats.org/officeDocument/2006/relationships/image" Target="../media/image94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8.png"/><Relationship Id="rId6" Type="http://schemas.openxmlformats.org/officeDocument/2006/relationships/image" Target="../media/image137.svg"/><Relationship Id="rId5" Type="http://schemas.openxmlformats.org/officeDocument/2006/relationships/image" Target="../media/image136.png"/><Relationship Id="rId4" Type="http://schemas.openxmlformats.org/officeDocument/2006/relationships/image" Target="../media/image95.svg"/><Relationship Id="rId3" Type="http://schemas.openxmlformats.org/officeDocument/2006/relationships/image" Target="../media/image94.png"/><Relationship Id="rId2" Type="http://schemas.openxmlformats.org/officeDocument/2006/relationships/image" Target="../media/image135.svg"/><Relationship Id="rId1" Type="http://schemas.openxmlformats.org/officeDocument/2006/relationships/image" Target="../media/image13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40.svg"/><Relationship Id="rId1" Type="http://schemas.openxmlformats.org/officeDocument/2006/relationships/image" Target="../media/image13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.svg"/><Relationship Id="rId5" Type="http://schemas.openxmlformats.org/officeDocument/2006/relationships/image" Target="../media/image129.png"/><Relationship Id="rId4" Type="http://schemas.openxmlformats.org/officeDocument/2006/relationships/image" Target="../media/image6.svg"/><Relationship Id="rId3" Type="http://schemas.openxmlformats.org/officeDocument/2006/relationships/image" Target="../media/image107.png"/><Relationship Id="rId2" Type="http://schemas.openxmlformats.org/officeDocument/2006/relationships/image" Target="../media/image142.svg"/><Relationship Id="rId1" Type="http://schemas.openxmlformats.org/officeDocument/2006/relationships/image" Target="../media/image14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6.svg"/><Relationship Id="rId5" Type="http://schemas.openxmlformats.org/officeDocument/2006/relationships/image" Target="../media/image14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144.svg"/><Relationship Id="rId1" Type="http://schemas.openxmlformats.org/officeDocument/2006/relationships/image" Target="../media/image1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0.svg"/><Relationship Id="rId5" Type="http://schemas.openxmlformats.org/officeDocument/2006/relationships/image" Target="../media/image149.png"/><Relationship Id="rId4" Type="http://schemas.openxmlformats.org/officeDocument/2006/relationships/image" Target="../media/image28.svg"/><Relationship Id="rId3" Type="http://schemas.openxmlformats.org/officeDocument/2006/relationships/image" Target="../media/image118.png"/><Relationship Id="rId2" Type="http://schemas.openxmlformats.org/officeDocument/2006/relationships/image" Target="../media/image148.svg"/><Relationship Id="rId1" Type="http://schemas.openxmlformats.org/officeDocument/2006/relationships/image" Target="../media/image14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4.svg"/><Relationship Id="rId5" Type="http://schemas.openxmlformats.org/officeDocument/2006/relationships/image" Target="../media/image153.png"/><Relationship Id="rId4" Type="http://schemas.openxmlformats.org/officeDocument/2006/relationships/image" Target="../media/image2.svg"/><Relationship Id="rId3" Type="http://schemas.openxmlformats.org/officeDocument/2006/relationships/image" Target="../media/image129.png"/><Relationship Id="rId2" Type="http://schemas.openxmlformats.org/officeDocument/2006/relationships/image" Target="../media/image152.svg"/><Relationship Id="rId1" Type="http://schemas.openxmlformats.org/officeDocument/2006/relationships/image" Target="../media/image151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6.svg"/><Relationship Id="rId1" Type="http://schemas.openxmlformats.org/officeDocument/2006/relationships/image" Target="../media/image15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324100" y="2413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第6章 Dify入门与应用实践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257800" y="3175000"/>
            <a:ext cx="1676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大学教学课件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803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讲师：[您的姓名]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6.1 Dify入门简介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6.1.1 Dify概述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390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 Dify安装与部署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81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6.2.1 云服务 / 6.2.2 Dify Premium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6.2.3 Docker部署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6.2.4 本地源码部署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334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5295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 Dify的功能模块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715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探索 / 工作室 / 知识库 / 工具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1651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5500" y="184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16500" y="180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6.4 创建Dify知识库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2222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6.4.1 选择数据源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6.4.2 文本分段与清洗</a:t>
            </a:r>
            <a:endParaRPr lang="en-US" sz="14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45000" y="32385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3429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16500" y="3390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6.5 Dify应用实践案例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38100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实际场景应用分析与演示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4826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5016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016500" y="4978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35500" y="5397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• 回顾核心知识点与未来方向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1651000"/>
            <a:ext cx="3302000" cy="4889500"/>
          </a:xfrm>
          <a:prstGeom prst="roundRect">
            <a:avLst>
              <a:gd name="adj" fmla="val 384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2600" y="2032000"/>
            <a:ext cx="812800" cy="812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382000" y="3048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 AI 之旅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82000" y="3683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Dify 平台，快速构建、部署和管理你的 AI 应用，释放无限创造力。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5080000" cy="508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651000"/>
            <a:ext cx="9652000" cy="3556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794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6.1 Dify入门简介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651000" y="3810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开启 AI 应用开发之旅 · 探索核心技术与理念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5130800"/>
            <a:ext cx="9652000" cy="762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6.1.1 Dify概述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Dify是一款开源的大语言模型应用开发平台，融合了后端即服务（Backend as a Service）和LLMOps的理念。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1841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名称由来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3495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Dify一词来源于Define（定义）和Modify（改进）的结合，寓意为用户提供一个能够持续定义和改进AI应用的平台。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000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5085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秉持“为你而做”（Do it for you）的理念，致力于降低AI应用开发的技术门槛，让开发更简单。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064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4000500"/>
            <a:ext cx="412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官方评价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540500" y="4508500"/>
            <a:ext cx="463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简单、克制、迭代迅速。体现了其以用户需求为导向，高效且实用的产品哲学。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Dify的核心技术栈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数百种模型支持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兼容主流的大语言模型，灵活适配不同场景需求。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77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直观的Prompt编排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可视化构建和管理提示词，降低Prompt工程门槛。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778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1727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高效的RAG引擎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286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增强模型知识覆盖面，大幅提升回答准确性。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强大的Agent框架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支持构建具备自主决策和工具调用能力的智能体。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灵活的流程编排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99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将复杂任务拆解为多步骤，提升系统稳定性与可控性。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128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3937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890000" y="38862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简洁易用的界面/API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44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提供友好的可视化界面和强大的API接口，便于集成。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cap="flat" cmpd="sng">
            <a:solidFill>
              <a:srgbClr val="0077B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0288D1">
              <a:alpha val="10000"/>
            </a:srgbClr>
          </a:solidFill>
          <a:ln cap="flat" cmpd="sng">
            <a:solidFill>
              <a:srgbClr val="0077B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651000"/>
            <a:ext cx="9652000" cy="3556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860800" y="2794000"/>
            <a:ext cx="4470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 Dify安装与部署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651000" y="3683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云服务 · Dify Premium · Docker部署 · 本地源码部署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13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安装部署方式概览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云服务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无需部署，直接使用，适合快速体验。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334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Dify Premium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基于AWS的私有化解决方案，支持自定义品牌，适合中小企业。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017000" y="18796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私有化部署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540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支持完全自主掌控数据，适合对安全有严格要求的组织。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191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4165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Docker部署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4572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快速、便捷，适合大多数用户，一键启动环境。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3937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191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41656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本地源码部署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4572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高度可定制，适合有开发能力的团队进行深度二次开发。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6.2.1 云服务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使用方式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GitHub 或 Google 账号直接登录 Dify 官方云服务平台，无需任何部署操作。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操作最简单，无需配置环境，即可快速上手体验 Dify 的全部功能。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F535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潜在缺点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28600" indent="-228600" algn="l">
              <a:lnSpc>
                <a:spcPct val="108000"/>
              </a:lnSpc>
              <a:buClr>
                <a:srgbClr val="757575"/>
              </a:buClr>
              <a:buChar char="•"/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国内访问困难，需科学上网</a:t>
            </a:r>
            <a:endParaRPr lang="en-US" sz="1100"/>
          </a:p>
          <a:p>
            <a:pPr marL="228600" indent="-2286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数据存第三方，有安全风险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207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20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适合快速体验尝鲜，不适合企业级或对数据安全有严格要求的场景。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6.2.2 Dify Premium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基于AWS AMI的一键部署解决方案，可直接在AWS Marketplace订阅，快速启动服务。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支持自定义品牌（White-label），并将Dify完全部署到您自己的AWS VPC中，确保网络隔离。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注重数据安全的中小企业私有化部署</a:t>
            </a:r>
            <a:endParaRPr lang="en-US" sz="1100"/>
          </a:p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资源需求超出Cloud计划的用户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企业级应用大规模部署前的POC验证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588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6.2.3 Docker部署 - 前提条件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在进行Docker部署前，请确保您的设备满足以下最低系统要求，以保障Dify的部署和运行顺畅：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2286000"/>
            <a:ext cx="355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13000" y="2667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175000" y="2603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CPU 核心数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1750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≥ 2核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286000"/>
            <a:ext cx="3556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0" y="2667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747000" y="2603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内存容量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470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≥ 4GB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76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762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上述配置为最低运行要求，若您的业务负载较高（如高并发请求、大模型推理），建议适当增加资源配置以获得更流畅的体验。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步骤1：克隆Dify代码仓库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778000"/>
            <a:ext cx="609600" cy="6096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524000" y="1714500"/>
            <a:ext cx="431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首先，需要将Dify的源代码克隆到您的部署环境中。执行下方命令即可从GitHub获取最新代码。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1651000"/>
            <a:ext cx="5334000" cy="2286000"/>
          </a:xfrm>
          <a:prstGeom prst="roundRect">
            <a:avLst>
              <a:gd name="adj" fmla="val 5555"/>
            </a:avLst>
          </a:prstGeom>
          <a:solidFill>
            <a:srgbClr val="1E1E1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016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0" y="1651000"/>
            <a:ext cx="5334000" cy="457200"/>
          </a:xfrm>
          <a:prstGeom prst="roundRect">
            <a:avLst>
              <a:gd name="adj" fmla="val 0"/>
            </a:avLst>
          </a:prstGeom>
          <a:solidFill>
            <a:srgbClr val="3232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86500" y="1803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1803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94500" y="1803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2222500"/>
            <a:ext cx="4953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A9955"/>
                </a:solidFill>
                <a:latin typeface="Noto Sans SC"/>
                <a:ea typeface="Noto Sans SC"/>
                <a:cs typeface="Noto Sans SC"/>
                <a:sym typeface="Noto Sans SC"/>
              </a:rPr>
              <a:t>git clone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https://github.com/langgenius/dify.git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318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3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5085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执行说明：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该命令会从GitHub上下载Dify的最新源代码到本地。确保您的服务器已安装 Git 环境，且网络连接正常。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步骤2：启动Dify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代码克隆完成后，请按以下步骤进入目录并启动容器服务：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22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032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1. 进入 Dify 源代码的 Docker 目录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0" i="0" u="none" strike="noStrike">
                <a:solidFill>
                  <a:srgbClr val="0288D1"/>
                </a:solidFill>
                <a:highlight>
                  <a:srgbClr val="E0F7FA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cd dify/docker</a:t>
            </a:r>
            <a:endParaRPr lang="en-US" sz="1600" b="0" i="0" u="none" strike="noStrike">
              <a:solidFill>
                <a:srgbClr val="0288D1"/>
              </a:solidFill>
              <a:highlight>
                <a:srgbClr val="E0F7FA">
                  <a:alpha val="0"/>
                </a:srgbClr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238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56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3655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2. 复制默认环境配置文件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0" i="0" u="none" strike="noStrike">
                <a:solidFill>
                  <a:srgbClr val="0288D1"/>
                </a:solidFill>
                <a:highlight>
                  <a:srgbClr val="E0F7FA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cp .env.example .env</a:t>
            </a:r>
            <a:endParaRPr lang="en-US" sz="1600" b="0" i="0" u="none" strike="noStrike">
              <a:solidFill>
                <a:srgbClr val="0288D1"/>
              </a:solidFill>
              <a:highlight>
                <a:srgbClr val="E0F7FA">
                  <a:alpha val="0"/>
                </a:srgbClr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572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953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4699000"/>
            <a:ext cx="939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3. 启动 Docker 容器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Compose V2：</a:t>
            </a:r>
            <a:r>
              <a:rPr lang="en-US" sz="1600" b="0" i="0" u="none" strike="noStrike">
                <a:solidFill>
                  <a:srgbClr val="0288D1"/>
                </a:solidFill>
                <a:highlight>
                  <a:srgbClr val="E0F7FA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docker compose up -d</a:t>
            </a:r>
            <a:endParaRPr lang="en-US" sz="1600" b="0" i="0" u="none" strike="noStrike">
              <a:solidFill>
                <a:srgbClr val="0288D1"/>
              </a:solidFill>
              <a:highlight>
                <a:srgbClr val="E0F7FA">
                  <a:alpha val="0"/>
                </a:srgbClr>
              </a:highlight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Compose V1：</a:t>
            </a:r>
            <a:r>
              <a:rPr lang="en-US" sz="1600" b="0" i="0" u="none" strike="noStrike">
                <a:solidFill>
                  <a:srgbClr val="0288D1"/>
                </a:solidFill>
                <a:highlight>
                  <a:srgbClr val="E0F7FA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docker-compose up -d</a:t>
            </a:r>
            <a:endParaRPr lang="en-US" sz="1600" b="0" i="0" u="none" strike="noStrike">
              <a:solidFill>
                <a:srgbClr val="0288D1"/>
              </a:solidFill>
              <a:highlight>
                <a:srgbClr val="E0F7FA">
                  <a:alpha val="0"/>
                </a:srgbClr>
              </a:highlight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步骤3：访问Dify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初始化管理员账户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访问链接：</a:t>
            </a:r>
            <a:r>
              <a:rPr lang="en-US" sz="1600" b="0" i="0" u="sng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http://your_server_ip/install</a:t>
            </a:r>
            <a:endParaRPr lang="en-US" sz="1600" b="0" i="0" u="sng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2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8702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登录Dify控制台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访问链接：</a:t>
            </a:r>
            <a:r>
              <a:rPr lang="en-US" sz="1600" b="0" i="0" u="sng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http://your_server_ip/apps</a:t>
            </a:r>
            <a:endParaRPr lang="en-US" sz="1600" b="0" i="0" u="sng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t="48" b="48"/>
          <a:stretch>
            <a:fillRect/>
          </a:stretch>
        </p:blipFill>
        <p:spPr>
          <a:xfrm>
            <a:off x="6096000" y="1524000"/>
            <a:ext cx="5080000" cy="2336800"/>
          </a:xfrm>
          <a:prstGeom prst="roundRect">
            <a:avLst>
              <a:gd name="adj" fmla="val 5434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52400" dist="508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6096000" y="4000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登录界面预览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步骤4：自定义Dify配置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如需调整Dify配置，可修改 .env 文件并重启容器使配置生效：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235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1. 编辑 .env 文件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921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vi .env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032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235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2. 重启 Docker 容器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794000"/>
            <a:ext cx="4572000" cy="762000"/>
          </a:xfrm>
          <a:prstGeom prst="roundRect">
            <a:avLst>
              <a:gd name="adj" fmla="val 8333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2857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docker-compose down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docker-compose up -d</a:t>
            </a:r>
            <a:endParaRPr lang="en-US" sz="1600" b="1" i="0" u="none" strike="noStrike">
              <a:solidFill>
                <a:srgbClr val="42424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0288D1">
              <a:alpha val="8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508500"/>
            <a:ext cx="9715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配置说明：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配置文件位于 docker 目录下的 .env 文件中。常见的配置项包括文件上传大小限制、数据库连接信息、API 密钥等。修改后必须执行重启命令，否则新配置不会生效。</a:t>
            </a:r>
            <a:endParaRPr lang="en-US" sz="1600" b="0" i="0" u="none" strike="noStrike">
              <a:solidFill>
                <a:srgbClr val="61616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206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6.2.4 本地源码部署 - 前提条件与中间件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环境前提条件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757575"/>
              </a:buClr>
              <a:buChar char="•"/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CPU ≥ 2核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内存 ≥ 4GB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28600" indent="-228600" algn="l">
              <a:lnSpc>
                <a:spcPct val="125000"/>
              </a:lnSpc>
              <a:buClr>
                <a:srgbClr val="757575"/>
              </a:buClr>
              <a:buChar char="•"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已安装 Git 工具</a:t>
            </a:r>
            <a:endParaRPr lang="en-US" sz="18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207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克隆代码仓库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99000" y="2413000"/>
            <a:ext cx="2794000" cy="1270000"/>
          </a:xfrm>
          <a:prstGeom prst="roundRect">
            <a:avLst>
              <a:gd name="adj" fmla="val 5000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826000" y="2540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执行以下命令克隆代码：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0288D1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https://github.com/langgenius/dify.git</a:t>
            </a:r>
            <a:endParaRPr lang="en-US" sz="1400" b="1" i="0" u="none" strike="noStrike">
              <a:solidFill>
                <a:srgbClr val="0288D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8796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启动中间件服务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413000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依赖：PostgreSQL, Redis, Weaviate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794000"/>
            <a:ext cx="2794000" cy="1397000"/>
          </a:xfrm>
          <a:prstGeom prst="roundRect">
            <a:avLst>
              <a:gd name="adj" fmla="val 4545"/>
            </a:avLst>
          </a:prstGeom>
          <a:solidFill>
            <a:srgbClr val="F5F5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509000" y="2921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16161"/>
                </a:solidFill>
                <a:latin typeface="Consolas"/>
                <a:ea typeface="Consolas"/>
                <a:cs typeface="Consolas"/>
                <a:sym typeface="Consolas"/>
              </a:rPr>
              <a:t>cd docker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16161"/>
                </a:solidFill>
                <a:latin typeface="Consolas"/>
                <a:ea typeface="Consolas"/>
                <a:cs typeface="Consolas"/>
                <a:sym typeface="Consolas"/>
              </a:rPr>
              <a:t>cp middleware.env.example middleware.env</a:t>
            </a:r>
            <a:endParaRPr lang="en-US" sz="1300" b="0" i="0" u="none" strike="noStrike">
              <a:solidFill>
                <a:srgbClr val="61616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16161"/>
                </a:solidFill>
                <a:latin typeface="Consolas"/>
                <a:ea typeface="Consolas"/>
                <a:cs typeface="Consolas"/>
                <a:sym typeface="Consolas"/>
              </a:rPr>
              <a:t>docker-compose -f docker-compose.middleware.yaml up -d</a:t>
            </a:r>
            <a:endParaRPr lang="en-US" sz="1300" b="0" i="0" u="none" strike="noStrike">
              <a:solidFill>
                <a:srgbClr val="61616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334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5270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部署提示：</a:t>
            </a:r>
            <a:r>
              <a:rPr lang="en-US" sz="18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本地源码部署方式更适合深度定制和二次开发场景。通过 Docker Compose 快速拉起中间件，是目前最推荐的本地开发环境搭建方式。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服务端部署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环境要求：Python 3.11 或 3.12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95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49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159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1. 进入项目目录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cd api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095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349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048500" y="2159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2. 复制环境变量配置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cp .env.example .env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302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556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33655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3. 生成随机密钥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生成密钥并替换配置文件中的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SECRET_KEY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33020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3556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048500" y="33655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4. 安装项目依赖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Poetry：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poetry install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508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4762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87500" y="4572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 执行数据库迁移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初始化结构：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flask db upgrade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508500"/>
            <a:ext cx="5207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762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4572000"/>
            <a:ext cx="419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 启动API服务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命令：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flask run --host 0.0.0.0 ...</a:t>
            </a:r>
            <a:endParaRPr lang="en-US" sz="1600" b="1" i="0" u="none" strike="noStrike">
              <a:solidFill>
                <a:srgbClr val="FF572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2500" y="59055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460500" y="5715000"/>
            <a:ext cx="977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7. 启动Worker服务：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</a:t>
            </a:r>
            <a:r>
              <a:rPr lang="en-US" sz="1600" b="1" i="0" u="none" strike="noStrike">
                <a:solidFill>
                  <a:srgbClr val="FF5722"/>
                </a:solidFill>
                <a:latin typeface="Noto Sans SC"/>
                <a:ea typeface="Noto Sans SC"/>
                <a:cs typeface="Noto Sans SC"/>
                <a:sym typeface="Noto Sans SC"/>
              </a:rPr>
              <a:t>celery -A app.celery worker ...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启动异步任务处理服务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前端页面部署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288D1">
              <a:alpha val="10000"/>
            </a:srgbClr>
          </a:solidFill>
          <a:ln cap="flat" cmpd="sng">
            <a:solidFill>
              <a:srgbClr val="0077B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371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295400"/>
            <a:ext cx="990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环境要求：Node.js v18.x 和 NPM/Yarn 环境，请确保已正确安装。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1. 进入目录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cd web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222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2. 安装依赖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npm install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222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18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3. 配置环境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55000" y="2667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创建配置文件：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.env.local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68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873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4. 构建代码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318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npm run build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81500" y="368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5500" y="3873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1435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5. 启动服务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635500" y="4318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执行命令：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npm run start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3683000"/>
            <a:ext cx="3429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5000" y="3873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763000" y="383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 访问页面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255000" y="4318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访问地址：</a:t>
            </a:r>
            <a:r>
              <a:rPr lang="en-US" sz="16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http://127.0.0.1:3000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88D1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部署完成后，您可以通过浏览器访问上述地址开始使用系统。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762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 Dify的功能模块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15000" y="1524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7200" y="2413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发现应用与模型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200" y="2413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56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56000" y="368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应用开发与调试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07200" y="2413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096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96000" y="368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数据管理与嵌入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09000" y="2032000"/>
            <a:ext cx="2286000" cy="2540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7200" y="2413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3175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12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636000" y="3683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系统管理与配置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508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Dify 四大核心模块协同工作，构建完整的 AI 应用开发闭环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功能模块概览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500" y="1968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8415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探索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41500" y="234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提供丰富的应用模板，帮助用户快速上手，无需从零开始构建。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68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660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366000" y="2349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一站式AI应用开发环境，用于创建、管理和优化各类应用流程。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4127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841500" y="406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41500" y="4508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管理和维护RAG所需的知识库，提升AI应用的知识准确性与能力。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27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66000" y="4064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45085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扩展LLM的能力边界，使其能够与外部系统和服务进行交互。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6.3.1 探索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482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318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“探索”模块汇集了官方及社区贡献的丰富应用模板，覆盖以下核心场景：</a:t>
            </a:r>
            <a:endParaRPr lang="en-US" sz="1100"/>
          </a:p>
          <a:p>
            <a:pPr marL="254000" indent="-2540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聊天助手与文本生成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-2540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数据分析与处理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-254000" algn="l">
              <a:lnSpc>
                <a:spcPct val="117000"/>
              </a:lnSpc>
              <a:buClr>
                <a:srgbClr val="757575"/>
              </a:buClr>
              <a:buChar char="•"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自动化工作流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用户可直接复用或二次定制，快速构建业务所需的AI应用。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969000" y="1524000"/>
            <a:ext cx="5461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  <a:effectLst>
            <a:outerShdw blurRad="190500" dist="762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096000" y="1651000"/>
            <a:ext cx="5207000" cy="2540000"/>
          </a:xfrm>
          <a:prstGeom prst="roundRect">
            <a:avLst>
              <a:gd name="adj" fmla="val 25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969000" y="4445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图：Dify 探索模块应用模板列表界面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042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6.3.2 工作室 - 创建应用的方式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200" y="2032000"/>
            <a:ext cx="863600" cy="863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创建空白应用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从零开始，自由设计应用的所有细节，适合高度定制场景。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20320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基于应用模板创建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从“探索”模块选择合适的模板，快速生成应用雏形。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7200" y="2032000"/>
            <a:ext cx="863600" cy="863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304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导入DSL文件创建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556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导入符合Dify标准的YML格式文件，实现代码化配置与协作。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多样化的创建方式满足不同场景需求，从快速原型到深度定制，灵活适配开发流程。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创建空白应用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651000"/>
            <a:ext cx="406400" cy="4064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270000" y="1600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1. 进入“工作室”，选择“从空白创建”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413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23622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2. 为应用命名、选择图标并添加描述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17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31242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3. 选择应用类型：聊天助手、文本生成应用、Agent或工作流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rcRect l="19" r="19"/>
          <a:stretch>
            <a:fillRect/>
          </a:stretch>
        </p:blipFill>
        <p:spPr>
          <a:xfrm>
            <a:off x="6604000" y="1524000"/>
            <a:ext cx="3556000" cy="2374900"/>
          </a:xfrm>
          <a:prstGeom prst="roundRect">
            <a:avLst>
              <a:gd name="adj" fmla="val 5347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0" name="AutoShape 10"/>
          <p:cNvSpPr/>
          <p:nvPr/>
        </p:nvSpPr>
        <p:spPr>
          <a:xfrm>
            <a:off x="6604000" y="406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创建空白应用界面示例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基于模板创建应用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778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进入工作室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选择“从应用模版创建”选项，开启创建流程。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238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1115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浏览选择模板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在模板列表中浏览，根据需求筛选并选择合适的模板。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4826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4450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添加至工作区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将选中模板复制到工作区，即可自由编辑和修改。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t="48" b="48"/>
          <a:stretch>
            <a:fillRect/>
          </a:stretch>
        </p:blipFill>
        <p:spPr>
          <a:xfrm>
            <a:off x="6096000" y="1651000"/>
            <a:ext cx="5334000" cy="2311400"/>
          </a:xfrm>
          <a:prstGeom prst="roundRect">
            <a:avLst>
              <a:gd name="adj" fmla="val 549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016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096000" y="41275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应用模板选择界面示例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导入DSL文件创建应用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27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DSL文件定义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Dify定义的AI应用工程文件标准，采用YML格式，包含应用的描述、模型参数及编排配置等核心信息。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632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灵活的导入方式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4064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支持从本地文件系统直接上传，或通过网络URL链接导入DSL文件，实现应用的快速迁移与备份。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200" b="200"/>
          <a:stretch>
            <a:fillRect/>
          </a:stretch>
        </p:blipFill>
        <p:spPr>
          <a:xfrm>
            <a:off x="6477000" y="1778000"/>
            <a:ext cx="3810000" cy="2032000"/>
          </a:xfrm>
          <a:prstGeom prst="roundRect">
            <a:avLst>
              <a:gd name="adj" fmla="val 6250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90500" dist="635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477000" y="3937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导入 DSL 文件操作界面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2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创建应用的类型（1）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600" y="1879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034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聊天助手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549">
            <a:off x="1016009" y="2533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模式：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一问一答的持续互动对话模式。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领域：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客户服务、在线教育、医疗保健等。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提升效率，降低成本，提供个性化服务。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604000" y="17780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18796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18034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文本生成应用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9">
            <a:off x="6604009" y="2533650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0F7F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4" name="AutoShape 14"/>
          <p:cNvSpPr/>
          <p:nvPr/>
        </p:nvSpPr>
        <p:spPr>
          <a:xfrm>
            <a:off x="6604000" y="26670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根据用户提示自动生成高质量文本内容。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领域：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内容创作、新闻写作、市场营销等。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快速生成多样化文本，激发创作灵感。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13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创建应用的类型（2）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19558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0574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28800" y="1955800"/>
            <a:ext cx="375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Agent（智能助手）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67000"/>
            <a:ext cx="4470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能力：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利用LLM推理能力，自主完成任务规划、拆解、工具调用与迭代。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领域：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适用于高度自动化和需要智能决策的复杂场景。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自主性强，能独立闭环处理复杂任务。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654800" y="1955800"/>
            <a:ext cx="609600" cy="6096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6400" y="20574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16800" y="1955800"/>
            <a:ext cx="375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 (Workflow)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54800" y="2667000"/>
            <a:ext cx="4470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将复杂任务拆解为多个步骤节点，降低系统整体复杂度。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类型：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Chatflow（对话情景）、Workflow（自动化/批处理）。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显著提升系统的稳定性、可解释性和容错性。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6134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20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通过智能体的自主决策与工作流的流程控制，实现业务的智能化与自动化升级。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6.3.3 知识库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核心功能：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通过可视化RAG管线上的各个环节，提供简洁直观的界面来管理知识库，提升AI应用的知识处理能力。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266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创建流程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17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43000" y="3124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上传文档：支持多种格式文件导入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632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选择分段与清洗模式：优化数据质量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19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4140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配置索引和检索设置：提升召回率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69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4648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分段与生成嵌入：向量化处理文本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520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143000" y="51562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完成创建并关联应用：赋能AI回答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rcRect l="1" r="1"/>
          <a:stretch>
            <a:fillRect/>
          </a:stretch>
        </p:blipFill>
        <p:spPr>
          <a:xfrm>
            <a:off x="6604000" y="1397000"/>
            <a:ext cx="4826000" cy="2247900"/>
          </a:xfrm>
          <a:prstGeom prst="roundRect">
            <a:avLst>
              <a:gd name="adj" fmla="val 5649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604000" y="381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知识库创建界面示例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318000"/>
            <a:ext cx="4826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90500" tIns="0" rIns="1905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知识库是实现RAG（检索增强生成）的关键，高质量的文档处理直接影响AI回答的准确性。</a:t>
            </a:r>
            <a:endParaRPr lang="en-US" sz="1400" b="0" i="0" u="none" strike="noStrike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6.3.4 工具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968500" y="1905000"/>
            <a:ext cx="889000" cy="889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9000" y="2095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核心作用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显著扩展LLM能力，使其能执行联网搜索、科学计算、绘图等任务，增强与外部世界的交互能力。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651500" y="1905000"/>
            <a:ext cx="889000" cy="889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9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工具类型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• 第一方工具：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Dify生态内置工具。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• 自定义工具：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导入OpenAPI/Swagger或OpenAI Plugin规范API。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34500" y="1905000"/>
            <a:ext cx="889000" cy="889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2095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429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构建智能Agent，实现应用与外部系统的无缝对接，提升业务自动化水平。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工具模块赋予了大语言模型“手脚”，使其从单纯的语言模型进化为具备行动能力的智能体。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651000"/>
            <a:ext cx="7620000" cy="3556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032000"/>
            <a:ext cx="812800" cy="812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540000" y="3048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6.4 创建Dify知识库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794000" y="38100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构建企业级AI应用的核心基石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78909C"/>
                </a:solidFill>
                <a:latin typeface="Noto Sans SC"/>
                <a:ea typeface="Noto Sans SC"/>
                <a:cs typeface="Noto Sans SC"/>
                <a:sym typeface="Noto Sans SC"/>
              </a:rPr>
              <a:t>从数据源接入到智能检索的完整流程解析</a:t>
            </a:r>
            <a:endParaRPr lang="en-US" sz="1400" b="0" i="0" u="none" strike="noStrike">
              <a:solidFill>
                <a:srgbClr val="78909C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469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6.4.1 选择数据源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支持的数据源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349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支持本地文件（PDF, TXT, DOCX等）、Notion数据库以及各类Web站点内容的接入。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重要原则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349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一个知识库只能关联一种数据源类型，且一旦创建完成后，数据源类型将无法更改。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93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873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81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建议创建多个独立的知识库分类管理，在应用中采用多路召回策略整合数据，提升准确性。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3683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873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上传限制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381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默认限制：单个文件≤15MB，批量上传≤5个文件。可通过修改.env配置文件调整限制。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543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6.4.2 文本分段与清洗 - 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分段的必要性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28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由于大语言模型的上下文窗口有限，必须将长文本分割成合适的片段，以适应模型处理能力。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841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清洗的重要性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2286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去除文本中的噪音（如无意义字符、空行），提升语义匹配精度和最终回答质量。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74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自动分段与清洗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19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默认策略，系统自动处理，操作简单高效，适合初级用户快速上手。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3556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81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374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自定义分段和清洗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4191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手动配置规则，灵活调整参数，满足特定场景需求，适合高级用户深度定制。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288D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预处理是提升检索准确性的关键环节，选择合适的策略可显著优化系统性能。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自动分段与清洗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032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默认策略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30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自动分段与清洗是 Dify 的默认处理方式，开箱即用，无需额外配置。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32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适用用户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30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专为对分段和预处理规则尚不熟悉的初级用户设计，降低使用门槛。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32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核心特点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302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无需手动干预，系统根据内置智能规则自动完成文本的分段和清洗工作。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33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总结：高效便捷的自动化处理，助力用户快速构建高质量知识库。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40259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自定义分段和清洗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24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适用用户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适用于对文本处理有明确需求的高级用户。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7305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48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57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根据文档格式和场景，手动配置分段规则（如按标题/段落）和清洗策略，实现精准处理。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80000"/>
            </a:srgbClr>
          </a:solidFill>
          <a:ln cap="flat" cmpd="sng">
            <a:solidFill>
              <a:srgbClr val="E6CFC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57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445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主要配置项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分段标识符、分段最大长度、重叠长度、文本清洗规则等。</a:t>
            </a:r>
            <a:endParaRPr lang="en-US" sz="16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l="34" r="34"/>
          <a:stretch>
            <a:fillRect/>
          </a:stretch>
        </p:blipFill>
        <p:spPr>
          <a:xfrm>
            <a:off x="6350000" y="1651000"/>
            <a:ext cx="4191000" cy="3302000"/>
          </a:xfrm>
          <a:prstGeom prst="roundRect">
            <a:avLst>
              <a:gd name="adj" fmla="val 3846"/>
            </a:avLst>
          </a:prstGeom>
          <a:noFill/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6350000" y="508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 自定义分段和清洗配置界面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524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3073400" y="2540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6.5 Dify应用实践案例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理论结合实践，探索Dify在真实业务场景中的落地价值与灵活应用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50800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实践案例概述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032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灵活高效的应用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展示Dify在不同业务场景下的灵活性和高效性，快速响应业务需求。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32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利用Dify构建符合业务逻辑的定制化方案，满足特定业务场景需求。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32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知识库最佳实践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为企业实现知识库建设提供参考价值，沉淀知识资产，赋能业务增长。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20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通过案例分析，Dify展现了与自研业务深度结合的能力，不仅解决了实际问题，更为企业数字化转型提供了强有力的技术支撑。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案例分析：企业知识库构建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32000" y="1905000"/>
            <a:ext cx="762000" cy="762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59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需求背景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30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企业需要一个高效、准确的知识库，以提升服务质量、降本增效，解决知识获取难的问题。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715000" y="1905000"/>
            <a:ext cx="762000" cy="762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32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Dify解决方案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30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利用Dify的“知识库”模块，结合RAG技术，将企业内部文档、手册等资料构建成结构化的知识库。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98000" y="1905000"/>
            <a:ext cx="762000" cy="762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0" y="2032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302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AI快速准确回答问题，减少人工客服工作量，降低运营成本，显著提升企业知识管理水平。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46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核心价值：通过智能化手段实现知识资产的高效复用，构建企业核心竞争力。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0350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案例分析：智能客服应用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需求背景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企业希望提升客户服务效率，解决人力成本高、响应不及时的问题，迫切需要提供7x24小时的在线服务。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Dify解决方案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利用Dify创建“聊天助手”应用，集成企业私有知识库，快速开发智能客服机器人，实现自动化问答。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实施效果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254000" indent="-254000" algn="l">
              <a:lnSpc>
                <a:spcPct val="108000"/>
              </a:lnSpc>
              <a:buClr>
                <a:srgbClr val="757575"/>
              </a:buClr>
              <a:buChar char="•"/>
              <a:defRPr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7x24小时不间断服务</a:t>
            </a:r>
            <a:endParaRPr lang="en-US" sz="1100"/>
          </a:p>
          <a:p>
            <a:pPr marL="254000" indent="-2540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快速响应，提升满意度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54000" indent="-254000" algn="l">
              <a:lnSpc>
                <a:spcPct val="108000"/>
              </a:lnSpc>
              <a:buClr>
                <a:srgbClr val="757575"/>
              </a:buClr>
              <a:buChar char="•"/>
            </a:pPr>
            <a:r>
              <a:rPr lang="en-US" sz="20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个性化体验增强粘性</a:t>
            </a:r>
            <a:endParaRPr lang="en-US" sz="2000" b="0" i="0" u="none" strike="noStrike">
              <a:solidFill>
                <a:srgbClr val="75757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05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Dify以其低门槛、强扩展、开源灵活的特点，成为企业和开发者构建AI应用的热门选择。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05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学习内容回顾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我们学习了Dify的安装部署、四大功能模块、知识库创建流程以及实际应用案例。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288D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0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667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175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随着大模型技术的发展，Dify将持续迭代，支持更多模型和功能，应用场景也将更加广泛。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288D1">
              <a:alpha val="10000"/>
            </a:srgbClr>
          </a:solidFill>
          <a:ln w="12700" cap="flat" cmpd="sng">
            <a:solidFill>
              <a:srgbClr val="0288D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希望大家通过本章的学习，能够在自己的项目中成功应用 Dify，创造更多价值！</a:t>
            </a:r>
            <a:endParaRPr lang="en-US"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3810000" cy="381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2540000" cy="2540000"/>
          </a:xfrm>
          <a:prstGeom prst="ellipse">
            <a:avLst/>
          </a:prstGeom>
          <a:solidFill>
            <a:srgbClr val="0288D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556000" y="1778000"/>
            <a:ext cx="5080000" cy="3302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288D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838700" y="2730500"/>
            <a:ext cx="2514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0288D1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  <a:sym typeface="Arial Black" panose="020B0A04020102020204"/>
              </a:rPr>
              <a:t>Q&amp;A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0" y="3683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546E7A"/>
                </a:solidFill>
                <a:latin typeface="Noto Sans SC"/>
                <a:ea typeface="Noto Sans SC"/>
                <a:cs typeface="Noto Sans SC"/>
                <a:sym typeface="Noto Sans SC"/>
              </a:rPr>
              <a:t>问答环节 · 欢迎交流探讨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0" y="431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288D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0288D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4749800" y="2413000"/>
            <a:ext cx="2679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288D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330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0288D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57290">
            <a:off x="5715053" y="39306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288D1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04D40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希望本次课程能对大家有所帮助，祝大家学习进步！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6132</Words>
  <Application>WPS 演示</Application>
  <PresentationFormat/>
  <Paragraphs>604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60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微软雅黑</vt:lpstr>
      <vt:lpstr>汉仪旗黑</vt:lpstr>
      <vt:lpstr>Arial Unicode MS</vt:lpstr>
      <vt:lpstr>Consolas</vt:lpstr>
      <vt:lpstr>Arial Black</vt:lpstr>
      <vt:lpstr>Arial Black</vt:lpstr>
      <vt:lpstr>Consolas</vt:lpstr>
      <vt:lpstr>Noto Sans SC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Soyoger</cp:lastModifiedBy>
  <cp:revision>1</cp:revision>
  <dcterms:created xsi:type="dcterms:W3CDTF">2026-03-15T04:47:42Z</dcterms:created>
  <dcterms:modified xsi:type="dcterms:W3CDTF">2026-03-15T04:47:42Z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33B19FDB95614AE4EE39B6691A2D0783_42</vt:lpwstr>
  </property>
  <property fmtid="{D5CDD505-2E9C-101B-9397-08002B2CF9AE}" pid="3" name="KSOProductBuildVer">
    <vt:lpwstr>2052-7.2.1.8947</vt:lpwstr>
  </property>
</Properties>
</file>
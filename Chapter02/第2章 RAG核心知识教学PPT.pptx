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01.svg" ContentType="image/svg+xml"/>
  <Override PartName="/ppt/media/image103.svg" ContentType="image/svg+xml"/>
  <Override PartName="/ppt/media/image105.svg" ContentType="image/svg+xml"/>
  <Override PartName="/ppt/media/image109.svg" ContentType="image/svg+xml"/>
  <Override PartName="/ppt/media/image111.svg" ContentType="image/svg+xml"/>
  <Override PartName="/ppt/media/image113.svg" ContentType="image/svg+xml"/>
  <Override PartName="/ppt/media/image116.svg" ContentType="image/svg+xml"/>
  <Override PartName="/ppt/media/image118.svg" ContentType="image/svg+xml"/>
  <Override PartName="/ppt/media/image12.svg" ContentType="image/svg+xml"/>
  <Override PartName="/ppt/media/image120.svg" ContentType="image/svg+xml"/>
  <Override PartName="/ppt/media/image122.svg" ContentType="image/svg+xml"/>
  <Override PartName="/ppt/media/image124.svg" ContentType="image/svg+xml"/>
  <Override PartName="/ppt/media/image126.svg" ContentType="image/svg+xml"/>
  <Override PartName="/ppt/media/image130.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4.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5.svg" ContentType="image/svg+xml"/>
  <Override PartName="/ppt/media/image47.svg" ContentType="image/svg+xml"/>
  <Override PartName="/ppt/media/image51.svg" ContentType="image/svg+xml"/>
  <Override PartName="/ppt/media/image53.svg" ContentType="image/svg+xml"/>
  <Override PartName="/ppt/media/image55.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5.svg" ContentType="image/svg+xml"/>
  <Override PartName="/ppt/media/image67.svg" ContentType="image/svg+xml"/>
  <Override PartName="/ppt/media/image69.svg" ContentType="image/svg+xml"/>
  <Override PartName="/ppt/media/image72.svg" ContentType="image/svg+xml"/>
  <Override PartName="/ppt/media/image74.svg" ContentType="image/svg+xml"/>
  <Override PartName="/ppt/media/image76.svg" ContentType="image/svg+xml"/>
  <Override PartName="/ppt/media/image78.svg" ContentType="image/svg+xml"/>
  <Override PartName="/ppt/media/image8.svg" ContentType="image/svg+xml"/>
  <Override PartName="/ppt/media/image80.svg" ContentType="image/svg+xml"/>
  <Override PartName="/ppt/media/image82.svg" ContentType="image/svg+xml"/>
  <Override PartName="/ppt/media/image84.svg" ContentType="image/svg+xml"/>
  <Override PartName="/ppt/media/image87.svg" ContentType="image/svg+xml"/>
  <Override PartName="/ppt/media/image90.svg" ContentType="image/svg+xml"/>
  <Override PartName="/ppt/media/image92.svg" ContentType="image/svg+xml"/>
  <Override PartName="/ppt/media/image95.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大家好，欢迎参加本次关于RAG核心知识的课程。今天我们将深入探讨基于LangChain框架的RAG技术实践与应用，希望通过这次学习，大家能够掌握RAG系统构建的关键技术和方法。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课程将分为六个部分，首先我们会学习文档解析，了解如何从各种格式的文件中提取文本。接着是文档分块，这是处理长文档的关键步骤。然后是文本嵌入，将文本转化为计算机能理解的向量形式。之后，我们会介绍向量数据库和向量检索，这是实现高效信息查找的核心。最后，我们会探讨提示词工程，优化模型的输出结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现在我们进入第一章节：文档解析。在RAG系统中，我们需要处理各种格式的文档，因此如何高效、准确地从这些文档中提取文本内容是我们首先要解决的问题。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看如何加载一个目录下的所有文件。LangChain提供了DirectoryLoader工具，它非常方便，可以一次性加载指定目录中的所有文档。它底层默认使用的是UnstructuredLoader，这是一个功能强大的加载器，可以处理多种格式。当然，使用前我们需要先安装必要的依赖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这是一个基础的代码示例。我们导入DirectoryLoader，然后指定文件路径和要加载的文件类型，这里是所有的CSV文件。调用load方法后，我们就得到了一个包含所有文档对象的列表。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如果要加载的文件很多，等待过程可能会比较漫长。我们可以通过安装tqdm库，并设置show_progress参数为True，来显示一个加载进度条，让我们清楚地看到加载的进度。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为了进一步提高加载效率，我们可以启用多线程。通过设置use_multithreading为True，并指定max_concurrency参数，我们可以让多个文件同时加载，这在处理大量文件时效果非常明显。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DirectoryLoader默认使用UnstructuredLoader，但我们也可以通过loader_cls参数来指定其他类型的加载器，比如这里的TextLoader。这在我们确定文件类型，并且有更高效的专用加载器时非常有用。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如果内置的加载器都无法满足我们的特殊需求，我们还可以自定义加载器。</a:t>
            </a:r>
            <a:endParaRPr lang="en-US" sz="1400" b="0" i="0" u="none" strike="noStrike">
              <a:solidFill>
                <a:srgbClr val="000000"/>
              </a:solidFill>
            </a:endParaRPr>
          </a:p>
          <a:p>
            <a:pPr indent="0" algn="l">
              <a:lnSpc>
                <a:spcPct val="100000"/>
              </a:lnSpc>
            </a:pPr>
            <a:r>
              <a:rPr lang="en-US" sz="1400" b="0" i="0" u="none" strike="noStrike">
                <a:solidFill>
                  <a:srgbClr val="000000"/>
                </a:solidFill>
              </a:rPr>
              <a:t>这里展示了一个简单的例子，我们继承了TextLoader，并重新实现了load方法，使其按行读取文件，并为每一行创建一个文档对象，同时记录行号作为元数据。</a:t>
            </a:r>
            <a:endParaRPr lang="en-US" sz="1400" b="0" i="0" u="none" strike="noStrike">
              <a:solidFill>
                <a:srgbClr val="000000"/>
              </a:solidFill>
            </a:endParaRPr>
          </a:p>
          <a:p>
            <a:pPr indent="0" algn="l">
              <a:lnSpc>
                <a:spcPct val="100000"/>
              </a:lnSpc>
            </a:pPr>
            <a:r>
              <a:rPr lang="en-US" sz="1400" b="0" i="0" u="none" strike="noStrike">
                <a:solidFill>
                  <a:srgbClr val="000000"/>
                </a:solidFill>
              </a:rPr>
              <a:t>这种方式赋予了我们极大的灵活性，可以处理各种非标准格式的文档。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接下来我们看如何加载CSV文件。CSV是一种非常常见的数据格式，LangChain为此提供了专门的CSVLoader，它可以方便地将CSV文件转换为我们需要的文档格式。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这是加载CSV文件的基础代码。我们导入CSVLoader，指定文件路径，然后调用load方法。加载后的数据会以文档对象的形式存在，每条记录对应一个文档，我们可以方便地访问其内容和元数据。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有时候，CSV文件的格式可能比较特殊，比如使用不同的分隔符或者没有表头。这时，我们可以通过csv_args参数来自定义解析方式，比如指定分隔符、引号字符，或者手动设置字段名。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默认情况下，文档的来源元数据是文件名。但我们可以通过source_column参数，将CSV文件中的某一列内容作为每个文档的来源标识，这在后续的检索和溯源中非常有用。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现在我们来学习如何加载HTML文件。LangChain提供了两种主要的HTML加载器，分别是UnstructuredHTMLLoader和BSHTMLLoader，它们各有特点，适用于不同的场景。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这是使用UnstructuredHTMLLoader的示例。它会提取HTML文件中的所有文本内容，并将其合并成一个文档对象，使用起来非常简单直接。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相比之下，BSHTMLLoader功能更强大一些。它基于BeautifulSoup4，可以更好地解析HTML的结构，并且会自动提取页面的标题（title标签内容）作为文档的元数据，这对于我们理解文档内容非常有帮助。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接下来是JSON文件的加载。JSON是互联网数据交换的常用格式，LangChain的JSONLoader可以让我们非常灵活地从复杂的JSON结构中提取我们需要的数据。使用前需要先安装jq库。</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这是一个基础示例。我们使用jq_schema参数，通过jq语法来指定我们要提取的数据路径。这里我们提取了chat.json文件中liveStreamQA数组里每个对象的answer字段，非常方便。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除了提取内容，我们还可以通过metadata_func函数来自定义文档的元数据。这个函数接收原始的JSON记录和默认的元数据，我们可以从中提取更多信息，丰富文档的元数据，这对于后续的检索和分析非常有价值。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Markdown是我们日常工作中非常常用的文档格式。LangChain提供了UnstructuredMarkdownLoader来加载Markdown文件，使用前需要安装unstructured和markdown这两个库。</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这是加载Markdown文件的基础代码。我们指定文件路径，创建loader对象，然后调用load方法。加载后，Markdown的格式会被解析，提取出纯文本内容。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默认情况下，加载器会将所有内容合并成一个文档。但如果我们设置mode为"elements"，它会保留Markdown文件中的原始结构，将标题、段落、列表等作为独立的文档对象返回，这对于我们后续按结构进行分块非常有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PDF是最常见的文档格式之一。LangChain的PyPDFLoader可以帮助我们轻松地从PDF文件中提取文本内容。使用前需要先安装pypdf库。</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这是加载PDF文件的基础代码。我们使用PyPDFLoader加载文件，并调用load_and_split方法，它会自动将PDF按页面分割成多个文档对象，每个对象对应PDF的一页。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除了提取文本，PyPDFLoader还支持提取PDF中的图片。我们只需要安装rapidocr-onnxruntime库，并设置extract_images参数为True，图片信息就会被提取出来，并保存在页面的元数据中。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完成了文档解析，我们得到了原始的文本内容。接下来，我们需要对这些文本进行预处理，特别是对于大型文档，文档分块是必不可少的一步。这就是我们第二章节要学习的内容。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最基础的分块方式是按字符进行拆分。CharacterTextSplitter允许我们指定分隔符、每个块的大小以及块之间的重叠部分，非常灵活。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个示例展示了如何使用CharacterTextSplitter来拆分一个文本文件。我们首先定义了分割器的参数，然后读取文本并进行拆分。最后，我们为每个拆分后的文本块添加了元数据，比如文件路径和章节号，然后创建了文档对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对于代码文件，我们需要一种更智能的分块方式，以确保函数、类等代码结构的完整性。</a:t>
            </a:r>
            <a:endParaRPr lang="en-US" sz="1400" b="0" i="0" u="none" strike="noStrike">
              <a:solidFill>
                <a:srgbClr val="000000"/>
              </a:solidFill>
            </a:endParaRPr>
          </a:p>
          <a:p>
            <a:pPr indent="0" algn="l">
              <a:lnSpc>
                <a:spcPct val="100000"/>
              </a:lnSpc>
            </a:pPr>
            <a:r>
              <a:rPr lang="en-US" sz="1400" b="0" i="0" u="none" strike="noStrike">
                <a:solidFill>
                  <a:srgbClr val="000000"/>
                </a:solidFill>
              </a:rPr>
              <a:t>LangChain提供了专门的代码分割器，可以根据不同的编程语言进行语义化分割。例如，我们可以使用 CodeTextSplitter 或者 RecursiveCharacterTextSplitter.from_language 来实现这一功能。</a:t>
            </a:r>
            <a:endParaRPr lang="en-US" sz="1400" b="0" i="0" u="none" strike="noStrike">
              <a:solidFill>
                <a:srgbClr val="000000"/>
              </a:solidFill>
            </a:endParaRPr>
          </a:p>
          <a:p>
            <a:pPr indent="0" algn="l">
              <a:lnSpc>
                <a:spcPct val="100000"/>
              </a:lnSpc>
            </a:pPr>
            <a:r>
              <a:rPr lang="en-US" sz="1400" b="0" i="0" u="none" strike="noStrike">
                <a:solidFill>
                  <a:srgbClr val="000000"/>
                </a:solidFill>
              </a:rPr>
              <a:t>它支持包括 Python, Java, C++, JavaScript 在内的多种主流编程语言。如果你想查看完整的支持列表，可以使用右侧代码示例中的方法，通过 Language 枚举类来获取所有支持的语言。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这里我们以Python代码为例，展示了如何使用RecursiveCharacterTextSplitter.from_language方法来创建一个针对Python语言的分割器。它会智能地识别代码结构，避免在函数或语句中间进行分割，保证了代码块的完整性。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对于Markdown文档，我们可以利用其固有的标题结构来进行分块。MarkdownHeaderTextSplitter可以根据我们指定的标题级别，自动将文档拆分成多个部分，每个部分对应一个标题下的内容，这对于结构化文档的处理非常有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个示例展示了如何使用MarkdownHeaderTextSplitter。我们首先定义了要分割的标题级别，然后将Markdown文本传入split_text方法。分割后的每个文档对象都会包含其所属的各级标题作为元数据，内容则是该标题下的所有文本，结构非常清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递归字符分割器是处理通用文本的首选工具。它的工作方式非常智能，会按照优先级依次尝试不同的分隔符，比如先尝试按段落分割，如果段落太长，再尝试按句子分割，以此类推，目的是在满足块大小限制的同时，最大程度地保持文本的语义完整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这个例子展示了如何使用RecursiveCharacterTextSplitter。我们可以自定义分隔符的顺序和优先级，然后它会自动按照这个顺序去尝试分割文本，直到得到大小合适的文本块。这种方法非常灵活，适用于大多数文本类型。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在实际应用中，大语言模型的上下文窗口限制通常是按标记（Token）数量来计算的，而不是字符数。因此，按标记进行分割会更加准确。</a:t>
            </a:r>
            <a:endParaRPr lang="en-US" sz="1400" b="0" i="0" u="none" strike="noStrike">
              <a:solidFill>
                <a:srgbClr val="000000"/>
              </a:solidFill>
            </a:endParaRPr>
          </a:p>
          <a:p>
            <a:pPr indent="0" algn="l">
              <a:lnSpc>
                <a:spcPct val="100000"/>
              </a:lnSpc>
            </a:pPr>
            <a:r>
              <a:rPr lang="en-US" sz="1400" b="0" i="0" u="none" strike="noStrike">
                <a:solidFill>
                  <a:srgbClr val="000000"/>
                </a:solidFill>
              </a:rPr>
              <a:t>LangChain提供了基于tiktoken库的分割器，可以方便地实现这一点。通过这种方式，我们可以确保分割后的文本块在送入模型时不会超出其上下文窗口限制。</a:t>
            </a:r>
            <a:endParaRPr lang="en-US" sz="1400" b="0" i="0" u="none" strike="noStrike">
              <a:solidFill>
                <a:srgbClr val="000000"/>
              </a:solidFill>
            </a:endParaRPr>
          </a:p>
          <a:p>
            <a:pPr indent="0" algn="l">
              <a:lnSpc>
                <a:spcPct val="100000"/>
              </a:lnSpc>
            </a:pPr>
            <a:r>
              <a:rPr lang="en-US" sz="1400" b="0" i="0" u="none" strike="noStrike">
                <a:solidFill>
                  <a:srgbClr val="000000"/>
                </a:solidFill>
              </a:rPr>
              <a:t>使用前需要安装tiktoken库，命令非常简单：pip3 install tiktoken。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这个示例展示了如何使用基于tiktoken的分割器。我们只需要调用CharacterTextSplitter.from_tiktoken_encoder方法，并指定chunk_size为我们期望的标记数，它就会自动按照标记数来分割文本，非常方便。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完成了文档分块，我们得到了一个个独立的文本块。接下来，我们需要将这些文本块转换为计算机能够理解和处理的形式，这就是文本嵌入要解决的问题。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明确一下文本嵌入的定义。简单来说，文本嵌入就是把文字变成一串数字，也就是向量。这个过程的核心目的有三个：一是捕捉文本的语义信息，让机器能理解文字的含义；二是进行降维，方便后续处理；三是为各种AI任务提供统一的输入格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这张图直观地展示了文本嵌入的过程。我们输入一段文本，经过嵌入模型的处理，最终得到一个向量。这个向量就像是这段文本的“数字指纹”，包含了它的语义信息。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LangChain中，所有的嵌入模型都遵循统一的接口，这使得我们可以轻松地替换不同的模型。主要有两个方法：embed_documents用于批量处理我们的文档，生成向量库；embed_query用于处理用户的查询，生成查询向量。这种分离设计也考虑到了某些模型对文档和查询采用不同编码策略的情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首先介绍最常用的OpenAI嵌入模型。我们只需要导入OpenAIEmbeddings类，设置好API密钥，就可以方便地调用embed_documents和embed_query方法来生成向量了。OpenAI的嵌入模型在多语言处理方面表现出色。</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除了OpenAI，我们也可以使用国内的模型，比如阿里云的通义千问。LangChain同样提供了DashScopeEmbeddings接口，使用方法与OpenAI类似，只需设置好API密钥和模型名称即可。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对于有隐私要求或者希望本地化部署的场景，我们可以选择使用Hugging Face上的开源模型。这里以中文常用的BGE模型为例，我们只需要指定模型名称，LangChain会自动下载并加载模型，非常方便。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如果我们有自己训练的嵌入模型，也可以很方便地接入LangChain。只需要创建一个类，继承自Embeddings接口，并实现embed_documents和embed_query这两个方法即可。这样，我们的自定义模型就能无缝集成到LangChain的工作流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生成了文本向量之后，我们需要一个地方来存储和管理这些向量，这就是向量数据库的用武之地。它能够帮助我们高效地存储大量向量，并快速地找到与查询向量最相似的那些向量。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向量数据库是RAG系统的基石。它解决了传统数据库在处理高维向量和快速相似度搜索方面的不足。无论是专用的向量数据库，还是传统数据库的向量扩展，都能为我们提供强大的支持。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有了向量数据库，我们就可以进行向量检索了。这个过程非常直观：我们把用户的问题转换成向量，然后在数据库里找和这个向量最像的那些向量，对应的文本就是最相关的答案素材。相似度的计算通常使用余弦相似度或欧氏距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一步，也是非常关键的一步，就是提示词工程。我们需要把检索到的文档片段和用户的问题组合起来，形成一个有效的提示，引导大语言模型基于这些真实的信息来生成回答，从而大大提高回答的准确性和可靠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构建一个完整的RAG系统需要经过六个核心步骤：从文档解析开始，经过分块、嵌入，然后利用向量数据库进行存储和检索，最后通过精心设计的提示词，让大语言模型生成高质量的回答。这是一个环环相扣的过程，每个环节都值得我们深入研究和优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本次关于RAG核心知识的讲解到此结束。感谢大家的观看，接下来是问答环节，欢迎大家提问交流。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4" Type="http://schemas.openxmlformats.org/officeDocument/2006/relationships/notesSlide" Target="../notesSlides/notesSlide2.xml"/><Relationship Id="rId13" Type="http://schemas.openxmlformats.org/officeDocument/2006/relationships/slideLayout" Target="../slideLayouts/slideLayout12.xml"/><Relationship Id="rId12" Type="http://schemas.openxmlformats.org/officeDocument/2006/relationships/image" Target="../media/image12.svg"/><Relationship Id="rId11" Type="http://schemas.openxmlformats.org/officeDocument/2006/relationships/image" Target="../media/image11.png"/><Relationship Id="rId10" Type="http://schemas.openxmlformats.org/officeDocument/2006/relationships/image" Target="../media/image10.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2.svg"/><Relationship Id="rId1"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2.xml"/><Relationship Id="rId4" Type="http://schemas.openxmlformats.org/officeDocument/2006/relationships/image" Target="../media/image23.svg"/><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2.xml"/><Relationship Id="rId4" Type="http://schemas.openxmlformats.org/officeDocument/2006/relationships/image" Target="../media/image27.svg"/><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2.xml"/><Relationship Id="rId4" Type="http://schemas.openxmlformats.org/officeDocument/2006/relationships/image" Target="../media/image31.svg"/><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2.xml"/><Relationship Id="rId4" Type="http://schemas.openxmlformats.org/officeDocument/2006/relationships/image" Target="../media/image34.svg"/><Relationship Id="rId3" Type="http://schemas.openxmlformats.org/officeDocument/2006/relationships/image" Target="../media/image33.png"/><Relationship Id="rId2" Type="http://schemas.openxmlformats.org/officeDocument/2006/relationships/image" Target="../media/image23.svg"/><Relationship Id="rId1" Type="http://schemas.openxmlformats.org/officeDocument/2006/relationships/image" Target="../media/image32.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2.xml"/><Relationship Id="rId4" Type="http://schemas.openxmlformats.org/officeDocument/2006/relationships/image" Target="../media/image37.svg"/><Relationship Id="rId3" Type="http://schemas.openxmlformats.org/officeDocument/2006/relationships/image" Target="../media/image36.png"/><Relationship Id="rId2" Type="http://schemas.openxmlformats.org/officeDocument/2006/relationships/image" Target="../media/image21.svg"/><Relationship Id="rId1" Type="http://schemas.openxmlformats.org/officeDocument/2006/relationships/image" Target="../media/image35.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2.xml"/><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21.svg"/><Relationship Id="rId3" Type="http://schemas.openxmlformats.org/officeDocument/2006/relationships/image" Target="../media/image35.png"/><Relationship Id="rId2" Type="http://schemas.openxmlformats.org/officeDocument/2006/relationships/image" Target="../media/image39.svg"/><Relationship Id="rId1" Type="http://schemas.openxmlformats.org/officeDocument/2006/relationships/image" Target="../media/image38.pn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2.xml"/><Relationship Id="rId6" Type="http://schemas.openxmlformats.org/officeDocument/2006/relationships/image" Target="../media/image37.svg"/><Relationship Id="rId5" Type="http://schemas.openxmlformats.org/officeDocument/2006/relationships/image" Target="../media/image43.png"/><Relationship Id="rId4" Type="http://schemas.openxmlformats.org/officeDocument/2006/relationships/image" Target="../media/image8.svg"/><Relationship Id="rId3" Type="http://schemas.openxmlformats.org/officeDocument/2006/relationships/image" Target="../media/image42.png"/><Relationship Id="rId2" Type="http://schemas.openxmlformats.org/officeDocument/2006/relationships/image" Target="../media/image21.svg"/><Relationship Id="rId1" Type="http://schemas.openxmlformats.org/officeDocument/2006/relationships/image" Target="../media/image35.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2.xml"/><Relationship Id="rId6" Type="http://schemas.openxmlformats.org/officeDocument/2006/relationships/image" Target="../media/image41.svg"/><Relationship Id="rId5" Type="http://schemas.openxmlformats.org/officeDocument/2006/relationships/image" Target="../media/image48.png"/><Relationship Id="rId4" Type="http://schemas.openxmlformats.org/officeDocument/2006/relationships/image" Target="../media/image47.svg"/><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2.xml"/><Relationship Id="rId2" Type="http://schemas.openxmlformats.org/officeDocument/2006/relationships/image" Target="../media/image21.svg"/><Relationship Id="rId1" Type="http://schemas.openxmlformats.org/officeDocument/2006/relationships/image" Target="../media/image35.pn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3.svg"/><Relationship Id="rId7" Type="http://schemas.openxmlformats.org/officeDocument/2006/relationships/image" Target="../media/image32.png"/><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39.svg"/><Relationship Id="rId3" Type="http://schemas.openxmlformats.org/officeDocument/2006/relationships/image" Target="../media/image49.png"/><Relationship Id="rId2" Type="http://schemas.openxmlformats.org/officeDocument/2006/relationships/image" Target="../media/image21.svg"/><Relationship Id="rId10" Type="http://schemas.openxmlformats.org/officeDocument/2006/relationships/notesSlide" Target="../notesSlides/notesSlide14.xml"/><Relationship Id="rId1" Type="http://schemas.openxmlformats.org/officeDocument/2006/relationships/image" Target="../media/image35.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2.xml"/><Relationship Id="rId2" Type="http://schemas.openxmlformats.org/officeDocument/2006/relationships/image" Target="../media/image21.svg"/><Relationship Id="rId1" Type="http://schemas.openxmlformats.org/officeDocument/2006/relationships/image" Target="../media/image35.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2.xml"/><Relationship Id="rId4" Type="http://schemas.openxmlformats.org/officeDocument/2006/relationships/image" Target="../media/image53.svg"/><Relationship Id="rId3" Type="http://schemas.openxmlformats.org/officeDocument/2006/relationships/image" Target="../media/image52.png"/><Relationship Id="rId2" Type="http://schemas.openxmlformats.org/officeDocument/2006/relationships/image" Target="../media/image21.svg"/><Relationship Id="rId1" Type="http://schemas.openxmlformats.org/officeDocument/2006/relationships/image" Target="../media/image35.pn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58.svg"/><Relationship Id="rId7" Type="http://schemas.openxmlformats.org/officeDocument/2006/relationships/image" Target="../media/image57.png"/><Relationship Id="rId6" Type="http://schemas.openxmlformats.org/officeDocument/2006/relationships/image" Target="../media/image27.svg"/><Relationship Id="rId5" Type="http://schemas.openxmlformats.org/officeDocument/2006/relationships/image" Target="../media/image56.png"/><Relationship Id="rId4" Type="http://schemas.openxmlformats.org/officeDocument/2006/relationships/image" Target="../media/image55.svg"/><Relationship Id="rId3" Type="http://schemas.openxmlformats.org/officeDocument/2006/relationships/image" Target="../media/image54.png"/><Relationship Id="rId2" Type="http://schemas.openxmlformats.org/officeDocument/2006/relationships/image" Target="../media/image21.svg"/><Relationship Id="rId10" Type="http://schemas.openxmlformats.org/officeDocument/2006/relationships/notesSlide" Target="../notesSlides/notesSlide17.xml"/><Relationship Id="rId1" Type="http://schemas.openxmlformats.org/officeDocument/2006/relationships/image" Target="../media/image35.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2.xml"/><Relationship Id="rId2" Type="http://schemas.openxmlformats.org/officeDocument/2006/relationships/image" Target="../media/image21.svg"/><Relationship Id="rId1" Type="http://schemas.openxmlformats.org/officeDocument/2006/relationships/image" Target="../media/image35.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12.xml"/><Relationship Id="rId4" Type="http://schemas.openxmlformats.org/officeDocument/2006/relationships/image" Target="../media/image23.svg"/><Relationship Id="rId3" Type="http://schemas.openxmlformats.org/officeDocument/2006/relationships/image" Target="../media/image32.png"/><Relationship Id="rId2" Type="http://schemas.openxmlformats.org/officeDocument/2006/relationships/image" Target="../media/image60.svg"/><Relationship Id="rId1" Type="http://schemas.openxmlformats.org/officeDocument/2006/relationships/image" Target="../media/image59.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12.xml"/><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21.svg"/><Relationship Id="rId3" Type="http://schemas.openxmlformats.org/officeDocument/2006/relationships/image" Target="../media/image35.png"/><Relationship Id="rId2" Type="http://schemas.openxmlformats.org/officeDocument/2006/relationships/image" Target="../media/image39.svg"/><Relationship Id="rId1" Type="http://schemas.openxmlformats.org/officeDocument/2006/relationships/image" Target="../media/image49.png"/></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12.xml"/><Relationship Id="rId6" Type="http://schemas.openxmlformats.org/officeDocument/2006/relationships/image" Target="../media/image39.svg"/><Relationship Id="rId5" Type="http://schemas.openxmlformats.org/officeDocument/2006/relationships/image" Target="../media/image49.png"/><Relationship Id="rId4" Type="http://schemas.openxmlformats.org/officeDocument/2006/relationships/image" Target="../media/image15.svg"/><Relationship Id="rId3" Type="http://schemas.openxmlformats.org/officeDocument/2006/relationships/image" Target="../media/image63.png"/><Relationship Id="rId2" Type="http://schemas.openxmlformats.org/officeDocument/2006/relationships/image" Target="../media/image21.svg"/><Relationship Id="rId1" Type="http://schemas.openxmlformats.org/officeDocument/2006/relationships/image" Target="../media/image35.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12.xml"/><Relationship Id="rId4" Type="http://schemas.openxmlformats.org/officeDocument/2006/relationships/image" Target="../media/image23.svg"/><Relationship Id="rId3" Type="http://schemas.openxmlformats.org/officeDocument/2006/relationships/image" Target="../media/image32.png"/><Relationship Id="rId2" Type="http://schemas.openxmlformats.org/officeDocument/2006/relationships/image" Target="../media/image65.svg"/><Relationship Id="rId1" Type="http://schemas.openxmlformats.org/officeDocument/2006/relationships/image" Target="../media/image64.png"/></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23.xml"/><Relationship Id="rId7" Type="http://schemas.openxmlformats.org/officeDocument/2006/relationships/slideLayout" Target="../slideLayouts/slideLayout12.xml"/><Relationship Id="rId6" Type="http://schemas.openxmlformats.org/officeDocument/2006/relationships/image" Target="../media/image27.svg"/><Relationship Id="rId5" Type="http://schemas.openxmlformats.org/officeDocument/2006/relationships/image" Target="../media/image56.png"/><Relationship Id="rId4" Type="http://schemas.openxmlformats.org/officeDocument/2006/relationships/image" Target="../media/image21.svg"/><Relationship Id="rId3" Type="http://schemas.openxmlformats.org/officeDocument/2006/relationships/image" Target="../media/image35.png"/><Relationship Id="rId2" Type="http://schemas.openxmlformats.org/officeDocument/2006/relationships/image" Target="../media/image67.svg"/><Relationship Id="rId1" Type="http://schemas.openxmlformats.org/officeDocument/2006/relationships/image" Target="../media/image66.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2.xml"/><Relationship Id="rId2" Type="http://schemas.openxmlformats.org/officeDocument/2006/relationships/image" Target="../media/image21.svg"/><Relationship Id="rId1" Type="http://schemas.openxmlformats.org/officeDocument/2006/relationships/image" Target="../media/image35.png"/></Relationships>
</file>

<file path=ppt/slides/_rels/slide25.xml.rels><?xml version="1.0" encoding="UTF-8" standalone="yes"?>
<Relationships xmlns="http://schemas.openxmlformats.org/package/2006/relationships"><Relationship Id="rId9" Type="http://schemas.openxmlformats.org/officeDocument/2006/relationships/image" Target="../media/image73.png"/><Relationship Id="rId8" Type="http://schemas.openxmlformats.org/officeDocument/2006/relationships/image" Target="../media/image72.svg"/><Relationship Id="rId7" Type="http://schemas.openxmlformats.org/officeDocument/2006/relationships/image" Target="../media/image71.png"/><Relationship Id="rId6" Type="http://schemas.openxmlformats.org/officeDocument/2006/relationships/image" Target="../media/image25.svg"/><Relationship Id="rId5" Type="http://schemas.openxmlformats.org/officeDocument/2006/relationships/image" Target="../media/image70.png"/><Relationship Id="rId4" Type="http://schemas.openxmlformats.org/officeDocument/2006/relationships/image" Target="../media/image21.svg"/><Relationship Id="rId3" Type="http://schemas.openxmlformats.org/officeDocument/2006/relationships/image" Target="../media/image35.png"/><Relationship Id="rId2" Type="http://schemas.openxmlformats.org/officeDocument/2006/relationships/image" Target="../media/image69.svg"/><Relationship Id="rId12" Type="http://schemas.openxmlformats.org/officeDocument/2006/relationships/notesSlide" Target="../notesSlides/notesSlide25.xml"/><Relationship Id="rId11" Type="http://schemas.openxmlformats.org/officeDocument/2006/relationships/slideLayout" Target="../slideLayouts/slideLayout12.xml"/><Relationship Id="rId10" Type="http://schemas.openxmlformats.org/officeDocument/2006/relationships/image" Target="../media/image74.svg"/><Relationship Id="rId1" Type="http://schemas.openxmlformats.org/officeDocument/2006/relationships/image" Target="../media/image68.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2.xml"/><Relationship Id="rId2" Type="http://schemas.openxmlformats.org/officeDocument/2006/relationships/image" Target="../media/image25.svg"/><Relationship Id="rId1" Type="http://schemas.openxmlformats.org/officeDocument/2006/relationships/image" Target="../media/image70.png"/></Relationships>
</file>

<file path=ppt/slides/_rels/slide27.xml.rels><?xml version="1.0" encoding="UTF-8" standalone="yes"?>
<Relationships xmlns="http://schemas.openxmlformats.org/package/2006/relationships"><Relationship Id="rId9" Type="http://schemas.openxmlformats.org/officeDocument/2006/relationships/image" Target="../media/image79.png"/><Relationship Id="rId8" Type="http://schemas.openxmlformats.org/officeDocument/2006/relationships/image" Target="../media/image78.svg"/><Relationship Id="rId7" Type="http://schemas.openxmlformats.org/officeDocument/2006/relationships/image" Target="../media/image77.png"/><Relationship Id="rId6" Type="http://schemas.openxmlformats.org/officeDocument/2006/relationships/image" Target="../media/image76.svg"/><Relationship Id="rId5" Type="http://schemas.openxmlformats.org/officeDocument/2006/relationships/image" Target="../media/image75.png"/><Relationship Id="rId4" Type="http://schemas.openxmlformats.org/officeDocument/2006/relationships/image" Target="../media/image25.svg"/><Relationship Id="rId3" Type="http://schemas.openxmlformats.org/officeDocument/2006/relationships/image" Target="../media/image70.png"/><Relationship Id="rId2" Type="http://schemas.openxmlformats.org/officeDocument/2006/relationships/image" Target="../media/image21.svg"/><Relationship Id="rId12" Type="http://schemas.openxmlformats.org/officeDocument/2006/relationships/notesSlide" Target="../notesSlides/notesSlide27.xml"/><Relationship Id="rId11" Type="http://schemas.openxmlformats.org/officeDocument/2006/relationships/slideLayout" Target="../slideLayouts/slideLayout12.xml"/><Relationship Id="rId10" Type="http://schemas.openxmlformats.org/officeDocument/2006/relationships/image" Target="../media/image80.svg"/><Relationship Id="rId1" Type="http://schemas.openxmlformats.org/officeDocument/2006/relationships/image" Target="../media/image35.png"/></Relationships>
</file>

<file path=ppt/slides/_rels/slide2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78.svg"/><Relationship Id="rId7" Type="http://schemas.openxmlformats.org/officeDocument/2006/relationships/image" Target="../media/image77.png"/><Relationship Id="rId6" Type="http://schemas.openxmlformats.org/officeDocument/2006/relationships/image" Target="../media/image84.svg"/><Relationship Id="rId5" Type="http://schemas.openxmlformats.org/officeDocument/2006/relationships/image" Target="../media/image83.png"/><Relationship Id="rId4" Type="http://schemas.openxmlformats.org/officeDocument/2006/relationships/image" Target="../media/image82.svg"/><Relationship Id="rId3" Type="http://schemas.openxmlformats.org/officeDocument/2006/relationships/image" Target="../media/image81.png"/><Relationship Id="rId2" Type="http://schemas.openxmlformats.org/officeDocument/2006/relationships/image" Target="../media/image21.svg"/><Relationship Id="rId10" Type="http://schemas.openxmlformats.org/officeDocument/2006/relationships/notesSlide" Target="../notesSlides/notesSlide28.xml"/><Relationship Id="rId1" Type="http://schemas.openxmlformats.org/officeDocument/2006/relationships/image" Target="../media/image35.png"/></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12.xml"/><Relationship Id="rId6" Type="http://schemas.openxmlformats.org/officeDocument/2006/relationships/image" Target="../media/image23.svg"/><Relationship Id="rId5" Type="http://schemas.openxmlformats.org/officeDocument/2006/relationships/image" Target="../media/image32.png"/><Relationship Id="rId4" Type="http://schemas.openxmlformats.org/officeDocument/2006/relationships/image" Target="../media/image21.svg"/><Relationship Id="rId3" Type="http://schemas.openxmlformats.org/officeDocument/2006/relationships/image" Target="../media/image35.png"/><Relationship Id="rId2" Type="http://schemas.openxmlformats.org/officeDocument/2006/relationships/image" Target="../media/image19.svg"/><Relationship Id="rId1" Type="http://schemas.openxmlformats.org/officeDocument/2006/relationships/image" Target="../media/image85.png"/></Relationships>
</file>

<file path=ppt/slides/_rels/slide30.xml.rels><?xml version="1.0" encoding="UTF-8" standalone="yes"?>
<Relationships xmlns="http://schemas.openxmlformats.org/package/2006/relationships"><Relationship Id="rId8" Type="http://schemas.openxmlformats.org/officeDocument/2006/relationships/notesSlide" Target="../notesSlides/notesSlide30.xml"/><Relationship Id="rId7" Type="http://schemas.openxmlformats.org/officeDocument/2006/relationships/slideLayout" Target="../slideLayouts/slideLayout12.xml"/><Relationship Id="rId6" Type="http://schemas.openxmlformats.org/officeDocument/2006/relationships/image" Target="../media/image34.svg"/><Relationship Id="rId5" Type="http://schemas.openxmlformats.org/officeDocument/2006/relationships/image" Target="../media/image88.png"/><Relationship Id="rId4" Type="http://schemas.openxmlformats.org/officeDocument/2006/relationships/image" Target="../media/image87.svg"/><Relationship Id="rId3" Type="http://schemas.openxmlformats.org/officeDocument/2006/relationships/image" Target="../media/image86.png"/><Relationship Id="rId2" Type="http://schemas.openxmlformats.org/officeDocument/2006/relationships/image" Target="../media/image21.svg"/><Relationship Id="rId1" Type="http://schemas.openxmlformats.org/officeDocument/2006/relationships/image" Target="../media/image35.png"/></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31.xml"/><Relationship Id="rId7" Type="http://schemas.openxmlformats.org/officeDocument/2006/relationships/slideLayout" Target="../slideLayouts/slideLayout12.xml"/><Relationship Id="rId6" Type="http://schemas.openxmlformats.org/officeDocument/2006/relationships/image" Target="../media/image27.svg"/><Relationship Id="rId5" Type="http://schemas.openxmlformats.org/officeDocument/2006/relationships/image" Target="../media/image56.png"/><Relationship Id="rId4" Type="http://schemas.openxmlformats.org/officeDocument/2006/relationships/image" Target="../media/image90.svg"/><Relationship Id="rId3" Type="http://schemas.openxmlformats.org/officeDocument/2006/relationships/image" Target="../media/image89.png"/><Relationship Id="rId2" Type="http://schemas.openxmlformats.org/officeDocument/2006/relationships/image" Target="../media/image21.svg"/><Relationship Id="rId1" Type="http://schemas.openxmlformats.org/officeDocument/2006/relationships/image" Target="../media/image35.png"/></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32.xml"/><Relationship Id="rId7" Type="http://schemas.openxmlformats.org/officeDocument/2006/relationships/slideLayout" Target="../slideLayouts/slideLayout12.xml"/><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92.svg"/><Relationship Id="rId3" Type="http://schemas.openxmlformats.org/officeDocument/2006/relationships/image" Target="../media/image91.png"/><Relationship Id="rId2" Type="http://schemas.openxmlformats.org/officeDocument/2006/relationships/image" Target="../media/image21.svg"/><Relationship Id="rId1" Type="http://schemas.openxmlformats.org/officeDocument/2006/relationships/image" Target="../media/image35.png"/></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33.xml"/><Relationship Id="rId7" Type="http://schemas.openxmlformats.org/officeDocument/2006/relationships/slideLayout" Target="../slideLayouts/slideLayout12.xml"/><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image" Target="../media/image31.svg"/><Relationship Id="rId3" Type="http://schemas.openxmlformats.org/officeDocument/2006/relationships/image" Target="../media/image93.png"/><Relationship Id="rId2" Type="http://schemas.openxmlformats.org/officeDocument/2006/relationships/image" Target="../media/image69.svg"/><Relationship Id="rId1" Type="http://schemas.openxmlformats.org/officeDocument/2006/relationships/image" Target="../media/image68.png"/></Relationships>
</file>

<file path=ppt/slides/_rels/slide3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3.svg"/><Relationship Id="rId7" Type="http://schemas.openxmlformats.org/officeDocument/2006/relationships/image" Target="../media/image32.png"/><Relationship Id="rId6" Type="http://schemas.openxmlformats.org/officeDocument/2006/relationships/image" Target="../media/image34.svg"/><Relationship Id="rId5" Type="http://schemas.openxmlformats.org/officeDocument/2006/relationships/image" Target="../media/image88.png"/><Relationship Id="rId4" Type="http://schemas.openxmlformats.org/officeDocument/2006/relationships/image" Target="../media/image97.svg"/><Relationship Id="rId3" Type="http://schemas.openxmlformats.org/officeDocument/2006/relationships/image" Target="../media/image96.png"/><Relationship Id="rId2" Type="http://schemas.openxmlformats.org/officeDocument/2006/relationships/image" Target="../media/image82.svg"/><Relationship Id="rId10" Type="http://schemas.openxmlformats.org/officeDocument/2006/relationships/notesSlide" Target="../notesSlides/notesSlide34.xml"/><Relationship Id="rId1" Type="http://schemas.openxmlformats.org/officeDocument/2006/relationships/image" Target="../media/image81.png"/></Relationships>
</file>

<file path=ppt/slides/_rels/slide3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01.svg"/><Relationship Id="rId7" Type="http://schemas.openxmlformats.org/officeDocument/2006/relationships/image" Target="../media/image100.png"/><Relationship Id="rId6" Type="http://schemas.openxmlformats.org/officeDocument/2006/relationships/image" Target="../media/image31.svg"/><Relationship Id="rId5" Type="http://schemas.openxmlformats.org/officeDocument/2006/relationships/image" Target="../media/image93.png"/><Relationship Id="rId4" Type="http://schemas.openxmlformats.org/officeDocument/2006/relationships/image" Target="../media/image99.svg"/><Relationship Id="rId3" Type="http://schemas.openxmlformats.org/officeDocument/2006/relationships/image" Target="../media/image98.png"/><Relationship Id="rId2" Type="http://schemas.openxmlformats.org/officeDocument/2006/relationships/image" Target="../media/image21.svg"/><Relationship Id="rId10" Type="http://schemas.openxmlformats.org/officeDocument/2006/relationships/notesSlide" Target="../notesSlides/notesSlide35.xml"/><Relationship Id="rId1" Type="http://schemas.openxmlformats.org/officeDocument/2006/relationships/image" Target="../media/image35.png"/></Relationships>
</file>

<file path=ppt/slides/_rels/slide36.xml.rels><?xml version="1.0" encoding="UTF-8" standalone="yes"?>
<Relationships xmlns="http://schemas.openxmlformats.org/package/2006/relationships"><Relationship Id="rId8" Type="http://schemas.openxmlformats.org/officeDocument/2006/relationships/notesSlide" Target="../notesSlides/notesSlide36.xml"/><Relationship Id="rId7" Type="http://schemas.openxmlformats.org/officeDocument/2006/relationships/slideLayout" Target="../slideLayouts/slideLayout12.xml"/><Relationship Id="rId6" Type="http://schemas.openxmlformats.org/officeDocument/2006/relationships/image" Target="../media/image37.svg"/><Relationship Id="rId5" Type="http://schemas.openxmlformats.org/officeDocument/2006/relationships/image" Target="../media/image43.png"/><Relationship Id="rId4" Type="http://schemas.openxmlformats.org/officeDocument/2006/relationships/image" Target="../media/image55.svg"/><Relationship Id="rId3" Type="http://schemas.openxmlformats.org/officeDocument/2006/relationships/image" Target="../media/image54.png"/><Relationship Id="rId2" Type="http://schemas.openxmlformats.org/officeDocument/2006/relationships/image" Target="../media/image21.svg"/><Relationship Id="rId1" Type="http://schemas.openxmlformats.org/officeDocument/2006/relationships/image" Target="../media/image3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38.xml"/><Relationship Id="rId7" Type="http://schemas.openxmlformats.org/officeDocument/2006/relationships/slideLayout" Target="../slideLayouts/slideLayout12.xml"/><Relationship Id="rId6" Type="http://schemas.openxmlformats.org/officeDocument/2006/relationships/image" Target="../media/image29.svg"/><Relationship Id="rId5" Type="http://schemas.openxmlformats.org/officeDocument/2006/relationships/image" Target="../media/image106.png"/><Relationship Id="rId4" Type="http://schemas.openxmlformats.org/officeDocument/2006/relationships/image" Target="../media/image105.svg"/><Relationship Id="rId3" Type="http://schemas.openxmlformats.org/officeDocument/2006/relationships/image" Target="../media/image104.png"/><Relationship Id="rId2" Type="http://schemas.openxmlformats.org/officeDocument/2006/relationships/image" Target="../media/image103.svg"/><Relationship Id="rId1" Type="http://schemas.openxmlformats.org/officeDocument/2006/relationships/image" Target="../media/image102.png"/></Relationships>
</file>

<file path=ppt/slides/_rels/slide39.xml.rels><?xml version="1.0" encoding="UTF-8" standalone="yes"?>
<Relationships xmlns="http://schemas.openxmlformats.org/package/2006/relationships"><Relationship Id="rId9" Type="http://schemas.openxmlformats.org/officeDocument/2006/relationships/notesSlide" Target="../notesSlides/notesSlide39.xml"/><Relationship Id="rId8" Type="http://schemas.openxmlformats.org/officeDocument/2006/relationships/slideLayout" Target="../slideLayouts/slideLayout12.xml"/><Relationship Id="rId7" Type="http://schemas.openxmlformats.org/officeDocument/2006/relationships/image" Target="../media/image111.svg"/><Relationship Id="rId6" Type="http://schemas.openxmlformats.org/officeDocument/2006/relationships/image" Target="../media/image110.png"/><Relationship Id="rId5" Type="http://schemas.openxmlformats.org/officeDocument/2006/relationships/image" Target="../media/image109.svg"/><Relationship Id="rId4" Type="http://schemas.openxmlformats.org/officeDocument/2006/relationships/image" Target="../media/image108.png"/><Relationship Id="rId3" Type="http://schemas.openxmlformats.org/officeDocument/2006/relationships/image" Target="../media/image39.svg"/><Relationship Id="rId2" Type="http://schemas.openxmlformats.org/officeDocument/2006/relationships/image" Target="../media/image49.png"/><Relationship Id="rId1" Type="http://schemas.openxmlformats.org/officeDocument/2006/relationships/image" Target="../media/image107.png"/></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40.xml"/><Relationship Id="rId5" Type="http://schemas.openxmlformats.org/officeDocument/2006/relationships/slideLayout" Target="../slideLayouts/slideLayout12.xml"/><Relationship Id="rId4" Type="http://schemas.openxmlformats.org/officeDocument/2006/relationships/image" Target="../media/image10.svg"/><Relationship Id="rId3" Type="http://schemas.openxmlformats.org/officeDocument/2006/relationships/image" Target="../media/image114.png"/><Relationship Id="rId2" Type="http://schemas.openxmlformats.org/officeDocument/2006/relationships/image" Target="../media/image113.svg"/><Relationship Id="rId1" Type="http://schemas.openxmlformats.org/officeDocument/2006/relationships/image" Target="../media/image112.png"/></Relationships>
</file>

<file path=ppt/slides/_rels/slide41.xml.rels><?xml version="1.0" encoding="UTF-8" standalone="yes"?>
<Relationships xmlns="http://schemas.openxmlformats.org/package/2006/relationships"><Relationship Id="rId8" Type="http://schemas.openxmlformats.org/officeDocument/2006/relationships/notesSlide" Target="../notesSlides/notesSlide41.xml"/><Relationship Id="rId7"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114.png"/><Relationship Id="rId4" Type="http://schemas.openxmlformats.org/officeDocument/2006/relationships/image" Target="../media/image39.svg"/><Relationship Id="rId3" Type="http://schemas.openxmlformats.org/officeDocument/2006/relationships/image" Target="../media/image49.png"/><Relationship Id="rId2" Type="http://schemas.openxmlformats.org/officeDocument/2006/relationships/image" Target="../media/image55.svg"/><Relationship Id="rId1" Type="http://schemas.openxmlformats.org/officeDocument/2006/relationships/image" Target="../media/image54.png"/></Relationships>
</file>

<file path=ppt/slides/_rels/slide42.xml.rels><?xml version="1.0" encoding="UTF-8" standalone="yes"?>
<Relationships xmlns="http://schemas.openxmlformats.org/package/2006/relationships"><Relationship Id="rId6" Type="http://schemas.openxmlformats.org/officeDocument/2006/relationships/notesSlide" Target="../notesSlides/notesSlide42.xml"/><Relationship Id="rId5" Type="http://schemas.openxmlformats.org/officeDocument/2006/relationships/slideLayout" Target="../slideLayouts/slideLayout12.xml"/><Relationship Id="rId4" Type="http://schemas.openxmlformats.org/officeDocument/2006/relationships/image" Target="../media/image23.svg"/><Relationship Id="rId3" Type="http://schemas.openxmlformats.org/officeDocument/2006/relationships/image" Target="../media/image32.png"/><Relationship Id="rId2" Type="http://schemas.openxmlformats.org/officeDocument/2006/relationships/image" Target="../media/image116.svg"/><Relationship Id="rId1" Type="http://schemas.openxmlformats.org/officeDocument/2006/relationships/image" Target="../media/image115.png"/></Relationships>
</file>

<file path=ppt/slides/_rels/slide43.xml.rels><?xml version="1.0" encoding="UTF-8" standalone="yes"?>
<Relationships xmlns="http://schemas.openxmlformats.org/package/2006/relationships"><Relationship Id="rId6" Type="http://schemas.openxmlformats.org/officeDocument/2006/relationships/notesSlide" Target="../notesSlides/notesSlide43.xml"/><Relationship Id="rId5" Type="http://schemas.openxmlformats.org/officeDocument/2006/relationships/slideLayout" Target="../slideLayouts/slideLayout12.xml"/><Relationship Id="rId4" Type="http://schemas.openxmlformats.org/officeDocument/2006/relationships/image" Target="../media/image23.svg"/><Relationship Id="rId3" Type="http://schemas.openxmlformats.org/officeDocument/2006/relationships/image" Target="../media/image32.png"/><Relationship Id="rId2" Type="http://schemas.openxmlformats.org/officeDocument/2006/relationships/image" Target="../media/image118.svg"/><Relationship Id="rId1" Type="http://schemas.openxmlformats.org/officeDocument/2006/relationships/image" Target="../media/image117.png"/></Relationships>
</file>

<file path=ppt/slides/_rels/slide44.xml.rels><?xml version="1.0" encoding="UTF-8" standalone="yes"?>
<Relationships xmlns="http://schemas.openxmlformats.org/package/2006/relationships"><Relationship Id="rId6" Type="http://schemas.openxmlformats.org/officeDocument/2006/relationships/notesSlide" Target="../notesSlides/notesSlide44.xml"/><Relationship Id="rId5" Type="http://schemas.openxmlformats.org/officeDocument/2006/relationships/slideLayout" Target="../slideLayouts/slideLayout12.xml"/><Relationship Id="rId4" Type="http://schemas.openxmlformats.org/officeDocument/2006/relationships/image" Target="../media/image23.svg"/><Relationship Id="rId3" Type="http://schemas.openxmlformats.org/officeDocument/2006/relationships/image" Target="../media/image32.png"/><Relationship Id="rId2" Type="http://schemas.openxmlformats.org/officeDocument/2006/relationships/image" Target="../media/image21.svg"/><Relationship Id="rId1" Type="http://schemas.openxmlformats.org/officeDocument/2006/relationships/image" Target="../media/image35.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9" Type="http://schemas.openxmlformats.org/officeDocument/2006/relationships/image" Target="../media/image119.png"/><Relationship Id="rId8" Type="http://schemas.openxmlformats.org/officeDocument/2006/relationships/image" Target="../media/image99.svg"/><Relationship Id="rId7" Type="http://schemas.openxmlformats.org/officeDocument/2006/relationships/image" Target="../media/image98.png"/><Relationship Id="rId6" Type="http://schemas.openxmlformats.org/officeDocument/2006/relationships/image" Target="../media/image10.svg"/><Relationship Id="rId5" Type="http://schemas.openxmlformats.org/officeDocument/2006/relationships/image" Target="../media/image114.png"/><Relationship Id="rId4" Type="http://schemas.openxmlformats.org/officeDocument/2006/relationships/image" Target="../media/image105.svg"/><Relationship Id="rId3" Type="http://schemas.openxmlformats.org/officeDocument/2006/relationships/image" Target="../media/image104.png"/><Relationship Id="rId2" Type="http://schemas.openxmlformats.org/officeDocument/2006/relationships/image" Target="../media/image8.svg"/><Relationship Id="rId14" Type="http://schemas.openxmlformats.org/officeDocument/2006/relationships/notesSlide" Target="../notesSlides/notesSlide46.xml"/><Relationship Id="rId13" Type="http://schemas.openxmlformats.org/officeDocument/2006/relationships/slideLayout" Target="../slideLayouts/slideLayout12.xml"/><Relationship Id="rId12" Type="http://schemas.openxmlformats.org/officeDocument/2006/relationships/image" Target="../media/image74.svg"/><Relationship Id="rId11" Type="http://schemas.openxmlformats.org/officeDocument/2006/relationships/image" Target="../media/image73.png"/><Relationship Id="rId10" Type="http://schemas.openxmlformats.org/officeDocument/2006/relationships/image" Target="../media/image120.svg"/><Relationship Id="rId1" Type="http://schemas.openxmlformats.org/officeDocument/2006/relationships/image" Target="../media/image42.png"/></Relationships>
</file>

<file path=ppt/slides/_rels/slide47.xml.rels><?xml version="1.0" encoding="UTF-8" standalone="yes"?>
<Relationships xmlns="http://schemas.openxmlformats.org/package/2006/relationships"><Relationship Id="rId8" Type="http://schemas.openxmlformats.org/officeDocument/2006/relationships/notesSlide" Target="../notesSlides/notesSlide47.xml"/><Relationship Id="rId7" Type="http://schemas.openxmlformats.org/officeDocument/2006/relationships/slideLayout" Target="../slideLayouts/slideLayout12.xml"/><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99.svg"/><Relationship Id="rId3" Type="http://schemas.openxmlformats.org/officeDocument/2006/relationships/image" Target="../media/image98.png"/><Relationship Id="rId2" Type="http://schemas.openxmlformats.org/officeDocument/2006/relationships/image" Target="../media/image10.svg"/><Relationship Id="rId1" Type="http://schemas.openxmlformats.org/officeDocument/2006/relationships/image" Target="../media/image114.png"/></Relationships>
</file>

<file path=ppt/slides/_rels/slide4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26.svg"/><Relationship Id="rId7" Type="http://schemas.openxmlformats.org/officeDocument/2006/relationships/image" Target="../media/image125.png"/><Relationship Id="rId6" Type="http://schemas.openxmlformats.org/officeDocument/2006/relationships/image" Target="../media/image124.svg"/><Relationship Id="rId5" Type="http://schemas.openxmlformats.org/officeDocument/2006/relationships/image" Target="../media/image123.png"/><Relationship Id="rId4" Type="http://schemas.openxmlformats.org/officeDocument/2006/relationships/image" Target="../media/image55.svg"/><Relationship Id="rId3" Type="http://schemas.openxmlformats.org/officeDocument/2006/relationships/image" Target="../media/image54.png"/><Relationship Id="rId2" Type="http://schemas.openxmlformats.org/officeDocument/2006/relationships/image" Target="../media/image122.svg"/><Relationship Id="rId10" Type="http://schemas.openxmlformats.org/officeDocument/2006/relationships/notesSlide" Target="../notesSlides/notesSlide48.xml"/><Relationship Id="rId1" Type="http://schemas.openxmlformats.org/officeDocument/2006/relationships/image" Target="../media/image121.png"/></Relationships>
</file>

<file path=ppt/slides/_rels/slide49.xml.rels><?xml version="1.0" encoding="UTF-8" standalone="yes"?>
<Relationships xmlns="http://schemas.openxmlformats.org/package/2006/relationships"><Relationship Id="rId9" Type="http://schemas.openxmlformats.org/officeDocument/2006/relationships/image" Target="../media/image114.png"/><Relationship Id="rId8" Type="http://schemas.openxmlformats.org/officeDocument/2006/relationships/image" Target="../media/image8.svg"/><Relationship Id="rId7" Type="http://schemas.openxmlformats.org/officeDocument/2006/relationships/image" Target="../media/image42.png"/><Relationship Id="rId6" Type="http://schemas.openxmlformats.org/officeDocument/2006/relationships/image" Target="../media/image6.svg"/><Relationship Id="rId5" Type="http://schemas.openxmlformats.org/officeDocument/2006/relationships/image" Target="../media/image128.png"/><Relationship Id="rId4" Type="http://schemas.openxmlformats.org/officeDocument/2006/relationships/image" Target="../media/image4.svg"/><Relationship Id="rId3" Type="http://schemas.openxmlformats.org/officeDocument/2006/relationships/image" Target="../media/image127.png"/><Relationship Id="rId2" Type="http://schemas.openxmlformats.org/officeDocument/2006/relationships/image" Target="../media/image37.svg"/><Relationship Id="rId16" Type="http://schemas.openxmlformats.org/officeDocument/2006/relationships/notesSlide" Target="../notesSlides/notesSlide49.xml"/><Relationship Id="rId15" Type="http://schemas.openxmlformats.org/officeDocument/2006/relationships/slideLayout" Target="../slideLayouts/slideLayout12.xml"/><Relationship Id="rId14" Type="http://schemas.openxmlformats.org/officeDocument/2006/relationships/image" Target="../media/image23.svg"/><Relationship Id="rId13" Type="http://schemas.openxmlformats.org/officeDocument/2006/relationships/image" Target="../media/image32.png"/><Relationship Id="rId12" Type="http://schemas.openxmlformats.org/officeDocument/2006/relationships/image" Target="../media/image130.svg"/><Relationship Id="rId11" Type="http://schemas.openxmlformats.org/officeDocument/2006/relationships/image" Target="../media/image129.png"/><Relationship Id="rId10" Type="http://schemas.openxmlformats.org/officeDocument/2006/relationships/image" Target="../media/image10.svg"/><Relationship Id="rId1" Type="http://schemas.openxmlformats.org/officeDocument/2006/relationships/image" Target="../media/image43.pn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12.xml"/><Relationship Id="rId2" Type="http://schemas.openxmlformats.org/officeDocument/2006/relationships/image" Target="../media/image130.svg"/><Relationship Id="rId1" Type="http://schemas.openxmlformats.org/officeDocument/2006/relationships/image" Target="../media/image12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2032000"/>
            <a:ext cx="10160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000" b="1" i="0" u="none" strike="noStrike">
                <a:solidFill>
                  <a:srgbClr val="0277BD"/>
                </a:solidFill>
                <a:latin typeface="Noto Sans SC"/>
                <a:ea typeface="Noto Sans SC"/>
                <a:cs typeface="Noto Sans SC"/>
                <a:sym typeface="Noto Sans SC"/>
              </a:rPr>
              <a:t>RAG核心知识详解</a:t>
            </a:r>
            <a:endParaRPr lang="en-US" sz="1100"/>
          </a:p>
        </p:txBody>
      </p:sp>
      <p:sp>
        <p:nvSpPr>
          <p:cNvPr id="3" name="AutoShape 3"/>
          <p:cNvSpPr/>
          <p:nvPr/>
        </p:nvSpPr>
        <p:spPr>
          <a:xfrm>
            <a:off x="5715000" y="2921000"/>
            <a:ext cx="762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3175000"/>
            <a:ext cx="10160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400" b="0" i="0" u="none" strike="noStrike">
                <a:solidFill>
                  <a:srgbClr val="757575"/>
                </a:solidFill>
                <a:latin typeface="Noto Sans SC"/>
                <a:ea typeface="Noto Sans SC"/>
                <a:cs typeface="Noto Sans SC"/>
                <a:sym typeface="Noto Sans SC"/>
              </a:rPr>
              <a:t>基于LangChain的实践与应用</a:t>
            </a:r>
            <a:endParaRPr lang="en-US" sz="1100"/>
          </a:p>
        </p:txBody>
      </p:sp>
      <p:sp>
        <p:nvSpPr>
          <p:cNvPr id="5" name="AutoShape 5"/>
          <p:cNvSpPr/>
          <p:nvPr/>
        </p:nvSpPr>
        <p:spPr>
          <a:xfrm>
            <a:off x="1016000" y="5842000"/>
            <a:ext cx="1016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主讲人：AI教授 | 2026年3月</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目录</a:t>
            </a:r>
            <a:endParaRPr lang="en-US" sz="1100"/>
          </a:p>
        </p:txBody>
      </p:sp>
      <p:sp>
        <p:nvSpPr>
          <p:cNvPr id="3" name="AutoShape 3"/>
          <p:cNvSpPr/>
          <p:nvPr/>
        </p:nvSpPr>
        <p:spPr>
          <a:xfrm>
            <a:off x="762000" y="1524000"/>
            <a:ext cx="3302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727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2.1 文档解析</a:t>
            </a:r>
            <a:endParaRPr lang="en-US" sz="1100"/>
          </a:p>
        </p:txBody>
      </p:sp>
      <p:sp>
        <p:nvSpPr>
          <p:cNvPr id="6" name="AutoShape 6"/>
          <p:cNvSpPr/>
          <p:nvPr/>
        </p:nvSpPr>
        <p:spPr>
          <a:xfrm>
            <a:off x="1016000" y="2286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从不同数据源中提取文本信息，处理多样化格式。</a:t>
            </a:r>
            <a:endParaRPr lang="en-US" sz="1100"/>
          </a:p>
        </p:txBody>
      </p:sp>
      <p:sp>
        <p:nvSpPr>
          <p:cNvPr id="7" name="AutoShape 7"/>
          <p:cNvSpPr/>
          <p:nvPr/>
        </p:nvSpPr>
        <p:spPr>
          <a:xfrm>
            <a:off x="4445000" y="1524000"/>
            <a:ext cx="3302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778000"/>
            <a:ext cx="406400" cy="406400"/>
          </a:xfrm>
          <a:prstGeom prst="rect">
            <a:avLst/>
          </a:prstGeom>
        </p:spPr>
      </p:pic>
      <p:sp>
        <p:nvSpPr>
          <p:cNvPr id="9" name="AutoShape 9"/>
          <p:cNvSpPr/>
          <p:nvPr/>
        </p:nvSpPr>
        <p:spPr>
          <a:xfrm>
            <a:off x="5207000" y="1727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2.2 文档分块</a:t>
            </a:r>
            <a:endParaRPr lang="en-US" sz="1100"/>
          </a:p>
        </p:txBody>
      </p:sp>
      <p:sp>
        <p:nvSpPr>
          <p:cNvPr id="10" name="AutoShape 10"/>
          <p:cNvSpPr/>
          <p:nvPr/>
        </p:nvSpPr>
        <p:spPr>
          <a:xfrm>
            <a:off x="4699000" y="2286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预处理大型文档，适应模型上下文窗口限制。</a:t>
            </a:r>
            <a:endParaRPr lang="en-US" sz="1100"/>
          </a:p>
        </p:txBody>
      </p:sp>
      <p:sp>
        <p:nvSpPr>
          <p:cNvPr id="11" name="AutoShape 11"/>
          <p:cNvSpPr/>
          <p:nvPr/>
        </p:nvSpPr>
        <p:spPr>
          <a:xfrm>
            <a:off x="8128000" y="1524000"/>
            <a:ext cx="3302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778000"/>
            <a:ext cx="406400" cy="406400"/>
          </a:xfrm>
          <a:prstGeom prst="rect">
            <a:avLst/>
          </a:prstGeom>
        </p:spPr>
      </p:pic>
      <p:sp>
        <p:nvSpPr>
          <p:cNvPr id="13" name="AutoShape 13"/>
          <p:cNvSpPr/>
          <p:nvPr/>
        </p:nvSpPr>
        <p:spPr>
          <a:xfrm>
            <a:off x="8890000" y="1727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2.3 文本嵌入</a:t>
            </a:r>
            <a:endParaRPr lang="en-US" sz="1100"/>
          </a:p>
        </p:txBody>
      </p:sp>
      <p:sp>
        <p:nvSpPr>
          <p:cNvPr id="14" name="AutoShape 14"/>
          <p:cNvSpPr/>
          <p:nvPr/>
        </p:nvSpPr>
        <p:spPr>
          <a:xfrm>
            <a:off x="8382000" y="2286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将文本转换为数值向量，捕捉深层语义信息。</a:t>
            </a:r>
            <a:endParaRPr lang="en-US" sz="1100"/>
          </a:p>
        </p:txBody>
      </p:sp>
      <p:sp>
        <p:nvSpPr>
          <p:cNvPr id="15" name="AutoShape 15"/>
          <p:cNvSpPr/>
          <p:nvPr/>
        </p:nvSpPr>
        <p:spPr>
          <a:xfrm>
            <a:off x="762000" y="3429000"/>
            <a:ext cx="3302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683000"/>
            <a:ext cx="406400" cy="406400"/>
          </a:xfrm>
          <a:prstGeom prst="rect">
            <a:avLst/>
          </a:prstGeom>
        </p:spPr>
      </p:pic>
      <p:sp>
        <p:nvSpPr>
          <p:cNvPr id="17" name="AutoShape 17"/>
          <p:cNvSpPr/>
          <p:nvPr/>
        </p:nvSpPr>
        <p:spPr>
          <a:xfrm>
            <a:off x="1524000" y="3632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2.4 向量数据库</a:t>
            </a:r>
            <a:endParaRPr lang="en-US" sz="1100"/>
          </a:p>
        </p:txBody>
      </p:sp>
      <p:sp>
        <p:nvSpPr>
          <p:cNvPr id="18" name="AutoShape 18"/>
          <p:cNvSpPr/>
          <p:nvPr/>
        </p:nvSpPr>
        <p:spPr>
          <a:xfrm>
            <a:off x="1016000" y="4191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高效存储和检索大规模向量数据，支持快速查询。</a:t>
            </a:r>
            <a:endParaRPr lang="en-US" sz="1100"/>
          </a:p>
        </p:txBody>
      </p:sp>
      <p:sp>
        <p:nvSpPr>
          <p:cNvPr id="19" name="AutoShape 19"/>
          <p:cNvSpPr/>
          <p:nvPr/>
        </p:nvSpPr>
        <p:spPr>
          <a:xfrm>
            <a:off x="4445000" y="3429000"/>
            <a:ext cx="3302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99000" y="3683000"/>
            <a:ext cx="406400" cy="406400"/>
          </a:xfrm>
          <a:prstGeom prst="rect">
            <a:avLst/>
          </a:prstGeom>
        </p:spPr>
      </p:pic>
      <p:sp>
        <p:nvSpPr>
          <p:cNvPr id="21" name="AutoShape 21"/>
          <p:cNvSpPr/>
          <p:nvPr/>
        </p:nvSpPr>
        <p:spPr>
          <a:xfrm>
            <a:off x="5207000" y="3632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2.5 向量检索</a:t>
            </a:r>
            <a:endParaRPr lang="en-US" sz="1100"/>
          </a:p>
        </p:txBody>
      </p:sp>
      <p:sp>
        <p:nvSpPr>
          <p:cNvPr id="22" name="AutoShape 22"/>
          <p:cNvSpPr/>
          <p:nvPr/>
        </p:nvSpPr>
        <p:spPr>
          <a:xfrm>
            <a:off x="4699000" y="4191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计算相似度，快速查找相关文档片段。</a:t>
            </a:r>
            <a:endParaRPr lang="en-US" sz="1100"/>
          </a:p>
        </p:txBody>
      </p:sp>
      <p:sp>
        <p:nvSpPr>
          <p:cNvPr id="23" name="AutoShape 23"/>
          <p:cNvSpPr/>
          <p:nvPr/>
        </p:nvSpPr>
        <p:spPr>
          <a:xfrm>
            <a:off x="8128000" y="3429000"/>
            <a:ext cx="3302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82000" y="3683000"/>
            <a:ext cx="406400" cy="406400"/>
          </a:xfrm>
          <a:prstGeom prst="rect">
            <a:avLst/>
          </a:prstGeom>
        </p:spPr>
      </p:pic>
      <p:sp>
        <p:nvSpPr>
          <p:cNvPr id="25" name="AutoShape 25"/>
          <p:cNvSpPr/>
          <p:nvPr/>
        </p:nvSpPr>
        <p:spPr>
          <a:xfrm>
            <a:off x="8890000" y="3632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2.6 提示词工程</a:t>
            </a:r>
            <a:endParaRPr lang="en-US" sz="1100"/>
          </a:p>
        </p:txBody>
      </p:sp>
      <p:sp>
        <p:nvSpPr>
          <p:cNvPr id="26" name="AutoShape 26"/>
          <p:cNvSpPr/>
          <p:nvPr/>
        </p:nvSpPr>
        <p:spPr>
          <a:xfrm>
            <a:off x="8382000" y="4191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设计有效提示，引导模型生成准确回答。</a:t>
            </a:r>
            <a:endParaRPr lang="en-US" sz="1100"/>
          </a:p>
        </p:txBody>
      </p:sp>
      <p:sp>
        <p:nvSpPr>
          <p:cNvPr id="27" name="AutoShape 27"/>
          <p:cNvSpPr/>
          <p:nvPr/>
        </p:nvSpPr>
        <p:spPr>
          <a:xfrm>
            <a:off x="762000" y="5588000"/>
            <a:ext cx="10668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397000"/>
            <a:ext cx="812800" cy="812800"/>
          </a:xfrm>
          <a:prstGeom prst="rect">
            <a:avLst/>
          </a:prstGeom>
        </p:spPr>
      </p:pic>
      <p:sp>
        <p:nvSpPr>
          <p:cNvPr id="3" name="AutoShape 3"/>
          <p:cNvSpPr/>
          <p:nvPr/>
        </p:nvSpPr>
        <p:spPr>
          <a:xfrm>
            <a:off x="0" y="2413000"/>
            <a:ext cx="12192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000" b="1" i="0" u="none" strike="noStrike">
                <a:solidFill>
                  <a:srgbClr val="0277BD"/>
                </a:solidFill>
                <a:latin typeface="Noto Sans SC"/>
                <a:ea typeface="Noto Sans SC"/>
                <a:cs typeface="Noto Sans SC"/>
                <a:sym typeface="Noto Sans SC"/>
              </a:rPr>
              <a:t>2.1 文档解析</a:t>
            </a:r>
            <a:endParaRPr lang="en-US" sz="1100"/>
          </a:p>
        </p:txBody>
      </p:sp>
      <p:sp>
        <p:nvSpPr>
          <p:cNvPr id="4" name="AutoShape 4"/>
          <p:cNvSpPr/>
          <p:nvPr/>
        </p:nvSpPr>
        <p:spPr>
          <a:xfrm>
            <a:off x="5715000" y="3302000"/>
            <a:ext cx="762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270000" y="3683000"/>
            <a:ext cx="96520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757575"/>
                </a:solidFill>
                <a:latin typeface="Noto Sans SC"/>
                <a:ea typeface="Noto Sans SC"/>
                <a:cs typeface="Noto Sans SC"/>
                <a:sym typeface="Noto Sans SC"/>
              </a:rPr>
              <a:t>文档解析是RAG系统的第一步，目的是从不同的数据源（如CSV、HTML、JSON、Markdown、PDF等）中准确提取文本信息，为后续处理奠定基础。</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40259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2.1.1 加载目录</a:t>
            </a:r>
            <a:endParaRPr lang="en-US" sz="1100"/>
          </a:p>
        </p:txBody>
      </p:sp>
      <p:sp>
        <p:nvSpPr>
          <p:cNvPr id="3" name="AutoShape 3"/>
          <p:cNvSpPr/>
          <p:nvPr/>
        </p:nvSpPr>
        <p:spPr>
          <a:xfrm>
            <a:off x="762000" y="1651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762000" cy="762000"/>
          </a:xfrm>
          <a:prstGeom prst="rect">
            <a:avLst/>
          </a:prstGeom>
        </p:spPr>
      </p:pic>
      <p:sp>
        <p:nvSpPr>
          <p:cNvPr id="5" name="AutoShape 5"/>
          <p:cNvSpPr/>
          <p:nvPr/>
        </p:nvSpPr>
        <p:spPr>
          <a:xfrm>
            <a:off x="2032000" y="1841500"/>
            <a:ext cx="914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核心功能：批量加载</a:t>
            </a:r>
            <a:endParaRPr lang="en-US" sz="1100"/>
          </a:p>
          <a:p>
            <a:pPr indent="0" algn="l">
              <a:lnSpc>
                <a:spcPct val="125000"/>
              </a:lnSpc>
            </a:pPr>
            <a:r>
              <a:rPr lang="en-US" sz="2000" b="0" i="0" u="none" strike="noStrike">
                <a:solidFill>
                  <a:srgbClr val="757575"/>
                </a:solidFill>
                <a:latin typeface="Noto Sans SC"/>
                <a:ea typeface="Noto Sans SC"/>
                <a:cs typeface="Noto Sans SC"/>
                <a:sym typeface="Noto Sans SC"/>
              </a:rPr>
              <a:t>使用</a:t>
            </a:r>
            <a:r>
              <a:rPr lang="en-US" sz="2000" b="1" i="0" u="none" strike="noStrike">
                <a:solidFill>
                  <a:srgbClr val="757575"/>
                </a:solidFill>
                <a:latin typeface="Noto Sans SC"/>
                <a:ea typeface="Noto Sans SC"/>
                <a:cs typeface="Noto Sans SC"/>
                <a:sym typeface="Noto Sans SC"/>
              </a:rPr>
              <a:t>DirectoryLoader</a:t>
            </a:r>
            <a:r>
              <a:rPr lang="en-US" sz="2000" b="0" i="0" u="none" strike="noStrike">
                <a:solidFill>
                  <a:srgbClr val="757575"/>
                </a:solidFill>
                <a:latin typeface="Noto Sans SC"/>
                <a:ea typeface="Noto Sans SC"/>
                <a:cs typeface="Noto Sans SC"/>
                <a:sym typeface="Noto Sans SC"/>
              </a:rPr>
              <a:t>工具，能够一次性加载指定目录下的所有文档，简化操作流程。</a:t>
            </a:r>
            <a:endParaRPr lang="en-US" sz="2000" b="0" i="0" u="none" strike="noStrike">
              <a:solidFill>
                <a:srgbClr val="757575"/>
              </a:solidFill>
              <a:latin typeface="Noto Sans SC"/>
              <a:ea typeface="Noto Sans SC"/>
              <a:cs typeface="Noto Sans SC"/>
              <a:sym typeface="Noto Sans SC"/>
            </a:endParaRPr>
          </a:p>
        </p:txBody>
      </p:sp>
      <p:sp>
        <p:nvSpPr>
          <p:cNvPr id="6" name="AutoShape 6"/>
          <p:cNvSpPr/>
          <p:nvPr/>
        </p:nvSpPr>
        <p:spPr>
          <a:xfrm>
            <a:off x="762000" y="3175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429000"/>
            <a:ext cx="762000" cy="762000"/>
          </a:xfrm>
          <a:prstGeom prst="rect">
            <a:avLst/>
          </a:prstGeom>
        </p:spPr>
      </p:pic>
      <p:sp>
        <p:nvSpPr>
          <p:cNvPr id="8" name="AutoShape 8"/>
          <p:cNvSpPr/>
          <p:nvPr/>
        </p:nvSpPr>
        <p:spPr>
          <a:xfrm>
            <a:off x="2032000" y="3365500"/>
            <a:ext cx="914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默认加载器：UnstructuredLoader</a:t>
            </a:r>
            <a:endParaRPr lang="en-US" sz="1100"/>
          </a:p>
          <a:p>
            <a:pPr indent="0" algn="l">
              <a:lnSpc>
                <a:spcPct val="125000"/>
              </a:lnSpc>
            </a:pPr>
            <a:r>
              <a:rPr lang="en-US" sz="2000" b="0" i="0" u="none" strike="noStrike">
                <a:solidFill>
                  <a:srgbClr val="757575"/>
                </a:solidFill>
                <a:latin typeface="Noto Sans SC"/>
                <a:ea typeface="Noto Sans SC"/>
                <a:cs typeface="Noto Sans SC"/>
                <a:sym typeface="Noto Sans SC"/>
              </a:rPr>
              <a:t>底层默认集成</a:t>
            </a:r>
            <a:r>
              <a:rPr lang="en-US" sz="2000" b="1" i="0" u="none" strike="noStrike">
                <a:solidFill>
                  <a:srgbClr val="757575"/>
                </a:solidFill>
                <a:latin typeface="Noto Sans SC"/>
                <a:ea typeface="Noto Sans SC"/>
                <a:cs typeface="Noto Sans SC"/>
                <a:sym typeface="Noto Sans SC"/>
              </a:rPr>
              <a:t>UnstructuredLoader</a:t>
            </a:r>
            <a:r>
              <a:rPr lang="en-US" sz="2000" b="0" i="0" u="none" strike="noStrike">
                <a:solidFill>
                  <a:srgbClr val="757575"/>
                </a:solidFill>
                <a:latin typeface="Noto Sans SC"/>
                <a:ea typeface="Noto Sans SC"/>
                <a:cs typeface="Noto Sans SC"/>
                <a:sym typeface="Noto Sans SC"/>
              </a:rPr>
              <a:t>，具备强大的多格式文件处理能力，兼容性强。</a:t>
            </a:r>
            <a:endParaRPr lang="en-US" sz="20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762000" y="4699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016500"/>
            <a:ext cx="762000" cy="762000"/>
          </a:xfrm>
          <a:prstGeom prst="rect">
            <a:avLst/>
          </a:prstGeom>
        </p:spPr>
      </p:pic>
      <p:sp>
        <p:nvSpPr>
          <p:cNvPr id="11" name="AutoShape 11"/>
          <p:cNvSpPr/>
          <p:nvPr/>
        </p:nvSpPr>
        <p:spPr>
          <a:xfrm>
            <a:off x="2032000" y="4826000"/>
            <a:ext cx="9144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依赖安装</a:t>
            </a:r>
            <a:endParaRPr lang="en-US" sz="1100"/>
          </a:p>
          <a:p>
            <a:pPr indent="0" algn="l">
              <a:lnSpc>
                <a:spcPct val="125000"/>
              </a:lnSpc>
            </a:pPr>
            <a:r>
              <a:rPr lang="en-US" sz="2000" b="0" i="0" u="none" strike="noStrike">
                <a:solidFill>
                  <a:srgbClr val="757575"/>
                </a:solidFill>
                <a:latin typeface="Noto Sans SC"/>
                <a:ea typeface="Noto Sans SC"/>
                <a:cs typeface="Noto Sans SC"/>
                <a:sym typeface="Noto Sans SC"/>
              </a:rPr>
              <a:t>使用前需安装相关依赖库：</a:t>
            </a:r>
            <a:endParaRPr lang="en-US" sz="2000" b="0" i="0" u="none" strike="noStrike">
              <a:solidFill>
                <a:srgbClr val="757575"/>
              </a:solidFill>
              <a:latin typeface="Noto Sans SC"/>
              <a:ea typeface="Noto Sans SC"/>
              <a:cs typeface="Noto Sans SC"/>
              <a:sym typeface="Noto Sans SC"/>
            </a:endParaRPr>
          </a:p>
          <a:p>
            <a:pPr indent="0" algn="l">
              <a:lnSpc>
                <a:spcPct val="125000"/>
              </a:lnSpc>
            </a:pPr>
            <a:r>
              <a:rPr lang="en-US" sz="1800" b="0" i="0" u="none" strike="noStrike">
                <a:solidFill>
                  <a:srgbClr val="E65100"/>
                </a:solidFill>
                <a:highlight>
                  <a:srgbClr val="FAF0E6">
                    <a:alpha val="100000"/>
                  </a:srgbClr>
                </a:highlight>
                <a:latin typeface="Noto Sans SC"/>
                <a:ea typeface="Noto Sans SC"/>
                <a:cs typeface="Noto Sans SC"/>
                <a:sym typeface="Noto Sans SC"/>
              </a:rPr>
              <a:t>pip3 install pdfminer.six unstructured_inference==0.11.0 unstructured_pytesseract</a:t>
            </a:r>
            <a:endParaRPr lang="en-US" sz="1800" b="0" i="0" u="none" strike="noStrike">
              <a:solidFill>
                <a:srgbClr val="E65100"/>
              </a:solidFill>
              <a:highlight>
                <a:srgbClr val="FAF0E6">
                  <a:alpha val="100000"/>
                </a:srgbClr>
              </a:highlight>
              <a:latin typeface="Noto Sans SC"/>
              <a:ea typeface="Noto Sans SC"/>
              <a:cs typeface="Noto Sans SC"/>
              <a:sym typeface="Noto Sans S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022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基础代码示例</a:t>
            </a:r>
            <a:endParaRPr lang="en-US" sz="1100"/>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651000"/>
            <a:ext cx="609600" cy="609600"/>
          </a:xfrm>
          <a:prstGeom prst="rect">
            <a:avLst/>
          </a:prstGeom>
        </p:spPr>
      </p:pic>
      <p:sp>
        <p:nvSpPr>
          <p:cNvPr id="4" name="AutoShape 4"/>
          <p:cNvSpPr/>
          <p:nvPr/>
        </p:nvSpPr>
        <p:spPr>
          <a:xfrm>
            <a:off x="1524000" y="1587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核心功能：加载指定文件类型</a:t>
            </a:r>
            <a:endParaRPr lang="en-US" sz="1100"/>
          </a:p>
        </p:txBody>
      </p:sp>
      <p:sp>
        <p:nvSpPr>
          <p:cNvPr id="5" name="AutoShape 5"/>
          <p:cNvSpPr/>
          <p:nvPr/>
        </p:nvSpPr>
        <p:spPr>
          <a:xfrm>
            <a:off x="762000" y="2286000"/>
            <a:ext cx="4318000" cy="152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2000" b="0" i="0" u="none" strike="noStrike">
                <a:solidFill>
                  <a:srgbClr val="757575"/>
                </a:solidFill>
                <a:latin typeface="Noto Sans SC"/>
                <a:ea typeface="Noto Sans SC"/>
                <a:cs typeface="Noto Sans SC"/>
                <a:sym typeface="Noto Sans SC"/>
              </a:rPr>
              <a:t>利用 `glob` 参数可以精确控制 DirectoryLoader 加载的文件类型。示例中展示了如何只加载目录下所有的 CSV 文件，避免加载无关文档，提升处理效率。</a:t>
            </a:r>
            <a:endParaRPr lang="en-US" sz="1100"/>
          </a:p>
        </p:txBody>
      </p:sp>
      <p:sp>
        <p:nvSpPr>
          <p:cNvPr id="6" name="AutoShape 6"/>
          <p:cNvSpPr/>
          <p:nvPr/>
        </p:nvSpPr>
        <p:spPr>
          <a:xfrm>
            <a:off x="5334000" y="1524000"/>
            <a:ext cx="6096000" cy="3556000"/>
          </a:xfrm>
          <a:prstGeom prst="roundRect">
            <a:avLst>
              <a:gd name="adj" fmla="val 3571"/>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sp>
        <p:nvSpPr>
          <p:cNvPr id="7" name="AutoShape 7"/>
          <p:cNvSpPr/>
          <p:nvPr/>
        </p:nvSpPr>
        <p:spPr>
          <a:xfrm>
            <a:off x="5334000" y="1524000"/>
            <a:ext cx="6096000" cy="457200"/>
          </a:xfrm>
          <a:prstGeom prst="roundRect">
            <a:avLst>
              <a:gd name="adj" fmla="val 0"/>
            </a:avLst>
          </a:prstGeom>
          <a:solidFill>
            <a:srgbClr val="F0F4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524500" y="1676400"/>
            <a:ext cx="152400" cy="152400"/>
          </a:xfrm>
          <a:prstGeom prst="ellipse">
            <a:avLst/>
          </a:prstGeom>
          <a:solidFill>
            <a:srgbClr val="FF5F57">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778500" y="1676400"/>
            <a:ext cx="152400" cy="1524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032500" y="1676400"/>
            <a:ext cx="152400" cy="1524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477000" y="16002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Roboto"/>
                <a:ea typeface="Roboto"/>
                <a:cs typeface="Roboto"/>
                <a:sym typeface="Roboto"/>
              </a:rPr>
              <a:t>loader_example.py</a:t>
            </a:r>
            <a:endParaRPr lang="en-US" sz="1100"/>
          </a:p>
        </p:txBody>
      </p:sp>
      <p:sp>
        <p:nvSpPr>
          <p:cNvPr id="12" name="AutoShape 12"/>
          <p:cNvSpPr/>
          <p:nvPr/>
        </p:nvSpPr>
        <p:spPr>
          <a:xfrm>
            <a:off x="5524500" y="2095500"/>
            <a:ext cx="5715000" cy="279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0277BD"/>
                </a:solidFill>
                <a:latin typeface="Roboto"/>
                <a:ea typeface="Roboto"/>
                <a:cs typeface="Roboto"/>
                <a:sym typeface="Roboto"/>
              </a:rPr>
              <a:t>from</a:t>
            </a:r>
            <a:r>
              <a:rPr lang="en-US" sz="1800" b="0" i="0" u="none" strike="noStrike">
                <a:solidFill>
                  <a:srgbClr val="333333"/>
                </a:solidFill>
                <a:latin typeface="Roboto"/>
                <a:ea typeface="Roboto"/>
                <a:cs typeface="Roboto"/>
                <a:sym typeface="Roboto"/>
              </a:rPr>
              <a:t>langchain_community.document_loaders</a:t>
            </a:r>
            <a:r>
              <a:rPr lang="en-US" sz="1800" b="0" i="0" u="none" strike="noStrike">
                <a:solidFill>
                  <a:srgbClr val="0277BD"/>
                </a:solidFill>
                <a:latin typeface="Roboto"/>
                <a:ea typeface="Roboto"/>
                <a:cs typeface="Roboto"/>
                <a:sym typeface="Roboto"/>
              </a:rPr>
              <a:t>import</a:t>
            </a:r>
            <a:r>
              <a:rPr lang="en-US" sz="1800" b="0" i="0" u="none" strike="noStrike">
                <a:solidFill>
                  <a:srgbClr val="333333"/>
                </a:solidFill>
                <a:latin typeface="Roboto"/>
                <a:ea typeface="Roboto"/>
                <a:cs typeface="Roboto"/>
                <a:sym typeface="Roboto"/>
              </a:rPr>
              <a:t>DirectoryLoader</a:t>
            </a:r>
            <a:endParaRPr lang="en-US" sz="1100"/>
          </a:p>
          <a:p>
            <a:pPr indent="0" algn="l">
              <a:lnSpc>
                <a:spcPct val="108000"/>
              </a:lnSpc>
            </a:pPr>
            <a:r>
              <a:rPr lang="en-US" sz="1800" b="0" i="0" u="none" strike="noStrike">
                <a:solidFill>
                  <a:srgbClr val="9E9E9E"/>
                </a:solidFill>
                <a:latin typeface="Roboto"/>
                <a:ea typeface="Roboto"/>
                <a:cs typeface="Roboto"/>
                <a:sym typeface="Roboto"/>
              </a:rPr>
              <a:t># 加载指定目录下的所有.csv文件</a:t>
            </a:r>
            <a:endParaRPr lang="en-US" sz="1800" b="0" i="0" u="none" strike="noStrike">
              <a:solidFill>
                <a:srgbClr val="9E9E9E"/>
              </a:solidFill>
              <a:latin typeface="Roboto"/>
              <a:ea typeface="Roboto"/>
              <a:cs typeface="Roboto"/>
              <a:sym typeface="Roboto"/>
            </a:endParaRPr>
          </a:p>
          <a:p>
            <a:pPr indent="0" algn="l">
              <a:lnSpc>
                <a:spcPct val="108000"/>
              </a:lnSpc>
            </a:pPr>
            <a:r>
              <a:rPr lang="en-US" sz="1800" b="0" i="0" u="none" strike="noStrike">
                <a:solidFill>
                  <a:srgbClr val="333333"/>
                </a:solidFill>
                <a:latin typeface="Roboto"/>
                <a:ea typeface="Roboto"/>
                <a:cs typeface="Roboto"/>
                <a:sym typeface="Roboto"/>
              </a:rPr>
              <a:t>loader = DirectoryLoader(path=</a:t>
            </a:r>
            <a:r>
              <a:rPr lang="en-US" sz="1800" b="0" i="0" u="none" strike="noStrike">
                <a:solidFill>
                  <a:srgbClr val="EC8F00"/>
                </a:solidFill>
                <a:latin typeface="Roboto"/>
                <a:ea typeface="Roboto"/>
                <a:cs typeface="Roboto"/>
                <a:sym typeface="Roboto"/>
              </a:rPr>
              <a:t>'../example_data/'</a:t>
            </a:r>
            <a:r>
              <a:rPr lang="en-US" sz="1800" b="0" i="0" u="none" strike="noStrike">
                <a:solidFill>
                  <a:srgbClr val="333333"/>
                </a:solidFill>
                <a:latin typeface="Roboto"/>
                <a:ea typeface="Roboto"/>
                <a:cs typeface="Roboto"/>
                <a:sym typeface="Roboto"/>
              </a:rPr>
              <a:t>, glob=</a:t>
            </a:r>
            <a:r>
              <a:rPr lang="en-US" sz="1800" b="0" i="0" u="none" strike="noStrike">
                <a:solidFill>
                  <a:srgbClr val="EC8F00"/>
                </a:solidFill>
                <a:latin typeface="Roboto"/>
                <a:ea typeface="Roboto"/>
                <a:cs typeface="Roboto"/>
                <a:sym typeface="Roboto"/>
              </a:rPr>
              <a:t>"*.csv"</a:t>
            </a:r>
            <a:r>
              <a:rPr lang="en-US" sz="1800" b="0" i="0" u="none" strike="noStrike">
                <a:solidFill>
                  <a:srgbClr val="333333"/>
                </a:solidFill>
                <a:latin typeface="Roboto"/>
                <a:ea typeface="Roboto"/>
                <a:cs typeface="Roboto"/>
                <a:sym typeface="Roboto"/>
              </a:rPr>
              <a:t>)</a:t>
            </a:r>
            <a:endParaRPr lang="en-US" sz="1800" b="0" i="0" u="none" strike="noStrike">
              <a:solidFill>
                <a:srgbClr val="333333"/>
              </a:solidFill>
              <a:latin typeface="Roboto"/>
              <a:ea typeface="Roboto"/>
              <a:cs typeface="Roboto"/>
              <a:sym typeface="Roboto"/>
            </a:endParaRPr>
          </a:p>
          <a:p>
            <a:pPr indent="0" algn="l">
              <a:lnSpc>
                <a:spcPct val="108000"/>
              </a:lnSpc>
            </a:pPr>
            <a:r>
              <a:rPr lang="en-US" sz="1800" b="0" i="0" u="none" strike="noStrike">
                <a:solidFill>
                  <a:srgbClr val="333333"/>
                </a:solidFill>
                <a:latin typeface="Roboto"/>
                <a:ea typeface="Roboto"/>
                <a:cs typeface="Roboto"/>
                <a:sym typeface="Roboto"/>
              </a:rPr>
              <a:t>docs = loader.load()</a:t>
            </a:r>
            <a:endParaRPr lang="en-US" sz="1800" b="0" i="0" u="none" strike="noStrike">
              <a:solidFill>
                <a:srgbClr val="333333"/>
              </a:solidFill>
              <a:latin typeface="Roboto"/>
              <a:ea typeface="Roboto"/>
              <a:cs typeface="Roboto"/>
              <a:sym typeface="Roboto"/>
            </a:endParaRPr>
          </a:p>
          <a:p>
            <a:pPr indent="0" algn="l">
              <a:lnSpc>
                <a:spcPct val="108000"/>
              </a:lnSpc>
            </a:pPr>
            <a:r>
              <a:rPr lang="en-US" sz="1800" b="0" i="0" u="none" strike="noStrike">
                <a:solidFill>
                  <a:srgbClr val="9E9E9E"/>
                </a:solidFill>
                <a:latin typeface="Roboto"/>
                <a:ea typeface="Roboto"/>
                <a:cs typeface="Roboto"/>
                <a:sym typeface="Roboto"/>
              </a:rPr>
              <a:t># docs将包含所有加载的文档对象</a:t>
            </a:r>
            <a:endParaRPr lang="en-US" sz="1800" b="0" i="0" u="none" strike="noStrike">
              <a:solidFill>
                <a:srgbClr val="9E9E9E"/>
              </a:solidFill>
              <a:latin typeface="Roboto"/>
              <a:ea typeface="Roboto"/>
              <a:cs typeface="Roboto"/>
              <a:sym typeface="Roboto"/>
            </a:endParaRPr>
          </a:p>
          <a:p>
            <a:pPr indent="0" algn="l">
              <a:lnSpc>
                <a:spcPct val="108000"/>
              </a:lnSpc>
            </a:pPr>
            <a:r>
              <a:rPr lang="en-US" sz="1800" b="0" i="0" u="none" strike="noStrike">
                <a:solidFill>
                  <a:srgbClr val="333333"/>
                </a:solidFill>
                <a:latin typeface="Roboto"/>
                <a:ea typeface="Roboto"/>
                <a:cs typeface="Roboto"/>
                <a:sym typeface="Roboto"/>
              </a:rPr>
              <a:t>print(f</a:t>
            </a:r>
            <a:r>
              <a:rPr lang="en-US" sz="1800" b="0" i="0" u="none" strike="noStrike">
                <a:solidFill>
                  <a:srgbClr val="EC8F00"/>
                </a:solidFill>
                <a:latin typeface="Roboto"/>
                <a:ea typeface="Roboto"/>
                <a:cs typeface="Roboto"/>
                <a:sym typeface="Roboto"/>
              </a:rPr>
              <a:t>"成功加载 {len(docs)} 个文档。"</a:t>
            </a:r>
            <a:r>
              <a:rPr lang="en-US" sz="1800" b="0" i="0" u="none" strike="noStrike">
                <a:solidFill>
                  <a:srgbClr val="333333"/>
                </a:solidFill>
                <a:latin typeface="Roboto"/>
                <a:ea typeface="Roboto"/>
                <a:cs typeface="Roboto"/>
                <a:sym typeface="Roboto"/>
              </a:rPr>
              <a:t>)</a:t>
            </a:r>
            <a:endParaRPr lang="en-US" sz="1800" b="0" i="0" u="none" strike="noStrike">
              <a:solidFill>
                <a:srgbClr val="333333"/>
              </a:solidFill>
              <a:latin typeface="Roboto"/>
              <a:ea typeface="Roboto"/>
              <a:cs typeface="Roboto"/>
              <a:sym typeface="Roboto"/>
            </a:endParaRPr>
          </a:p>
        </p:txBody>
      </p:sp>
      <p:sp>
        <p:nvSpPr>
          <p:cNvPr id="13" name="AutoShape 13"/>
          <p:cNvSpPr/>
          <p:nvPr/>
        </p:nvSpPr>
        <p:spPr>
          <a:xfrm>
            <a:off x="762000" y="5334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486400"/>
            <a:ext cx="406400" cy="406400"/>
          </a:xfrm>
          <a:prstGeom prst="rect">
            <a:avLst/>
          </a:prstGeom>
        </p:spPr>
      </p:pic>
      <p:sp>
        <p:nvSpPr>
          <p:cNvPr id="15" name="AutoShape 15"/>
          <p:cNvSpPr/>
          <p:nvPr/>
        </p:nvSpPr>
        <p:spPr>
          <a:xfrm>
            <a:off x="1524000" y="5461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关键点：</a:t>
            </a:r>
            <a:r>
              <a:rPr lang="en-US" sz="1800" b="0" i="0" u="none" strike="noStrike">
                <a:solidFill>
                  <a:srgbClr val="546E7A"/>
                </a:solidFill>
                <a:latin typeface="Noto Sans SC"/>
                <a:ea typeface="Noto Sans SC"/>
                <a:cs typeface="Noto Sans SC"/>
                <a:sym typeface="Noto Sans SC"/>
              </a:rPr>
              <a:t>glob 参数支持通配符匹配，例如 "*.txt" 匹配文本文件，"**/*.pdf" 递归匹配所有 PDF 文件。</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显示加载进度</a:t>
            </a:r>
            <a:endParaRPr lang="en-US" sz="1100"/>
          </a:p>
        </p:txBody>
      </p:sp>
      <p:sp>
        <p:nvSpPr>
          <p:cNvPr id="3" name="AutoShape 3"/>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757575"/>
                </a:solidFill>
                <a:latin typeface="Noto Sans SC"/>
                <a:ea typeface="Noto Sans SC"/>
                <a:cs typeface="Noto Sans SC"/>
                <a:sym typeface="Noto Sans SC"/>
              </a:rPr>
              <a:t>当加载大量文件时，显示进度条可以提升用户体验，让等待过程更加透明可控。</a:t>
            </a:r>
            <a:endParaRPr lang="en-US" sz="1100"/>
          </a:p>
        </p:txBody>
      </p:sp>
      <p:sp>
        <p:nvSpPr>
          <p:cNvPr id="4" name="AutoShape 4"/>
          <p:cNvSpPr/>
          <p:nvPr/>
        </p:nvSpPr>
        <p:spPr>
          <a:xfrm>
            <a:off x="762000" y="2159000"/>
            <a:ext cx="5080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413000"/>
            <a:ext cx="406400" cy="406400"/>
          </a:xfrm>
          <a:prstGeom prst="rect">
            <a:avLst/>
          </a:prstGeom>
        </p:spPr>
      </p:pic>
      <p:sp>
        <p:nvSpPr>
          <p:cNvPr id="6" name="AutoShape 6"/>
          <p:cNvSpPr/>
          <p:nvPr/>
        </p:nvSpPr>
        <p:spPr>
          <a:xfrm>
            <a:off x="1524000" y="2362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安装依赖库</a:t>
            </a:r>
            <a:endParaRPr lang="en-US" sz="1100"/>
          </a:p>
        </p:txBody>
      </p:sp>
      <p:sp>
        <p:nvSpPr>
          <p:cNvPr id="7" name="AutoShape 7"/>
          <p:cNvSpPr/>
          <p:nvPr/>
        </p:nvSpPr>
        <p:spPr>
          <a:xfrm>
            <a:off x="1016000" y="2857500"/>
            <a:ext cx="4572000" cy="698500"/>
          </a:xfrm>
          <a:prstGeom prst="roundRect">
            <a:avLst>
              <a:gd name="adj" fmla="val 9090"/>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43000" y="29464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37474F"/>
                </a:solidFill>
                <a:latin typeface="Roboto"/>
                <a:ea typeface="Roboto"/>
                <a:cs typeface="Roboto"/>
                <a:sym typeface="Roboto"/>
              </a:rPr>
              <a:t>pip3 install tqdm</a:t>
            </a:r>
            <a:endParaRPr lang="en-US" sz="1100"/>
          </a:p>
        </p:txBody>
      </p:sp>
      <p:sp>
        <p:nvSpPr>
          <p:cNvPr id="9" name="AutoShape 9"/>
          <p:cNvSpPr/>
          <p:nvPr/>
        </p:nvSpPr>
        <p:spPr>
          <a:xfrm>
            <a:off x="762000" y="4064000"/>
            <a:ext cx="5080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318000"/>
            <a:ext cx="406400" cy="406400"/>
          </a:xfrm>
          <a:prstGeom prst="rect">
            <a:avLst/>
          </a:prstGeom>
        </p:spPr>
      </p:pic>
      <p:sp>
        <p:nvSpPr>
          <p:cNvPr id="11" name="AutoShape 11"/>
          <p:cNvSpPr/>
          <p:nvPr/>
        </p:nvSpPr>
        <p:spPr>
          <a:xfrm>
            <a:off x="1524000" y="4267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设置进度参数</a:t>
            </a:r>
            <a:endParaRPr lang="en-US" sz="1100"/>
          </a:p>
        </p:txBody>
      </p:sp>
      <p:sp>
        <p:nvSpPr>
          <p:cNvPr id="12" name="AutoShape 12"/>
          <p:cNvSpPr/>
          <p:nvPr/>
        </p:nvSpPr>
        <p:spPr>
          <a:xfrm>
            <a:off x="1016000" y="4762500"/>
            <a:ext cx="4572000" cy="1016000"/>
          </a:xfrm>
          <a:prstGeom prst="roundRect">
            <a:avLst>
              <a:gd name="adj" fmla="val 6250"/>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143000" y="4851400"/>
            <a:ext cx="431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7474F"/>
                </a:solidFill>
                <a:latin typeface="Roboto"/>
                <a:ea typeface="Roboto"/>
                <a:cs typeface="Roboto"/>
                <a:sym typeface="Roboto"/>
              </a:rPr>
              <a:t>loader = DirectoryLoader(path='../data/',</a:t>
            </a:r>
            <a:endParaRPr lang="en-US" sz="1100"/>
          </a:p>
          <a:p>
            <a:pPr indent="0" algn="l">
              <a:lnSpc>
                <a:spcPct val="125000"/>
              </a:lnSpc>
            </a:pPr>
            <a:r>
              <a:rPr lang="en-US" sz="1600" b="0" i="0" u="none" strike="noStrike">
                <a:solidFill>
                  <a:srgbClr val="37474F"/>
                </a:solidFill>
                <a:latin typeface="Roboto"/>
                <a:ea typeface="Roboto"/>
                <a:cs typeface="Roboto"/>
                <a:sym typeface="Roboto"/>
              </a:rPr>
              <a:t>glob="*.csv",</a:t>
            </a:r>
            <a:endParaRPr lang="en-US" sz="1600" b="0" i="0" u="none" strike="noStrike">
              <a:solidFill>
                <a:srgbClr val="37474F"/>
              </a:solidFill>
              <a:latin typeface="Roboto"/>
              <a:ea typeface="Roboto"/>
              <a:cs typeface="Roboto"/>
              <a:sym typeface="Roboto"/>
            </a:endParaRPr>
          </a:p>
          <a:p>
            <a:pPr indent="0" algn="l">
              <a:lnSpc>
                <a:spcPct val="125000"/>
              </a:lnSpc>
            </a:pPr>
            <a:r>
              <a:rPr lang="en-US" sz="1600" b="1" i="0" u="none" strike="noStrike">
                <a:solidFill>
                  <a:srgbClr val="0277BD"/>
                </a:solidFill>
                <a:latin typeface="Roboto"/>
                <a:ea typeface="Roboto"/>
                <a:cs typeface="Roboto"/>
                <a:sym typeface="Roboto"/>
              </a:rPr>
              <a:t>show_progress=True</a:t>
            </a:r>
            <a:r>
              <a:rPr lang="en-US" sz="1600" b="0" i="0" u="none" strike="noStrike">
                <a:solidFill>
                  <a:srgbClr val="37474F"/>
                </a:solidFill>
                <a:latin typeface="Roboto"/>
                <a:ea typeface="Roboto"/>
                <a:cs typeface="Roboto"/>
                <a:sym typeface="Roboto"/>
              </a:rPr>
              <a:t>)</a:t>
            </a:r>
            <a:endParaRPr lang="en-US" sz="1600" b="0" i="0" u="none" strike="noStrike">
              <a:solidFill>
                <a:srgbClr val="37474F"/>
              </a:solidFill>
              <a:latin typeface="Roboto"/>
              <a:ea typeface="Roboto"/>
              <a:cs typeface="Roboto"/>
              <a:sym typeface="Roboto"/>
            </a:endParaRPr>
          </a:p>
        </p:txBody>
      </p:sp>
      <p:sp>
        <p:nvSpPr>
          <p:cNvPr id="14" name="AutoShape 14"/>
          <p:cNvSpPr/>
          <p:nvPr/>
        </p:nvSpPr>
        <p:spPr>
          <a:xfrm>
            <a:off x="6350000" y="2159000"/>
            <a:ext cx="5080000" cy="3810000"/>
          </a:xfrm>
          <a:prstGeom prst="roundRect">
            <a:avLst>
              <a:gd name="adj" fmla="val 3333"/>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15" name="AutoShape 15"/>
          <p:cNvSpPr/>
          <p:nvPr/>
        </p:nvSpPr>
        <p:spPr>
          <a:xfrm>
            <a:off x="6604000" y="2413000"/>
            <a:ext cx="4572000" cy="2540000"/>
          </a:xfrm>
          <a:prstGeom prst="roundRect">
            <a:avLst>
              <a:gd name="adj" fmla="val 2500"/>
            </a:avLst>
          </a:prstGeom>
          <a:solidFill>
            <a:srgbClr val="1E1E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604000" y="2413000"/>
            <a:ext cx="4572000" cy="381000"/>
          </a:xfrm>
          <a:prstGeom prst="roundRect">
            <a:avLst>
              <a:gd name="adj" fmla="val 0"/>
            </a:avLst>
          </a:prstGeom>
          <a:solidFill>
            <a:srgbClr val="32323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731000" y="2540000"/>
            <a:ext cx="127000" cy="1270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921500" y="2540000"/>
            <a:ext cx="127000" cy="1270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112000" y="2540000"/>
            <a:ext cx="127000" cy="1270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731000" y="2921000"/>
            <a:ext cx="4318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8C8C8"/>
                </a:solidFill>
                <a:latin typeface="Roboto"/>
                <a:ea typeface="Roboto"/>
                <a:cs typeface="Roboto"/>
                <a:sym typeface="Roboto"/>
              </a:rPr>
              <a:t>Loading files...</a:t>
            </a:r>
            <a:endParaRPr lang="en-US" sz="1100"/>
          </a:p>
          <a:p>
            <a:pPr indent="0" algn="l">
              <a:lnSpc>
                <a:spcPct val="125000"/>
              </a:lnSpc>
            </a:pPr>
            <a:r>
              <a:rPr lang="en-US" sz="1400" b="0" i="0" u="none" strike="noStrike">
                <a:solidFill>
                  <a:srgbClr val="C8C8C8"/>
                </a:solidFill>
                <a:latin typeface="Roboto"/>
                <a:ea typeface="Roboto"/>
                <a:cs typeface="Roboto"/>
                <a:sym typeface="Roboto"/>
              </a:rPr>
              <a:t>100%|████████████████████| 120/120 [00:15&lt;00:00, 7.89it/s]</a:t>
            </a:r>
            <a:endParaRPr lang="en-US" sz="1400" b="0" i="0" u="none" strike="noStrike">
              <a:solidFill>
                <a:srgbClr val="C8C8C8"/>
              </a:solidFill>
              <a:latin typeface="Roboto"/>
              <a:ea typeface="Roboto"/>
              <a:cs typeface="Roboto"/>
              <a:sym typeface="Roboto"/>
            </a:endParaRPr>
          </a:p>
          <a:p>
            <a:pPr indent="0" algn="l">
              <a:lnSpc>
                <a:spcPct val="125000"/>
              </a:lnSpc>
            </a:pPr>
            <a:r>
              <a:rPr lang="en-US" sz="1400" b="0" i="0" u="none" strike="noStrike">
                <a:solidFill>
                  <a:srgbClr val="10B981"/>
                </a:solidFill>
                <a:latin typeface="Roboto"/>
                <a:ea typeface="Roboto"/>
                <a:cs typeface="Roboto"/>
                <a:sym typeface="Roboto"/>
              </a:rPr>
              <a:t>Successfully loaded 120 documents.</a:t>
            </a:r>
            <a:endParaRPr lang="en-US" sz="1400" b="0" i="0" u="none" strike="noStrike">
              <a:solidFill>
                <a:srgbClr val="10B981"/>
              </a:solidFill>
              <a:latin typeface="Roboto"/>
              <a:ea typeface="Roboto"/>
              <a:cs typeface="Roboto"/>
              <a:sym typeface="Roboto"/>
            </a:endParaRPr>
          </a:p>
        </p:txBody>
      </p:sp>
      <p:sp>
        <p:nvSpPr>
          <p:cNvPr id="21" name="AutoShape 21"/>
          <p:cNvSpPr/>
          <p:nvPr/>
        </p:nvSpPr>
        <p:spPr>
          <a:xfrm>
            <a:off x="6604000" y="5080000"/>
            <a:ext cx="457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757575"/>
                </a:solidFill>
                <a:latin typeface="Noto Sans SC"/>
                <a:ea typeface="Noto Sans SC"/>
                <a:cs typeface="Noto Sans SC"/>
                <a:sym typeface="Noto Sans SC"/>
              </a:rPr>
              <a:t>实时反馈加载状态，避免用户焦虑</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2514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多线程加载</a:t>
            </a:r>
            <a:endParaRPr lang="en-US" sz="1100"/>
          </a:p>
        </p:txBody>
      </p:sp>
      <p:sp>
        <p:nvSpPr>
          <p:cNvPr id="3" name="AutoShape 3"/>
          <p:cNvSpPr/>
          <p:nvPr/>
        </p:nvSpPr>
        <p:spPr>
          <a:xfrm>
            <a:off x="762000" y="1651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核心优势：效率提升</a:t>
            </a:r>
            <a:endParaRPr lang="en-US" sz="1100"/>
          </a:p>
        </p:txBody>
      </p:sp>
      <p:sp>
        <p:nvSpPr>
          <p:cNvPr id="4" name="AutoShape 4"/>
          <p:cNvSpPr/>
          <p:nvPr/>
        </p:nvSpPr>
        <p:spPr>
          <a:xfrm>
            <a:off x="762000" y="2159000"/>
            <a:ext cx="4826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利用多线程并发机制，可以充分利用 CPU 多核资源，显著减少大量文件加载时的等待时间，提升数据处理吞吐量。</a:t>
            </a:r>
            <a:endParaRPr lang="en-US" sz="1100"/>
          </a:p>
        </p:txBody>
      </p:sp>
      <p:sp>
        <p:nvSpPr>
          <p:cNvPr id="5" name="AutoShape 5"/>
          <p:cNvSpPr/>
          <p:nvPr/>
        </p:nvSpPr>
        <p:spPr>
          <a:xfrm>
            <a:off x="762000" y="3429000"/>
            <a:ext cx="4826000" cy="889000"/>
          </a:xfrm>
          <a:prstGeom prst="roundRect">
            <a:avLst>
              <a:gd name="adj" fmla="val 14285"/>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3619500"/>
            <a:ext cx="508000" cy="508000"/>
          </a:xfrm>
          <a:prstGeom prst="rect">
            <a:avLst/>
          </a:prstGeom>
        </p:spPr>
      </p:pic>
      <p:sp>
        <p:nvSpPr>
          <p:cNvPr id="7" name="AutoShape 7"/>
          <p:cNvSpPr/>
          <p:nvPr/>
        </p:nvSpPr>
        <p:spPr>
          <a:xfrm>
            <a:off x="1651000" y="35560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Roboto"/>
                <a:ea typeface="Roboto"/>
                <a:cs typeface="Roboto"/>
                <a:sym typeface="Roboto"/>
              </a:rPr>
              <a:t>use_multithreading</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设置为 True 启用多线程模式</a:t>
            </a:r>
            <a:endParaRPr lang="en-US" sz="1400" b="0" i="0" u="none" strike="noStrike">
              <a:solidFill>
                <a:srgbClr val="757575"/>
              </a:solidFill>
              <a:latin typeface="Noto Sans SC"/>
              <a:ea typeface="Noto Sans SC"/>
              <a:cs typeface="Noto Sans SC"/>
              <a:sym typeface="Noto Sans SC"/>
            </a:endParaRPr>
          </a:p>
        </p:txBody>
      </p:sp>
      <p:sp>
        <p:nvSpPr>
          <p:cNvPr id="8" name="AutoShape 8"/>
          <p:cNvSpPr/>
          <p:nvPr/>
        </p:nvSpPr>
        <p:spPr>
          <a:xfrm>
            <a:off x="762000" y="4445000"/>
            <a:ext cx="4826000" cy="889000"/>
          </a:xfrm>
          <a:prstGeom prst="roundRect">
            <a:avLst>
              <a:gd name="adj" fmla="val 14285"/>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635500"/>
            <a:ext cx="508000" cy="508000"/>
          </a:xfrm>
          <a:prstGeom prst="rect">
            <a:avLst/>
          </a:prstGeom>
        </p:spPr>
      </p:pic>
      <p:sp>
        <p:nvSpPr>
          <p:cNvPr id="10" name="AutoShape 10"/>
          <p:cNvSpPr/>
          <p:nvPr/>
        </p:nvSpPr>
        <p:spPr>
          <a:xfrm>
            <a:off x="1651000" y="45720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Roboto"/>
                <a:ea typeface="Roboto"/>
                <a:cs typeface="Roboto"/>
                <a:sym typeface="Roboto"/>
              </a:rPr>
              <a:t>max_concurrency</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限制最大并发数，防止资源耗尽</a:t>
            </a:r>
            <a:endParaRPr lang="en-US" sz="1400" b="0" i="0" u="none" strike="noStrike">
              <a:solidFill>
                <a:srgbClr val="757575"/>
              </a:solidFill>
              <a:latin typeface="Noto Sans SC"/>
              <a:ea typeface="Noto Sans SC"/>
              <a:cs typeface="Noto Sans SC"/>
              <a:sym typeface="Noto Sans SC"/>
            </a:endParaRPr>
          </a:p>
        </p:txBody>
      </p:sp>
      <p:sp>
        <p:nvSpPr>
          <p:cNvPr id="11" name="AutoShape 11"/>
          <p:cNvSpPr/>
          <p:nvPr/>
        </p:nvSpPr>
        <p:spPr>
          <a:xfrm>
            <a:off x="6096000" y="1651000"/>
            <a:ext cx="5334000" cy="3683000"/>
          </a:xfrm>
          <a:prstGeom prst="roundRect">
            <a:avLst>
              <a:gd name="adj" fmla="val 3448"/>
            </a:avLst>
          </a:prstGeom>
          <a:solidFill>
            <a:srgbClr val="282C34">
              <a:alpha val="100000"/>
            </a:srgbClr>
          </a:solidFill>
          <a:ln w="25400" cap="flat" cmpd="sng">
            <a:noFill/>
            <a:prstDash val="solid"/>
            <a:round/>
          </a:ln>
          <a:effectLst>
            <a:outerShdw blurRad="190500" dist="101600" dir="2700000" algn="tl" rotWithShape="0">
              <a:srgbClr val="000000">
                <a:alpha val="20000"/>
              </a:srgbClr>
            </a:outerShdw>
          </a:effectLst>
        </p:spPr>
        <p:txBody>
          <a:bodyPr vert="horz" wrap="square" lIns="63500" tIns="63500" rIns="63500" bIns="63500" rtlCol="0" anchor="ctr"/>
          <a:lstStyle/>
          <a:p>
            <a:pPr algn="ctr">
              <a:defRPr/>
            </a:pPr>
          </a:p>
        </p:txBody>
      </p:sp>
      <p:sp>
        <p:nvSpPr>
          <p:cNvPr id="12" name="AutoShape 12"/>
          <p:cNvSpPr/>
          <p:nvPr/>
        </p:nvSpPr>
        <p:spPr>
          <a:xfrm>
            <a:off x="6096000" y="1651000"/>
            <a:ext cx="5334000" cy="457200"/>
          </a:xfrm>
          <a:prstGeom prst="roundRect">
            <a:avLst>
              <a:gd name="adj" fmla="val 0"/>
            </a:avLst>
          </a:prstGeom>
          <a:solidFill>
            <a:srgbClr val="21252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286500" y="1803400"/>
            <a:ext cx="152400" cy="1524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540500" y="1803400"/>
            <a:ext cx="152400" cy="1524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794500" y="1803400"/>
            <a:ext cx="152400" cy="1524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7112000" y="1701800"/>
            <a:ext cx="254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9DA5B4"/>
                </a:solidFill>
                <a:latin typeface="Roboto"/>
                <a:ea typeface="Roboto"/>
                <a:cs typeface="Roboto"/>
                <a:sym typeface="Roboto"/>
              </a:rPr>
              <a:t>loader_config.py</a:t>
            </a:r>
            <a:endParaRPr lang="en-US" sz="1100"/>
          </a:p>
        </p:txBody>
      </p:sp>
      <p:sp>
        <p:nvSpPr>
          <p:cNvPr id="17" name="AutoShape 17"/>
          <p:cNvSpPr/>
          <p:nvPr/>
        </p:nvSpPr>
        <p:spPr>
          <a:xfrm>
            <a:off x="6286500" y="2222500"/>
            <a:ext cx="4953000" cy="2921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C678DD"/>
                </a:solidFill>
                <a:latin typeface="Roboto"/>
                <a:ea typeface="Roboto"/>
                <a:cs typeface="Roboto"/>
                <a:sym typeface="Roboto"/>
              </a:rPr>
              <a:t>loader</a:t>
            </a:r>
            <a:r>
              <a:rPr lang="en-US" sz="1600" b="0" i="0" u="none" strike="noStrike">
                <a:solidFill>
                  <a:srgbClr val="ABB2BF"/>
                </a:solidFill>
                <a:latin typeface="Roboto"/>
                <a:ea typeface="Roboto"/>
                <a:cs typeface="Roboto"/>
                <a:sym typeface="Roboto"/>
              </a:rPr>
              <a:t>=</a:t>
            </a:r>
            <a:r>
              <a:rPr lang="en-US" sz="1600" b="0" i="0" u="none" strike="noStrike">
                <a:solidFill>
                  <a:srgbClr val="61AFEF"/>
                </a:solidFill>
                <a:latin typeface="Roboto"/>
                <a:ea typeface="Roboto"/>
                <a:cs typeface="Roboto"/>
                <a:sym typeface="Roboto"/>
              </a:rPr>
              <a:t>DirectoryLoader</a:t>
            </a:r>
            <a:r>
              <a:rPr lang="en-US" sz="1600" b="0" i="0" u="none" strike="noStrike">
                <a:solidFill>
                  <a:srgbClr val="ABB2BF"/>
                </a:solidFill>
                <a:latin typeface="Roboto"/>
                <a:ea typeface="Roboto"/>
                <a:cs typeface="Roboto"/>
                <a:sym typeface="Roboto"/>
              </a:rPr>
              <a:t>(</a:t>
            </a:r>
            <a:endParaRPr lang="en-US" sz="1100"/>
          </a:p>
          <a:p>
            <a:pPr indent="0" algn="l">
              <a:lnSpc>
                <a:spcPct val="108000"/>
              </a:lnSpc>
            </a:pPr>
            <a:r>
              <a:rPr lang="en-US" sz="1600" b="0" i="0" u="none" strike="noStrike">
                <a:solidFill>
                  <a:srgbClr val="ABB2BF"/>
                </a:solidFill>
                <a:latin typeface="Roboto"/>
                <a:ea typeface="Roboto"/>
                <a:cs typeface="Roboto"/>
                <a:sym typeface="Roboto"/>
              </a:rPr>
              <a:t>path=</a:t>
            </a:r>
            <a:r>
              <a:rPr lang="en-US" sz="1600" b="0" i="0" u="none" strike="noStrike">
                <a:solidFill>
                  <a:srgbClr val="98C379"/>
                </a:solidFill>
                <a:latin typeface="Roboto"/>
                <a:ea typeface="Roboto"/>
                <a:cs typeface="Roboto"/>
                <a:sym typeface="Roboto"/>
              </a:rPr>
              <a:t>'../example_data/'</a:t>
            </a:r>
            <a:r>
              <a:rPr lang="en-US" sz="1600" b="0" i="0" u="none" strike="noStrike">
                <a:solidFill>
                  <a:srgbClr val="ABB2BF"/>
                </a:solidFill>
                <a:latin typeface="Roboto"/>
                <a:ea typeface="Roboto"/>
                <a:cs typeface="Roboto"/>
                <a:sym typeface="Roboto"/>
              </a:rPr>
              <a:t>,</a:t>
            </a:r>
            <a:endParaRPr lang="en-US" sz="1600" b="0" i="0" u="none" strike="noStrike">
              <a:solidFill>
                <a:srgbClr val="ABB2BF"/>
              </a:solidFill>
              <a:latin typeface="Roboto"/>
              <a:ea typeface="Roboto"/>
              <a:cs typeface="Roboto"/>
              <a:sym typeface="Roboto"/>
            </a:endParaRPr>
          </a:p>
          <a:p>
            <a:pPr indent="0" algn="l">
              <a:lnSpc>
                <a:spcPct val="108000"/>
              </a:lnSpc>
            </a:pPr>
            <a:r>
              <a:rPr lang="en-US" sz="1600" b="0" i="0" u="none" strike="noStrike">
                <a:solidFill>
                  <a:srgbClr val="ABB2BF"/>
                </a:solidFill>
                <a:latin typeface="Roboto"/>
                <a:ea typeface="Roboto"/>
                <a:cs typeface="Roboto"/>
                <a:sym typeface="Roboto"/>
              </a:rPr>
              <a:t>glob=</a:t>
            </a:r>
            <a:r>
              <a:rPr lang="en-US" sz="1600" b="0" i="0" u="none" strike="noStrike">
                <a:solidFill>
                  <a:srgbClr val="98C379"/>
                </a:solidFill>
                <a:latin typeface="Roboto"/>
                <a:ea typeface="Roboto"/>
                <a:cs typeface="Roboto"/>
                <a:sym typeface="Roboto"/>
              </a:rPr>
              <a:t>"*.csv"</a:t>
            </a:r>
            <a:r>
              <a:rPr lang="en-US" sz="1600" b="0" i="0" u="none" strike="noStrike">
                <a:solidFill>
                  <a:srgbClr val="ABB2BF"/>
                </a:solidFill>
                <a:latin typeface="Roboto"/>
                <a:ea typeface="Roboto"/>
                <a:cs typeface="Roboto"/>
                <a:sym typeface="Roboto"/>
              </a:rPr>
              <a:t>,</a:t>
            </a:r>
            <a:endParaRPr lang="en-US" sz="1600" b="0" i="0" u="none" strike="noStrike">
              <a:solidFill>
                <a:srgbClr val="ABB2BF"/>
              </a:solidFill>
              <a:latin typeface="Roboto"/>
              <a:ea typeface="Roboto"/>
              <a:cs typeface="Roboto"/>
              <a:sym typeface="Roboto"/>
            </a:endParaRPr>
          </a:p>
          <a:p>
            <a:pPr indent="0" algn="l">
              <a:lnSpc>
                <a:spcPct val="108000"/>
              </a:lnSpc>
            </a:pPr>
            <a:r>
              <a:rPr lang="en-US" sz="1600" b="0" i="0" u="none" strike="noStrike">
                <a:solidFill>
                  <a:srgbClr val="E06C75"/>
                </a:solidFill>
                <a:latin typeface="Roboto"/>
                <a:ea typeface="Roboto"/>
                <a:cs typeface="Roboto"/>
                <a:sym typeface="Roboto"/>
              </a:rPr>
              <a:t>use_multithreading</a:t>
            </a:r>
            <a:r>
              <a:rPr lang="en-US" sz="1600" b="0" i="0" u="none" strike="noStrike">
                <a:solidFill>
                  <a:srgbClr val="ABB2BF"/>
                </a:solidFill>
                <a:latin typeface="Roboto"/>
                <a:ea typeface="Roboto"/>
                <a:cs typeface="Roboto"/>
                <a:sym typeface="Roboto"/>
              </a:rPr>
              <a:t>=</a:t>
            </a:r>
            <a:r>
              <a:rPr lang="en-US" sz="1600" b="0" i="0" u="none" strike="noStrike">
                <a:solidFill>
                  <a:srgbClr val="D19A66"/>
                </a:solidFill>
                <a:latin typeface="Roboto"/>
                <a:ea typeface="Roboto"/>
                <a:cs typeface="Roboto"/>
                <a:sym typeface="Roboto"/>
              </a:rPr>
              <a:t>True</a:t>
            </a:r>
            <a:r>
              <a:rPr lang="en-US" sz="1600" b="0" i="0" u="none" strike="noStrike">
                <a:solidFill>
                  <a:srgbClr val="ABB2BF"/>
                </a:solidFill>
                <a:latin typeface="Roboto"/>
                <a:ea typeface="Roboto"/>
                <a:cs typeface="Roboto"/>
                <a:sym typeface="Roboto"/>
              </a:rPr>
              <a:t>,</a:t>
            </a:r>
            <a:r>
              <a:rPr lang="en-US" sz="1600" b="0" i="0" u="none" strike="noStrike">
                <a:solidFill>
                  <a:srgbClr val="5C6370"/>
                </a:solidFill>
                <a:latin typeface="Roboto"/>
                <a:ea typeface="Roboto"/>
                <a:cs typeface="Roboto"/>
                <a:sym typeface="Roboto"/>
              </a:rPr>
              <a:t># 启用多线程</a:t>
            </a:r>
            <a:endParaRPr lang="en-US" sz="1600" b="0" i="0" u="none" strike="noStrike">
              <a:solidFill>
                <a:srgbClr val="5C6370"/>
              </a:solidFill>
              <a:latin typeface="Roboto"/>
              <a:ea typeface="Roboto"/>
              <a:cs typeface="Roboto"/>
              <a:sym typeface="Roboto"/>
            </a:endParaRPr>
          </a:p>
          <a:p>
            <a:pPr indent="0" algn="l">
              <a:lnSpc>
                <a:spcPct val="108000"/>
              </a:lnSpc>
            </a:pPr>
            <a:r>
              <a:rPr lang="en-US" sz="1600" b="0" i="0" u="none" strike="noStrike">
                <a:solidFill>
                  <a:srgbClr val="E06C75"/>
                </a:solidFill>
                <a:latin typeface="Roboto"/>
                <a:ea typeface="Roboto"/>
                <a:cs typeface="Roboto"/>
                <a:sym typeface="Roboto"/>
              </a:rPr>
              <a:t>max_concurrency</a:t>
            </a:r>
            <a:r>
              <a:rPr lang="en-US" sz="1600" b="0" i="0" u="none" strike="noStrike">
                <a:solidFill>
                  <a:srgbClr val="ABB2BF"/>
                </a:solidFill>
                <a:latin typeface="Roboto"/>
                <a:ea typeface="Roboto"/>
                <a:cs typeface="Roboto"/>
                <a:sym typeface="Roboto"/>
              </a:rPr>
              <a:t>=</a:t>
            </a:r>
            <a:r>
              <a:rPr lang="en-US" sz="1600" b="0" i="0" u="none" strike="noStrike">
                <a:solidFill>
                  <a:srgbClr val="D19A66"/>
                </a:solidFill>
                <a:latin typeface="Roboto"/>
                <a:ea typeface="Roboto"/>
                <a:cs typeface="Roboto"/>
                <a:sym typeface="Roboto"/>
              </a:rPr>
              <a:t>4</a:t>
            </a:r>
            <a:r>
              <a:rPr lang="en-US" sz="1600" b="0" i="0" u="none" strike="noStrike">
                <a:solidFill>
                  <a:srgbClr val="5C6370"/>
                </a:solidFill>
                <a:latin typeface="Roboto"/>
                <a:ea typeface="Roboto"/>
                <a:cs typeface="Roboto"/>
                <a:sym typeface="Roboto"/>
              </a:rPr>
              <a:t># 最大并发数</a:t>
            </a:r>
            <a:endParaRPr lang="en-US" sz="1600" b="0" i="0" u="none" strike="noStrike">
              <a:solidFill>
                <a:srgbClr val="5C6370"/>
              </a:solidFill>
              <a:latin typeface="Roboto"/>
              <a:ea typeface="Roboto"/>
              <a:cs typeface="Roboto"/>
              <a:sym typeface="Roboto"/>
            </a:endParaRPr>
          </a:p>
          <a:p>
            <a:pPr indent="0" algn="l">
              <a:lnSpc>
                <a:spcPct val="108000"/>
              </a:lnSpc>
            </a:pPr>
            <a:r>
              <a:rPr lang="en-US" sz="1600" b="0" i="0" u="none" strike="noStrike">
                <a:solidFill>
                  <a:srgbClr val="ABB2BF"/>
                </a:solidFill>
                <a:latin typeface="Roboto"/>
                <a:ea typeface="Roboto"/>
                <a:cs typeface="Roboto"/>
                <a:sym typeface="Roboto"/>
              </a:rPr>
              <a:t>)</a:t>
            </a:r>
            <a:endParaRPr lang="en-US" sz="1600" b="0" i="0" u="none" strike="noStrike">
              <a:solidFill>
                <a:srgbClr val="ABB2BF"/>
              </a:solidFill>
              <a:latin typeface="Roboto"/>
              <a:ea typeface="Roboto"/>
              <a:cs typeface="Roboto"/>
              <a:sym typeface="Roboto"/>
            </a:endParaRPr>
          </a:p>
          <a:p>
            <a:pPr indent="0" algn="l">
              <a:lnSpc>
                <a:spcPct val="108000"/>
              </a:lnSpc>
            </a:pPr>
            <a:r>
              <a:rPr lang="en-US" sz="1600" b="0" i="0" u="none" strike="noStrike">
                <a:solidFill>
                  <a:srgbClr val="C678DD"/>
                </a:solidFill>
                <a:latin typeface="Roboto"/>
                <a:ea typeface="Roboto"/>
                <a:cs typeface="Roboto"/>
                <a:sym typeface="Roboto"/>
              </a:rPr>
              <a:t>docs</a:t>
            </a:r>
            <a:r>
              <a:rPr lang="en-US" sz="1600" b="0" i="0" u="none" strike="noStrike">
                <a:solidFill>
                  <a:srgbClr val="ABB2BF"/>
                </a:solidFill>
                <a:latin typeface="Roboto"/>
                <a:ea typeface="Roboto"/>
                <a:cs typeface="Roboto"/>
                <a:sym typeface="Roboto"/>
              </a:rPr>
              <a:t>= loader.load()</a:t>
            </a:r>
            <a:endParaRPr lang="en-US" sz="1600" b="0" i="0" u="none" strike="noStrike">
              <a:solidFill>
                <a:srgbClr val="ABB2BF"/>
              </a:solidFill>
              <a:latin typeface="Roboto"/>
              <a:ea typeface="Roboto"/>
              <a:cs typeface="Roboto"/>
              <a:sym typeface="Roboto"/>
            </a:endParaRPr>
          </a:p>
        </p:txBody>
      </p:sp>
      <p:sp>
        <p:nvSpPr>
          <p:cNvPr id="18" name="AutoShape 18"/>
          <p:cNvSpPr/>
          <p:nvPr/>
        </p:nvSpPr>
        <p:spPr>
          <a:xfrm>
            <a:off x="0" y="6604000"/>
            <a:ext cx="12192000" cy="254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2006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指定加载器</a:t>
            </a:r>
            <a:endParaRPr lang="en-US" sz="1100"/>
          </a:p>
        </p:txBody>
      </p:sp>
      <p:sp>
        <p:nvSpPr>
          <p:cNvPr id="3" name="AutoShape 3"/>
          <p:cNvSpPr/>
          <p:nvPr/>
        </p:nvSpPr>
        <p:spPr>
          <a:xfrm>
            <a:off x="762000" y="1270000"/>
            <a:ext cx="762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457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304800" cy="304800"/>
          </a:xfrm>
          <a:prstGeom prst="rect">
            <a:avLst/>
          </a:prstGeom>
        </p:spPr>
      </p:pic>
      <p:sp>
        <p:nvSpPr>
          <p:cNvPr id="6" name="AutoShape 6"/>
          <p:cNvSpPr/>
          <p:nvPr/>
        </p:nvSpPr>
        <p:spPr>
          <a:xfrm>
            <a:off x="1397000" y="18542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功能说明</a:t>
            </a:r>
            <a:endParaRPr lang="en-US" sz="1100"/>
          </a:p>
        </p:txBody>
      </p:sp>
      <p:sp>
        <p:nvSpPr>
          <p:cNvPr id="7" name="AutoShape 7"/>
          <p:cNvSpPr/>
          <p:nvPr/>
        </p:nvSpPr>
        <p:spPr>
          <a:xfrm>
            <a:off x="1016000" y="2349500"/>
            <a:ext cx="4064000" cy="203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DirectoryLoader 默认使用 UnstructuredLoader，但我们可以通过</a:t>
            </a:r>
            <a:r>
              <a:rPr lang="en-US" sz="1800" b="1" i="0" u="none" strike="noStrike">
                <a:solidFill>
                  <a:srgbClr val="0277BD"/>
                </a:solidFill>
                <a:latin typeface="Noto Sans SC"/>
                <a:ea typeface="Noto Sans SC"/>
                <a:cs typeface="Noto Sans SC"/>
                <a:sym typeface="Noto Sans SC"/>
              </a:rPr>
              <a:t>loader_cls</a:t>
            </a:r>
            <a:r>
              <a:rPr lang="en-US" sz="1800" b="0" i="0" u="none" strike="noStrike">
                <a:solidFill>
                  <a:srgbClr val="757575"/>
                </a:solidFill>
                <a:latin typeface="Noto Sans SC"/>
                <a:ea typeface="Noto Sans SC"/>
                <a:cs typeface="Noto Sans SC"/>
                <a:sym typeface="Noto Sans SC"/>
              </a:rPr>
              <a:t>参数指定特定的加载器类型。</a:t>
            </a:r>
            <a:endParaRPr lang="en-US" sz="1100"/>
          </a:p>
          <a:p>
            <a:pPr indent="0" algn="l">
              <a:lnSpc>
                <a:spcPct val="125000"/>
              </a:lnSpc>
            </a:pPr>
            <a:r>
              <a:rPr lang="en-US" sz="1800" b="0" i="0" u="none" strike="noStrike">
                <a:solidFill>
                  <a:srgbClr val="757575"/>
                </a:solidFill>
                <a:latin typeface="Noto Sans SC"/>
                <a:ea typeface="Noto Sans SC"/>
                <a:cs typeface="Noto Sans SC"/>
                <a:sym typeface="Noto Sans SC"/>
              </a:rPr>
              <a:t>这在明确文件类型（如 .txt, .csv）且有更高效的专用加载器时非常有用，例如示例中的</a:t>
            </a:r>
            <a:r>
              <a:rPr lang="en-US" sz="1800" b="1" i="0" u="none" strike="noStrike">
                <a:solidFill>
                  <a:srgbClr val="0277BD"/>
                </a:solidFill>
                <a:latin typeface="Noto Sans SC"/>
                <a:ea typeface="Noto Sans SC"/>
                <a:cs typeface="Noto Sans SC"/>
                <a:sym typeface="Noto Sans SC"/>
              </a:rPr>
              <a:t>TextLoader</a:t>
            </a:r>
            <a:r>
              <a:rPr lang="en-US" sz="1800" b="0" i="0" u="none" strike="noStrike">
                <a:solidFill>
                  <a:srgbClr val="757575"/>
                </a:solidFill>
                <a:latin typeface="Noto Sans SC"/>
                <a:ea typeface="Noto Sans SC"/>
                <a:cs typeface="Noto Sans SC"/>
                <a:sym typeface="Noto Sans SC"/>
              </a:rPr>
              <a:t>。</a:t>
            </a:r>
            <a:endParaRPr lang="en-US" sz="1800" b="0" i="0" u="none" strike="noStrike">
              <a:solidFill>
                <a:srgbClr val="757575"/>
              </a:solidFill>
              <a:latin typeface="Noto Sans SC"/>
              <a:ea typeface="Noto Sans SC"/>
              <a:cs typeface="Noto Sans SC"/>
              <a:sym typeface="Noto Sans SC"/>
            </a:endParaRPr>
          </a:p>
        </p:txBody>
      </p:sp>
      <p:sp>
        <p:nvSpPr>
          <p:cNvPr id="8" name="AutoShape 8"/>
          <p:cNvSpPr/>
          <p:nvPr/>
        </p:nvSpPr>
        <p:spPr>
          <a:xfrm>
            <a:off x="5588000" y="1651000"/>
            <a:ext cx="5842000" cy="3048000"/>
          </a:xfrm>
          <a:prstGeom prst="roundRect">
            <a:avLst>
              <a:gd name="adj" fmla="val 4166"/>
            </a:avLst>
          </a:prstGeom>
          <a:solidFill>
            <a:srgbClr val="1E1E1E">
              <a:alpha val="100000"/>
            </a:srgbClr>
          </a:solidFill>
          <a:ln w="25400" cap="flat" cmpd="sng">
            <a:noFill/>
            <a:prstDash val="solid"/>
            <a:round/>
          </a:ln>
          <a:effectLst>
            <a:outerShdw blurRad="152400" dist="76200" dir="5400000" algn="tl" rotWithShape="0">
              <a:srgbClr val="000000">
                <a:alpha val="20000"/>
              </a:srgbClr>
            </a:outerShdw>
          </a:effectLst>
        </p:spPr>
        <p:txBody>
          <a:bodyPr vert="horz" wrap="square" lIns="63500" tIns="63500" rIns="63500" bIns="63500" rtlCol="0" anchor="ctr"/>
          <a:lstStyle/>
          <a:p>
            <a:pPr algn="ctr">
              <a:defRPr/>
            </a:pPr>
          </a:p>
        </p:txBody>
      </p:sp>
      <p:sp>
        <p:nvSpPr>
          <p:cNvPr id="9" name="AutoShape 9"/>
          <p:cNvSpPr/>
          <p:nvPr/>
        </p:nvSpPr>
        <p:spPr>
          <a:xfrm>
            <a:off x="5842000" y="1854200"/>
            <a:ext cx="533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9E9E9E"/>
                </a:solidFill>
                <a:latin typeface="Roboto"/>
                <a:ea typeface="Roboto"/>
                <a:cs typeface="Roboto"/>
                <a:sym typeface="Roboto"/>
              </a:rPr>
              <a:t>Python Code Example</a:t>
            </a:r>
            <a:endParaRPr lang="en-US" sz="1100"/>
          </a:p>
        </p:txBody>
      </p:sp>
      <p:sp>
        <p:nvSpPr>
          <p:cNvPr id="10" name="AutoShape 10"/>
          <p:cNvSpPr/>
          <p:nvPr/>
        </p:nvSpPr>
        <p:spPr>
          <a:xfrm>
            <a:off x="5842000" y="2286000"/>
            <a:ext cx="5334000" cy="215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C678DD"/>
                </a:solidFill>
                <a:latin typeface="Roboto"/>
                <a:ea typeface="Roboto"/>
                <a:cs typeface="Roboto"/>
                <a:sym typeface="Roboto"/>
              </a:rPr>
              <a:t>from</a:t>
            </a:r>
            <a:r>
              <a:rPr lang="en-US" sz="1400" b="0" i="0" u="none" strike="noStrike">
                <a:solidFill>
                  <a:srgbClr val="DCDFE4"/>
                </a:solidFill>
                <a:latin typeface="Roboto"/>
                <a:ea typeface="Roboto"/>
                <a:cs typeface="Roboto"/>
                <a:sym typeface="Roboto"/>
              </a:rPr>
              <a:t>langchain_community.document_loaders</a:t>
            </a:r>
            <a:r>
              <a:rPr lang="en-US" sz="1400" b="0" i="0" u="none" strike="noStrike">
                <a:solidFill>
                  <a:srgbClr val="C678DD"/>
                </a:solidFill>
                <a:latin typeface="Roboto"/>
                <a:ea typeface="Roboto"/>
                <a:cs typeface="Roboto"/>
                <a:sym typeface="Roboto"/>
              </a:rPr>
              <a:t>import</a:t>
            </a:r>
            <a:r>
              <a:rPr lang="en-US" sz="1400" b="0" i="0" u="none" strike="noStrike">
                <a:solidFill>
                  <a:srgbClr val="DCDFE4"/>
                </a:solidFill>
                <a:latin typeface="Roboto"/>
                <a:ea typeface="Roboto"/>
                <a:cs typeface="Roboto"/>
                <a:sym typeface="Roboto"/>
              </a:rPr>
              <a:t>TextLoader</a:t>
            </a:r>
            <a:endParaRPr lang="en-US" sz="1100"/>
          </a:p>
          <a:p>
            <a:pPr indent="0" algn="l">
              <a:lnSpc>
                <a:spcPct val="108000"/>
              </a:lnSpc>
            </a:pPr>
            <a:r>
              <a:rPr lang="en-US" sz="1400" b="0" i="0" u="none" strike="noStrike">
                <a:solidFill>
                  <a:srgbClr val="DCDFE4"/>
                </a:solidFill>
                <a:latin typeface="Roboto"/>
                <a:ea typeface="Roboto"/>
                <a:cs typeface="Roboto"/>
                <a:sym typeface="Roboto"/>
              </a:rPr>
              <a:t>loader = DirectoryLoader(</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    path=</a:t>
            </a:r>
            <a:r>
              <a:rPr lang="en-US" sz="1400" b="0" i="0" u="none" strike="noStrike">
                <a:solidFill>
                  <a:srgbClr val="98C379"/>
                </a:solidFill>
                <a:latin typeface="Roboto"/>
                <a:ea typeface="Roboto"/>
                <a:cs typeface="Roboto"/>
                <a:sym typeface="Roboto"/>
              </a:rPr>
              <a:t>'../example_data/'</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    glob=</a:t>
            </a:r>
            <a:r>
              <a:rPr lang="en-US" sz="1400" b="0" i="0" u="none" strike="noStrike">
                <a:solidFill>
                  <a:srgbClr val="98C379"/>
                </a:solidFill>
                <a:latin typeface="Roboto"/>
                <a:ea typeface="Roboto"/>
                <a:cs typeface="Roboto"/>
                <a:sym typeface="Roboto"/>
              </a:rPr>
              <a:t>"*.csv"</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    loader_cls=</a:t>
            </a:r>
            <a:r>
              <a:rPr lang="en-US" sz="1400" b="0" i="0" u="none" strike="noStrike">
                <a:solidFill>
                  <a:srgbClr val="E5C07B"/>
                </a:solidFill>
                <a:latin typeface="Roboto"/>
                <a:ea typeface="Roboto"/>
                <a:cs typeface="Roboto"/>
                <a:sym typeface="Roboto"/>
              </a:rPr>
              <a:t>TextLoader</a:t>
            </a:r>
            <a:r>
              <a:rPr lang="en-US" sz="1400" b="0" i="0" u="none" strike="noStrike">
                <a:solidFill>
                  <a:srgbClr val="5C6370"/>
                </a:solidFill>
                <a:latin typeface="Roboto"/>
                <a:ea typeface="Roboto"/>
                <a:cs typeface="Roboto"/>
                <a:sym typeface="Roboto"/>
              </a:rPr>
              <a:t>  # 指定使用TextLoader</a:t>
            </a:r>
            <a:endParaRPr lang="en-US" sz="1400" b="0" i="0" u="none" strike="noStrike">
              <a:solidFill>
                <a:srgbClr val="5C6370"/>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docs = loader.load()</a:t>
            </a:r>
            <a:endParaRPr lang="en-US" sz="1400" b="0" i="0" u="none" strike="noStrike">
              <a:solidFill>
                <a:srgbClr val="DCDFE4"/>
              </a:solidFill>
              <a:latin typeface="Roboto"/>
              <a:ea typeface="Roboto"/>
              <a:cs typeface="Roboto"/>
              <a:sym typeface="Roboto"/>
            </a:endParaRPr>
          </a:p>
        </p:txBody>
      </p:sp>
      <p:sp>
        <p:nvSpPr>
          <p:cNvPr id="11" name="AutoShape 11"/>
          <p:cNvSpPr/>
          <p:nvPr/>
        </p:nvSpPr>
        <p:spPr>
          <a:xfrm>
            <a:off x="762000" y="4953000"/>
            <a:ext cx="10668000" cy="1016000"/>
          </a:xfrm>
          <a:prstGeom prst="roundRect">
            <a:avLst>
              <a:gd name="adj" fmla="val 12500"/>
            </a:avLst>
          </a:prstGeom>
          <a:solidFill>
            <a:srgbClr val="0277BD">
              <a:alpha val="10000"/>
            </a:srgbClr>
          </a:solidFill>
          <a:ln w="12700" cap="flat" cmpd="sng">
            <a:solidFill>
              <a:srgbClr val="0277BD">
                <a:alpha val="3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207000"/>
            <a:ext cx="406400" cy="406400"/>
          </a:xfrm>
          <a:prstGeom prst="rect">
            <a:avLst/>
          </a:prstGeom>
        </p:spPr>
      </p:pic>
      <p:sp>
        <p:nvSpPr>
          <p:cNvPr id="13" name="AutoShape 13"/>
          <p:cNvSpPr/>
          <p:nvPr/>
        </p:nvSpPr>
        <p:spPr>
          <a:xfrm>
            <a:off x="1587500" y="5143500"/>
            <a:ext cx="952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核心要点：</a:t>
            </a:r>
            <a:r>
              <a:rPr lang="en-US" sz="1800" b="0" i="0" u="none" strike="noStrike">
                <a:solidFill>
                  <a:srgbClr val="424242"/>
                </a:solidFill>
                <a:latin typeface="Noto Sans SC"/>
                <a:ea typeface="Noto Sans SC"/>
                <a:cs typeface="Noto Sans SC"/>
                <a:sym typeface="Noto Sans SC"/>
              </a:rPr>
              <a:t>灵活配置加载器是优化文档处理效率的关键。通过显式指定 loader_cls，可以避免默认加载器的兼容性问题，提升数据加载的准确性和速度。</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自定义加载器</a:t>
            </a:r>
            <a:endParaRPr lang="en-US" sz="1100"/>
          </a:p>
        </p:txBody>
      </p:sp>
      <p:sp>
        <p:nvSpPr>
          <p:cNvPr id="3" name="AutoShape 3"/>
          <p:cNvSpPr/>
          <p:nvPr/>
        </p:nvSpPr>
        <p:spPr>
          <a:xfrm>
            <a:off x="762000" y="1524000"/>
            <a:ext cx="3810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2000" b="0" i="0" u="none" strike="noStrike">
                <a:solidFill>
                  <a:srgbClr val="757575"/>
                </a:solidFill>
                <a:latin typeface="Noto Sans SC"/>
                <a:ea typeface="Noto Sans SC"/>
                <a:cs typeface="Noto Sans SC"/>
                <a:sym typeface="Noto Sans SC"/>
              </a:rPr>
              <a:t>当内置加载器无法满足特定需求时，我们可以通过继承并重写方法来实现自定义逻辑。</a:t>
            </a:r>
            <a:endParaRPr lang="en-US" sz="1100"/>
          </a:p>
        </p:txBody>
      </p:sp>
      <p:sp>
        <p:nvSpPr>
          <p:cNvPr id="4" name="AutoShape 4"/>
          <p:cNvSpPr/>
          <p:nvPr/>
        </p:nvSpPr>
        <p:spPr>
          <a:xfrm>
            <a:off x="762000" y="2794000"/>
            <a:ext cx="3810000" cy="1143000"/>
          </a:xfrm>
          <a:prstGeom prst="roundRect">
            <a:avLst>
              <a:gd name="adj" fmla="val 11111"/>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3111500"/>
            <a:ext cx="508000" cy="508000"/>
          </a:xfrm>
          <a:prstGeom prst="rect">
            <a:avLst/>
          </a:prstGeom>
        </p:spPr>
      </p:pic>
      <p:sp>
        <p:nvSpPr>
          <p:cNvPr id="6" name="AutoShape 6"/>
          <p:cNvSpPr/>
          <p:nvPr/>
        </p:nvSpPr>
        <p:spPr>
          <a:xfrm>
            <a:off x="1651000" y="2921000"/>
            <a:ext cx="266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灵活扩展</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继承 TextLoader 基类，按需重写加载逻辑，适配特殊格式文件。</a:t>
            </a:r>
            <a:endParaRPr lang="en-US" sz="14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762000" y="4191000"/>
            <a:ext cx="3810000" cy="1143000"/>
          </a:xfrm>
          <a:prstGeom prst="roundRect">
            <a:avLst>
              <a:gd name="adj" fmla="val 11111"/>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508500"/>
            <a:ext cx="508000" cy="508000"/>
          </a:xfrm>
          <a:prstGeom prst="rect">
            <a:avLst/>
          </a:prstGeom>
        </p:spPr>
      </p:pic>
      <p:sp>
        <p:nvSpPr>
          <p:cNvPr id="9" name="AutoShape 9"/>
          <p:cNvSpPr/>
          <p:nvPr/>
        </p:nvSpPr>
        <p:spPr>
          <a:xfrm>
            <a:off x="1651000" y="4318000"/>
            <a:ext cx="266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精细控制</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精确控制文档分割与元数据提取，提升后续检索准确性。</a:t>
            </a:r>
            <a:endParaRPr lang="en-US" sz="1400" b="0" i="0" u="none" strike="noStrike">
              <a:solidFill>
                <a:srgbClr val="757575"/>
              </a:solidFill>
              <a:latin typeface="Noto Sans SC"/>
              <a:ea typeface="Noto Sans SC"/>
              <a:cs typeface="Noto Sans SC"/>
              <a:sym typeface="Noto Sans SC"/>
            </a:endParaRPr>
          </a:p>
        </p:txBody>
      </p:sp>
      <p:sp>
        <p:nvSpPr>
          <p:cNvPr id="10" name="AutoShape 10"/>
          <p:cNvSpPr/>
          <p:nvPr/>
        </p:nvSpPr>
        <p:spPr>
          <a:xfrm>
            <a:off x="4953000" y="1524000"/>
            <a:ext cx="6477000" cy="3556000"/>
          </a:xfrm>
          <a:prstGeom prst="roundRect">
            <a:avLst>
              <a:gd name="adj" fmla="val 3571"/>
            </a:avLst>
          </a:prstGeom>
          <a:solidFill>
            <a:srgbClr val="1E1E1E">
              <a:alpha val="100000"/>
            </a:srgbClr>
          </a:solidFill>
          <a:ln w="25400" cap="flat" cmpd="sng">
            <a:noFill/>
            <a:prstDash val="solid"/>
            <a:round/>
          </a:ln>
          <a:effectLst>
            <a:outerShdw blurRad="190500" dist="101600" dir="2700000" algn="tl" rotWithShape="0">
              <a:srgbClr val="000000">
                <a:alpha val="20000"/>
              </a:srgbClr>
            </a:outerShdw>
          </a:effectLst>
        </p:spPr>
        <p:txBody>
          <a:bodyPr vert="horz" wrap="square" lIns="63500" tIns="63500" rIns="63500" bIns="63500" rtlCol="0" anchor="ctr"/>
          <a:lstStyle/>
          <a:p>
            <a:pPr algn="ctr">
              <a:defRPr/>
            </a:pPr>
          </a:p>
        </p:txBody>
      </p:sp>
      <p:sp>
        <p:nvSpPr>
          <p:cNvPr id="11" name="AutoShape 11"/>
          <p:cNvSpPr/>
          <p:nvPr/>
        </p:nvSpPr>
        <p:spPr>
          <a:xfrm>
            <a:off x="4953000" y="1524000"/>
            <a:ext cx="6477000" cy="406400"/>
          </a:xfrm>
          <a:prstGeom prst="roundRect">
            <a:avLst>
              <a:gd name="adj" fmla="val 0"/>
            </a:avLst>
          </a:prstGeom>
          <a:solidFill>
            <a:srgbClr val="2D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5143500" y="1651000"/>
            <a:ext cx="127000" cy="1270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5397500" y="1651000"/>
            <a:ext cx="127000" cy="1270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5651500" y="1651000"/>
            <a:ext cx="127000" cy="1270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143500" y="2032000"/>
            <a:ext cx="6096000" cy="2921000"/>
          </a:xfrm>
          <a:prstGeom prst="rect">
            <a:avLst/>
          </a:prstGeom>
          <a:noFill/>
          <a:ln w="12700" cap="flat" cmpd="sng">
            <a:noFill/>
            <a:prstDash val="solid"/>
            <a:round/>
          </a:ln>
        </p:spPr>
        <p:txBody>
          <a:bodyPr vert="horz" wrap="square" lIns="0" tIns="0" rIns="0" bIns="0" rtlCol="0" anchor="ctr" anchorCtr="0"/>
          <a:lstStyle/>
          <a:p>
            <a:pPr indent="0" algn="l">
              <a:lnSpc>
                <a:spcPts val="2000"/>
              </a:lnSpc>
              <a:defRPr/>
            </a:pPr>
            <a:r>
              <a:rPr lang="en-US" sz="1400" b="0" i="0" u="none" strike="noStrike">
                <a:solidFill>
                  <a:srgbClr val="C678DD"/>
                </a:solidFill>
                <a:latin typeface="Roboto"/>
                <a:ea typeface="Roboto"/>
                <a:cs typeface="Roboto"/>
                <a:sym typeface="Roboto"/>
              </a:rPr>
              <a:t>from</a:t>
            </a:r>
            <a:r>
              <a:rPr lang="en-US" sz="1400" b="0" i="0" u="none" strike="noStrike">
                <a:solidFill>
                  <a:srgbClr val="DCDFE4"/>
                </a:solidFill>
                <a:latin typeface="Roboto"/>
                <a:ea typeface="Roboto"/>
                <a:cs typeface="Roboto"/>
                <a:sym typeface="Roboto"/>
              </a:rPr>
              <a:t>langchain_core.documents</a:t>
            </a:r>
            <a:r>
              <a:rPr lang="en-US" sz="1400" b="0" i="0" u="none" strike="noStrike">
                <a:solidFill>
                  <a:srgbClr val="C678DD"/>
                </a:solidFill>
                <a:latin typeface="Roboto"/>
                <a:ea typeface="Roboto"/>
                <a:cs typeface="Roboto"/>
                <a:sym typeface="Roboto"/>
              </a:rPr>
              <a:t>import</a:t>
            </a:r>
            <a:r>
              <a:rPr lang="en-US" sz="1400" b="0" i="0" u="none" strike="noStrike">
                <a:solidFill>
                  <a:srgbClr val="DCDFE4"/>
                </a:solidFill>
                <a:latin typeface="Roboto"/>
                <a:ea typeface="Roboto"/>
                <a:cs typeface="Roboto"/>
                <a:sym typeface="Roboto"/>
              </a:rPr>
              <a:t>Document</a:t>
            </a:r>
            <a:endParaRPr lang="en-US" sz="1100"/>
          </a:p>
          <a:p>
            <a:pPr indent="0" algn="l">
              <a:lnSpc>
                <a:spcPts val="2000"/>
              </a:lnSpc>
            </a:pPr>
            <a:r>
              <a:rPr lang="en-US" sz="1400" b="0" i="0" u="none" strike="noStrike">
                <a:solidFill>
                  <a:srgbClr val="C678DD"/>
                </a:solidFill>
                <a:latin typeface="Roboto"/>
                <a:ea typeface="Roboto"/>
                <a:cs typeface="Roboto"/>
                <a:sym typeface="Roboto"/>
              </a:rPr>
              <a:t>from</a:t>
            </a:r>
            <a:r>
              <a:rPr lang="en-US" sz="1400" b="0" i="0" u="none" strike="noStrike">
                <a:solidFill>
                  <a:srgbClr val="DCDFE4"/>
                </a:solidFill>
                <a:latin typeface="Roboto"/>
                <a:ea typeface="Roboto"/>
                <a:cs typeface="Roboto"/>
                <a:sym typeface="Roboto"/>
              </a:rPr>
              <a:t>langchain_community.document_loaders</a:t>
            </a:r>
            <a:r>
              <a:rPr lang="en-US" sz="1400" b="0" i="0" u="none" strike="noStrike">
                <a:solidFill>
                  <a:srgbClr val="C678DD"/>
                </a:solidFill>
                <a:latin typeface="Roboto"/>
                <a:ea typeface="Roboto"/>
                <a:cs typeface="Roboto"/>
                <a:sym typeface="Roboto"/>
              </a:rPr>
              <a:t>import</a:t>
            </a:r>
            <a:r>
              <a:rPr lang="en-US" sz="1400" b="0" i="0" u="none" strike="noStrike">
                <a:solidFill>
                  <a:srgbClr val="DCDFE4"/>
                </a:solidFill>
                <a:latin typeface="Roboto"/>
                <a:ea typeface="Roboto"/>
                <a:cs typeface="Roboto"/>
                <a:sym typeface="Roboto"/>
              </a:rPr>
              <a:t>TextLoader</a:t>
            </a:r>
            <a:endParaRPr lang="en-US" sz="1400" b="0" i="0" u="none" strike="noStrike">
              <a:solidFill>
                <a:srgbClr val="DCDFE4"/>
              </a:solidFill>
              <a:latin typeface="Roboto"/>
              <a:ea typeface="Roboto"/>
              <a:cs typeface="Roboto"/>
              <a:sym typeface="Roboto"/>
            </a:endParaRPr>
          </a:p>
          <a:p>
            <a:pPr indent="0" algn="l">
              <a:lnSpc>
                <a:spcPts val="2000"/>
              </a:lnSpc>
            </a:pPr>
            <a:r>
              <a:rPr lang="en-US" sz="1400" b="0" i="0" u="none" strike="noStrike">
                <a:solidFill>
                  <a:srgbClr val="C678DD"/>
                </a:solidFill>
                <a:latin typeface="Roboto"/>
                <a:ea typeface="Roboto"/>
                <a:cs typeface="Roboto"/>
                <a:sym typeface="Roboto"/>
              </a:rPr>
              <a:t>class</a:t>
            </a:r>
            <a:r>
              <a:rPr lang="en-US" sz="1400" b="0" i="0" u="none" strike="noStrike">
                <a:solidFill>
                  <a:srgbClr val="E5C07B"/>
                </a:solidFill>
                <a:latin typeface="Roboto"/>
                <a:ea typeface="Roboto"/>
                <a:cs typeface="Roboto"/>
                <a:sym typeface="Roboto"/>
              </a:rPr>
              <a:t>CustomTextLoader</a:t>
            </a:r>
            <a:r>
              <a:rPr lang="en-US" sz="1400" b="0" i="0" u="none" strike="noStrike">
                <a:solidFill>
                  <a:srgbClr val="DCDFE4"/>
                </a:solidFill>
                <a:latin typeface="Roboto"/>
                <a:ea typeface="Roboto"/>
                <a:cs typeface="Roboto"/>
                <a:sym typeface="Roboto"/>
              </a:rPr>
              <a:t>(TextLoader):</a:t>
            </a:r>
            <a:endParaRPr lang="en-US" sz="1400" b="0" i="0" u="none" strike="noStrike">
              <a:solidFill>
                <a:srgbClr val="DCDFE4"/>
              </a:solidFill>
              <a:latin typeface="Roboto"/>
              <a:ea typeface="Roboto"/>
              <a:cs typeface="Roboto"/>
              <a:sym typeface="Roboto"/>
            </a:endParaRPr>
          </a:p>
          <a:p>
            <a:pPr indent="0" algn="l">
              <a:lnSpc>
                <a:spcPts val="2000"/>
              </a:lnSpc>
            </a:pPr>
            <a:r>
              <a:rPr lang="en-US" sz="1400" b="0" i="0" u="none" strike="noStrike">
                <a:solidFill>
                  <a:srgbClr val="C678DD"/>
                </a:solidFill>
                <a:latin typeface="Roboto"/>
                <a:ea typeface="Roboto"/>
                <a:cs typeface="Roboto"/>
                <a:sym typeface="Roboto"/>
              </a:rPr>
              <a:t>def</a:t>
            </a:r>
            <a:r>
              <a:rPr lang="en-US" sz="1400" b="0" i="0" u="none" strike="noStrike">
                <a:solidFill>
                  <a:srgbClr val="61AFEF"/>
                </a:solidFill>
                <a:latin typeface="Roboto"/>
                <a:ea typeface="Roboto"/>
                <a:cs typeface="Roboto"/>
                <a:sym typeface="Roboto"/>
              </a:rPr>
              <a:t>load</a:t>
            </a:r>
            <a:r>
              <a:rPr lang="en-US" sz="1400" b="0" i="0" u="none" strike="noStrike">
                <a:solidFill>
                  <a:srgbClr val="DCDFE4"/>
                </a:solidFill>
                <a:latin typeface="Roboto"/>
                <a:ea typeface="Roboto"/>
                <a:cs typeface="Roboto"/>
                <a:sym typeface="Roboto"/>
              </a:rPr>
              <a:t>(self) -&gt; List[Document]:</a:t>
            </a:r>
            <a:endParaRPr lang="en-US" sz="1400" b="0" i="0" u="none" strike="noStrike">
              <a:solidFill>
                <a:srgbClr val="DCDFE4"/>
              </a:solidFill>
              <a:latin typeface="Roboto"/>
              <a:ea typeface="Roboto"/>
              <a:cs typeface="Roboto"/>
              <a:sym typeface="Roboto"/>
            </a:endParaRPr>
          </a:p>
          <a:p>
            <a:pPr indent="0" algn="l">
              <a:lnSpc>
                <a:spcPts val="2000"/>
              </a:lnSpc>
            </a:pPr>
            <a:r>
              <a:rPr lang="en-US" sz="1400" b="0" i="0" u="none" strike="noStrike">
                <a:solidFill>
                  <a:srgbClr val="C678DD"/>
                </a:solidFill>
                <a:latin typeface="Roboto"/>
                <a:ea typeface="Roboto"/>
                <a:cs typeface="Roboto"/>
                <a:sym typeface="Roboto"/>
              </a:rPr>
              <a:t>with</a:t>
            </a:r>
            <a:r>
              <a:rPr lang="en-US" sz="1400" b="0" i="0" u="none" strike="noStrike">
                <a:solidFill>
                  <a:srgbClr val="DCDFE4"/>
                </a:solidFill>
                <a:latin typeface="Roboto"/>
                <a:ea typeface="Roboto"/>
                <a:cs typeface="Roboto"/>
                <a:sym typeface="Roboto"/>
              </a:rPr>
              <a:t>open(self.file_path)</a:t>
            </a:r>
            <a:r>
              <a:rPr lang="en-US" sz="1400" b="0" i="0" u="none" strike="noStrike">
                <a:solidFill>
                  <a:srgbClr val="C678DD"/>
                </a:solidFill>
                <a:latin typeface="Roboto"/>
                <a:ea typeface="Roboto"/>
                <a:cs typeface="Roboto"/>
                <a:sym typeface="Roboto"/>
              </a:rPr>
              <a:t>as</a:t>
            </a:r>
            <a:r>
              <a:rPr lang="en-US" sz="1400" b="0" i="0" u="none" strike="noStrike">
                <a:solidFill>
                  <a:srgbClr val="DCDFE4"/>
                </a:solidFill>
                <a:latin typeface="Roboto"/>
                <a:ea typeface="Roboto"/>
                <a:cs typeface="Roboto"/>
                <a:sym typeface="Roboto"/>
              </a:rPr>
              <a:t>f:</a:t>
            </a:r>
            <a:endParaRPr lang="en-US" sz="1400" b="0" i="0" u="none" strike="noStrike">
              <a:solidFill>
                <a:srgbClr val="DCDFE4"/>
              </a:solidFill>
              <a:latin typeface="Roboto"/>
              <a:ea typeface="Roboto"/>
              <a:cs typeface="Roboto"/>
              <a:sym typeface="Roboto"/>
            </a:endParaRPr>
          </a:p>
          <a:p>
            <a:pPr indent="0" algn="l">
              <a:lnSpc>
                <a:spcPts val="2000"/>
              </a:lnSpc>
            </a:pPr>
            <a:r>
              <a:rPr lang="en-US" sz="1400" b="0" i="0" u="none" strike="noStrike">
                <a:solidFill>
                  <a:srgbClr val="DCDFE4"/>
                </a:solidFill>
                <a:latin typeface="Roboto"/>
                <a:ea typeface="Roboto"/>
                <a:cs typeface="Roboto"/>
                <a:sym typeface="Roboto"/>
              </a:rPr>
              <a:t>lines = f.readlines()</a:t>
            </a:r>
            <a:endParaRPr lang="en-US" sz="1400" b="0" i="0" u="none" strike="noStrike">
              <a:solidFill>
                <a:srgbClr val="DCDFE4"/>
              </a:solidFill>
              <a:latin typeface="Roboto"/>
              <a:ea typeface="Roboto"/>
              <a:cs typeface="Roboto"/>
              <a:sym typeface="Roboto"/>
            </a:endParaRPr>
          </a:p>
          <a:p>
            <a:pPr indent="0" algn="l">
              <a:lnSpc>
                <a:spcPts val="2000"/>
              </a:lnSpc>
            </a:pPr>
            <a:r>
              <a:rPr lang="en-US" sz="1400" b="0" i="0" u="none" strike="noStrike">
                <a:solidFill>
                  <a:srgbClr val="DCDFE4"/>
                </a:solidFill>
                <a:latin typeface="Roboto"/>
                <a:ea typeface="Roboto"/>
                <a:cs typeface="Roboto"/>
                <a:sym typeface="Roboto"/>
              </a:rPr>
              <a:t>docs = []</a:t>
            </a:r>
            <a:endParaRPr lang="en-US" sz="1400" b="0" i="0" u="none" strike="noStrike">
              <a:solidFill>
                <a:srgbClr val="DCDFE4"/>
              </a:solidFill>
              <a:latin typeface="Roboto"/>
              <a:ea typeface="Roboto"/>
              <a:cs typeface="Roboto"/>
              <a:sym typeface="Roboto"/>
            </a:endParaRPr>
          </a:p>
          <a:p>
            <a:pPr indent="0" algn="l">
              <a:lnSpc>
                <a:spcPts val="2000"/>
              </a:lnSpc>
            </a:pPr>
            <a:r>
              <a:rPr lang="en-US" sz="1400" b="0" i="0" u="none" strike="noStrike">
                <a:solidFill>
                  <a:srgbClr val="C678DD"/>
                </a:solidFill>
                <a:latin typeface="Roboto"/>
                <a:ea typeface="Roboto"/>
                <a:cs typeface="Roboto"/>
                <a:sym typeface="Roboto"/>
              </a:rPr>
              <a:t>for</a:t>
            </a:r>
            <a:r>
              <a:rPr lang="en-US" sz="1400" b="0" i="0" u="none" strike="noStrike">
                <a:solidFill>
                  <a:srgbClr val="DCDFE4"/>
                </a:solidFill>
                <a:latin typeface="Roboto"/>
                <a:ea typeface="Roboto"/>
                <a:cs typeface="Roboto"/>
                <a:sym typeface="Roboto"/>
              </a:rPr>
              <a:t>idx, line</a:t>
            </a:r>
            <a:r>
              <a:rPr lang="en-US" sz="1400" b="0" i="0" u="none" strike="noStrike">
                <a:solidFill>
                  <a:srgbClr val="C678DD"/>
                </a:solidFill>
                <a:latin typeface="Roboto"/>
                <a:ea typeface="Roboto"/>
                <a:cs typeface="Roboto"/>
                <a:sym typeface="Roboto"/>
              </a:rPr>
              <a:t>in</a:t>
            </a:r>
            <a:r>
              <a:rPr lang="en-US" sz="1400" b="0" i="0" u="none" strike="noStrike">
                <a:solidFill>
                  <a:srgbClr val="DCDFE4"/>
                </a:solidFill>
                <a:latin typeface="Roboto"/>
                <a:ea typeface="Roboto"/>
                <a:cs typeface="Roboto"/>
                <a:sym typeface="Roboto"/>
              </a:rPr>
              <a:t>enumerate(lines):</a:t>
            </a:r>
            <a:endParaRPr lang="en-US" sz="1400" b="0" i="0" u="none" strike="noStrike">
              <a:solidFill>
                <a:srgbClr val="DCDFE4"/>
              </a:solidFill>
              <a:latin typeface="Roboto"/>
              <a:ea typeface="Roboto"/>
              <a:cs typeface="Roboto"/>
              <a:sym typeface="Roboto"/>
            </a:endParaRPr>
          </a:p>
          <a:p>
            <a:pPr indent="0" algn="l">
              <a:lnSpc>
                <a:spcPts val="2000"/>
              </a:lnSpc>
            </a:pPr>
            <a:r>
              <a:rPr lang="en-US" sz="1400" b="0" i="0" u="none" strike="noStrike">
                <a:solidFill>
                  <a:srgbClr val="DCDFE4"/>
                </a:solidFill>
                <a:latin typeface="Roboto"/>
                <a:ea typeface="Roboto"/>
                <a:cs typeface="Roboto"/>
                <a:sym typeface="Roboto"/>
              </a:rPr>
              <a:t>metadata = {</a:t>
            </a:r>
            <a:r>
              <a:rPr lang="en-US" sz="1400" b="0" i="0" u="none" strike="noStrike">
                <a:solidFill>
                  <a:srgbClr val="98C379"/>
                </a:solidFill>
                <a:latin typeface="Roboto"/>
                <a:ea typeface="Roboto"/>
                <a:cs typeface="Roboto"/>
                <a:sym typeface="Roboto"/>
              </a:rPr>
              <a:t>"source"</a:t>
            </a:r>
            <a:r>
              <a:rPr lang="en-US" sz="1400" b="0" i="0" u="none" strike="noStrike">
                <a:solidFill>
                  <a:srgbClr val="DCDFE4"/>
                </a:solidFill>
                <a:latin typeface="Roboto"/>
                <a:ea typeface="Roboto"/>
                <a:cs typeface="Roboto"/>
                <a:sym typeface="Roboto"/>
              </a:rPr>
              <a:t>: self.file_path,</a:t>
            </a:r>
            <a:r>
              <a:rPr lang="en-US" sz="1400" b="0" i="0" u="none" strike="noStrike">
                <a:solidFill>
                  <a:srgbClr val="98C379"/>
                </a:solidFill>
                <a:latin typeface="Roboto"/>
                <a:ea typeface="Roboto"/>
                <a:cs typeface="Roboto"/>
                <a:sym typeface="Roboto"/>
              </a:rPr>
              <a:t>"index"</a:t>
            </a:r>
            <a:r>
              <a:rPr lang="en-US" sz="1400" b="0" i="0" u="none" strike="noStrike">
                <a:solidFill>
                  <a:srgbClr val="DCDFE4"/>
                </a:solidFill>
                <a:latin typeface="Roboto"/>
                <a:ea typeface="Roboto"/>
                <a:cs typeface="Roboto"/>
                <a:sym typeface="Roboto"/>
              </a:rPr>
              <a:t>: idx}</a:t>
            </a:r>
            <a:endParaRPr lang="en-US" sz="1400" b="0" i="0" u="none" strike="noStrike">
              <a:solidFill>
                <a:srgbClr val="DCDFE4"/>
              </a:solidFill>
              <a:latin typeface="Roboto"/>
              <a:ea typeface="Roboto"/>
              <a:cs typeface="Roboto"/>
              <a:sym typeface="Roboto"/>
            </a:endParaRPr>
          </a:p>
          <a:p>
            <a:pPr indent="0" algn="l">
              <a:lnSpc>
                <a:spcPts val="2000"/>
              </a:lnSpc>
            </a:pPr>
            <a:r>
              <a:rPr lang="en-US" sz="1400" b="0" i="0" u="none" strike="noStrike">
                <a:solidFill>
                  <a:srgbClr val="DCDFE4"/>
                </a:solidFill>
                <a:latin typeface="Roboto"/>
                <a:ea typeface="Roboto"/>
                <a:cs typeface="Roboto"/>
                <a:sym typeface="Roboto"/>
              </a:rPr>
              <a:t>docs.append(Document(page_content=line, metadata=metadata))</a:t>
            </a:r>
            <a:endParaRPr lang="en-US" sz="1400" b="0" i="0" u="none" strike="noStrike">
              <a:solidFill>
                <a:srgbClr val="DCDFE4"/>
              </a:solidFill>
              <a:latin typeface="Roboto"/>
              <a:ea typeface="Roboto"/>
              <a:cs typeface="Roboto"/>
              <a:sym typeface="Roboto"/>
            </a:endParaRPr>
          </a:p>
          <a:p>
            <a:pPr indent="0" algn="l">
              <a:lnSpc>
                <a:spcPts val="2000"/>
              </a:lnSpc>
            </a:pPr>
            <a:r>
              <a:rPr lang="en-US" sz="1400" b="0" i="0" u="none" strike="noStrike">
                <a:solidFill>
                  <a:srgbClr val="C678DD"/>
                </a:solidFill>
                <a:latin typeface="Roboto"/>
                <a:ea typeface="Roboto"/>
                <a:cs typeface="Roboto"/>
                <a:sym typeface="Roboto"/>
              </a:rPr>
              <a:t>return</a:t>
            </a:r>
            <a:r>
              <a:rPr lang="en-US" sz="1400" b="0" i="0" u="none" strike="noStrike">
                <a:solidFill>
                  <a:srgbClr val="DCDFE4"/>
                </a:solidFill>
                <a:latin typeface="Roboto"/>
                <a:ea typeface="Roboto"/>
                <a:cs typeface="Roboto"/>
                <a:sym typeface="Roboto"/>
              </a:rPr>
              <a:t>docs</a:t>
            </a:r>
            <a:endParaRPr lang="en-US" sz="1400" b="0" i="0" u="none" strike="noStrike">
              <a:solidFill>
                <a:srgbClr val="DCDFE4"/>
              </a:solidFill>
              <a:latin typeface="Roboto"/>
              <a:ea typeface="Roboto"/>
              <a:cs typeface="Roboto"/>
              <a:sym typeface="Roboto"/>
            </a:endParaRPr>
          </a:p>
        </p:txBody>
      </p:sp>
      <p:sp>
        <p:nvSpPr>
          <p:cNvPr id="16" name="AutoShape 16"/>
          <p:cNvSpPr/>
          <p:nvPr/>
        </p:nvSpPr>
        <p:spPr>
          <a:xfrm>
            <a:off x="4953000" y="5334000"/>
            <a:ext cx="6477000" cy="762000"/>
          </a:xfrm>
          <a:prstGeom prst="roundRect">
            <a:avLst>
              <a:gd name="adj" fmla="val 16666"/>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sp>
        <p:nvSpPr>
          <p:cNvPr id="17" name="AutoShape 17"/>
          <p:cNvSpPr/>
          <p:nvPr/>
        </p:nvSpPr>
        <p:spPr>
          <a:xfrm>
            <a:off x="5143500" y="5461000"/>
            <a:ext cx="609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使用示例：</a:t>
            </a:r>
            <a:r>
              <a:rPr lang="en-US" sz="1600" b="0" i="0" u="none" strike="noStrike">
                <a:solidFill>
                  <a:srgbClr val="0277BD"/>
                </a:solidFill>
                <a:latin typeface="Roboto"/>
                <a:ea typeface="Roboto"/>
                <a:cs typeface="Roboto"/>
                <a:sym typeface="Roboto"/>
              </a:rPr>
              <a:t>loader = DirectoryLoader(path='../data/', loader_cls=CustomTextLoader)</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4013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2.1.2 加载CSV</a:t>
            </a:r>
            <a:endParaRPr lang="en-US" sz="1100"/>
          </a:p>
        </p:txBody>
      </p:sp>
      <p:sp>
        <p:nvSpPr>
          <p:cNvPr id="3" name="AutoShape 3"/>
          <p:cNvSpPr/>
          <p:nvPr/>
        </p:nvSpPr>
        <p:spPr>
          <a:xfrm>
            <a:off x="762000" y="1778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2032000"/>
            <a:ext cx="635000" cy="635000"/>
          </a:xfrm>
          <a:prstGeom prst="rect">
            <a:avLst/>
          </a:prstGeom>
        </p:spPr>
      </p:pic>
      <p:sp>
        <p:nvSpPr>
          <p:cNvPr id="5" name="AutoShape 5"/>
          <p:cNvSpPr/>
          <p:nvPr/>
        </p:nvSpPr>
        <p:spPr>
          <a:xfrm>
            <a:off x="889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0277BD"/>
                </a:solidFill>
                <a:latin typeface="Noto Sans SC"/>
                <a:ea typeface="Noto Sans SC"/>
                <a:cs typeface="Noto Sans SC"/>
                <a:sym typeface="Noto Sans SC"/>
              </a:rPr>
              <a:t>CSV格式</a:t>
            </a:r>
            <a:endParaRPr lang="en-US" sz="1100"/>
          </a:p>
        </p:txBody>
      </p:sp>
      <p:sp>
        <p:nvSpPr>
          <p:cNvPr id="6" name="AutoShape 6"/>
          <p:cNvSpPr/>
          <p:nvPr/>
        </p:nvSpPr>
        <p:spPr>
          <a:xfrm>
            <a:off x="952500" y="3302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逗号分隔值（Comma-Separated Values）文件，是一种常见的表格数据存储格式。</a:t>
            </a:r>
            <a:endParaRPr lang="en-US" sz="1100"/>
          </a:p>
        </p:txBody>
      </p:sp>
      <p:sp>
        <p:nvSpPr>
          <p:cNvPr id="7" name="AutoShape 7"/>
          <p:cNvSpPr/>
          <p:nvPr/>
        </p:nvSpPr>
        <p:spPr>
          <a:xfrm>
            <a:off x="4445000" y="1778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2032000"/>
            <a:ext cx="635000" cy="635000"/>
          </a:xfrm>
          <a:prstGeom prst="rect">
            <a:avLst/>
          </a:prstGeom>
        </p:spPr>
      </p:pic>
      <p:sp>
        <p:nvSpPr>
          <p:cNvPr id="9" name="AutoShape 9"/>
          <p:cNvSpPr/>
          <p:nvPr/>
        </p:nvSpPr>
        <p:spPr>
          <a:xfrm>
            <a:off x="4572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0277BD"/>
                </a:solidFill>
                <a:latin typeface="Noto Sans SC"/>
                <a:ea typeface="Noto Sans SC"/>
                <a:cs typeface="Noto Sans SC"/>
                <a:sym typeface="Noto Sans SC"/>
              </a:rPr>
              <a:t>专用加载器</a:t>
            </a:r>
            <a:endParaRPr lang="en-US" sz="1100"/>
          </a:p>
        </p:txBody>
      </p:sp>
      <p:sp>
        <p:nvSpPr>
          <p:cNvPr id="10" name="AutoShape 10"/>
          <p:cNvSpPr/>
          <p:nvPr/>
        </p:nvSpPr>
        <p:spPr>
          <a:xfrm>
            <a:off x="4635500" y="3302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LangChain提供了</a:t>
            </a:r>
            <a:r>
              <a:rPr lang="en-US" sz="1800" b="1" i="0" u="none" strike="noStrike">
                <a:solidFill>
                  <a:srgbClr val="0277BD"/>
                </a:solidFill>
                <a:latin typeface="Noto Sans SC"/>
                <a:ea typeface="Noto Sans SC"/>
                <a:cs typeface="Noto Sans SC"/>
                <a:sym typeface="Noto Sans SC"/>
              </a:rPr>
              <a:t>CSVLoader</a:t>
            </a:r>
            <a:r>
              <a:rPr lang="en-US" sz="1800" b="0" i="0" u="none" strike="noStrike">
                <a:solidFill>
                  <a:srgbClr val="757575"/>
                </a:solidFill>
                <a:latin typeface="Noto Sans SC"/>
                <a:ea typeface="Noto Sans SC"/>
                <a:cs typeface="Noto Sans SC"/>
                <a:sym typeface="Noto Sans SC"/>
              </a:rPr>
              <a:t>类，专门用于加载和解析CSV文件。</a:t>
            </a:r>
            <a:endParaRPr lang="en-US" sz="1100"/>
          </a:p>
        </p:txBody>
      </p:sp>
      <p:sp>
        <p:nvSpPr>
          <p:cNvPr id="11" name="AutoShape 11"/>
          <p:cNvSpPr/>
          <p:nvPr/>
        </p:nvSpPr>
        <p:spPr>
          <a:xfrm>
            <a:off x="8128000" y="1778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2032000"/>
            <a:ext cx="635000" cy="635000"/>
          </a:xfrm>
          <a:prstGeom prst="rect">
            <a:avLst/>
          </a:prstGeom>
        </p:spPr>
      </p:pic>
      <p:sp>
        <p:nvSpPr>
          <p:cNvPr id="13" name="AutoShape 13"/>
          <p:cNvSpPr/>
          <p:nvPr/>
        </p:nvSpPr>
        <p:spPr>
          <a:xfrm>
            <a:off x="8255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0277BD"/>
                </a:solidFill>
                <a:latin typeface="Noto Sans SC"/>
                <a:ea typeface="Noto Sans SC"/>
                <a:cs typeface="Noto Sans SC"/>
                <a:sym typeface="Noto Sans SC"/>
              </a:rPr>
              <a:t>核心优势</a:t>
            </a:r>
            <a:endParaRPr lang="en-US" sz="1100"/>
          </a:p>
        </p:txBody>
      </p:sp>
      <p:sp>
        <p:nvSpPr>
          <p:cNvPr id="14" name="AutoShape 14"/>
          <p:cNvSpPr/>
          <p:nvPr/>
        </p:nvSpPr>
        <p:spPr>
          <a:xfrm>
            <a:off x="8318500" y="3302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能够自动处理表头，并将每一行数据转换为结构化的文档对象。</a:t>
            </a:r>
            <a:endParaRPr lang="en-US" sz="1100"/>
          </a:p>
        </p:txBody>
      </p:sp>
      <p:sp>
        <p:nvSpPr>
          <p:cNvPr id="15" name="AutoShape 15"/>
          <p:cNvSpPr/>
          <p:nvPr/>
        </p:nvSpPr>
        <p:spPr>
          <a:xfrm>
            <a:off x="0" y="6604000"/>
            <a:ext cx="12192000" cy="254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022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基础代码示例</a:t>
            </a:r>
            <a:endParaRPr lang="en-US" sz="1100"/>
          </a:p>
        </p:txBody>
      </p:sp>
      <p:sp>
        <p:nvSpPr>
          <p:cNvPr id="3" name="AutoShape 3"/>
          <p:cNvSpPr/>
          <p:nvPr/>
        </p:nvSpPr>
        <p:spPr>
          <a:xfrm>
            <a:off x="762000" y="1524000"/>
            <a:ext cx="5842000" cy="3556000"/>
          </a:xfrm>
          <a:prstGeom prst="roundRect">
            <a:avLst>
              <a:gd name="adj" fmla="val 3571"/>
            </a:avLst>
          </a:prstGeom>
          <a:solidFill>
            <a:srgbClr val="212121">
              <a:alpha val="100000"/>
            </a:srgbClr>
          </a:solidFill>
          <a:ln w="25400" cap="flat" cmpd="sng">
            <a:noFill/>
            <a:prstDash val="solid"/>
            <a:round/>
          </a:ln>
          <a:effectLst>
            <a:outerShdw blurRad="127000" dist="101600" dir="5400000" algn="tl" rotWithShape="0">
              <a:srgbClr val="000000">
                <a:alpha val="20000"/>
              </a:srgbClr>
            </a:outerShdw>
          </a:effectLst>
        </p:spPr>
        <p:txBody>
          <a:bodyPr vert="horz" wrap="square" lIns="63500" tIns="63500" rIns="63500" bIns="63500" rtlCol="0" anchor="ctr"/>
          <a:lstStyle/>
          <a:p>
            <a:pPr algn="ctr">
              <a:defRPr/>
            </a:pPr>
          </a:p>
        </p:txBody>
      </p:sp>
      <p:sp>
        <p:nvSpPr>
          <p:cNvPr id="4" name="AutoShape 4"/>
          <p:cNvSpPr/>
          <p:nvPr/>
        </p:nvSpPr>
        <p:spPr>
          <a:xfrm>
            <a:off x="1016000" y="1714500"/>
            <a:ext cx="5334000" cy="317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FF7B72"/>
                </a:solidFill>
                <a:latin typeface="Roboto Mono"/>
                <a:ea typeface="Roboto Mono"/>
                <a:cs typeface="Roboto Mono"/>
                <a:sym typeface="Roboto Mono"/>
              </a:rPr>
              <a:t>from</a:t>
            </a:r>
            <a:r>
              <a:rPr lang="en-US" sz="1800" b="0" i="0" u="none" strike="noStrike">
                <a:solidFill>
                  <a:srgbClr val="EEEEEE"/>
                </a:solidFill>
                <a:latin typeface="Roboto Mono"/>
                <a:ea typeface="Roboto Mono"/>
                <a:cs typeface="Roboto Mono"/>
                <a:sym typeface="Roboto Mono"/>
              </a:rPr>
              <a:t>langchain.document_loaders.csv_loader</a:t>
            </a:r>
            <a:r>
              <a:rPr lang="en-US" sz="1800" b="0" i="0" u="none" strike="noStrike">
                <a:solidFill>
                  <a:srgbClr val="FF7B72"/>
                </a:solidFill>
                <a:latin typeface="Roboto Mono"/>
                <a:ea typeface="Roboto Mono"/>
                <a:cs typeface="Roboto Mono"/>
                <a:sym typeface="Roboto Mono"/>
              </a:rPr>
              <a:t>import</a:t>
            </a:r>
            <a:r>
              <a:rPr lang="en-US" sz="1800" b="0" i="0" u="none" strike="noStrike">
                <a:solidFill>
                  <a:srgbClr val="FFCB6B"/>
                </a:solidFill>
                <a:latin typeface="Roboto Mono"/>
                <a:ea typeface="Roboto Mono"/>
                <a:cs typeface="Roboto Mono"/>
                <a:sym typeface="Roboto Mono"/>
              </a:rPr>
              <a:t>CSVLoader</a:t>
            </a:r>
            <a:endParaRPr lang="en-US" sz="1100"/>
          </a:p>
          <a:p>
            <a:pPr indent="0" algn="l">
              <a:lnSpc>
                <a:spcPct val="108000"/>
              </a:lnSpc>
            </a:pPr>
          </a:p>
          <a:p>
            <a:pPr indent="0" algn="l">
              <a:lnSpc>
                <a:spcPct val="108000"/>
              </a:lnSpc>
            </a:pPr>
            <a:r>
              <a:rPr lang="en-US" sz="1800" b="0" i="0" u="none" strike="noStrike">
                <a:solidFill>
                  <a:srgbClr val="9E9E9E"/>
                </a:solidFill>
                <a:latin typeface="Roboto Mono"/>
                <a:ea typeface="Roboto Mono"/>
                <a:cs typeface="Roboto Mono"/>
                <a:sym typeface="Roboto Mono"/>
              </a:rPr>
              <a:t># 加载指定的CSV文件</a:t>
            </a:r>
            <a:endParaRPr lang="en-US" sz="1800" b="0" i="0" u="none" strike="noStrike">
              <a:solidFill>
                <a:srgbClr val="9E9E9E"/>
              </a:solidFill>
              <a:latin typeface="Roboto Mono"/>
              <a:ea typeface="Roboto Mono"/>
              <a:cs typeface="Roboto Mono"/>
              <a:sym typeface="Roboto Mono"/>
            </a:endParaRPr>
          </a:p>
          <a:p>
            <a:pPr indent="0" algn="l">
              <a:lnSpc>
                <a:spcPct val="108000"/>
              </a:lnSpc>
            </a:pPr>
            <a:r>
              <a:rPr lang="en-US" sz="1800" b="0" i="0" u="none" strike="noStrike">
                <a:solidFill>
                  <a:srgbClr val="EEEEEE"/>
                </a:solidFill>
                <a:latin typeface="Roboto Mono"/>
                <a:ea typeface="Roboto Mono"/>
                <a:cs typeface="Roboto Mono"/>
                <a:sym typeface="Roboto Mono"/>
              </a:rPr>
              <a:t>loader =</a:t>
            </a:r>
            <a:r>
              <a:rPr lang="en-US" sz="1800" b="0" i="0" u="none" strike="noStrike">
                <a:solidFill>
                  <a:srgbClr val="FFCB6B"/>
                </a:solidFill>
                <a:latin typeface="Roboto Mono"/>
                <a:ea typeface="Roboto Mono"/>
                <a:cs typeface="Roboto Mono"/>
                <a:sym typeface="Roboto Mono"/>
              </a:rPr>
              <a:t>CSVLoader</a:t>
            </a:r>
            <a:r>
              <a:rPr lang="en-US" sz="1800" b="0" i="0" u="none" strike="noStrike">
                <a:solidFill>
                  <a:srgbClr val="EEEEEE"/>
                </a:solidFill>
                <a:latin typeface="Roboto Mono"/>
                <a:ea typeface="Roboto Mono"/>
                <a:cs typeface="Roboto Mono"/>
                <a:sym typeface="Roboto Mono"/>
              </a:rPr>
              <a:t>(file_path=</a:t>
            </a:r>
            <a:r>
              <a:rPr lang="en-US" sz="1800" b="0" i="0" u="none" strike="noStrike">
                <a:solidFill>
                  <a:srgbClr val="66BB6A"/>
                </a:solidFill>
                <a:latin typeface="Roboto Mono"/>
                <a:ea typeface="Roboto Mono"/>
                <a:cs typeface="Roboto Mono"/>
                <a:sym typeface="Roboto Mono"/>
              </a:rPr>
              <a:t>'../example_data/直播评论.csv'</a:t>
            </a:r>
            <a:r>
              <a:rPr lang="en-US" sz="1800" b="0" i="0" u="none" strike="noStrike">
                <a:solidFill>
                  <a:srgbClr val="EEEEEE"/>
                </a:solidFill>
                <a:latin typeface="Roboto Mono"/>
                <a:ea typeface="Roboto Mono"/>
                <a:cs typeface="Roboto Mono"/>
                <a:sym typeface="Roboto Mono"/>
              </a:rPr>
              <a:t>)</a:t>
            </a:r>
            <a:endParaRPr lang="en-US" sz="1800" b="0" i="0" u="none" strike="noStrike">
              <a:solidFill>
                <a:srgbClr val="EEEEEE"/>
              </a:solidFill>
              <a:latin typeface="Roboto Mono"/>
              <a:ea typeface="Roboto Mono"/>
              <a:cs typeface="Roboto Mono"/>
              <a:sym typeface="Roboto Mono"/>
            </a:endParaRPr>
          </a:p>
          <a:p>
            <a:pPr indent="0" algn="l">
              <a:lnSpc>
                <a:spcPct val="108000"/>
              </a:lnSpc>
            </a:pPr>
            <a:r>
              <a:rPr lang="en-US" sz="1800" b="0" i="0" u="none" strike="noStrike">
                <a:solidFill>
                  <a:srgbClr val="EEEEEE"/>
                </a:solidFill>
                <a:latin typeface="Roboto Mono"/>
                <a:ea typeface="Roboto Mono"/>
                <a:cs typeface="Roboto Mono"/>
                <a:sym typeface="Roboto Mono"/>
              </a:rPr>
              <a:t>data = loader.load()</a:t>
            </a:r>
            <a:endParaRPr lang="en-US" sz="1800" b="0" i="0" u="none" strike="noStrike">
              <a:solidFill>
                <a:srgbClr val="EEEEEE"/>
              </a:solidFill>
              <a:latin typeface="Roboto Mono"/>
              <a:ea typeface="Roboto Mono"/>
              <a:cs typeface="Roboto Mono"/>
              <a:sym typeface="Roboto Mono"/>
            </a:endParaRPr>
          </a:p>
          <a:p>
            <a:pPr indent="0" algn="l">
              <a:lnSpc>
                <a:spcPct val="108000"/>
              </a:lnSpc>
            </a:pPr>
          </a:p>
          <a:p>
            <a:pPr indent="0" algn="l">
              <a:lnSpc>
                <a:spcPct val="108000"/>
              </a:lnSpc>
            </a:pPr>
            <a:r>
              <a:rPr lang="en-US" sz="1800" b="0" i="0" u="none" strike="noStrike">
                <a:solidFill>
                  <a:srgbClr val="9E9E9E"/>
                </a:solidFill>
                <a:latin typeface="Roboto Mono"/>
                <a:ea typeface="Roboto Mono"/>
                <a:cs typeface="Roboto Mono"/>
                <a:sym typeface="Roboto Mono"/>
              </a:rPr>
              <a:t># 查看加载的数据</a:t>
            </a:r>
            <a:endParaRPr lang="en-US" sz="1800" b="0" i="0" u="none" strike="noStrike">
              <a:solidFill>
                <a:srgbClr val="9E9E9E"/>
              </a:solidFill>
              <a:latin typeface="Roboto Mono"/>
              <a:ea typeface="Roboto Mono"/>
              <a:cs typeface="Roboto Mono"/>
              <a:sym typeface="Roboto Mono"/>
            </a:endParaRPr>
          </a:p>
          <a:p>
            <a:pPr indent="0" algn="l">
              <a:lnSpc>
                <a:spcPct val="108000"/>
              </a:lnSpc>
            </a:pPr>
            <a:r>
              <a:rPr lang="en-US" sz="1800" b="0" i="0" u="none" strike="noStrike">
                <a:solidFill>
                  <a:srgbClr val="EEEEEE"/>
                </a:solidFill>
                <a:latin typeface="Roboto Mono"/>
                <a:ea typeface="Roboto Mono"/>
                <a:cs typeface="Roboto Mono"/>
                <a:sym typeface="Roboto Mono"/>
              </a:rPr>
              <a:t>print(f</a:t>
            </a:r>
            <a:r>
              <a:rPr lang="en-US" sz="1800" b="0" i="0" u="none" strike="noStrike">
                <a:solidFill>
                  <a:srgbClr val="66BB6A"/>
                </a:solidFill>
                <a:latin typeface="Roboto Mono"/>
                <a:ea typeface="Roboto Mono"/>
                <a:cs typeface="Roboto Mono"/>
                <a:sym typeface="Roboto Mono"/>
              </a:rPr>
              <a:t>"加载了 {len(data)} 条记录。"</a:t>
            </a:r>
            <a:r>
              <a:rPr lang="en-US" sz="1800" b="0" i="0" u="none" strike="noStrike">
                <a:solidFill>
                  <a:srgbClr val="EEEEEE"/>
                </a:solidFill>
                <a:latin typeface="Roboto Mono"/>
                <a:ea typeface="Roboto Mono"/>
                <a:cs typeface="Roboto Mono"/>
                <a:sym typeface="Roboto Mono"/>
              </a:rPr>
              <a:t>)</a:t>
            </a:r>
            <a:endParaRPr lang="en-US" sz="1800" b="0" i="0" u="none" strike="noStrike">
              <a:solidFill>
                <a:srgbClr val="EEEEEE"/>
              </a:solidFill>
              <a:latin typeface="Roboto Mono"/>
              <a:ea typeface="Roboto Mono"/>
              <a:cs typeface="Roboto Mono"/>
              <a:sym typeface="Roboto Mono"/>
            </a:endParaRPr>
          </a:p>
          <a:p>
            <a:pPr indent="0" algn="l">
              <a:lnSpc>
                <a:spcPct val="108000"/>
              </a:lnSpc>
            </a:pPr>
            <a:r>
              <a:rPr lang="en-US" sz="1800" b="0" i="0" u="none" strike="noStrike">
                <a:solidFill>
                  <a:srgbClr val="EEEEEE"/>
                </a:solidFill>
                <a:latin typeface="Roboto Mono"/>
                <a:ea typeface="Roboto Mono"/>
                <a:cs typeface="Roboto Mono"/>
                <a:sym typeface="Roboto Mono"/>
              </a:rPr>
              <a:t>print(data[0].page_content)</a:t>
            </a:r>
            <a:endParaRPr lang="en-US" sz="1800" b="0" i="0" u="none" strike="noStrike">
              <a:solidFill>
                <a:srgbClr val="EEEEEE"/>
              </a:solidFill>
              <a:latin typeface="Roboto Mono"/>
              <a:ea typeface="Roboto Mono"/>
              <a:cs typeface="Roboto Mono"/>
              <a:sym typeface="Roboto Mono"/>
            </a:endParaR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12000" y="1651000"/>
            <a:ext cx="406400" cy="406400"/>
          </a:xfrm>
          <a:prstGeom prst="rect">
            <a:avLst/>
          </a:prstGeom>
        </p:spPr>
      </p:pic>
      <p:sp>
        <p:nvSpPr>
          <p:cNvPr id="6" name="AutoShape 6"/>
          <p:cNvSpPr/>
          <p:nvPr/>
        </p:nvSpPr>
        <p:spPr>
          <a:xfrm>
            <a:off x="7683500" y="1587500"/>
            <a:ext cx="3746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导入与初始化</a:t>
            </a:r>
            <a:endParaRPr lang="en-US" sz="1100"/>
          </a:p>
        </p:txBody>
      </p:sp>
      <p:sp>
        <p:nvSpPr>
          <p:cNvPr id="7" name="AutoShape 7"/>
          <p:cNvSpPr/>
          <p:nvPr/>
        </p:nvSpPr>
        <p:spPr>
          <a:xfrm>
            <a:off x="7683500" y="1968500"/>
            <a:ext cx="3746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从 LangChain 库导入 CSVLoader 类，并指定目标文件路径进行初始化。</a:t>
            </a:r>
            <a:endParaRPr lang="en-US" sz="1100"/>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12000" y="2794000"/>
            <a:ext cx="406400" cy="406400"/>
          </a:xfrm>
          <a:prstGeom prst="rect">
            <a:avLst/>
          </a:prstGeom>
        </p:spPr>
      </p:pic>
      <p:sp>
        <p:nvSpPr>
          <p:cNvPr id="9" name="AutoShape 9"/>
          <p:cNvSpPr/>
          <p:nvPr/>
        </p:nvSpPr>
        <p:spPr>
          <a:xfrm>
            <a:off x="7683500" y="2730500"/>
            <a:ext cx="3746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执行加载操作</a:t>
            </a:r>
            <a:endParaRPr lang="en-US" sz="1100"/>
          </a:p>
        </p:txBody>
      </p:sp>
      <p:sp>
        <p:nvSpPr>
          <p:cNvPr id="10" name="AutoShape 10"/>
          <p:cNvSpPr/>
          <p:nvPr/>
        </p:nvSpPr>
        <p:spPr>
          <a:xfrm>
            <a:off x="7683500" y="3111500"/>
            <a:ext cx="3746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调用 load() 方法读取文件内容，数据将以文档对象列表的形式返回。</a:t>
            </a:r>
            <a:endParaRPr lang="en-US" sz="1100"/>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12000" y="3937000"/>
            <a:ext cx="406400" cy="406400"/>
          </a:xfrm>
          <a:prstGeom prst="rect">
            <a:avLst/>
          </a:prstGeom>
        </p:spPr>
      </p:pic>
      <p:sp>
        <p:nvSpPr>
          <p:cNvPr id="12" name="AutoShape 12"/>
          <p:cNvSpPr/>
          <p:nvPr/>
        </p:nvSpPr>
        <p:spPr>
          <a:xfrm>
            <a:off x="7683500" y="3873500"/>
            <a:ext cx="3746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结果验证与查看</a:t>
            </a:r>
            <a:endParaRPr lang="en-US" sz="1100"/>
          </a:p>
        </p:txBody>
      </p:sp>
      <p:sp>
        <p:nvSpPr>
          <p:cNvPr id="13" name="AutoShape 13"/>
          <p:cNvSpPr/>
          <p:nvPr/>
        </p:nvSpPr>
        <p:spPr>
          <a:xfrm>
            <a:off x="7683500" y="4254500"/>
            <a:ext cx="3746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通过打印记录总数和第一条记录内容，验证数据是否正确加载。</a:t>
            </a:r>
            <a:endParaRPr lang="en-US" sz="1100"/>
          </a:p>
        </p:txBody>
      </p:sp>
      <p:sp>
        <p:nvSpPr>
          <p:cNvPr id="14" name="AutoShape 14"/>
          <p:cNvSpPr/>
          <p:nvPr/>
        </p:nvSpPr>
        <p:spPr>
          <a:xfrm>
            <a:off x="762000" y="5461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1016000" y="5588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核心要点：</a:t>
            </a:r>
            <a:r>
              <a:rPr lang="en-US" sz="1800" b="0" i="0" u="none" strike="noStrike">
                <a:solidFill>
                  <a:srgbClr val="424242"/>
                </a:solidFill>
                <a:latin typeface="Noto Sans SC"/>
                <a:ea typeface="Noto Sans SC"/>
                <a:cs typeface="Noto Sans SC"/>
                <a:sym typeface="Noto Sans SC"/>
              </a:rPr>
              <a:t>CSVLoader 是处理结构化数据的常用工具，能将表格数据转换为大模型可理解的文档格式。</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517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自定义CSV解析</a:t>
            </a:r>
            <a:endParaRPr lang="en-US" sz="1100"/>
          </a:p>
        </p:txBody>
      </p:sp>
      <p:sp>
        <p:nvSpPr>
          <p:cNvPr id="3" name="AutoShape 3"/>
          <p:cNvSpPr/>
          <p:nvPr/>
        </p:nvSpPr>
        <p:spPr>
          <a:xfrm>
            <a:off x="762000" y="1524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757575"/>
                </a:solidFill>
                <a:latin typeface="Noto Sans SC"/>
                <a:ea typeface="Noto Sans SC"/>
                <a:cs typeface="Noto Sans SC"/>
                <a:sym typeface="Noto Sans SC"/>
              </a:rPr>
              <a:t>通过</a:t>
            </a:r>
            <a:r>
              <a:rPr lang="en-US" sz="2000" b="1" i="0" u="none" strike="noStrike">
                <a:solidFill>
                  <a:srgbClr val="0277BD"/>
                </a:solidFill>
                <a:latin typeface="Noto Sans SC"/>
                <a:ea typeface="Noto Sans SC"/>
                <a:cs typeface="Noto Sans SC"/>
                <a:sym typeface="Noto Sans SC"/>
              </a:rPr>
              <a:t>csv_args</a:t>
            </a:r>
            <a:r>
              <a:rPr lang="en-US" sz="2000" b="0" i="0" u="none" strike="noStrike">
                <a:solidFill>
                  <a:srgbClr val="757575"/>
                </a:solidFill>
                <a:latin typeface="Noto Sans SC"/>
                <a:ea typeface="Noto Sans SC"/>
                <a:cs typeface="Noto Sans SC"/>
                <a:sym typeface="Noto Sans SC"/>
              </a:rPr>
              <a:t>参数可以自定义解析规则，灵活应对不同格式的CSV文件。</a:t>
            </a:r>
            <a:endParaRPr lang="en-US" sz="1100"/>
          </a:p>
        </p:txBody>
      </p:sp>
      <p:sp>
        <p:nvSpPr>
          <p:cNvPr id="4" name="AutoShape 4"/>
          <p:cNvSpPr/>
          <p:nvPr/>
        </p:nvSpPr>
        <p:spPr>
          <a:xfrm>
            <a:off x="762000" y="2540000"/>
            <a:ext cx="4572000" cy="889000"/>
          </a:xfrm>
          <a:prstGeom prst="roundRect">
            <a:avLst>
              <a:gd name="adj" fmla="val 14285"/>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730500"/>
            <a:ext cx="508000" cy="508000"/>
          </a:xfrm>
          <a:prstGeom prst="rect">
            <a:avLst/>
          </a:prstGeom>
        </p:spPr>
      </p:pic>
      <p:sp>
        <p:nvSpPr>
          <p:cNvPr id="6" name="AutoShape 6"/>
          <p:cNvSpPr/>
          <p:nvPr/>
        </p:nvSpPr>
        <p:spPr>
          <a:xfrm>
            <a:off x="1651000" y="2667000"/>
            <a:ext cx="342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12121"/>
                </a:solidFill>
                <a:latin typeface="Noto Sans SC"/>
                <a:ea typeface="Noto Sans SC"/>
                <a:cs typeface="Noto Sans SC"/>
                <a:sym typeface="Noto Sans SC"/>
              </a:rPr>
              <a:t>指定分隔符</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自定义列之间的分隔字符，如逗号、制表符等</a:t>
            </a:r>
            <a:endParaRPr lang="en-US" sz="14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762000" y="3619500"/>
            <a:ext cx="4572000" cy="889000"/>
          </a:xfrm>
          <a:prstGeom prst="roundRect">
            <a:avLst>
              <a:gd name="adj" fmla="val 14285"/>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810000"/>
            <a:ext cx="508000" cy="508000"/>
          </a:xfrm>
          <a:prstGeom prst="rect">
            <a:avLst/>
          </a:prstGeom>
        </p:spPr>
      </p:pic>
      <p:sp>
        <p:nvSpPr>
          <p:cNvPr id="9" name="AutoShape 9"/>
          <p:cNvSpPr/>
          <p:nvPr/>
        </p:nvSpPr>
        <p:spPr>
          <a:xfrm>
            <a:off x="1651000" y="3746500"/>
            <a:ext cx="342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12121"/>
                </a:solidFill>
                <a:latin typeface="Noto Sans SC"/>
                <a:ea typeface="Noto Sans SC"/>
                <a:cs typeface="Noto Sans SC"/>
                <a:sym typeface="Noto Sans SC"/>
              </a:rPr>
              <a:t>引号字符定义</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指定用于包裹包含特殊字符字段的引号符号</a:t>
            </a:r>
            <a:endParaRPr lang="en-US" sz="1400" b="0" i="0" u="none" strike="noStrike">
              <a:solidFill>
                <a:srgbClr val="757575"/>
              </a:solidFill>
              <a:latin typeface="Noto Sans SC"/>
              <a:ea typeface="Noto Sans SC"/>
              <a:cs typeface="Noto Sans SC"/>
              <a:sym typeface="Noto Sans SC"/>
            </a:endParaRPr>
          </a:p>
        </p:txBody>
      </p:sp>
      <p:sp>
        <p:nvSpPr>
          <p:cNvPr id="10" name="AutoShape 10"/>
          <p:cNvSpPr/>
          <p:nvPr/>
        </p:nvSpPr>
        <p:spPr>
          <a:xfrm>
            <a:off x="762000" y="4699000"/>
            <a:ext cx="4572000" cy="889000"/>
          </a:xfrm>
          <a:prstGeom prst="roundRect">
            <a:avLst>
              <a:gd name="adj" fmla="val 14285"/>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889500"/>
            <a:ext cx="508000" cy="508000"/>
          </a:xfrm>
          <a:prstGeom prst="rect">
            <a:avLst/>
          </a:prstGeom>
        </p:spPr>
      </p:pic>
      <p:sp>
        <p:nvSpPr>
          <p:cNvPr id="12" name="AutoShape 12"/>
          <p:cNvSpPr/>
          <p:nvPr/>
        </p:nvSpPr>
        <p:spPr>
          <a:xfrm>
            <a:off x="1651000" y="4826000"/>
            <a:ext cx="342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12121"/>
                </a:solidFill>
                <a:latin typeface="Noto Sans SC"/>
                <a:ea typeface="Noto Sans SC"/>
                <a:cs typeface="Noto Sans SC"/>
                <a:sym typeface="Noto Sans SC"/>
              </a:rPr>
              <a:t>自定义字段名</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手动设置表头字段名称，适用于无表头文件</a:t>
            </a:r>
            <a:endParaRPr lang="en-US" sz="1400" b="0" i="0" u="none" strike="noStrike">
              <a:solidFill>
                <a:srgbClr val="757575"/>
              </a:solidFill>
              <a:latin typeface="Noto Sans SC"/>
              <a:ea typeface="Noto Sans SC"/>
              <a:cs typeface="Noto Sans SC"/>
              <a:sym typeface="Noto Sans SC"/>
            </a:endParaRPr>
          </a:p>
        </p:txBody>
      </p:sp>
      <p:sp>
        <p:nvSpPr>
          <p:cNvPr id="13" name="AutoShape 13"/>
          <p:cNvSpPr/>
          <p:nvPr/>
        </p:nvSpPr>
        <p:spPr>
          <a:xfrm>
            <a:off x="5715000" y="1524000"/>
            <a:ext cx="5715000" cy="3556000"/>
          </a:xfrm>
          <a:prstGeom prst="roundRect">
            <a:avLst>
              <a:gd name="adj" fmla="val 3571"/>
            </a:avLst>
          </a:prstGeom>
          <a:solidFill>
            <a:srgbClr val="1E1E1E">
              <a:alpha val="100000"/>
            </a:srgbClr>
          </a:solidFill>
          <a:ln w="25400" cap="flat" cmpd="sng">
            <a:noFill/>
            <a:prstDash val="solid"/>
            <a:round/>
          </a:ln>
          <a:effectLst>
            <a:outerShdw blurRad="254000" dist="101600" dir="2700000" algn="tl" rotWithShape="0">
              <a:srgbClr val="000000">
                <a:alpha val="20000"/>
              </a:srgbClr>
            </a:outerShdw>
          </a:effectLst>
        </p:spPr>
        <p:txBody>
          <a:bodyPr vert="horz" wrap="square" lIns="63500" tIns="63500" rIns="63500" bIns="63500" rtlCol="0" anchor="ctr"/>
          <a:lstStyle/>
          <a:p>
            <a:pPr algn="ctr">
              <a:defRPr/>
            </a:pPr>
          </a:p>
        </p:txBody>
      </p:sp>
      <p:sp>
        <p:nvSpPr>
          <p:cNvPr id="14" name="AutoShape 14"/>
          <p:cNvSpPr/>
          <p:nvPr/>
        </p:nvSpPr>
        <p:spPr>
          <a:xfrm>
            <a:off x="5715000" y="1524000"/>
            <a:ext cx="5715000" cy="406400"/>
          </a:xfrm>
          <a:prstGeom prst="roundRect">
            <a:avLst>
              <a:gd name="adj" fmla="val 0"/>
            </a:avLst>
          </a:prstGeom>
          <a:solidFill>
            <a:srgbClr val="2D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05500" y="1651000"/>
            <a:ext cx="152400" cy="1524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159500" y="1651000"/>
            <a:ext cx="152400" cy="1524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413500" y="1651000"/>
            <a:ext cx="152400" cy="1524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5905500" y="2032000"/>
            <a:ext cx="5334000" cy="292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C678DD"/>
                </a:solidFill>
                <a:latin typeface="Roboto"/>
                <a:ea typeface="Roboto"/>
                <a:cs typeface="Roboto"/>
                <a:sym typeface="Roboto"/>
              </a:rPr>
              <a:t>csv_args</a:t>
            </a:r>
            <a:r>
              <a:rPr lang="en-US" sz="1400" b="0" i="0" u="none" strike="noStrike">
                <a:solidFill>
                  <a:srgbClr val="ABB2BF"/>
                </a:solidFill>
                <a:latin typeface="Roboto"/>
                <a:ea typeface="Roboto"/>
                <a:cs typeface="Roboto"/>
                <a:sym typeface="Roboto"/>
              </a:rPr>
              <a:t>= {</a:t>
            </a:r>
            <a:endParaRPr lang="en-US" sz="1100"/>
          </a:p>
          <a:p>
            <a:pPr indent="0" algn="l">
              <a:lnSpc>
                <a:spcPct val="100000"/>
              </a:lnSpc>
            </a:pPr>
            <a:r>
              <a:rPr lang="en-US" sz="1400" b="0" i="0" u="none" strike="noStrike">
                <a:solidFill>
                  <a:srgbClr val="E06C75"/>
                </a:solidFill>
                <a:latin typeface="Roboto"/>
                <a:ea typeface="Roboto"/>
                <a:cs typeface="Roboto"/>
                <a:sym typeface="Roboto"/>
              </a:rPr>
              <a:t>'delimiter'</a:t>
            </a:r>
            <a:r>
              <a:rPr lang="en-US" sz="1400" b="0" i="0" u="none" strike="noStrike">
                <a:solidFill>
                  <a:srgbClr val="ABB2BF"/>
                </a:solidFill>
                <a:latin typeface="Roboto"/>
                <a:ea typeface="Roboto"/>
                <a:cs typeface="Roboto"/>
                <a:sym typeface="Roboto"/>
              </a:rPr>
              <a:t>:</a:t>
            </a:r>
            <a:r>
              <a:rPr lang="en-US" sz="1400" b="0" i="0" u="none" strike="noStrike">
                <a:solidFill>
                  <a:srgbClr val="98C379"/>
                </a:solidFill>
                <a:latin typeface="Roboto"/>
                <a:ea typeface="Roboto"/>
                <a:cs typeface="Roboto"/>
                <a:sym typeface="Roboto"/>
              </a:rPr>
              <a:t>','</a:t>
            </a:r>
            <a:r>
              <a:rPr lang="en-US" sz="1400" b="0" i="0" u="none" strike="noStrike">
                <a:solidFill>
                  <a:srgbClr val="ABB2BF"/>
                </a:solidFill>
                <a:latin typeface="Roboto"/>
                <a:ea typeface="Roboto"/>
                <a:cs typeface="Roboto"/>
                <a:sym typeface="Roboto"/>
              </a:rPr>
              <a:t>,</a:t>
            </a:r>
            <a:r>
              <a:rPr lang="en-US" sz="1400" b="0" i="0" u="none" strike="noStrike">
                <a:solidFill>
                  <a:srgbClr val="5C6370"/>
                </a:solidFill>
                <a:latin typeface="Roboto"/>
                <a:ea typeface="Roboto"/>
                <a:cs typeface="Roboto"/>
                <a:sym typeface="Roboto"/>
              </a:rPr>
              <a:t># 指定分隔符为逗号</a:t>
            </a:r>
            <a:endParaRPr lang="en-US" sz="1400" b="0" i="0" u="none" strike="noStrike">
              <a:solidFill>
                <a:srgbClr val="5C6370"/>
              </a:solidFill>
              <a:latin typeface="Roboto"/>
              <a:ea typeface="Roboto"/>
              <a:cs typeface="Roboto"/>
              <a:sym typeface="Roboto"/>
            </a:endParaRPr>
          </a:p>
          <a:p>
            <a:pPr indent="0" algn="l">
              <a:lnSpc>
                <a:spcPct val="100000"/>
              </a:lnSpc>
            </a:pPr>
            <a:r>
              <a:rPr lang="en-US" sz="1400" b="0" i="0" u="none" strike="noStrike">
                <a:solidFill>
                  <a:srgbClr val="E06C75"/>
                </a:solidFill>
                <a:latin typeface="Roboto"/>
                <a:ea typeface="Roboto"/>
                <a:cs typeface="Roboto"/>
                <a:sym typeface="Roboto"/>
              </a:rPr>
              <a:t>'quotechar'</a:t>
            </a:r>
            <a:r>
              <a:rPr lang="en-US" sz="1400" b="0" i="0" u="none" strike="noStrike">
                <a:solidFill>
                  <a:srgbClr val="ABB2BF"/>
                </a:solidFill>
                <a:latin typeface="Roboto"/>
                <a:ea typeface="Roboto"/>
                <a:cs typeface="Roboto"/>
                <a:sym typeface="Roboto"/>
              </a:rPr>
              <a:t>:</a:t>
            </a:r>
            <a:r>
              <a:rPr lang="en-US" sz="1400" b="0" i="0" u="none" strike="noStrike">
                <a:solidFill>
                  <a:srgbClr val="98C379"/>
                </a:solidFill>
                <a:latin typeface="Roboto"/>
                <a:ea typeface="Roboto"/>
                <a:cs typeface="Roboto"/>
                <a:sym typeface="Roboto"/>
              </a:rPr>
              <a:t>'"'</a:t>
            </a:r>
            <a:r>
              <a:rPr lang="en-US" sz="1400" b="0" i="0" u="none" strike="noStrike">
                <a:solidFill>
                  <a:srgbClr val="ABB2BF"/>
                </a:solidFill>
                <a:latin typeface="Roboto"/>
                <a:ea typeface="Roboto"/>
                <a:cs typeface="Roboto"/>
                <a:sym typeface="Roboto"/>
              </a:rPr>
              <a:t>,</a:t>
            </a:r>
            <a:r>
              <a:rPr lang="en-US" sz="1400" b="0" i="0" u="none" strike="noStrike">
                <a:solidFill>
                  <a:srgbClr val="5C6370"/>
                </a:solidFill>
                <a:latin typeface="Roboto"/>
                <a:ea typeface="Roboto"/>
                <a:cs typeface="Roboto"/>
                <a:sym typeface="Roboto"/>
              </a:rPr>
              <a:t># 指定引号字符</a:t>
            </a:r>
            <a:endParaRPr lang="en-US" sz="1400" b="0" i="0" u="none" strike="noStrike">
              <a:solidFill>
                <a:srgbClr val="5C6370"/>
              </a:solidFill>
              <a:latin typeface="Roboto"/>
              <a:ea typeface="Roboto"/>
              <a:cs typeface="Roboto"/>
              <a:sym typeface="Roboto"/>
            </a:endParaRPr>
          </a:p>
          <a:p>
            <a:pPr indent="0" algn="l">
              <a:lnSpc>
                <a:spcPct val="100000"/>
              </a:lnSpc>
            </a:pPr>
            <a:r>
              <a:rPr lang="en-US" sz="1400" b="0" i="0" u="none" strike="noStrike">
                <a:solidFill>
                  <a:srgbClr val="E06C75"/>
                </a:solidFill>
                <a:latin typeface="Roboto"/>
                <a:ea typeface="Roboto"/>
                <a:cs typeface="Roboto"/>
                <a:sym typeface="Roboto"/>
              </a:rPr>
              <a:t>'fieldnames'</a:t>
            </a:r>
            <a:r>
              <a:rPr lang="en-US" sz="1400" b="0" i="0" u="none" strike="noStrike">
                <a:solidFill>
                  <a:srgbClr val="ABB2BF"/>
                </a:solidFill>
                <a:latin typeface="Roboto"/>
                <a:ea typeface="Roboto"/>
                <a:cs typeface="Roboto"/>
                <a:sym typeface="Roboto"/>
              </a:rPr>
              <a:t>: [</a:t>
            </a:r>
            <a:r>
              <a:rPr lang="en-US" sz="1400" b="0" i="0" u="none" strike="noStrike">
                <a:solidFill>
                  <a:srgbClr val="98C379"/>
                </a:solidFill>
                <a:latin typeface="Roboto"/>
                <a:ea typeface="Roboto"/>
                <a:cs typeface="Roboto"/>
                <a:sym typeface="Roboto"/>
              </a:rPr>
              <a:t>'问题'</a:t>
            </a:r>
            <a:r>
              <a:rPr lang="en-US" sz="1400" b="0" i="0" u="none" strike="noStrike">
                <a:solidFill>
                  <a:srgbClr val="ABB2BF"/>
                </a:solidFill>
                <a:latin typeface="Roboto"/>
                <a:ea typeface="Roboto"/>
                <a:cs typeface="Roboto"/>
                <a:sym typeface="Roboto"/>
              </a:rPr>
              <a:t>,</a:t>
            </a:r>
            <a:r>
              <a:rPr lang="en-US" sz="1400" b="0" i="0" u="none" strike="noStrike">
                <a:solidFill>
                  <a:srgbClr val="98C379"/>
                </a:solidFill>
                <a:latin typeface="Roboto"/>
                <a:ea typeface="Roboto"/>
                <a:cs typeface="Roboto"/>
                <a:sym typeface="Roboto"/>
              </a:rPr>
              <a:t>'是否有效'</a:t>
            </a:r>
            <a:r>
              <a:rPr lang="en-US" sz="1400" b="0" i="0" u="none" strike="noStrike">
                <a:solidFill>
                  <a:srgbClr val="ABB2BF"/>
                </a:solidFill>
                <a:latin typeface="Roboto"/>
                <a:ea typeface="Roboto"/>
                <a:cs typeface="Roboto"/>
                <a:sym typeface="Roboto"/>
              </a:rPr>
              <a:t>,</a:t>
            </a:r>
            <a:r>
              <a:rPr lang="en-US" sz="1400" b="0" i="0" u="none" strike="noStrike">
                <a:solidFill>
                  <a:srgbClr val="98C379"/>
                </a:solidFill>
                <a:latin typeface="Roboto"/>
                <a:ea typeface="Roboto"/>
                <a:cs typeface="Roboto"/>
                <a:sym typeface="Roboto"/>
              </a:rPr>
              <a:t>'评判依据'</a:t>
            </a:r>
            <a:r>
              <a:rPr lang="en-US" sz="1400" b="0" i="0" u="none" strike="noStrike">
                <a:solidFill>
                  <a:srgbClr val="ABB2BF"/>
                </a:solidFill>
                <a:latin typeface="Roboto"/>
                <a:ea typeface="Roboto"/>
                <a:cs typeface="Roboto"/>
                <a:sym typeface="Roboto"/>
              </a:rPr>
              <a:t>]</a:t>
            </a:r>
            <a:endParaRPr lang="en-US" sz="1400" b="0" i="0" u="none" strike="noStrike">
              <a:solidFill>
                <a:srgbClr val="ABB2BF"/>
              </a:solidFill>
              <a:latin typeface="Roboto"/>
              <a:ea typeface="Roboto"/>
              <a:cs typeface="Roboto"/>
              <a:sym typeface="Roboto"/>
            </a:endParaRPr>
          </a:p>
          <a:p>
            <a:pPr indent="0" algn="l">
              <a:lnSpc>
                <a:spcPct val="100000"/>
              </a:lnSpc>
            </a:pPr>
            <a:r>
              <a:rPr lang="en-US" sz="1400" b="0" i="0" u="none" strike="noStrike">
                <a:solidFill>
                  <a:srgbClr val="ABB2BF"/>
                </a:solidFill>
                <a:latin typeface="Roboto"/>
                <a:ea typeface="Roboto"/>
                <a:cs typeface="Roboto"/>
                <a:sym typeface="Roboto"/>
              </a:rPr>
              <a:t>}</a:t>
            </a:r>
            <a:endParaRPr lang="en-US" sz="1400" b="0" i="0" u="none" strike="noStrike">
              <a:solidFill>
                <a:srgbClr val="ABB2BF"/>
              </a:solidFill>
              <a:latin typeface="Roboto"/>
              <a:ea typeface="Roboto"/>
              <a:cs typeface="Roboto"/>
              <a:sym typeface="Roboto"/>
            </a:endParaRPr>
          </a:p>
          <a:p>
            <a:pPr indent="0" algn="l">
              <a:lnSpc>
                <a:spcPct val="100000"/>
              </a:lnSpc>
            </a:pPr>
          </a:p>
          <a:p>
            <a:pPr indent="0" algn="l">
              <a:lnSpc>
                <a:spcPct val="100000"/>
              </a:lnSpc>
            </a:pPr>
            <a:r>
              <a:rPr lang="en-US" sz="1400" b="0" i="0" u="none" strike="noStrike">
                <a:solidFill>
                  <a:srgbClr val="C678DD"/>
                </a:solidFill>
                <a:latin typeface="Roboto"/>
                <a:ea typeface="Roboto"/>
                <a:cs typeface="Roboto"/>
                <a:sym typeface="Roboto"/>
              </a:rPr>
              <a:t>loader</a:t>
            </a:r>
            <a:r>
              <a:rPr lang="en-US" sz="1400" b="0" i="0" u="none" strike="noStrike">
                <a:solidFill>
                  <a:srgbClr val="ABB2BF"/>
                </a:solidFill>
                <a:latin typeface="Roboto"/>
                <a:ea typeface="Roboto"/>
                <a:cs typeface="Roboto"/>
                <a:sym typeface="Roboto"/>
              </a:rPr>
              <a:t>=</a:t>
            </a:r>
            <a:r>
              <a:rPr lang="en-US" sz="1400" b="0" i="0" u="none" strike="noStrike">
                <a:solidFill>
                  <a:srgbClr val="E5C07B"/>
                </a:solidFill>
                <a:latin typeface="Roboto"/>
                <a:ea typeface="Roboto"/>
                <a:cs typeface="Roboto"/>
                <a:sym typeface="Roboto"/>
              </a:rPr>
              <a:t>CSVLoader</a:t>
            </a:r>
            <a:r>
              <a:rPr lang="en-US" sz="1400" b="0" i="0" u="none" strike="noStrike">
                <a:solidFill>
                  <a:srgbClr val="ABB2BF"/>
                </a:solidFill>
                <a:latin typeface="Roboto"/>
                <a:ea typeface="Roboto"/>
                <a:cs typeface="Roboto"/>
                <a:sym typeface="Roboto"/>
              </a:rPr>
              <a:t>(</a:t>
            </a:r>
            <a:endParaRPr lang="en-US" sz="1400" b="0" i="0" u="none" strike="noStrike">
              <a:solidFill>
                <a:srgbClr val="ABB2BF"/>
              </a:solidFill>
              <a:latin typeface="Roboto"/>
              <a:ea typeface="Roboto"/>
              <a:cs typeface="Roboto"/>
              <a:sym typeface="Roboto"/>
            </a:endParaRPr>
          </a:p>
          <a:p>
            <a:pPr indent="0" algn="l">
              <a:lnSpc>
                <a:spcPct val="100000"/>
              </a:lnSpc>
            </a:pPr>
            <a:r>
              <a:rPr lang="en-US" sz="1400" b="0" i="0" u="none" strike="noStrike">
                <a:solidFill>
                  <a:srgbClr val="ABB2BF"/>
                </a:solidFill>
                <a:latin typeface="Roboto"/>
                <a:ea typeface="Roboto"/>
                <a:cs typeface="Roboto"/>
                <a:sym typeface="Roboto"/>
              </a:rPr>
              <a:t>file_path=</a:t>
            </a:r>
            <a:r>
              <a:rPr lang="en-US" sz="1400" b="0" i="0" u="none" strike="noStrike">
                <a:solidFill>
                  <a:srgbClr val="98C379"/>
                </a:solidFill>
                <a:latin typeface="Roboto"/>
                <a:ea typeface="Roboto"/>
                <a:cs typeface="Roboto"/>
                <a:sym typeface="Roboto"/>
              </a:rPr>
              <a:t>'../example_data/直播评论.csv'</a:t>
            </a:r>
            <a:r>
              <a:rPr lang="en-US" sz="1400" b="0" i="0" u="none" strike="noStrike">
                <a:solidFill>
                  <a:srgbClr val="ABB2BF"/>
                </a:solidFill>
                <a:latin typeface="Roboto"/>
                <a:ea typeface="Roboto"/>
                <a:cs typeface="Roboto"/>
                <a:sym typeface="Roboto"/>
              </a:rPr>
              <a:t>,</a:t>
            </a:r>
            <a:endParaRPr lang="en-US" sz="1400" b="0" i="0" u="none" strike="noStrike">
              <a:solidFill>
                <a:srgbClr val="ABB2BF"/>
              </a:solidFill>
              <a:latin typeface="Roboto"/>
              <a:ea typeface="Roboto"/>
              <a:cs typeface="Roboto"/>
              <a:sym typeface="Roboto"/>
            </a:endParaRPr>
          </a:p>
          <a:p>
            <a:pPr indent="0" algn="l">
              <a:lnSpc>
                <a:spcPct val="100000"/>
              </a:lnSpc>
            </a:pPr>
            <a:r>
              <a:rPr lang="en-US" sz="1400" b="0" i="0" u="none" strike="noStrike">
                <a:solidFill>
                  <a:srgbClr val="ABB2BF"/>
                </a:solidFill>
                <a:latin typeface="Roboto"/>
                <a:ea typeface="Roboto"/>
                <a:cs typeface="Roboto"/>
                <a:sym typeface="Roboto"/>
              </a:rPr>
              <a:t>csv_args=</a:t>
            </a:r>
            <a:r>
              <a:rPr lang="en-US" sz="1400" b="0" i="0" u="none" strike="noStrike">
                <a:solidFill>
                  <a:srgbClr val="C678DD"/>
                </a:solidFill>
                <a:latin typeface="Roboto"/>
                <a:ea typeface="Roboto"/>
                <a:cs typeface="Roboto"/>
                <a:sym typeface="Roboto"/>
              </a:rPr>
              <a:t>csv_args</a:t>
            </a:r>
            <a:endParaRPr lang="en-US" sz="1400" b="0" i="0" u="none" strike="noStrike">
              <a:solidFill>
                <a:srgbClr val="C678DD"/>
              </a:solidFill>
              <a:latin typeface="Roboto"/>
              <a:ea typeface="Roboto"/>
              <a:cs typeface="Roboto"/>
              <a:sym typeface="Roboto"/>
            </a:endParaRPr>
          </a:p>
          <a:p>
            <a:pPr indent="0" algn="l">
              <a:lnSpc>
                <a:spcPct val="100000"/>
              </a:lnSpc>
            </a:pPr>
            <a:r>
              <a:rPr lang="en-US" sz="1400" b="0" i="0" u="none" strike="noStrike">
                <a:solidFill>
                  <a:srgbClr val="ABB2BF"/>
                </a:solidFill>
                <a:latin typeface="Roboto"/>
                <a:ea typeface="Roboto"/>
                <a:cs typeface="Roboto"/>
                <a:sym typeface="Roboto"/>
              </a:rPr>
              <a:t>)</a:t>
            </a:r>
            <a:endParaRPr lang="en-US" sz="1400" b="0" i="0" u="none" strike="noStrike">
              <a:solidFill>
                <a:srgbClr val="ABB2BF"/>
              </a:solidFill>
              <a:latin typeface="Roboto"/>
              <a:ea typeface="Roboto"/>
              <a:cs typeface="Roboto"/>
              <a:sym typeface="Roboto"/>
            </a:endParaRPr>
          </a:p>
          <a:p>
            <a:pPr indent="0" algn="l">
              <a:lnSpc>
                <a:spcPct val="100000"/>
              </a:lnSpc>
            </a:pPr>
            <a:r>
              <a:rPr lang="en-US" sz="1400" b="0" i="0" u="none" strike="noStrike">
                <a:solidFill>
                  <a:srgbClr val="C678DD"/>
                </a:solidFill>
                <a:latin typeface="Roboto"/>
                <a:ea typeface="Roboto"/>
                <a:cs typeface="Roboto"/>
                <a:sym typeface="Roboto"/>
              </a:rPr>
              <a:t>data</a:t>
            </a:r>
            <a:r>
              <a:rPr lang="en-US" sz="1400" b="0" i="0" u="none" strike="noStrike">
                <a:solidFill>
                  <a:srgbClr val="ABB2BF"/>
                </a:solidFill>
                <a:latin typeface="Roboto"/>
                <a:ea typeface="Roboto"/>
                <a:cs typeface="Roboto"/>
                <a:sym typeface="Roboto"/>
              </a:rPr>
              <a:t>=</a:t>
            </a:r>
            <a:r>
              <a:rPr lang="en-US" sz="1400" b="0" i="0" u="none" strike="noStrike">
                <a:solidFill>
                  <a:srgbClr val="C678DD"/>
                </a:solidFill>
                <a:latin typeface="Roboto"/>
                <a:ea typeface="Roboto"/>
                <a:cs typeface="Roboto"/>
                <a:sym typeface="Roboto"/>
              </a:rPr>
              <a:t>loader</a:t>
            </a:r>
            <a:r>
              <a:rPr lang="en-US" sz="1400" b="0" i="0" u="none" strike="noStrike">
                <a:solidFill>
                  <a:srgbClr val="ABB2BF"/>
                </a:solidFill>
                <a:latin typeface="Roboto"/>
                <a:ea typeface="Roboto"/>
                <a:cs typeface="Roboto"/>
                <a:sym typeface="Roboto"/>
              </a:rPr>
              <a:t>.load()</a:t>
            </a:r>
            <a:endParaRPr lang="en-US" sz="1400" b="0" i="0" u="none" strike="noStrike">
              <a:solidFill>
                <a:srgbClr val="ABB2BF"/>
              </a:solidFill>
              <a:latin typeface="Roboto"/>
              <a:ea typeface="Roboto"/>
              <a:cs typeface="Roboto"/>
              <a:sym typeface="Roboto"/>
            </a:endParaRPr>
          </a:p>
        </p:txBody>
      </p:sp>
      <p:sp>
        <p:nvSpPr>
          <p:cNvPr id="19" name="AutoShape 19"/>
          <p:cNvSpPr/>
          <p:nvPr/>
        </p:nvSpPr>
        <p:spPr>
          <a:xfrm>
            <a:off x="5715000" y="5334000"/>
            <a:ext cx="5715000" cy="508000"/>
          </a:xfrm>
          <a:prstGeom prst="roundRect">
            <a:avLst>
              <a:gd name="adj" fmla="val 25000"/>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5842000" y="5397500"/>
            <a:ext cx="546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提示：灵活配置 csv_args 能解决大部分非标准 CSV 文件的解析问题。</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2514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指定来源列</a:t>
            </a:r>
            <a:endParaRPr lang="en-US" sz="1100"/>
          </a:p>
        </p:txBody>
      </p:sp>
      <p:sp>
        <p:nvSpPr>
          <p:cNvPr id="3" name="AutoShape 3"/>
          <p:cNvSpPr/>
          <p:nvPr/>
        </p:nvSpPr>
        <p:spPr>
          <a:xfrm>
            <a:off x="762000" y="1270000"/>
            <a:ext cx="762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4318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1016000" y="1905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功能说明</a:t>
            </a:r>
            <a:endParaRPr lang="en-US" sz="1100"/>
          </a:p>
        </p:txBody>
      </p:sp>
      <p:sp>
        <p:nvSpPr>
          <p:cNvPr id="6" name="AutoShape 6"/>
          <p:cNvSpPr/>
          <p:nvPr/>
        </p:nvSpPr>
        <p:spPr>
          <a:xfrm>
            <a:off x="1016000" y="2413000"/>
            <a:ext cx="3810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757575"/>
                </a:solidFill>
                <a:latin typeface="Noto Sans SC"/>
                <a:ea typeface="Noto Sans SC"/>
                <a:cs typeface="Noto Sans SC"/>
                <a:sym typeface="Noto Sans SC"/>
              </a:rPr>
              <a:t>默认情况下，文档的来源元数据是文件名。</a:t>
            </a:r>
            <a:endParaRPr lang="en-US" sz="1100"/>
          </a:p>
          <a:p>
            <a:pPr indent="0" algn="l">
              <a:lnSpc>
                <a:spcPct val="125000"/>
              </a:lnSpc>
            </a:pPr>
            <a:r>
              <a:rPr lang="en-US" sz="2000" b="0" i="0" u="none" strike="noStrike">
                <a:solidFill>
                  <a:srgbClr val="757575"/>
                </a:solidFill>
                <a:latin typeface="Noto Sans SC"/>
                <a:ea typeface="Noto Sans SC"/>
                <a:cs typeface="Noto Sans SC"/>
                <a:sym typeface="Noto Sans SC"/>
              </a:rPr>
              <a:t>通过设置</a:t>
            </a:r>
            <a:r>
              <a:rPr lang="en-US" sz="2000" b="1" i="0" u="none" strike="noStrike">
                <a:solidFill>
                  <a:srgbClr val="0277BD"/>
                </a:solidFill>
                <a:latin typeface="Roboto"/>
                <a:ea typeface="Roboto"/>
                <a:cs typeface="Roboto"/>
                <a:sym typeface="Roboto"/>
              </a:rPr>
              <a:t>source_column</a:t>
            </a:r>
            <a:r>
              <a:rPr lang="en-US" sz="2000" b="0" i="0" u="none" strike="noStrike">
                <a:solidFill>
                  <a:srgbClr val="757575"/>
                </a:solidFill>
                <a:latin typeface="Noto Sans SC"/>
                <a:ea typeface="Noto Sans SC"/>
                <a:cs typeface="Noto Sans SC"/>
                <a:sym typeface="Noto Sans SC"/>
              </a:rPr>
              <a:t>参数，可以将CSV文件中的特定列内容作为每个文档的来源标识，这在后续的检索和溯源中非常有用。</a:t>
            </a:r>
            <a:endParaRPr lang="en-US" sz="20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5334000" y="1651000"/>
            <a:ext cx="6096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8" name="AutoShape 8"/>
          <p:cNvSpPr/>
          <p:nvPr/>
        </p:nvSpPr>
        <p:spPr>
          <a:xfrm>
            <a:off x="5588000" y="1905000"/>
            <a:ext cx="558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代码示例</a:t>
            </a:r>
            <a:endParaRPr lang="en-US" sz="1100"/>
          </a:p>
        </p:txBody>
      </p:sp>
      <p:sp>
        <p:nvSpPr>
          <p:cNvPr id="9" name="AutoShape 9"/>
          <p:cNvSpPr/>
          <p:nvPr/>
        </p:nvSpPr>
        <p:spPr>
          <a:xfrm>
            <a:off x="5588000" y="2413000"/>
            <a:ext cx="5588000" cy="2286000"/>
          </a:xfrm>
          <a:prstGeom prst="roundRect">
            <a:avLst>
              <a:gd name="adj" fmla="val 2777"/>
            </a:avLst>
          </a:prstGeom>
          <a:solidFill>
            <a:srgbClr val="F5F5F5">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5715000" y="2540000"/>
            <a:ext cx="5334000" cy="203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0" i="0" u="none" strike="noStrike">
                <a:solidFill>
                  <a:srgbClr val="212121"/>
                </a:solidFill>
                <a:latin typeface="Roboto"/>
                <a:ea typeface="Roboto"/>
                <a:cs typeface="Roboto"/>
                <a:sym typeface="Roboto"/>
              </a:rPr>
              <a:t>loader = CSVLoader(</a:t>
            </a:r>
            <a:endParaRPr lang="en-US" sz="1100"/>
          </a:p>
          <a:p>
            <a:pPr indent="0" algn="l">
              <a:lnSpc>
                <a:spcPct val="100000"/>
              </a:lnSpc>
            </a:pPr>
            <a:r>
              <a:rPr lang="en-US" sz="1800" b="0" i="0" u="none" strike="noStrike">
                <a:solidFill>
                  <a:srgbClr val="212121"/>
                </a:solidFill>
                <a:latin typeface="Roboto"/>
                <a:ea typeface="Roboto"/>
                <a:cs typeface="Roboto"/>
                <a:sym typeface="Roboto"/>
              </a:rPr>
              <a:t>file_path='../example_data/直播评论.csv',</a:t>
            </a:r>
            <a:endParaRPr lang="en-US" sz="1800" b="0" i="0" u="none" strike="noStrike">
              <a:solidFill>
                <a:srgbClr val="212121"/>
              </a:solidFill>
              <a:latin typeface="Roboto"/>
              <a:ea typeface="Roboto"/>
              <a:cs typeface="Roboto"/>
              <a:sym typeface="Roboto"/>
            </a:endParaRPr>
          </a:p>
          <a:p>
            <a:pPr indent="0" algn="l">
              <a:lnSpc>
                <a:spcPct val="100000"/>
              </a:lnSpc>
            </a:pPr>
            <a:r>
              <a:rPr lang="en-US" sz="1800" b="0" i="0" u="none" strike="noStrike">
                <a:solidFill>
                  <a:srgbClr val="212121"/>
                </a:solidFill>
                <a:latin typeface="Roboto"/>
                <a:ea typeface="Roboto"/>
                <a:cs typeface="Roboto"/>
                <a:sym typeface="Roboto"/>
              </a:rPr>
              <a:t>csv_args=csv_args,</a:t>
            </a:r>
            <a:endParaRPr lang="en-US" sz="1800" b="0" i="0" u="none" strike="noStrike">
              <a:solidFill>
                <a:srgbClr val="212121"/>
              </a:solidFill>
              <a:latin typeface="Roboto"/>
              <a:ea typeface="Roboto"/>
              <a:cs typeface="Roboto"/>
              <a:sym typeface="Roboto"/>
            </a:endParaRPr>
          </a:p>
          <a:p>
            <a:pPr indent="0" algn="l">
              <a:lnSpc>
                <a:spcPct val="100000"/>
              </a:lnSpc>
            </a:pPr>
            <a:r>
              <a:rPr lang="en-US" sz="1800" b="1" i="0" u="none" strike="noStrike">
                <a:solidFill>
                  <a:srgbClr val="0277BD"/>
                </a:solidFill>
                <a:latin typeface="Roboto"/>
                <a:ea typeface="Roboto"/>
                <a:cs typeface="Roboto"/>
                <a:sym typeface="Roboto"/>
              </a:rPr>
              <a:t>source_column="问题"</a:t>
            </a:r>
            <a:r>
              <a:rPr lang="en-US" sz="1800" b="0" i="0" u="none" strike="noStrike">
                <a:solidFill>
                  <a:srgbClr val="757575"/>
                </a:solidFill>
                <a:latin typeface="Roboto"/>
                <a:ea typeface="Roboto"/>
                <a:cs typeface="Roboto"/>
                <a:sym typeface="Roboto"/>
              </a:rPr>
              <a:t># 指定来源列</a:t>
            </a:r>
            <a:endParaRPr lang="en-US" sz="1800" b="0" i="0" u="none" strike="noStrike">
              <a:solidFill>
                <a:srgbClr val="757575"/>
              </a:solidFill>
              <a:latin typeface="Roboto"/>
              <a:ea typeface="Roboto"/>
              <a:cs typeface="Roboto"/>
              <a:sym typeface="Roboto"/>
            </a:endParaRPr>
          </a:p>
          <a:p>
            <a:pPr indent="0" algn="l">
              <a:lnSpc>
                <a:spcPct val="100000"/>
              </a:lnSpc>
            </a:pPr>
            <a:r>
              <a:rPr lang="en-US" sz="1800" b="0" i="0" u="none" strike="noStrike">
                <a:solidFill>
                  <a:srgbClr val="212121"/>
                </a:solidFill>
                <a:latin typeface="Roboto"/>
                <a:ea typeface="Roboto"/>
                <a:cs typeface="Roboto"/>
                <a:sym typeface="Roboto"/>
              </a:rPr>
              <a:t>)</a:t>
            </a:r>
            <a:endParaRPr lang="en-US" sz="1800" b="0" i="0" u="none" strike="noStrike">
              <a:solidFill>
                <a:srgbClr val="212121"/>
              </a:solidFill>
              <a:latin typeface="Roboto"/>
              <a:ea typeface="Roboto"/>
              <a:cs typeface="Roboto"/>
              <a:sym typeface="Roboto"/>
            </a:endParaRPr>
          </a:p>
          <a:p>
            <a:pPr indent="0" algn="l">
              <a:lnSpc>
                <a:spcPct val="100000"/>
              </a:lnSpc>
            </a:pPr>
            <a:r>
              <a:rPr lang="en-US" sz="1800" b="0" i="0" u="none" strike="noStrike">
                <a:solidFill>
                  <a:srgbClr val="212121"/>
                </a:solidFill>
                <a:latin typeface="Roboto"/>
                <a:ea typeface="Roboto"/>
                <a:cs typeface="Roboto"/>
                <a:sym typeface="Roboto"/>
              </a:rPr>
              <a:t>data = loader.load()</a:t>
            </a:r>
            <a:endParaRPr lang="en-US" sz="1800" b="0" i="0" u="none" strike="noStrike">
              <a:solidFill>
                <a:srgbClr val="212121"/>
              </a:solidFill>
              <a:latin typeface="Roboto"/>
              <a:ea typeface="Roboto"/>
              <a:cs typeface="Roboto"/>
              <a:sym typeface="Roboto"/>
            </a:endParaRPr>
          </a:p>
          <a:p>
            <a:pPr indent="0" algn="l">
              <a:lnSpc>
                <a:spcPct val="100000"/>
              </a:lnSpc>
            </a:pPr>
            <a:r>
              <a:rPr lang="en-US" sz="1800" b="0" i="0" u="none" strike="noStrike">
                <a:solidFill>
                  <a:srgbClr val="757575"/>
                </a:solidFill>
                <a:latin typeface="Roboto"/>
                <a:ea typeface="Roboto"/>
                <a:cs typeface="Roboto"/>
                <a:sym typeface="Roboto"/>
              </a:rPr>
              <a:t># 输出示例: {'source': '直播评论.csv - 这是一个测试问题吗？'}</a:t>
            </a:r>
            <a:endParaRPr lang="en-US" sz="1800" b="0" i="0" u="none" strike="noStrike">
              <a:solidFill>
                <a:srgbClr val="757575"/>
              </a:solidFill>
              <a:latin typeface="Roboto"/>
              <a:ea typeface="Roboto"/>
              <a:cs typeface="Roboto"/>
              <a:sym typeface="Roboto"/>
            </a:endParaRPr>
          </a:p>
        </p:txBody>
      </p:sp>
      <p:pic>
        <p:nvPicPr>
          <p:cNvPr id="11" name="Picture 1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5461000"/>
            <a:ext cx="406400" cy="406400"/>
          </a:xfrm>
          <a:prstGeom prst="rect">
            <a:avLst/>
          </a:prstGeom>
        </p:spPr>
      </p:pic>
      <p:sp>
        <p:nvSpPr>
          <p:cNvPr id="12" name="AutoShape 12"/>
          <p:cNvSpPr/>
          <p:nvPr/>
        </p:nvSpPr>
        <p:spPr>
          <a:xfrm>
            <a:off x="1270000" y="54610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灵活配置，精准溯源</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4521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2.1.3 加载HTML</a:t>
            </a:r>
            <a:endParaRPr lang="en-US" sz="1100"/>
          </a:p>
        </p:txBody>
      </p:sp>
      <p:sp>
        <p:nvSpPr>
          <p:cNvPr id="3" name="AutoShape 3"/>
          <p:cNvSpPr/>
          <p:nvPr/>
        </p:nvSpPr>
        <p:spPr>
          <a:xfrm>
            <a:off x="762000" y="1397000"/>
            <a:ext cx="10668000" cy="1016000"/>
          </a:xfrm>
          <a:prstGeom prst="roundRect">
            <a:avLst>
              <a:gd name="adj" fmla="val 12500"/>
            </a:avLst>
          </a:prstGeom>
          <a:solidFill>
            <a:srgbClr val="FFFFFF">
              <a:alpha val="100000"/>
            </a:srgbClr>
          </a:solidFill>
          <a:ln w="25400" cap="flat" cmpd="sng">
            <a:noFill/>
            <a:prstDash val="solid"/>
            <a:round/>
          </a:ln>
          <a:effectLst>
            <a:outerShdw blurRad="127000" dist="50800" dir="5400000" algn="tl" rotWithShape="0">
              <a:srgbClr val="0277BD">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508000" cy="508000"/>
          </a:xfrm>
          <a:prstGeom prst="rect">
            <a:avLst/>
          </a:prstGeom>
        </p:spPr>
      </p:pic>
      <p:sp>
        <p:nvSpPr>
          <p:cNvPr id="5" name="AutoShape 5"/>
          <p:cNvSpPr/>
          <p:nvPr/>
        </p:nvSpPr>
        <p:spPr>
          <a:xfrm>
            <a:off x="1651000" y="15240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HTML格式：</a:t>
            </a:r>
            <a:r>
              <a:rPr lang="en-US" sz="2000" b="0" i="0" u="none" strike="noStrike">
                <a:solidFill>
                  <a:srgbClr val="757575"/>
                </a:solidFill>
                <a:latin typeface="Noto Sans SC"/>
                <a:ea typeface="Noto Sans SC"/>
                <a:cs typeface="Noto Sans SC"/>
                <a:sym typeface="Noto Sans SC"/>
              </a:rPr>
              <a:t>超文本标记语言（HyperText Markup Language），用于创建网页。</a:t>
            </a:r>
            <a:endParaRPr lang="en-US" sz="1100"/>
          </a:p>
        </p:txBody>
      </p:sp>
      <p:sp>
        <p:nvSpPr>
          <p:cNvPr id="6" name="AutoShape 6"/>
          <p:cNvSpPr/>
          <p:nvPr/>
        </p:nvSpPr>
        <p:spPr>
          <a:xfrm>
            <a:off x="762000" y="2667000"/>
            <a:ext cx="51435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0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921000"/>
            <a:ext cx="508000" cy="508000"/>
          </a:xfrm>
          <a:prstGeom prst="rect">
            <a:avLst/>
          </a:prstGeom>
        </p:spPr>
      </p:pic>
      <p:sp>
        <p:nvSpPr>
          <p:cNvPr id="8" name="AutoShape 8"/>
          <p:cNvSpPr/>
          <p:nvPr/>
        </p:nvSpPr>
        <p:spPr>
          <a:xfrm>
            <a:off x="1651000" y="2857500"/>
            <a:ext cx="4000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UnstructuredHTMLLoader</a:t>
            </a:r>
            <a:endParaRPr lang="en-US" sz="1100"/>
          </a:p>
        </p:txBody>
      </p:sp>
      <p:sp>
        <p:nvSpPr>
          <p:cNvPr id="9" name="AutoShape 9"/>
          <p:cNvSpPr/>
          <p:nvPr/>
        </p:nvSpPr>
        <p:spPr>
          <a:xfrm>
            <a:off x="1016000" y="3429000"/>
            <a:ext cx="4635500" cy="1270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2000" b="0" i="0" u="none" strike="noStrike">
                <a:solidFill>
                  <a:srgbClr val="757575"/>
                </a:solidFill>
                <a:latin typeface="Noto Sans SC"/>
                <a:ea typeface="Noto Sans SC"/>
                <a:cs typeface="Noto Sans SC"/>
                <a:sym typeface="Noto Sans SC"/>
              </a:rPr>
              <a:t>通用的HTML解析器，能够提取页面中的所有文本内容，适合简单的文本提取需求。</a:t>
            </a:r>
            <a:endParaRPr lang="en-US" sz="1100"/>
          </a:p>
        </p:txBody>
      </p:sp>
      <p:sp>
        <p:nvSpPr>
          <p:cNvPr id="10" name="AutoShape 10"/>
          <p:cNvSpPr/>
          <p:nvPr/>
        </p:nvSpPr>
        <p:spPr>
          <a:xfrm>
            <a:off x="6286500" y="2667000"/>
            <a:ext cx="51435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0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2921000"/>
            <a:ext cx="508000" cy="508000"/>
          </a:xfrm>
          <a:prstGeom prst="rect">
            <a:avLst/>
          </a:prstGeom>
        </p:spPr>
      </p:pic>
      <p:sp>
        <p:nvSpPr>
          <p:cNvPr id="12" name="AutoShape 12"/>
          <p:cNvSpPr/>
          <p:nvPr/>
        </p:nvSpPr>
        <p:spPr>
          <a:xfrm>
            <a:off x="7175500" y="2857500"/>
            <a:ext cx="4000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BSHTMLLoader</a:t>
            </a:r>
            <a:endParaRPr lang="en-US" sz="1100"/>
          </a:p>
        </p:txBody>
      </p:sp>
      <p:sp>
        <p:nvSpPr>
          <p:cNvPr id="13" name="AutoShape 13"/>
          <p:cNvSpPr/>
          <p:nvPr/>
        </p:nvSpPr>
        <p:spPr>
          <a:xfrm>
            <a:off x="6540500" y="3429000"/>
            <a:ext cx="4635500" cy="1270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2000" b="0" i="0" u="none" strike="noStrike">
                <a:solidFill>
                  <a:srgbClr val="757575"/>
                </a:solidFill>
                <a:latin typeface="Noto Sans SC"/>
                <a:ea typeface="Noto Sans SC"/>
                <a:cs typeface="Noto Sans SC"/>
                <a:sym typeface="Noto Sans SC"/>
              </a:rPr>
              <a:t>基于BeautifulSoup4，能更好地处理HTML结构，并智能提取页面标题作为元数据。</a:t>
            </a:r>
            <a:endParaRPr lang="en-US" sz="1100"/>
          </a:p>
        </p:txBody>
      </p:sp>
      <p:sp>
        <p:nvSpPr>
          <p:cNvPr id="14" name="AutoShape 14"/>
          <p:cNvSpPr/>
          <p:nvPr/>
        </p:nvSpPr>
        <p:spPr>
          <a:xfrm>
            <a:off x="762000" y="5207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397500"/>
            <a:ext cx="381000" cy="381000"/>
          </a:xfrm>
          <a:prstGeom prst="rect">
            <a:avLst/>
          </a:prstGeom>
        </p:spPr>
      </p:pic>
      <p:sp>
        <p:nvSpPr>
          <p:cNvPr id="16" name="AutoShape 16"/>
          <p:cNvSpPr/>
          <p:nvPr/>
        </p:nvSpPr>
        <p:spPr>
          <a:xfrm>
            <a:off x="1524000" y="5207000"/>
            <a:ext cx="965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提示：</a:t>
            </a:r>
            <a:r>
              <a:rPr lang="en-US" sz="2000" b="0" i="0" u="none" strike="noStrike">
                <a:solidFill>
                  <a:srgbClr val="757575"/>
                </a:solidFill>
                <a:latin typeface="Noto Sans SC"/>
                <a:ea typeface="Noto Sans SC"/>
                <a:cs typeface="Noto Sans SC"/>
                <a:sym typeface="Noto Sans SC"/>
              </a:rPr>
              <a:t>根据HTML文件的结构复杂度和是否需要保留元数据来选择合适的加载器。</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UnstructuredHTMLLoader</a:t>
            </a:r>
            <a:endParaRPr lang="en-US" sz="1100"/>
          </a:p>
        </p:txBody>
      </p:sp>
      <p:sp>
        <p:nvSpPr>
          <p:cNvPr id="3" name="AutoShape 3"/>
          <p:cNvSpPr/>
          <p:nvPr/>
        </p:nvSpPr>
        <p:spPr>
          <a:xfrm>
            <a:off x="762000" y="1651000"/>
            <a:ext cx="4572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905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功能简介</a:t>
            </a:r>
            <a:endParaRPr lang="en-US" sz="1100"/>
          </a:p>
        </p:txBody>
      </p:sp>
      <p:sp>
        <p:nvSpPr>
          <p:cNvPr id="5" name="AutoShape 5"/>
          <p:cNvSpPr/>
          <p:nvPr/>
        </p:nvSpPr>
        <p:spPr>
          <a:xfrm>
            <a:off x="1016000" y="2413000"/>
            <a:ext cx="4064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757575"/>
                </a:solidFill>
                <a:latin typeface="Noto Sans SC"/>
                <a:ea typeface="Noto Sans SC"/>
                <a:cs typeface="Noto Sans SC"/>
                <a:sym typeface="Noto Sans SC"/>
              </a:rPr>
              <a:t>从 LangChain 社区导入加载器，用于处理 HTML 文件。</a:t>
            </a:r>
            <a:endParaRPr lang="en-US" sz="1100"/>
          </a:p>
          <a:p>
            <a:pPr indent="0" algn="l">
              <a:lnSpc>
                <a:spcPct val="125000"/>
              </a:lnSpc>
            </a:pPr>
            <a:r>
              <a:rPr lang="en-US" sz="2000" b="0" i="0" u="none" strike="noStrike">
                <a:solidFill>
                  <a:srgbClr val="757575"/>
                </a:solidFill>
                <a:latin typeface="Noto Sans SC"/>
                <a:ea typeface="Noto Sans SC"/>
                <a:cs typeface="Noto Sans SC"/>
                <a:sym typeface="Noto Sans SC"/>
              </a:rPr>
              <a:t>它能提取 HTML 文件中的文本内容，并将其合并为一个文档对象，便于后续处理。</a:t>
            </a:r>
            <a:endParaRPr lang="en-US" sz="2000" b="0" i="0" u="none" strike="noStrike">
              <a:solidFill>
                <a:srgbClr val="757575"/>
              </a:solidFill>
              <a:latin typeface="Noto Sans SC"/>
              <a:ea typeface="Noto Sans SC"/>
              <a:cs typeface="Noto Sans SC"/>
              <a:sym typeface="Noto Sans SC"/>
            </a:endParaRPr>
          </a:p>
        </p:txBody>
      </p:sp>
      <p:sp>
        <p:nvSpPr>
          <p:cNvPr id="6" name="AutoShape 6"/>
          <p:cNvSpPr/>
          <p:nvPr/>
        </p:nvSpPr>
        <p:spPr>
          <a:xfrm>
            <a:off x="5842000" y="1651000"/>
            <a:ext cx="5588000" cy="3302000"/>
          </a:xfrm>
          <a:prstGeom prst="roundRect">
            <a:avLst>
              <a:gd name="adj" fmla="val 3846"/>
            </a:avLst>
          </a:prstGeom>
          <a:solidFill>
            <a:srgbClr val="1E1E1E">
              <a:alpha val="100000"/>
            </a:srgbClr>
          </a:solidFill>
          <a:ln w="25400" cap="flat" cmpd="sng">
            <a:noFill/>
            <a:prstDash val="solid"/>
            <a:round/>
          </a:ln>
          <a:effectLst>
            <a:outerShdw blurRad="152400" dist="76200" dir="5400000" algn="tl" rotWithShape="0">
              <a:srgbClr val="000000">
                <a:alpha val="20000"/>
              </a:srgbClr>
            </a:outerShdw>
          </a:effectLst>
        </p:spPr>
        <p:txBody>
          <a:bodyPr vert="horz" wrap="square" lIns="63500" tIns="63500" rIns="63500" bIns="63500" rtlCol="0" anchor="ctr"/>
          <a:lstStyle/>
          <a:p>
            <a:pPr algn="ctr">
              <a:defRPr/>
            </a:pPr>
          </a:p>
        </p:txBody>
      </p:sp>
      <p:sp>
        <p:nvSpPr>
          <p:cNvPr id="7" name="AutoShape 7"/>
          <p:cNvSpPr/>
          <p:nvPr/>
        </p:nvSpPr>
        <p:spPr>
          <a:xfrm>
            <a:off x="6096000" y="1905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E0F7FA"/>
                </a:solidFill>
                <a:latin typeface="Noto Sans SC"/>
                <a:ea typeface="Noto Sans SC"/>
                <a:cs typeface="Noto Sans SC"/>
                <a:sym typeface="Noto Sans SC"/>
              </a:rPr>
              <a:t>代码示例</a:t>
            </a:r>
            <a:endParaRPr lang="en-US" sz="1100"/>
          </a:p>
        </p:txBody>
      </p:sp>
      <p:sp>
        <p:nvSpPr>
          <p:cNvPr id="8" name="AutoShape 8"/>
          <p:cNvSpPr/>
          <p:nvPr/>
        </p:nvSpPr>
        <p:spPr>
          <a:xfrm>
            <a:off x="6096000" y="2413000"/>
            <a:ext cx="5080000" cy="228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FF6B6B"/>
                </a:solidFill>
                <a:latin typeface="Roboto"/>
                <a:ea typeface="Roboto"/>
                <a:cs typeface="Roboto"/>
                <a:sym typeface="Roboto"/>
              </a:rPr>
              <a:t>from</a:t>
            </a:r>
            <a:r>
              <a:rPr lang="en-US" sz="1800" b="0" i="0" u="none" strike="noStrike">
                <a:solidFill>
                  <a:srgbClr val="DCDCDC"/>
                </a:solidFill>
                <a:latin typeface="Roboto"/>
                <a:ea typeface="Roboto"/>
                <a:cs typeface="Roboto"/>
                <a:sym typeface="Roboto"/>
              </a:rPr>
              <a:t>langchain_community.document_loaders</a:t>
            </a:r>
            <a:r>
              <a:rPr lang="en-US" sz="1800" b="0" i="0" u="none" strike="noStrike">
                <a:solidFill>
                  <a:srgbClr val="FF6B6B"/>
                </a:solidFill>
                <a:latin typeface="Roboto"/>
                <a:ea typeface="Roboto"/>
                <a:cs typeface="Roboto"/>
                <a:sym typeface="Roboto"/>
              </a:rPr>
              <a:t>import</a:t>
            </a:r>
            <a:r>
              <a:rPr lang="en-US" sz="1800" b="0" i="0" u="none" strike="noStrike">
                <a:solidFill>
                  <a:srgbClr val="DCDCDC"/>
                </a:solidFill>
                <a:latin typeface="Roboto"/>
                <a:ea typeface="Roboto"/>
                <a:cs typeface="Roboto"/>
                <a:sym typeface="Roboto"/>
              </a:rPr>
              <a:t>UnstructuredHTMLLoader</a:t>
            </a:r>
            <a:endParaRPr lang="en-US" sz="1100"/>
          </a:p>
          <a:p>
            <a:pPr indent="0" algn="l">
              <a:lnSpc>
                <a:spcPct val="108000"/>
              </a:lnSpc>
            </a:pPr>
            <a:r>
              <a:rPr lang="en-US" sz="1800" b="0" i="0" u="none" strike="noStrike">
                <a:solidFill>
                  <a:srgbClr val="DCDCDC"/>
                </a:solidFill>
                <a:latin typeface="Roboto"/>
                <a:ea typeface="Roboto"/>
                <a:cs typeface="Roboto"/>
                <a:sym typeface="Roboto"/>
              </a:rPr>
              <a:t>loader = UnstructuredHTMLLoader(</a:t>
            </a:r>
            <a:r>
              <a:rPr lang="en-US" sz="1800" b="0" i="0" u="none" strike="noStrike">
                <a:solidFill>
                  <a:srgbClr val="98C379"/>
                </a:solidFill>
                <a:latin typeface="Roboto"/>
                <a:ea typeface="Roboto"/>
                <a:cs typeface="Roboto"/>
                <a:sym typeface="Roboto"/>
              </a:rPr>
              <a:t>"../example_data/rag_introduce.html"</a:t>
            </a:r>
            <a:r>
              <a:rPr lang="en-US" sz="1800" b="0" i="0" u="none" strike="noStrike">
                <a:solidFill>
                  <a:srgbClr val="DCDCDC"/>
                </a:solidFill>
                <a:latin typeface="Roboto"/>
                <a:ea typeface="Roboto"/>
                <a:cs typeface="Roboto"/>
                <a:sym typeface="Roboto"/>
              </a:rPr>
              <a:t>)</a:t>
            </a:r>
            <a:endParaRPr lang="en-US" sz="1800" b="0" i="0" u="none" strike="noStrike">
              <a:solidFill>
                <a:srgbClr val="DCDCDC"/>
              </a:solidFill>
              <a:latin typeface="Roboto"/>
              <a:ea typeface="Roboto"/>
              <a:cs typeface="Roboto"/>
              <a:sym typeface="Roboto"/>
            </a:endParaRPr>
          </a:p>
          <a:p>
            <a:pPr indent="0" algn="l">
              <a:lnSpc>
                <a:spcPct val="108000"/>
              </a:lnSpc>
            </a:pPr>
            <a:r>
              <a:rPr lang="en-US" sz="1800" b="0" i="0" u="none" strike="noStrike">
                <a:solidFill>
                  <a:srgbClr val="DCDCDC"/>
                </a:solidFill>
                <a:latin typeface="Roboto"/>
                <a:ea typeface="Roboto"/>
                <a:cs typeface="Roboto"/>
                <a:sym typeface="Roboto"/>
              </a:rPr>
              <a:t>page = loader.load()</a:t>
            </a:r>
            <a:endParaRPr lang="en-US" sz="1800" b="0" i="0" u="none" strike="noStrike">
              <a:solidFill>
                <a:srgbClr val="DCDCDC"/>
              </a:solidFill>
              <a:latin typeface="Roboto"/>
              <a:ea typeface="Roboto"/>
              <a:cs typeface="Roboto"/>
              <a:sym typeface="Roboto"/>
            </a:endParaRPr>
          </a:p>
          <a:p>
            <a:pPr indent="0" algn="l">
              <a:lnSpc>
                <a:spcPct val="108000"/>
              </a:lnSpc>
            </a:pPr>
            <a:r>
              <a:rPr lang="en-US" sz="1800" b="0" i="0" u="none" strike="noStrike">
                <a:solidFill>
                  <a:srgbClr val="757575"/>
                </a:solidFill>
                <a:latin typeface="Roboto"/>
                <a:ea typeface="Roboto"/>
                <a:cs typeface="Roboto"/>
                <a:sym typeface="Roboto"/>
              </a:rPr>
              <a:t># 查看加载的内容</a:t>
            </a:r>
            <a:endParaRPr lang="en-US" sz="1800" b="0" i="0" u="none" strike="noStrike">
              <a:solidFill>
                <a:srgbClr val="757575"/>
              </a:solidFill>
              <a:latin typeface="Roboto"/>
              <a:ea typeface="Roboto"/>
              <a:cs typeface="Roboto"/>
              <a:sym typeface="Roboto"/>
            </a:endParaRPr>
          </a:p>
          <a:p>
            <a:pPr indent="0" algn="l">
              <a:lnSpc>
                <a:spcPct val="108000"/>
              </a:lnSpc>
            </a:pPr>
            <a:r>
              <a:rPr lang="en-US" sz="1800" b="0" i="0" u="none" strike="noStrike">
                <a:solidFill>
                  <a:srgbClr val="DCDCDC"/>
                </a:solidFill>
                <a:latin typeface="Roboto"/>
                <a:ea typeface="Roboto"/>
                <a:cs typeface="Roboto"/>
                <a:sym typeface="Roboto"/>
              </a:rPr>
              <a:t>print(page[0].page_content)</a:t>
            </a:r>
            <a:endParaRPr lang="en-US" sz="1800" b="0" i="0" u="none" strike="noStrike">
              <a:solidFill>
                <a:srgbClr val="DCDCDC"/>
              </a:solidFill>
              <a:latin typeface="Roboto"/>
              <a:ea typeface="Roboto"/>
              <a:cs typeface="Roboto"/>
              <a:sym typeface="Roboto"/>
            </a:endParaRPr>
          </a:p>
        </p:txBody>
      </p:sp>
      <p:sp>
        <p:nvSpPr>
          <p:cNvPr id="9" name="AutoShape 9"/>
          <p:cNvSpPr/>
          <p:nvPr/>
        </p:nvSpPr>
        <p:spPr>
          <a:xfrm>
            <a:off x="0" y="6604000"/>
            <a:ext cx="12192000" cy="254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842000" y="5461000"/>
            <a:ext cx="508000" cy="50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6032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BSHTMLLoader</a:t>
            </a:r>
            <a:endParaRPr lang="en-US" sz="1100"/>
          </a:p>
        </p:txBody>
      </p:sp>
      <p:sp>
        <p:nvSpPr>
          <p:cNvPr id="3" name="AutoShape 3"/>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757575"/>
                </a:solidFill>
                <a:latin typeface="Noto Sans SC"/>
                <a:ea typeface="Noto Sans SC"/>
                <a:cs typeface="Noto Sans SC"/>
                <a:sym typeface="Noto Sans SC"/>
              </a:rPr>
              <a:t>基于 BeautifulSoup4 的 HTML 解析器，能自动提取页面标题作为元数据，便于理解文档内容。</a:t>
            </a:r>
            <a:endParaRPr lang="en-US" sz="1100"/>
          </a:p>
        </p:txBody>
      </p:sp>
      <p:sp>
        <p:nvSpPr>
          <p:cNvPr id="4" name="AutoShape 4"/>
          <p:cNvSpPr/>
          <p:nvPr/>
        </p:nvSpPr>
        <p:spPr>
          <a:xfrm>
            <a:off x="762000" y="2159000"/>
            <a:ext cx="5080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1016000" y="2349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代码示例</a:t>
            </a:r>
            <a:endParaRPr lang="en-US" sz="1100"/>
          </a:p>
        </p:txBody>
      </p:sp>
      <p:sp>
        <p:nvSpPr>
          <p:cNvPr id="6" name="AutoShape 6"/>
          <p:cNvSpPr/>
          <p:nvPr/>
        </p:nvSpPr>
        <p:spPr>
          <a:xfrm>
            <a:off x="1016000" y="2794000"/>
            <a:ext cx="4572000" cy="190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646464"/>
                </a:solidFill>
                <a:latin typeface="Roboto"/>
                <a:ea typeface="Roboto"/>
                <a:cs typeface="Roboto"/>
                <a:sym typeface="Roboto"/>
              </a:rPr>
              <a:t>from langchain_community.document_loaders import BSHTMLLoader</a:t>
            </a:r>
            <a:endParaRPr lang="en-US" sz="1100"/>
          </a:p>
          <a:p>
            <a:pPr indent="0" algn="l">
              <a:lnSpc>
                <a:spcPct val="108000"/>
              </a:lnSpc>
            </a:pPr>
            <a:r>
              <a:rPr lang="en-US" sz="1400" b="0" i="0" u="none" strike="noStrike">
                <a:solidFill>
                  <a:srgbClr val="646464"/>
                </a:solidFill>
                <a:latin typeface="Roboto"/>
                <a:ea typeface="Roboto"/>
                <a:cs typeface="Roboto"/>
                <a:sym typeface="Roboto"/>
              </a:rPr>
              <a:t>loader = BSHTMLLoader("example.html")</a:t>
            </a:r>
            <a:endParaRPr lang="en-US" sz="1400" b="0" i="0" u="none" strike="noStrike">
              <a:solidFill>
                <a:srgbClr val="646464"/>
              </a:solidFill>
              <a:latin typeface="Roboto"/>
              <a:ea typeface="Roboto"/>
              <a:cs typeface="Roboto"/>
              <a:sym typeface="Roboto"/>
            </a:endParaRPr>
          </a:p>
          <a:p>
            <a:pPr indent="0" algn="l">
              <a:lnSpc>
                <a:spcPct val="108000"/>
              </a:lnSpc>
            </a:pPr>
            <a:r>
              <a:rPr lang="en-US" sz="1400" b="0" i="0" u="none" strike="noStrike">
                <a:solidFill>
                  <a:srgbClr val="646464"/>
                </a:solidFill>
                <a:latin typeface="Roboto"/>
                <a:ea typeface="Roboto"/>
                <a:cs typeface="Roboto"/>
                <a:sym typeface="Roboto"/>
              </a:rPr>
              <a:t>page = loader.load()</a:t>
            </a:r>
            <a:endParaRPr lang="en-US" sz="1400" b="0" i="0" u="none" strike="noStrike">
              <a:solidFill>
                <a:srgbClr val="646464"/>
              </a:solidFill>
              <a:latin typeface="Roboto"/>
              <a:ea typeface="Roboto"/>
              <a:cs typeface="Roboto"/>
              <a:sym typeface="Roboto"/>
            </a:endParaRPr>
          </a:p>
          <a:p>
            <a:pPr indent="0" algn="l">
              <a:lnSpc>
                <a:spcPct val="108000"/>
              </a:lnSpc>
            </a:pPr>
            <a:r>
              <a:rPr lang="en-US" sz="1400" b="0" i="0" u="none" strike="noStrike">
                <a:solidFill>
                  <a:srgbClr val="646464"/>
                </a:solidFill>
                <a:latin typeface="Roboto"/>
                <a:ea typeface="Roboto"/>
                <a:cs typeface="Roboto"/>
                <a:sym typeface="Roboto"/>
              </a:rPr>
              <a:t>print("标题：", page[0].metadata.get('title'))</a:t>
            </a:r>
            <a:endParaRPr lang="en-US" sz="1400" b="0" i="0" u="none" strike="noStrike">
              <a:solidFill>
                <a:srgbClr val="646464"/>
              </a:solidFill>
              <a:latin typeface="Roboto"/>
              <a:ea typeface="Roboto"/>
              <a:cs typeface="Roboto"/>
              <a:sym typeface="Roboto"/>
            </a:endParaRPr>
          </a:p>
        </p:txBody>
      </p:sp>
      <p:sp>
        <p:nvSpPr>
          <p:cNvPr id="7" name="AutoShape 7"/>
          <p:cNvSpPr/>
          <p:nvPr/>
        </p:nvSpPr>
        <p:spPr>
          <a:xfrm>
            <a:off x="6350000" y="2159000"/>
            <a:ext cx="5080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8" name="AutoShape 8"/>
          <p:cNvSpPr/>
          <p:nvPr/>
        </p:nvSpPr>
        <p:spPr>
          <a:xfrm>
            <a:off x="6604000" y="2349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核心优势</a:t>
            </a:r>
            <a:endParaRPr lang="en-US" sz="1100"/>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04000" y="2921000"/>
            <a:ext cx="304800" cy="304800"/>
          </a:xfrm>
          <a:prstGeom prst="rect">
            <a:avLst/>
          </a:prstGeom>
        </p:spPr>
      </p:pic>
      <p:sp>
        <p:nvSpPr>
          <p:cNvPr id="10" name="AutoShape 10"/>
          <p:cNvSpPr/>
          <p:nvPr/>
        </p:nvSpPr>
        <p:spPr>
          <a:xfrm>
            <a:off x="6985000" y="2857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24242"/>
                </a:solidFill>
                <a:latin typeface="Noto Sans SC"/>
                <a:ea typeface="Noto Sans SC"/>
                <a:cs typeface="Noto Sans SC"/>
                <a:sym typeface="Noto Sans SC"/>
              </a:rPr>
              <a:t>结构化解析</a:t>
            </a:r>
            <a:endParaRPr lang="en-US" sz="1100"/>
          </a:p>
        </p:txBody>
      </p:sp>
      <p:sp>
        <p:nvSpPr>
          <p:cNvPr id="11" name="AutoShape 11"/>
          <p:cNvSpPr/>
          <p:nvPr/>
        </p:nvSpPr>
        <p:spPr>
          <a:xfrm>
            <a:off x="6985000" y="32385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利用 BeautifulSoup4 强大的解析能力，准确提取 HTML 结构内容。</a:t>
            </a:r>
            <a:endParaRPr lang="en-US" sz="1100"/>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3810000"/>
            <a:ext cx="304800" cy="304800"/>
          </a:xfrm>
          <a:prstGeom prst="rect">
            <a:avLst/>
          </a:prstGeom>
        </p:spPr>
      </p:pic>
      <p:sp>
        <p:nvSpPr>
          <p:cNvPr id="13" name="AutoShape 13"/>
          <p:cNvSpPr/>
          <p:nvPr/>
        </p:nvSpPr>
        <p:spPr>
          <a:xfrm>
            <a:off x="6985000" y="3746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24242"/>
                </a:solidFill>
                <a:latin typeface="Noto Sans SC"/>
                <a:ea typeface="Noto Sans SC"/>
                <a:cs typeface="Noto Sans SC"/>
                <a:sym typeface="Noto Sans SC"/>
              </a:rPr>
              <a:t>自动提取标题</a:t>
            </a:r>
            <a:endParaRPr lang="en-US" sz="1100"/>
          </a:p>
        </p:txBody>
      </p:sp>
      <p:sp>
        <p:nvSpPr>
          <p:cNvPr id="14" name="AutoShape 14"/>
          <p:cNvSpPr/>
          <p:nvPr/>
        </p:nvSpPr>
        <p:spPr>
          <a:xfrm>
            <a:off x="6985000" y="41275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自动抓取页面 Title 标签内容，作为文档元数据，提升检索效率。</a:t>
            </a:r>
            <a:endParaRPr lang="en-US" sz="1100"/>
          </a:p>
        </p:txBody>
      </p:sp>
      <p:sp>
        <p:nvSpPr>
          <p:cNvPr id="15" name="AutoShape 15"/>
          <p:cNvSpPr/>
          <p:nvPr/>
        </p:nvSpPr>
        <p:spPr>
          <a:xfrm>
            <a:off x="762000" y="5461000"/>
            <a:ext cx="10668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762000" y="57150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适用场景：需要解析复杂 HTML 结构并获取页面标题的 RAG 应用场景。</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40259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2.1.4 加载JSON</a:t>
            </a:r>
            <a:endParaRPr lang="en-US" sz="1100"/>
          </a:p>
        </p:txBody>
      </p:sp>
      <p:sp>
        <p:nvSpPr>
          <p:cNvPr id="3" name="AutoShape 3"/>
          <p:cNvSpPr/>
          <p:nvPr/>
        </p:nvSpPr>
        <p:spPr>
          <a:xfrm>
            <a:off x="762000" y="1651000"/>
            <a:ext cx="3302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1905000"/>
            <a:ext cx="635000" cy="635000"/>
          </a:xfrm>
          <a:prstGeom prst="rect">
            <a:avLst/>
          </a:prstGeom>
        </p:spPr>
      </p:pic>
      <p:sp>
        <p:nvSpPr>
          <p:cNvPr id="5" name="AutoShape 5"/>
          <p:cNvSpPr/>
          <p:nvPr/>
        </p:nvSpPr>
        <p:spPr>
          <a:xfrm>
            <a:off x="889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0277BD"/>
                </a:solidFill>
                <a:latin typeface="Noto Sans SC"/>
                <a:ea typeface="Noto Sans SC"/>
                <a:cs typeface="Noto Sans SC"/>
                <a:sym typeface="Noto Sans SC"/>
              </a:rPr>
              <a:t>JSON格式</a:t>
            </a:r>
            <a:endParaRPr lang="en-US" sz="1100"/>
          </a:p>
        </p:txBody>
      </p:sp>
      <p:sp>
        <p:nvSpPr>
          <p:cNvPr id="6" name="AutoShape 6"/>
          <p:cNvSpPr/>
          <p:nvPr/>
        </p:nvSpPr>
        <p:spPr>
          <a:xfrm>
            <a:off x="952500" y="3111500"/>
            <a:ext cx="2921000" cy="1143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JavaScript对象表示法，是一种轻量级的数据交换格式，易于阅读和编写。</a:t>
            </a:r>
            <a:endParaRPr lang="en-US" sz="1100"/>
          </a:p>
        </p:txBody>
      </p:sp>
      <p:sp>
        <p:nvSpPr>
          <p:cNvPr id="7" name="AutoShape 7"/>
          <p:cNvSpPr/>
          <p:nvPr/>
        </p:nvSpPr>
        <p:spPr>
          <a:xfrm>
            <a:off x="4445000" y="1651000"/>
            <a:ext cx="3302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1905000"/>
            <a:ext cx="635000" cy="635000"/>
          </a:xfrm>
          <a:prstGeom prst="rect">
            <a:avLst/>
          </a:prstGeom>
        </p:spPr>
      </p:pic>
      <p:sp>
        <p:nvSpPr>
          <p:cNvPr id="9" name="AutoShape 9"/>
          <p:cNvSpPr/>
          <p:nvPr/>
        </p:nvSpPr>
        <p:spPr>
          <a:xfrm>
            <a:off x="4572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0277BD"/>
                </a:solidFill>
                <a:latin typeface="Noto Sans SC"/>
                <a:ea typeface="Noto Sans SC"/>
                <a:cs typeface="Noto Sans SC"/>
                <a:sym typeface="Noto Sans SC"/>
              </a:rPr>
              <a:t>专用加载器</a:t>
            </a:r>
            <a:endParaRPr lang="en-US" sz="1100"/>
          </a:p>
        </p:txBody>
      </p:sp>
      <p:sp>
        <p:nvSpPr>
          <p:cNvPr id="10" name="AutoShape 10"/>
          <p:cNvSpPr/>
          <p:nvPr/>
        </p:nvSpPr>
        <p:spPr>
          <a:xfrm>
            <a:off x="4635500" y="3111500"/>
            <a:ext cx="2921000" cy="1143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使用</a:t>
            </a:r>
            <a:r>
              <a:rPr lang="en-US" sz="1800" b="1" i="0" u="none" strike="noStrike">
                <a:solidFill>
                  <a:srgbClr val="0277BD"/>
                </a:solidFill>
                <a:latin typeface="Noto Sans SC"/>
                <a:ea typeface="Noto Sans SC"/>
                <a:cs typeface="Noto Sans SC"/>
                <a:sym typeface="Noto Sans SC"/>
              </a:rPr>
              <a:t>JSONLoader</a:t>
            </a:r>
            <a:r>
              <a:rPr lang="en-US" sz="1800" b="0" i="0" u="none" strike="noStrike">
                <a:solidFill>
                  <a:srgbClr val="757575"/>
                </a:solidFill>
                <a:latin typeface="Noto Sans SC"/>
                <a:ea typeface="Noto Sans SC"/>
                <a:cs typeface="Noto Sans SC"/>
                <a:sym typeface="Noto Sans SC"/>
              </a:rPr>
              <a:t>，基于 jq 语法，灵活提取特定字段数据。</a:t>
            </a:r>
            <a:endParaRPr lang="en-US" sz="1100"/>
          </a:p>
        </p:txBody>
      </p:sp>
      <p:sp>
        <p:nvSpPr>
          <p:cNvPr id="11" name="AutoShape 11"/>
          <p:cNvSpPr/>
          <p:nvPr/>
        </p:nvSpPr>
        <p:spPr>
          <a:xfrm>
            <a:off x="8128000" y="1651000"/>
            <a:ext cx="3302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1905000"/>
            <a:ext cx="635000" cy="635000"/>
          </a:xfrm>
          <a:prstGeom prst="rect">
            <a:avLst/>
          </a:prstGeom>
        </p:spPr>
      </p:pic>
      <p:sp>
        <p:nvSpPr>
          <p:cNvPr id="13" name="AutoShape 13"/>
          <p:cNvSpPr/>
          <p:nvPr/>
        </p:nvSpPr>
        <p:spPr>
          <a:xfrm>
            <a:off x="8255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0277BD"/>
                </a:solidFill>
                <a:latin typeface="Noto Sans SC"/>
                <a:ea typeface="Noto Sans SC"/>
                <a:cs typeface="Noto Sans SC"/>
                <a:sym typeface="Noto Sans SC"/>
              </a:rPr>
              <a:t>依赖安装</a:t>
            </a:r>
            <a:endParaRPr lang="en-US" sz="1100"/>
          </a:p>
        </p:txBody>
      </p:sp>
      <p:sp>
        <p:nvSpPr>
          <p:cNvPr id="14" name="AutoShape 14"/>
          <p:cNvSpPr/>
          <p:nvPr/>
        </p:nvSpPr>
        <p:spPr>
          <a:xfrm>
            <a:off x="8318500" y="3111500"/>
            <a:ext cx="2921000" cy="1143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使用前需安装 jq 库以支持复杂查询：</a:t>
            </a:r>
            <a:endParaRPr lang="en-US" sz="1100"/>
          </a:p>
        </p:txBody>
      </p:sp>
      <p:sp>
        <p:nvSpPr>
          <p:cNvPr id="15" name="AutoShape 15"/>
          <p:cNvSpPr/>
          <p:nvPr/>
        </p:nvSpPr>
        <p:spPr>
          <a:xfrm>
            <a:off x="762000" y="4826000"/>
            <a:ext cx="10668000" cy="1016000"/>
          </a:xfrm>
          <a:prstGeom prst="roundRect">
            <a:avLst>
              <a:gd name="adj" fmla="val 12500"/>
            </a:avLst>
          </a:prstGeom>
          <a:solidFill>
            <a:srgbClr val="0277BD">
              <a:alpha val="100000"/>
            </a:srgbClr>
          </a:solidFill>
          <a:ln w="25400" cap="flat" cmpd="sng">
            <a:noFill/>
            <a:prstDash val="solid"/>
            <a:round/>
          </a:ln>
          <a:effectLst>
            <a:outerShdw blurRad="1016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143500"/>
            <a:ext cx="381000" cy="381000"/>
          </a:xfrm>
          <a:prstGeom prst="rect">
            <a:avLst/>
          </a:prstGeom>
        </p:spPr>
      </p:pic>
      <p:sp>
        <p:nvSpPr>
          <p:cNvPr id="17" name="AutoShape 17"/>
          <p:cNvSpPr/>
          <p:nvPr/>
        </p:nvSpPr>
        <p:spPr>
          <a:xfrm>
            <a:off x="1524000" y="4953000"/>
            <a:ext cx="965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FFFF"/>
                </a:solidFill>
                <a:latin typeface="Noto Sans SC"/>
                <a:ea typeface="Noto Sans SC"/>
                <a:cs typeface="Noto Sans SC"/>
                <a:sym typeface="Noto Sans SC"/>
              </a:rPr>
              <a:t>pip3 install jq</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022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基础代码示例</a:t>
            </a:r>
            <a:endParaRPr lang="en-US" sz="1100"/>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651000"/>
            <a:ext cx="609600" cy="609600"/>
          </a:xfrm>
          <a:prstGeom prst="rect">
            <a:avLst/>
          </a:prstGeom>
        </p:spPr>
      </p:pic>
      <p:sp>
        <p:nvSpPr>
          <p:cNvPr id="4" name="AutoShape 4"/>
          <p:cNvSpPr/>
          <p:nvPr/>
        </p:nvSpPr>
        <p:spPr>
          <a:xfrm>
            <a:off x="1524000" y="1651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使用 jq_schema 提取数据</a:t>
            </a:r>
            <a:endParaRPr lang="en-US" sz="1100"/>
          </a:p>
        </p:txBody>
      </p:sp>
      <p:sp>
        <p:nvSpPr>
          <p:cNvPr id="5" name="AutoShape 5"/>
          <p:cNvSpPr/>
          <p:nvPr/>
        </p:nvSpPr>
        <p:spPr>
          <a:xfrm>
            <a:off x="762000" y="2413000"/>
            <a:ext cx="4318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757575"/>
                </a:solidFill>
                <a:latin typeface="Noto Sans SC"/>
                <a:ea typeface="Noto Sans SC"/>
                <a:cs typeface="Noto Sans SC"/>
                <a:sym typeface="Noto Sans SC"/>
              </a:rPr>
              <a:t>通过 LangChain 的 JSONLoader，结合强大的 jq 语法，精准定位并提取 JSON 文件中 liveStreamQA 数组内每个对象的 answer 字段。</a:t>
            </a:r>
            <a:endParaRPr lang="en-US" sz="1100"/>
          </a:p>
        </p:txBody>
      </p:sp>
      <p:sp>
        <p:nvSpPr>
          <p:cNvPr id="6" name="AutoShape 6"/>
          <p:cNvSpPr/>
          <p:nvPr/>
        </p:nvSpPr>
        <p:spPr>
          <a:xfrm>
            <a:off x="5334000" y="1524000"/>
            <a:ext cx="6096000" cy="3556000"/>
          </a:xfrm>
          <a:prstGeom prst="roundRect">
            <a:avLst>
              <a:gd name="adj" fmla="val 3571"/>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sp>
        <p:nvSpPr>
          <p:cNvPr id="7" name="AutoShape 7"/>
          <p:cNvSpPr/>
          <p:nvPr/>
        </p:nvSpPr>
        <p:spPr>
          <a:xfrm>
            <a:off x="5334000" y="1524000"/>
            <a:ext cx="6096000" cy="457200"/>
          </a:xfrm>
          <a:prstGeom prst="roundRect">
            <a:avLst>
              <a:gd name="adj" fmla="val 27777"/>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524500" y="15494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Roboto"/>
                <a:ea typeface="Roboto"/>
                <a:cs typeface="Roboto"/>
                <a:sym typeface="Roboto"/>
              </a:rPr>
              <a:t>Python Code Example</a:t>
            </a:r>
            <a:endParaRPr lang="en-US" sz="1100"/>
          </a:p>
        </p:txBody>
      </p:sp>
      <p:sp>
        <p:nvSpPr>
          <p:cNvPr id="9" name="AutoShape 9"/>
          <p:cNvSpPr/>
          <p:nvPr/>
        </p:nvSpPr>
        <p:spPr>
          <a:xfrm>
            <a:off x="5524500" y="2095500"/>
            <a:ext cx="5715000" cy="279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0" i="0" u="none" strike="noStrike">
                <a:solidFill>
                  <a:srgbClr val="757575"/>
                </a:solidFill>
                <a:latin typeface="Roboto"/>
                <a:ea typeface="Roboto"/>
                <a:cs typeface="Roboto"/>
                <a:sym typeface="Roboto"/>
              </a:rPr>
              <a:t>from langchain_community.document_loaders import JSONLoader</a:t>
            </a:r>
            <a:endParaRPr lang="en-US" sz="1100"/>
          </a:p>
          <a:p>
            <a:pPr indent="0" algn="l">
              <a:lnSpc>
                <a:spcPct val="100000"/>
              </a:lnSpc>
            </a:pPr>
          </a:p>
          <a:p>
            <a:pPr indent="0" algn="l">
              <a:lnSpc>
                <a:spcPct val="100000"/>
              </a:lnSpc>
            </a:pPr>
            <a:r>
              <a:rPr lang="en-US" sz="1800" b="0" i="0" u="none" strike="noStrike">
                <a:solidFill>
                  <a:srgbClr val="757575"/>
                </a:solidFill>
                <a:latin typeface="Roboto"/>
                <a:ea typeface="Roboto"/>
                <a:cs typeface="Roboto"/>
                <a:sym typeface="Roboto"/>
              </a:rPr>
              <a:t># 使用jq语法提取特定字段</a:t>
            </a:r>
            <a:endParaRPr lang="en-US" sz="1800" b="0" i="0" u="none" strike="noStrike">
              <a:solidFill>
                <a:srgbClr val="757575"/>
              </a:solidFill>
              <a:latin typeface="Roboto"/>
              <a:ea typeface="Roboto"/>
              <a:cs typeface="Roboto"/>
              <a:sym typeface="Roboto"/>
            </a:endParaRPr>
          </a:p>
          <a:p>
            <a:pPr indent="0" algn="l">
              <a:lnSpc>
                <a:spcPct val="100000"/>
              </a:lnSpc>
            </a:pPr>
            <a:r>
              <a:rPr lang="en-US" sz="1800" b="0" i="0" u="none" strike="noStrike">
                <a:solidFill>
                  <a:srgbClr val="757575"/>
                </a:solidFill>
                <a:latin typeface="Roboto"/>
                <a:ea typeface="Roboto"/>
                <a:cs typeface="Roboto"/>
                <a:sym typeface="Roboto"/>
              </a:rPr>
              <a:t>loader = JSONLoader(</a:t>
            </a:r>
            <a:endParaRPr lang="en-US" sz="1800" b="0" i="0" u="none" strike="noStrike">
              <a:solidFill>
                <a:srgbClr val="757575"/>
              </a:solidFill>
              <a:latin typeface="Roboto"/>
              <a:ea typeface="Roboto"/>
              <a:cs typeface="Roboto"/>
              <a:sym typeface="Roboto"/>
            </a:endParaRPr>
          </a:p>
          <a:p>
            <a:pPr indent="0" algn="l">
              <a:lnSpc>
                <a:spcPct val="100000"/>
              </a:lnSpc>
            </a:pPr>
            <a:r>
              <a:rPr lang="en-US" sz="1800" b="0" i="0" u="none" strike="noStrike">
                <a:solidFill>
                  <a:srgbClr val="757575"/>
                </a:solidFill>
                <a:latin typeface="Roboto"/>
                <a:ea typeface="Roboto"/>
                <a:cs typeface="Roboto"/>
                <a:sym typeface="Roboto"/>
              </a:rPr>
              <a:t>file_path='../example_data/chat.json',</a:t>
            </a:r>
            <a:endParaRPr lang="en-US" sz="1800" b="0" i="0" u="none" strike="noStrike">
              <a:solidFill>
                <a:srgbClr val="757575"/>
              </a:solidFill>
              <a:latin typeface="Roboto"/>
              <a:ea typeface="Roboto"/>
              <a:cs typeface="Roboto"/>
              <a:sym typeface="Roboto"/>
            </a:endParaRPr>
          </a:p>
          <a:p>
            <a:pPr indent="0" algn="l">
              <a:lnSpc>
                <a:spcPct val="100000"/>
              </a:lnSpc>
            </a:pPr>
            <a:r>
              <a:rPr lang="en-US" sz="1800" b="1" i="0" u="none" strike="noStrike">
                <a:solidFill>
                  <a:srgbClr val="0277BD"/>
                </a:solidFill>
                <a:latin typeface="Roboto"/>
                <a:ea typeface="Roboto"/>
                <a:cs typeface="Roboto"/>
                <a:sym typeface="Roboto"/>
              </a:rPr>
              <a:t>jq_schema='.liveStreamQA[].answer'</a:t>
            </a:r>
            <a:endParaRPr lang="en-US" sz="1800" b="1" i="0" u="none" strike="noStrike">
              <a:solidFill>
                <a:srgbClr val="0277BD"/>
              </a:solidFill>
              <a:latin typeface="Roboto"/>
              <a:ea typeface="Roboto"/>
              <a:cs typeface="Roboto"/>
              <a:sym typeface="Roboto"/>
            </a:endParaRPr>
          </a:p>
          <a:p>
            <a:pPr indent="0" algn="l">
              <a:lnSpc>
                <a:spcPct val="100000"/>
              </a:lnSpc>
            </a:pPr>
            <a:r>
              <a:rPr lang="en-US" sz="1800" b="0" i="0" u="none" strike="noStrike">
                <a:solidFill>
                  <a:srgbClr val="757575"/>
                </a:solidFill>
                <a:latin typeface="Roboto"/>
                <a:ea typeface="Roboto"/>
                <a:cs typeface="Roboto"/>
                <a:sym typeface="Roboto"/>
              </a:rPr>
              <a:t>)</a:t>
            </a:r>
            <a:endParaRPr lang="en-US" sz="1800" b="0" i="0" u="none" strike="noStrike">
              <a:solidFill>
                <a:srgbClr val="757575"/>
              </a:solidFill>
              <a:latin typeface="Roboto"/>
              <a:ea typeface="Roboto"/>
              <a:cs typeface="Roboto"/>
              <a:sym typeface="Roboto"/>
            </a:endParaRPr>
          </a:p>
          <a:p>
            <a:pPr indent="0" algn="l">
              <a:lnSpc>
                <a:spcPct val="100000"/>
              </a:lnSpc>
            </a:pPr>
            <a:r>
              <a:rPr lang="en-US" sz="1800" b="0" i="0" u="none" strike="noStrike">
                <a:solidFill>
                  <a:srgbClr val="757575"/>
                </a:solidFill>
                <a:latin typeface="Roboto"/>
                <a:ea typeface="Roboto"/>
                <a:cs typeface="Roboto"/>
                <a:sym typeface="Roboto"/>
              </a:rPr>
              <a:t>data = loader.load()</a:t>
            </a:r>
            <a:endParaRPr lang="en-US" sz="1800" b="0" i="0" u="none" strike="noStrike">
              <a:solidFill>
                <a:srgbClr val="757575"/>
              </a:solidFill>
              <a:latin typeface="Roboto"/>
              <a:ea typeface="Roboto"/>
              <a:cs typeface="Roboto"/>
              <a:sym typeface="Roboto"/>
            </a:endParaRPr>
          </a:p>
        </p:txBody>
      </p:sp>
      <p:sp>
        <p:nvSpPr>
          <p:cNvPr id="10" name="AutoShape 10"/>
          <p:cNvSpPr/>
          <p:nvPr/>
        </p:nvSpPr>
        <p:spPr>
          <a:xfrm>
            <a:off x="0" y="6604000"/>
            <a:ext cx="12192000" cy="254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01752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自定义元数据</a:t>
            </a:r>
            <a:endParaRPr lang="en-US" sz="1100"/>
          </a:p>
        </p:txBody>
      </p:sp>
      <p:sp>
        <p:nvSpPr>
          <p:cNvPr id="3" name="AutoShape 3"/>
          <p:cNvSpPr/>
          <p:nvPr/>
        </p:nvSpPr>
        <p:spPr>
          <a:xfrm>
            <a:off x="762000" y="1524000"/>
            <a:ext cx="3810000" cy="3556000"/>
          </a:xfrm>
          <a:prstGeom prst="roundRect">
            <a:avLst>
              <a:gd name="adj" fmla="val 3571"/>
            </a:avLst>
          </a:prstGeom>
          <a:solidFill>
            <a:srgbClr val="FFFFFF">
              <a:alpha val="80000"/>
            </a:srgbClr>
          </a:solidFill>
          <a:ln cap="flat" cmpd="sng">
            <a:solidFill>
              <a:srgbClr val="E6CFCF">
                <a:alpha val="8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16000" y="17780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核心功能解析</a:t>
            </a:r>
            <a:endParaRPr lang="en-US" sz="1100"/>
          </a:p>
        </p:txBody>
      </p:sp>
      <p:sp>
        <p:nvSpPr>
          <p:cNvPr id="5" name="AutoShape 5"/>
          <p:cNvSpPr/>
          <p:nvPr/>
        </p:nvSpPr>
        <p:spPr>
          <a:xfrm>
            <a:off x="1016000" y="2286000"/>
            <a:ext cx="3302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通过</a:t>
            </a:r>
            <a:r>
              <a:rPr lang="en-US" sz="1600" b="1" i="0" u="none" strike="noStrike">
                <a:solidFill>
                  <a:srgbClr val="0277BD"/>
                </a:solidFill>
                <a:latin typeface="Roboto"/>
                <a:ea typeface="Roboto"/>
                <a:cs typeface="Roboto"/>
                <a:sym typeface="Roboto"/>
              </a:rPr>
              <a:t>metadata_func</a:t>
            </a:r>
            <a:r>
              <a:rPr lang="en-US" sz="1600" b="0" i="0" u="none" strike="noStrike">
                <a:solidFill>
                  <a:srgbClr val="757575"/>
                </a:solidFill>
                <a:latin typeface="Noto Sans SC"/>
                <a:ea typeface="Noto Sans SC"/>
                <a:cs typeface="Noto Sans SC"/>
                <a:sym typeface="Noto Sans SC"/>
              </a:rPr>
              <a:t>函数，您可以：</a:t>
            </a:r>
            <a:endParaRPr lang="en-US" sz="1100"/>
          </a:p>
          <a:p>
            <a:pPr marL="203200" indent="-203200" algn="l">
              <a:lnSpc>
                <a:spcPct val="125000"/>
              </a:lnSpc>
              <a:buClr>
                <a:srgbClr val="757575"/>
              </a:buClr>
              <a:buChar char="•"/>
            </a:pPr>
            <a:r>
              <a:rPr lang="en-US" sz="1600" b="0" i="0" u="none" strike="noStrike">
                <a:solidFill>
                  <a:srgbClr val="757575"/>
                </a:solidFill>
                <a:latin typeface="Noto Sans SC"/>
                <a:ea typeface="Noto Sans SC"/>
                <a:cs typeface="Noto Sans SC"/>
                <a:sym typeface="Noto Sans SC"/>
              </a:rPr>
              <a:t>从原始 JSON 记录中提取关键信息</a:t>
            </a:r>
            <a:endParaRPr lang="en-US" sz="1600" b="0" i="0" u="none" strike="noStrike">
              <a:solidFill>
                <a:srgbClr val="757575"/>
              </a:solidFill>
              <a:latin typeface="Noto Sans SC"/>
              <a:ea typeface="Noto Sans SC"/>
              <a:cs typeface="Noto Sans SC"/>
              <a:sym typeface="Noto Sans SC"/>
            </a:endParaRPr>
          </a:p>
          <a:p>
            <a:pPr marL="203200" indent="-203200" algn="l">
              <a:lnSpc>
                <a:spcPct val="125000"/>
              </a:lnSpc>
              <a:buClr>
                <a:srgbClr val="757575"/>
              </a:buClr>
              <a:buChar char="•"/>
            </a:pPr>
            <a:r>
              <a:rPr lang="en-US" sz="1600" b="0" i="0" u="none" strike="noStrike">
                <a:solidFill>
                  <a:srgbClr val="757575"/>
                </a:solidFill>
                <a:latin typeface="Noto Sans SC"/>
                <a:ea typeface="Noto Sans SC"/>
                <a:cs typeface="Noto Sans SC"/>
                <a:sym typeface="Noto Sans SC"/>
              </a:rPr>
              <a:t>动态添加自定义字段到元数据</a:t>
            </a:r>
            <a:endParaRPr lang="en-US" sz="1600" b="0" i="0" u="none" strike="noStrike">
              <a:solidFill>
                <a:srgbClr val="757575"/>
              </a:solidFill>
              <a:latin typeface="Noto Sans SC"/>
              <a:ea typeface="Noto Sans SC"/>
              <a:cs typeface="Noto Sans SC"/>
              <a:sym typeface="Noto Sans SC"/>
            </a:endParaRPr>
          </a:p>
          <a:p>
            <a:pPr marL="203200" indent="-203200" algn="l">
              <a:lnSpc>
                <a:spcPct val="125000"/>
              </a:lnSpc>
              <a:buClr>
                <a:srgbClr val="757575"/>
              </a:buClr>
              <a:buChar char="•"/>
            </a:pPr>
            <a:r>
              <a:rPr lang="en-US" sz="1600" b="0" i="0" u="none" strike="noStrike">
                <a:solidFill>
                  <a:srgbClr val="757575"/>
                </a:solidFill>
                <a:latin typeface="Noto Sans SC"/>
                <a:ea typeface="Noto Sans SC"/>
                <a:cs typeface="Noto Sans SC"/>
                <a:sym typeface="Noto Sans SC"/>
              </a:rPr>
              <a:t>增强文档的可检索性与分析价值</a:t>
            </a:r>
            <a:endParaRPr lang="en-US" sz="1600" b="0" i="0" u="none" strike="noStrike">
              <a:solidFill>
                <a:srgbClr val="757575"/>
              </a:solidFill>
              <a:latin typeface="Noto Sans SC"/>
              <a:ea typeface="Noto Sans SC"/>
              <a:cs typeface="Noto Sans SC"/>
              <a:sym typeface="Noto Sans SC"/>
            </a:endParaRPr>
          </a:p>
        </p:txBody>
      </p:sp>
      <p:sp>
        <p:nvSpPr>
          <p:cNvPr id="6" name="AutoShape 6"/>
          <p:cNvSpPr/>
          <p:nvPr/>
        </p:nvSpPr>
        <p:spPr>
          <a:xfrm>
            <a:off x="4953000" y="1524000"/>
            <a:ext cx="6477000" cy="3556000"/>
          </a:xfrm>
          <a:prstGeom prst="roundRect">
            <a:avLst>
              <a:gd name="adj" fmla="val 3571"/>
            </a:avLst>
          </a:prstGeom>
          <a:solidFill>
            <a:srgbClr val="1E1E1E">
              <a:alpha val="100000"/>
            </a:srgbClr>
          </a:solidFill>
          <a:ln w="25400" cap="flat" cmpd="sng">
            <a:noFill/>
            <a:prstDash val="solid"/>
            <a:round/>
          </a:ln>
          <a:effectLst>
            <a:outerShdw blurRad="127000" dist="63500" dir="2700000" algn="tl" rotWithShape="0">
              <a:srgbClr val="000000">
                <a:alpha val="20000"/>
              </a:srgbClr>
            </a:outerShdw>
          </a:effectLst>
        </p:spPr>
        <p:txBody>
          <a:bodyPr vert="horz" wrap="square" lIns="63500" tIns="63500" rIns="63500" bIns="63500" rtlCol="0" anchor="ctr"/>
          <a:lstStyle/>
          <a:p>
            <a:pPr algn="ctr">
              <a:defRPr/>
            </a:pPr>
          </a:p>
        </p:txBody>
      </p:sp>
      <p:sp>
        <p:nvSpPr>
          <p:cNvPr id="7" name="AutoShape 7"/>
          <p:cNvSpPr/>
          <p:nvPr/>
        </p:nvSpPr>
        <p:spPr>
          <a:xfrm>
            <a:off x="4953000" y="1524000"/>
            <a:ext cx="6477000" cy="457200"/>
          </a:xfrm>
          <a:prstGeom prst="roundRect">
            <a:avLst>
              <a:gd name="adj" fmla="val 0"/>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43500" y="1625600"/>
            <a:ext cx="254000" cy="254000"/>
          </a:xfrm>
          <a:prstGeom prst="rect">
            <a:avLst/>
          </a:prstGeom>
        </p:spPr>
      </p:pic>
      <p:sp>
        <p:nvSpPr>
          <p:cNvPr id="9" name="AutoShape 9"/>
          <p:cNvSpPr/>
          <p:nvPr/>
        </p:nvSpPr>
        <p:spPr>
          <a:xfrm>
            <a:off x="5524500" y="16002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9E9E9E"/>
                </a:solidFill>
                <a:latin typeface="Roboto"/>
                <a:ea typeface="Roboto"/>
                <a:cs typeface="Roboto"/>
                <a:sym typeface="Roboto"/>
              </a:rPr>
              <a:t>Python 代码示例</a:t>
            </a:r>
            <a:endParaRPr lang="en-US" sz="1100"/>
          </a:p>
        </p:txBody>
      </p:sp>
      <p:sp>
        <p:nvSpPr>
          <p:cNvPr id="10" name="AutoShape 10"/>
          <p:cNvSpPr/>
          <p:nvPr/>
        </p:nvSpPr>
        <p:spPr>
          <a:xfrm>
            <a:off x="5143500" y="2095500"/>
            <a:ext cx="6096000" cy="279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C792EA"/>
                </a:solidFill>
                <a:latin typeface="Roboto"/>
                <a:ea typeface="Roboto"/>
                <a:cs typeface="Roboto"/>
                <a:sym typeface="Roboto"/>
              </a:rPr>
              <a:t>def</a:t>
            </a:r>
            <a:r>
              <a:rPr lang="en-US" sz="1400" b="0" i="0" u="none" strike="noStrike">
                <a:solidFill>
                  <a:srgbClr val="DCDCAA"/>
                </a:solidFill>
                <a:latin typeface="Roboto"/>
                <a:ea typeface="Roboto"/>
                <a:cs typeface="Roboto"/>
                <a:sym typeface="Roboto"/>
              </a:rPr>
              <a:t>metadata_func</a:t>
            </a:r>
            <a:r>
              <a:rPr lang="en-US" sz="1400" b="0" i="0" u="none" strike="noStrike">
                <a:solidFill>
                  <a:srgbClr val="D4D4D4"/>
                </a:solidFill>
                <a:latin typeface="Roboto"/>
                <a:ea typeface="Roboto"/>
                <a:cs typeface="Roboto"/>
                <a:sym typeface="Roboto"/>
              </a:rPr>
              <a:t>(record: dict, metadata: dict) -&gt; dict:</a:t>
            </a:r>
            <a:endParaRPr lang="en-US" sz="1100"/>
          </a:p>
          <a:p>
            <a:pPr indent="0" algn="l">
              <a:lnSpc>
                <a:spcPct val="100000"/>
              </a:lnSpc>
            </a:pPr>
            <a:r>
              <a:rPr lang="en-US" sz="1400" b="0" i="0" u="none" strike="noStrike">
                <a:solidFill>
                  <a:srgbClr val="6A9955"/>
                </a:solidFill>
                <a:latin typeface="Roboto"/>
                <a:ea typeface="Roboto"/>
                <a:cs typeface="Roboto"/>
                <a:sym typeface="Roboto"/>
              </a:rPr>
              <a:t># 提取信息添加到元数据</a:t>
            </a:r>
            <a:endParaRPr lang="en-US" sz="1400" b="0" i="0" u="none" strike="noStrike">
              <a:solidFill>
                <a:srgbClr val="6A9955"/>
              </a:solidFill>
              <a:latin typeface="Roboto"/>
              <a:ea typeface="Roboto"/>
              <a:cs typeface="Roboto"/>
              <a:sym typeface="Roboto"/>
            </a:endParaRPr>
          </a:p>
          <a:p>
            <a:pPr indent="0" algn="l">
              <a:lnSpc>
                <a:spcPct val="100000"/>
              </a:lnSpc>
            </a:pPr>
            <a:r>
              <a:rPr lang="en-US" sz="1400" b="0" i="0" u="none" strike="noStrike">
                <a:solidFill>
                  <a:srgbClr val="D4D4D4"/>
                </a:solidFill>
                <a:latin typeface="Roboto"/>
                <a:ea typeface="Roboto"/>
                <a:cs typeface="Roboto"/>
                <a:sym typeface="Roboto"/>
              </a:rPr>
              <a:t>metadata[</a:t>
            </a:r>
            <a:r>
              <a:rPr lang="en-US" sz="1400" b="0" i="0" u="none" strike="noStrike">
                <a:solidFill>
                  <a:srgbClr val="98C379"/>
                </a:solidFill>
                <a:latin typeface="Roboto"/>
                <a:ea typeface="Roboto"/>
                <a:cs typeface="Roboto"/>
                <a:sym typeface="Roboto"/>
              </a:rPr>
              <a:t>"question"</a:t>
            </a:r>
            <a:r>
              <a:rPr lang="en-US" sz="1400" b="0" i="0" u="none" strike="noStrike">
                <a:solidFill>
                  <a:srgbClr val="D4D4D4"/>
                </a:solidFill>
                <a:latin typeface="Roboto"/>
                <a:ea typeface="Roboto"/>
                <a:cs typeface="Roboto"/>
                <a:sym typeface="Roboto"/>
              </a:rPr>
              <a:t>] = record.get(</a:t>
            </a:r>
            <a:r>
              <a:rPr lang="en-US" sz="1400" b="0" i="0" u="none" strike="noStrike">
                <a:solidFill>
                  <a:srgbClr val="98C379"/>
                </a:solidFill>
                <a:latin typeface="Roboto"/>
                <a:ea typeface="Roboto"/>
                <a:cs typeface="Roboto"/>
                <a:sym typeface="Roboto"/>
              </a:rPr>
              <a:t>"question"</a:t>
            </a:r>
            <a:r>
              <a:rPr lang="en-US" sz="1400" b="0" i="0" u="none" strike="noStrike">
                <a:solidFill>
                  <a:srgbClr val="D4D4D4"/>
                </a:solidFill>
                <a:latin typeface="Roboto"/>
                <a:ea typeface="Roboto"/>
                <a:cs typeface="Roboto"/>
                <a:sym typeface="Roboto"/>
              </a:rPr>
              <a:t>)</a:t>
            </a:r>
            <a:endParaRPr lang="en-US" sz="1400" b="0" i="0" u="none" strike="noStrike">
              <a:solidFill>
                <a:srgbClr val="D4D4D4"/>
              </a:solidFill>
              <a:latin typeface="Roboto"/>
              <a:ea typeface="Roboto"/>
              <a:cs typeface="Roboto"/>
              <a:sym typeface="Roboto"/>
            </a:endParaRPr>
          </a:p>
          <a:p>
            <a:pPr indent="0" algn="l">
              <a:lnSpc>
                <a:spcPct val="100000"/>
              </a:lnSpc>
            </a:pPr>
            <a:r>
              <a:rPr lang="en-US" sz="1400" b="0" i="0" u="none" strike="noStrike">
                <a:solidFill>
                  <a:srgbClr val="D4D4D4"/>
                </a:solidFill>
                <a:latin typeface="Roboto"/>
                <a:ea typeface="Roboto"/>
                <a:cs typeface="Roboto"/>
                <a:sym typeface="Roboto"/>
              </a:rPr>
              <a:t>metadata[</a:t>
            </a:r>
            <a:r>
              <a:rPr lang="en-US" sz="1400" b="0" i="0" u="none" strike="noStrike">
                <a:solidFill>
                  <a:srgbClr val="98C379"/>
                </a:solidFill>
                <a:latin typeface="Roboto"/>
                <a:ea typeface="Roboto"/>
                <a:cs typeface="Roboto"/>
                <a:sym typeface="Roboto"/>
              </a:rPr>
              <a:t>"answer"</a:t>
            </a:r>
            <a:r>
              <a:rPr lang="en-US" sz="1400" b="0" i="0" u="none" strike="noStrike">
                <a:solidFill>
                  <a:srgbClr val="D4D4D4"/>
                </a:solidFill>
                <a:latin typeface="Roboto"/>
                <a:ea typeface="Roboto"/>
                <a:cs typeface="Roboto"/>
                <a:sym typeface="Roboto"/>
              </a:rPr>
              <a:t>] = record.get(</a:t>
            </a:r>
            <a:r>
              <a:rPr lang="en-US" sz="1400" b="0" i="0" u="none" strike="noStrike">
                <a:solidFill>
                  <a:srgbClr val="98C379"/>
                </a:solidFill>
                <a:latin typeface="Roboto"/>
                <a:ea typeface="Roboto"/>
                <a:cs typeface="Roboto"/>
                <a:sym typeface="Roboto"/>
              </a:rPr>
              <a:t>"answer"</a:t>
            </a:r>
            <a:r>
              <a:rPr lang="en-US" sz="1400" b="0" i="0" u="none" strike="noStrike">
                <a:solidFill>
                  <a:srgbClr val="D4D4D4"/>
                </a:solidFill>
                <a:latin typeface="Roboto"/>
                <a:ea typeface="Roboto"/>
                <a:cs typeface="Roboto"/>
                <a:sym typeface="Roboto"/>
              </a:rPr>
              <a:t>)</a:t>
            </a:r>
            <a:endParaRPr lang="en-US" sz="1400" b="0" i="0" u="none" strike="noStrike">
              <a:solidFill>
                <a:srgbClr val="D4D4D4"/>
              </a:solidFill>
              <a:latin typeface="Roboto"/>
              <a:ea typeface="Roboto"/>
              <a:cs typeface="Roboto"/>
              <a:sym typeface="Roboto"/>
            </a:endParaRPr>
          </a:p>
          <a:p>
            <a:pPr indent="0" algn="l">
              <a:lnSpc>
                <a:spcPct val="100000"/>
              </a:lnSpc>
            </a:pPr>
            <a:r>
              <a:rPr lang="en-US" sz="1400" b="0" i="0" u="none" strike="noStrike">
                <a:solidFill>
                  <a:srgbClr val="C792EA"/>
                </a:solidFill>
                <a:latin typeface="Roboto"/>
                <a:ea typeface="Roboto"/>
                <a:cs typeface="Roboto"/>
                <a:sym typeface="Roboto"/>
              </a:rPr>
              <a:t>return</a:t>
            </a:r>
            <a:r>
              <a:rPr lang="en-US" sz="1400" b="0" i="0" u="none" strike="noStrike">
                <a:solidFill>
                  <a:srgbClr val="D4D4D4"/>
                </a:solidFill>
                <a:latin typeface="Roboto"/>
                <a:ea typeface="Roboto"/>
                <a:cs typeface="Roboto"/>
                <a:sym typeface="Roboto"/>
              </a:rPr>
              <a:t>metadata</a:t>
            </a:r>
            <a:endParaRPr lang="en-US" sz="1400" b="0" i="0" u="none" strike="noStrike">
              <a:solidFill>
                <a:srgbClr val="D4D4D4"/>
              </a:solidFill>
              <a:latin typeface="Roboto"/>
              <a:ea typeface="Roboto"/>
              <a:cs typeface="Roboto"/>
              <a:sym typeface="Roboto"/>
            </a:endParaRPr>
          </a:p>
          <a:p>
            <a:pPr indent="0" algn="l">
              <a:lnSpc>
                <a:spcPct val="100000"/>
              </a:lnSpc>
            </a:pPr>
          </a:p>
          <a:p>
            <a:pPr indent="0" algn="l">
              <a:lnSpc>
                <a:spcPct val="100000"/>
              </a:lnSpc>
            </a:pPr>
            <a:r>
              <a:rPr lang="en-US" sz="1400" b="0" i="0" u="none" strike="noStrike">
                <a:solidFill>
                  <a:srgbClr val="D4D4D4"/>
                </a:solidFill>
                <a:latin typeface="Roboto"/>
                <a:ea typeface="Roboto"/>
                <a:cs typeface="Roboto"/>
                <a:sym typeface="Roboto"/>
              </a:rPr>
              <a:t>loader = JSONLoader(</a:t>
            </a:r>
            <a:endParaRPr lang="en-US" sz="1400" b="0" i="0" u="none" strike="noStrike">
              <a:solidFill>
                <a:srgbClr val="D4D4D4"/>
              </a:solidFill>
              <a:latin typeface="Roboto"/>
              <a:ea typeface="Roboto"/>
              <a:cs typeface="Roboto"/>
              <a:sym typeface="Roboto"/>
            </a:endParaRPr>
          </a:p>
          <a:p>
            <a:pPr indent="0" algn="l">
              <a:lnSpc>
                <a:spcPct val="100000"/>
              </a:lnSpc>
            </a:pPr>
            <a:r>
              <a:rPr lang="en-US" sz="1400" b="0" i="0" u="none" strike="noStrike">
                <a:solidFill>
                  <a:srgbClr val="D4D4D4"/>
                </a:solidFill>
                <a:latin typeface="Roboto"/>
                <a:ea typeface="Roboto"/>
                <a:cs typeface="Roboto"/>
                <a:sym typeface="Roboto"/>
              </a:rPr>
              <a:t>file_path=</a:t>
            </a:r>
            <a:r>
              <a:rPr lang="en-US" sz="1400" b="0" i="0" u="none" strike="noStrike">
                <a:solidFill>
                  <a:srgbClr val="98C379"/>
                </a:solidFill>
                <a:latin typeface="Roboto"/>
                <a:ea typeface="Roboto"/>
                <a:cs typeface="Roboto"/>
                <a:sym typeface="Roboto"/>
              </a:rPr>
              <a:t>'../data/chat.json'</a:t>
            </a:r>
            <a:r>
              <a:rPr lang="en-US" sz="1400" b="0" i="0" u="none" strike="noStrike">
                <a:solidFill>
                  <a:srgbClr val="D4D4D4"/>
                </a:solidFill>
                <a:latin typeface="Roboto"/>
                <a:ea typeface="Roboto"/>
                <a:cs typeface="Roboto"/>
                <a:sym typeface="Roboto"/>
              </a:rPr>
              <a:t>,</a:t>
            </a:r>
            <a:endParaRPr lang="en-US" sz="1400" b="0" i="0" u="none" strike="noStrike">
              <a:solidFill>
                <a:srgbClr val="D4D4D4"/>
              </a:solidFill>
              <a:latin typeface="Roboto"/>
              <a:ea typeface="Roboto"/>
              <a:cs typeface="Roboto"/>
              <a:sym typeface="Roboto"/>
            </a:endParaRPr>
          </a:p>
          <a:p>
            <a:pPr indent="0" algn="l">
              <a:lnSpc>
                <a:spcPct val="100000"/>
              </a:lnSpc>
            </a:pPr>
            <a:r>
              <a:rPr lang="en-US" sz="1400" b="0" i="0" u="none" strike="noStrike">
                <a:solidFill>
                  <a:srgbClr val="D4D4D4"/>
                </a:solidFill>
                <a:latin typeface="Roboto"/>
                <a:ea typeface="Roboto"/>
                <a:cs typeface="Roboto"/>
                <a:sym typeface="Roboto"/>
              </a:rPr>
              <a:t>jq_schema=</a:t>
            </a:r>
            <a:r>
              <a:rPr lang="en-US" sz="1400" b="0" i="0" u="none" strike="noStrike">
                <a:solidFill>
                  <a:srgbClr val="98C379"/>
                </a:solidFill>
                <a:latin typeface="Roboto"/>
                <a:ea typeface="Roboto"/>
                <a:cs typeface="Roboto"/>
                <a:sym typeface="Roboto"/>
              </a:rPr>
              <a:t>'.liveStreamQA[]'</a:t>
            </a:r>
            <a:r>
              <a:rPr lang="en-US" sz="1400" b="0" i="0" u="none" strike="noStrike">
                <a:solidFill>
                  <a:srgbClr val="D4D4D4"/>
                </a:solidFill>
                <a:latin typeface="Roboto"/>
                <a:ea typeface="Roboto"/>
                <a:cs typeface="Roboto"/>
                <a:sym typeface="Roboto"/>
              </a:rPr>
              <a:t>,</a:t>
            </a:r>
            <a:endParaRPr lang="en-US" sz="1400" b="0" i="0" u="none" strike="noStrike">
              <a:solidFill>
                <a:srgbClr val="D4D4D4"/>
              </a:solidFill>
              <a:latin typeface="Roboto"/>
              <a:ea typeface="Roboto"/>
              <a:cs typeface="Roboto"/>
              <a:sym typeface="Roboto"/>
            </a:endParaRPr>
          </a:p>
          <a:p>
            <a:pPr indent="0" algn="l">
              <a:lnSpc>
                <a:spcPct val="100000"/>
              </a:lnSpc>
            </a:pPr>
            <a:r>
              <a:rPr lang="en-US" sz="1400" b="0" i="0" u="none" strike="noStrike">
                <a:solidFill>
                  <a:srgbClr val="D4D4D4"/>
                </a:solidFill>
                <a:latin typeface="Roboto"/>
                <a:ea typeface="Roboto"/>
                <a:cs typeface="Roboto"/>
                <a:sym typeface="Roboto"/>
              </a:rPr>
              <a:t>content_key=</a:t>
            </a:r>
            <a:r>
              <a:rPr lang="en-US" sz="1400" b="0" i="0" u="none" strike="noStrike">
                <a:solidFill>
                  <a:srgbClr val="98C379"/>
                </a:solidFill>
                <a:latin typeface="Roboto"/>
                <a:ea typeface="Roboto"/>
                <a:cs typeface="Roboto"/>
                <a:sym typeface="Roboto"/>
              </a:rPr>
              <a:t>'answer'</a:t>
            </a:r>
            <a:r>
              <a:rPr lang="en-US" sz="1400" b="0" i="0" u="none" strike="noStrike">
                <a:solidFill>
                  <a:srgbClr val="D4D4D4"/>
                </a:solidFill>
                <a:latin typeface="Roboto"/>
                <a:ea typeface="Roboto"/>
                <a:cs typeface="Roboto"/>
                <a:sym typeface="Roboto"/>
              </a:rPr>
              <a:t>,</a:t>
            </a:r>
            <a:endParaRPr lang="en-US" sz="1400" b="0" i="0" u="none" strike="noStrike">
              <a:solidFill>
                <a:srgbClr val="D4D4D4"/>
              </a:solidFill>
              <a:latin typeface="Roboto"/>
              <a:ea typeface="Roboto"/>
              <a:cs typeface="Roboto"/>
              <a:sym typeface="Roboto"/>
            </a:endParaRPr>
          </a:p>
          <a:p>
            <a:pPr indent="0" algn="l">
              <a:lnSpc>
                <a:spcPct val="100000"/>
              </a:lnSpc>
            </a:pPr>
            <a:r>
              <a:rPr lang="en-US" sz="1400" b="0" i="0" u="none" strike="noStrike">
                <a:solidFill>
                  <a:srgbClr val="D4D4D4"/>
                </a:solidFill>
                <a:latin typeface="Roboto"/>
                <a:ea typeface="Roboto"/>
                <a:cs typeface="Roboto"/>
                <a:sym typeface="Roboto"/>
              </a:rPr>
              <a:t>metadata_func=metadata_func</a:t>
            </a:r>
            <a:endParaRPr lang="en-US" sz="1400" b="0" i="0" u="none" strike="noStrike">
              <a:solidFill>
                <a:srgbClr val="D4D4D4"/>
              </a:solidFill>
              <a:latin typeface="Roboto"/>
              <a:ea typeface="Roboto"/>
              <a:cs typeface="Roboto"/>
              <a:sym typeface="Roboto"/>
            </a:endParaRPr>
          </a:p>
          <a:p>
            <a:pPr indent="0" algn="l">
              <a:lnSpc>
                <a:spcPct val="100000"/>
              </a:lnSpc>
            </a:pPr>
            <a:r>
              <a:rPr lang="en-US" sz="1400" b="0" i="0" u="none" strike="noStrike">
                <a:solidFill>
                  <a:srgbClr val="D4D4D4"/>
                </a:solidFill>
                <a:latin typeface="Roboto"/>
                <a:ea typeface="Roboto"/>
                <a:cs typeface="Roboto"/>
                <a:sym typeface="Roboto"/>
              </a:rPr>
              <a:t>)</a:t>
            </a:r>
            <a:endParaRPr lang="en-US" sz="1400" b="0" i="0" u="none" strike="noStrike">
              <a:solidFill>
                <a:srgbClr val="D4D4D4"/>
              </a:solidFill>
              <a:latin typeface="Roboto"/>
              <a:ea typeface="Roboto"/>
              <a:cs typeface="Roboto"/>
              <a:sym typeface="Roboto"/>
            </a:endParaRPr>
          </a:p>
        </p:txBody>
      </p:sp>
      <p:sp>
        <p:nvSpPr>
          <p:cNvPr id="11" name="AutoShape 11"/>
          <p:cNvSpPr/>
          <p:nvPr/>
        </p:nvSpPr>
        <p:spPr>
          <a:xfrm>
            <a:off x="762000" y="5334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524500"/>
            <a:ext cx="381000" cy="381000"/>
          </a:xfrm>
          <a:prstGeom prst="rect">
            <a:avLst/>
          </a:prstGeom>
        </p:spPr>
      </p:pic>
      <p:sp>
        <p:nvSpPr>
          <p:cNvPr id="13" name="AutoShape 13"/>
          <p:cNvSpPr/>
          <p:nvPr/>
        </p:nvSpPr>
        <p:spPr>
          <a:xfrm>
            <a:off x="1524000" y="5461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Tip:</a:t>
            </a:r>
            <a:r>
              <a:rPr lang="en-US" sz="1600" b="0" i="0" u="none" strike="noStrike">
                <a:solidFill>
                  <a:srgbClr val="757575"/>
                </a:solidFill>
                <a:latin typeface="Noto Sans SC"/>
                <a:ea typeface="Noto Sans SC"/>
                <a:cs typeface="Noto Sans SC"/>
                <a:sym typeface="Noto Sans SC"/>
              </a:rPr>
              <a:t>元数据不仅包含文档来源，更可以通过自定义函数注入业务关键字段，提升后续检索的精准度。</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4521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2.1.5 加载Markdown</a:t>
            </a:r>
            <a:endParaRPr lang="en-US" sz="1100"/>
          </a:p>
        </p:txBody>
      </p:sp>
      <p:sp>
        <p:nvSpPr>
          <p:cNvPr id="3" name="AutoShape 3"/>
          <p:cNvSpPr/>
          <p:nvPr/>
        </p:nvSpPr>
        <p:spPr>
          <a:xfrm>
            <a:off x="762000" y="1651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68500"/>
            <a:ext cx="508000" cy="508000"/>
          </a:xfrm>
          <a:prstGeom prst="rect">
            <a:avLst/>
          </a:prstGeom>
        </p:spPr>
      </p:pic>
      <p:sp>
        <p:nvSpPr>
          <p:cNvPr id="5" name="AutoShape 5"/>
          <p:cNvSpPr/>
          <p:nvPr/>
        </p:nvSpPr>
        <p:spPr>
          <a:xfrm>
            <a:off x="1651000" y="1778000"/>
            <a:ext cx="9525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Markdown格式：</a:t>
            </a:r>
            <a:r>
              <a:rPr lang="en-US" sz="2000" b="0" i="0" u="none" strike="noStrike">
                <a:solidFill>
                  <a:srgbClr val="757575"/>
                </a:solidFill>
                <a:latin typeface="Noto Sans SC"/>
                <a:ea typeface="Noto Sans SC"/>
                <a:cs typeface="Noto Sans SC"/>
                <a:sym typeface="Noto Sans SC"/>
              </a:rPr>
              <a:t>一种轻量级标记语言，常用于编写文档和笔记，结构清晰易读。</a:t>
            </a:r>
            <a:endParaRPr lang="en-US" sz="1100"/>
          </a:p>
        </p:txBody>
      </p:sp>
      <p:sp>
        <p:nvSpPr>
          <p:cNvPr id="6" name="AutoShape 6"/>
          <p:cNvSpPr/>
          <p:nvPr/>
        </p:nvSpPr>
        <p:spPr>
          <a:xfrm>
            <a:off x="762000" y="29845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302000"/>
            <a:ext cx="508000" cy="508000"/>
          </a:xfrm>
          <a:prstGeom prst="rect">
            <a:avLst/>
          </a:prstGeom>
        </p:spPr>
      </p:pic>
      <p:sp>
        <p:nvSpPr>
          <p:cNvPr id="8" name="AutoShape 8"/>
          <p:cNvSpPr/>
          <p:nvPr/>
        </p:nvSpPr>
        <p:spPr>
          <a:xfrm>
            <a:off x="1651000" y="3111500"/>
            <a:ext cx="9525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专用加载器：</a:t>
            </a:r>
            <a:r>
              <a:rPr lang="en-US" sz="2000" b="0" i="0" u="none" strike="noStrike">
                <a:solidFill>
                  <a:srgbClr val="757575"/>
                </a:solidFill>
                <a:latin typeface="Noto Sans SC"/>
                <a:ea typeface="Noto Sans SC"/>
                <a:cs typeface="Noto Sans SC"/>
                <a:sym typeface="Noto Sans SC"/>
              </a:rPr>
              <a:t>使用</a:t>
            </a:r>
            <a:r>
              <a:rPr lang="en-US" sz="2000" b="1" i="0" u="none" strike="noStrike">
                <a:solidFill>
                  <a:srgbClr val="0277BD"/>
                </a:solidFill>
                <a:latin typeface="Noto Sans SC"/>
                <a:ea typeface="Noto Sans SC"/>
                <a:cs typeface="Noto Sans SC"/>
                <a:sym typeface="Noto Sans SC"/>
              </a:rPr>
              <a:t>UnstructuredMarkdownLoader</a:t>
            </a:r>
            <a:r>
              <a:rPr lang="en-US" sz="2000" b="0" i="0" u="none" strike="noStrike">
                <a:solidFill>
                  <a:srgbClr val="757575"/>
                </a:solidFill>
                <a:latin typeface="Noto Sans SC"/>
                <a:ea typeface="Noto Sans SC"/>
                <a:cs typeface="Noto Sans SC"/>
                <a:sym typeface="Noto Sans SC"/>
              </a:rPr>
              <a:t>解析文件并提取文本内容。</a:t>
            </a:r>
            <a:endParaRPr lang="en-US" sz="1100"/>
          </a:p>
        </p:txBody>
      </p:sp>
      <p:sp>
        <p:nvSpPr>
          <p:cNvPr id="9" name="AutoShape 9"/>
          <p:cNvSpPr/>
          <p:nvPr/>
        </p:nvSpPr>
        <p:spPr>
          <a:xfrm>
            <a:off x="762000" y="4318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762500"/>
            <a:ext cx="508000" cy="508000"/>
          </a:xfrm>
          <a:prstGeom prst="rect">
            <a:avLst/>
          </a:prstGeom>
        </p:spPr>
      </p:pic>
      <p:sp>
        <p:nvSpPr>
          <p:cNvPr id="11" name="AutoShape 11"/>
          <p:cNvSpPr/>
          <p:nvPr/>
        </p:nvSpPr>
        <p:spPr>
          <a:xfrm>
            <a:off x="1651000" y="4445000"/>
            <a:ext cx="952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依赖安装：</a:t>
            </a:r>
            <a:r>
              <a:rPr lang="en-US" sz="2000" b="0" i="0" u="none" strike="noStrike">
                <a:solidFill>
                  <a:srgbClr val="757575"/>
                </a:solidFill>
                <a:latin typeface="Noto Sans SC"/>
                <a:ea typeface="Noto Sans SC"/>
                <a:cs typeface="Noto Sans SC"/>
                <a:sym typeface="Noto Sans SC"/>
              </a:rPr>
              <a:t>使用前需安装相关依赖库：</a:t>
            </a:r>
            <a:endParaRPr lang="en-US" sz="1100"/>
          </a:p>
        </p:txBody>
      </p:sp>
      <p:sp>
        <p:nvSpPr>
          <p:cNvPr id="12" name="AutoShape 12"/>
          <p:cNvSpPr/>
          <p:nvPr/>
        </p:nvSpPr>
        <p:spPr>
          <a:xfrm>
            <a:off x="1651000" y="4889500"/>
            <a:ext cx="9525000" cy="635000"/>
          </a:xfrm>
          <a:prstGeom prst="roundRect">
            <a:avLst>
              <a:gd name="adj" fmla="val 10000"/>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778000" y="4889500"/>
            <a:ext cx="927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pip3 install unstructured markdown</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01752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基础代码示例</a:t>
            </a:r>
            <a:endParaRPr lang="en-US" sz="1100"/>
          </a:p>
        </p:txBody>
      </p:sp>
      <p:sp>
        <p:nvSpPr>
          <p:cNvPr id="3" name="AutoShape 3"/>
          <p:cNvSpPr/>
          <p:nvPr/>
        </p:nvSpPr>
        <p:spPr>
          <a:xfrm>
            <a:off x="762000" y="1524000"/>
            <a:ext cx="6096000" cy="3556000"/>
          </a:xfrm>
          <a:prstGeom prst="roundRect">
            <a:avLst>
              <a:gd name="adj" fmla="val 3571"/>
            </a:avLst>
          </a:prstGeom>
          <a:solidFill>
            <a:srgbClr val="1E1E1E">
              <a:alpha val="100000"/>
            </a:srgbClr>
          </a:solidFill>
          <a:ln w="25400" cap="flat" cmpd="sng">
            <a:noFill/>
            <a:prstDash val="solid"/>
            <a:round/>
          </a:ln>
          <a:effectLst>
            <a:outerShdw blurRad="127000" dist="101600" dir="5400000" algn="tl" rotWithShape="0">
              <a:srgbClr val="000000">
                <a:alpha val="20000"/>
              </a:srgbClr>
            </a:outerShdw>
          </a:effectLst>
        </p:spPr>
        <p:txBody>
          <a:bodyPr vert="horz" wrap="square" lIns="63500" tIns="63500" rIns="63500" bIns="63500" rtlCol="0" anchor="ctr"/>
          <a:lstStyle/>
          <a:p>
            <a:pPr algn="ctr">
              <a:defRPr/>
            </a:pPr>
          </a:p>
        </p:txBody>
      </p:sp>
      <p:sp>
        <p:nvSpPr>
          <p:cNvPr id="4" name="AutoShape 4"/>
          <p:cNvSpPr/>
          <p:nvPr/>
        </p:nvSpPr>
        <p:spPr>
          <a:xfrm>
            <a:off x="762000" y="1524000"/>
            <a:ext cx="6096000" cy="406400"/>
          </a:xfrm>
          <a:prstGeom prst="roundRect">
            <a:avLst>
              <a:gd name="adj" fmla="val 0"/>
            </a:avLst>
          </a:prstGeom>
          <a:solidFill>
            <a:srgbClr val="2D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663700"/>
            <a:ext cx="127000" cy="1270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206500" y="1663700"/>
            <a:ext cx="127000" cy="1270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460500" y="1663700"/>
            <a:ext cx="127000" cy="1270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2032000"/>
            <a:ext cx="5715000" cy="292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0" i="0" u="none" strike="noStrike">
                <a:solidFill>
                  <a:srgbClr val="C792EA"/>
                </a:solidFill>
                <a:latin typeface="Roboto"/>
                <a:ea typeface="Roboto"/>
                <a:cs typeface="Roboto"/>
                <a:sym typeface="Roboto"/>
              </a:rPr>
              <a:t>from</a:t>
            </a:r>
            <a:r>
              <a:rPr lang="en-US" sz="1800" b="0" i="0" u="none" strike="noStrike">
                <a:solidFill>
                  <a:srgbClr val="F8F8F2"/>
                </a:solidFill>
                <a:latin typeface="Roboto"/>
                <a:ea typeface="Roboto"/>
                <a:cs typeface="Roboto"/>
                <a:sym typeface="Roboto"/>
              </a:rPr>
              <a:t>langchain_community.document_loaders</a:t>
            </a:r>
            <a:r>
              <a:rPr lang="en-US" sz="1800" b="0" i="0" u="none" strike="noStrike">
                <a:solidFill>
                  <a:srgbClr val="C792EA"/>
                </a:solidFill>
                <a:latin typeface="Roboto"/>
                <a:ea typeface="Roboto"/>
                <a:cs typeface="Roboto"/>
                <a:sym typeface="Roboto"/>
              </a:rPr>
              <a:t>import</a:t>
            </a:r>
            <a:r>
              <a:rPr lang="en-US" sz="1800" b="0" i="0" u="none" strike="noStrike">
                <a:solidFill>
                  <a:srgbClr val="F8F8F2"/>
                </a:solidFill>
                <a:latin typeface="Roboto"/>
                <a:ea typeface="Roboto"/>
                <a:cs typeface="Roboto"/>
                <a:sym typeface="Roboto"/>
              </a:rPr>
              <a:t>UnstructuredMarkdownLoader</a:t>
            </a:r>
            <a:endParaRPr lang="en-US" sz="1100"/>
          </a:p>
          <a:p>
            <a:pPr indent="0" algn="l">
              <a:lnSpc>
                <a:spcPct val="100000"/>
              </a:lnSpc>
            </a:pPr>
          </a:p>
          <a:p>
            <a:pPr indent="0" algn="l">
              <a:lnSpc>
                <a:spcPct val="100000"/>
              </a:lnSpc>
            </a:pPr>
            <a:r>
              <a:rPr lang="en-US" sz="1800" b="0" i="0" u="none" strike="noStrike">
                <a:solidFill>
                  <a:srgbClr val="8BE9FD"/>
                </a:solidFill>
                <a:latin typeface="Roboto"/>
                <a:ea typeface="Roboto"/>
                <a:cs typeface="Roboto"/>
                <a:sym typeface="Roboto"/>
              </a:rPr>
              <a:t>markdown_path</a:t>
            </a:r>
            <a:r>
              <a:rPr lang="en-US" sz="1800" b="0" i="0" u="none" strike="noStrike">
                <a:solidFill>
                  <a:srgbClr val="F8F8F2"/>
                </a:solidFill>
                <a:latin typeface="Roboto"/>
                <a:ea typeface="Roboto"/>
                <a:cs typeface="Roboto"/>
                <a:sym typeface="Roboto"/>
              </a:rPr>
              <a:t>=</a:t>
            </a:r>
            <a:r>
              <a:rPr lang="en-US" sz="1800" b="0" i="0" u="none" strike="noStrike">
                <a:solidFill>
                  <a:srgbClr val="A5D6A7"/>
                </a:solidFill>
                <a:latin typeface="Roboto"/>
                <a:ea typeface="Roboto"/>
                <a:cs typeface="Roboto"/>
                <a:sym typeface="Roboto"/>
              </a:rPr>
              <a:t>"../example_data/generation_prompt.md"</a:t>
            </a:r>
            <a:endParaRPr lang="en-US" sz="1800" b="0" i="0" u="none" strike="noStrike">
              <a:solidFill>
                <a:srgbClr val="A5D6A7"/>
              </a:solidFill>
              <a:latin typeface="Roboto"/>
              <a:ea typeface="Roboto"/>
              <a:cs typeface="Roboto"/>
              <a:sym typeface="Roboto"/>
            </a:endParaRPr>
          </a:p>
          <a:p>
            <a:pPr indent="0" algn="l">
              <a:lnSpc>
                <a:spcPct val="100000"/>
              </a:lnSpc>
            </a:pPr>
            <a:r>
              <a:rPr lang="en-US" sz="1800" b="0" i="0" u="none" strike="noStrike">
                <a:solidFill>
                  <a:srgbClr val="8BE9FD"/>
                </a:solidFill>
                <a:latin typeface="Roboto"/>
                <a:ea typeface="Roboto"/>
                <a:cs typeface="Roboto"/>
                <a:sym typeface="Roboto"/>
              </a:rPr>
              <a:t>loader</a:t>
            </a:r>
            <a:r>
              <a:rPr lang="en-US" sz="1800" b="0" i="0" u="none" strike="noStrike">
                <a:solidFill>
                  <a:srgbClr val="F8F8F2"/>
                </a:solidFill>
                <a:latin typeface="Roboto"/>
                <a:ea typeface="Roboto"/>
                <a:cs typeface="Roboto"/>
                <a:sym typeface="Roboto"/>
              </a:rPr>
              <a:t>= UnstructuredMarkdownLoader(markdown_path)</a:t>
            </a:r>
            <a:endParaRPr lang="en-US" sz="1800" b="0" i="0" u="none" strike="noStrike">
              <a:solidFill>
                <a:srgbClr val="F8F8F2"/>
              </a:solidFill>
              <a:latin typeface="Roboto"/>
              <a:ea typeface="Roboto"/>
              <a:cs typeface="Roboto"/>
              <a:sym typeface="Roboto"/>
            </a:endParaRPr>
          </a:p>
          <a:p>
            <a:pPr indent="0" algn="l">
              <a:lnSpc>
                <a:spcPct val="100000"/>
              </a:lnSpc>
            </a:pPr>
            <a:r>
              <a:rPr lang="en-US" sz="1800" b="0" i="0" u="none" strike="noStrike">
                <a:solidFill>
                  <a:srgbClr val="8BE9FD"/>
                </a:solidFill>
                <a:latin typeface="Roboto"/>
                <a:ea typeface="Roboto"/>
                <a:cs typeface="Roboto"/>
                <a:sym typeface="Roboto"/>
              </a:rPr>
              <a:t>data</a:t>
            </a:r>
            <a:r>
              <a:rPr lang="en-US" sz="1800" b="0" i="0" u="none" strike="noStrike">
                <a:solidFill>
                  <a:srgbClr val="F8F8F2"/>
                </a:solidFill>
                <a:latin typeface="Roboto"/>
                <a:ea typeface="Roboto"/>
                <a:cs typeface="Roboto"/>
                <a:sym typeface="Roboto"/>
              </a:rPr>
              <a:t>= loader.load()</a:t>
            </a:r>
            <a:endParaRPr lang="en-US" sz="1800" b="0" i="0" u="none" strike="noStrike">
              <a:solidFill>
                <a:srgbClr val="F8F8F2"/>
              </a:solidFill>
              <a:latin typeface="Roboto"/>
              <a:ea typeface="Roboto"/>
              <a:cs typeface="Roboto"/>
              <a:sym typeface="Roboto"/>
            </a:endParaRPr>
          </a:p>
          <a:p>
            <a:pPr indent="0" algn="l">
              <a:lnSpc>
                <a:spcPct val="100000"/>
              </a:lnSpc>
            </a:pPr>
          </a:p>
          <a:p>
            <a:pPr indent="0" algn="l">
              <a:lnSpc>
                <a:spcPct val="100000"/>
              </a:lnSpc>
            </a:pPr>
            <a:r>
              <a:rPr lang="en-US" sz="1800" b="0" i="0" u="none" strike="noStrike">
                <a:solidFill>
                  <a:srgbClr val="6272A4"/>
                </a:solidFill>
                <a:latin typeface="Roboto"/>
                <a:ea typeface="Roboto"/>
                <a:cs typeface="Roboto"/>
                <a:sym typeface="Roboto"/>
              </a:rPr>
              <a:t># 查看加载的内容</a:t>
            </a:r>
            <a:endParaRPr lang="en-US" sz="1800" b="0" i="0" u="none" strike="noStrike">
              <a:solidFill>
                <a:srgbClr val="6272A4"/>
              </a:solidFill>
              <a:latin typeface="Roboto"/>
              <a:ea typeface="Roboto"/>
              <a:cs typeface="Roboto"/>
              <a:sym typeface="Roboto"/>
            </a:endParaRPr>
          </a:p>
          <a:p>
            <a:pPr indent="0" algn="l">
              <a:lnSpc>
                <a:spcPct val="100000"/>
              </a:lnSpc>
            </a:pPr>
            <a:r>
              <a:rPr lang="en-US" sz="1800" b="0" i="0" u="none" strike="noStrike">
                <a:solidFill>
                  <a:srgbClr val="8BE9FD"/>
                </a:solidFill>
                <a:latin typeface="Roboto"/>
                <a:ea typeface="Roboto"/>
                <a:cs typeface="Roboto"/>
                <a:sym typeface="Roboto"/>
              </a:rPr>
              <a:t>print</a:t>
            </a:r>
            <a:r>
              <a:rPr lang="en-US" sz="1800" b="0" i="0" u="none" strike="noStrike">
                <a:solidFill>
                  <a:srgbClr val="F8F8F2"/>
                </a:solidFill>
                <a:latin typeface="Roboto"/>
                <a:ea typeface="Roboto"/>
                <a:cs typeface="Roboto"/>
                <a:sym typeface="Roboto"/>
              </a:rPr>
              <a:t>(data[0].page_content)</a:t>
            </a:r>
            <a:endParaRPr lang="en-US" sz="1800" b="0" i="0" u="none" strike="noStrike">
              <a:solidFill>
                <a:srgbClr val="F8F8F2"/>
              </a:solidFill>
              <a:latin typeface="Roboto"/>
              <a:ea typeface="Roboto"/>
              <a:cs typeface="Roboto"/>
              <a:sym typeface="Roboto"/>
            </a:endParaRPr>
          </a:p>
        </p:txBody>
      </p:sp>
      <p:sp>
        <p:nvSpPr>
          <p:cNvPr id="9" name="AutoShape 9"/>
          <p:cNvSpPr/>
          <p:nvPr/>
        </p:nvSpPr>
        <p:spPr>
          <a:xfrm>
            <a:off x="7366000" y="1524000"/>
            <a:ext cx="4064000" cy="1016000"/>
          </a:xfrm>
          <a:prstGeom prst="roundRect">
            <a:avLst>
              <a:gd name="adj" fmla="val 12500"/>
            </a:avLst>
          </a:prstGeom>
          <a:solidFill>
            <a:srgbClr val="FFFFFF">
              <a:alpha val="100000"/>
            </a:srgbClr>
          </a:solidFill>
          <a:ln w="12700" cap="flat" cmpd="sng">
            <a:solidFill>
              <a:srgbClr val="B3E5FC">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556500" y="1714500"/>
            <a:ext cx="406400" cy="406400"/>
          </a:xfrm>
          <a:prstGeom prst="rect">
            <a:avLst/>
          </a:prstGeom>
        </p:spPr>
      </p:pic>
      <p:sp>
        <p:nvSpPr>
          <p:cNvPr id="11" name="AutoShape 11"/>
          <p:cNvSpPr/>
          <p:nvPr/>
        </p:nvSpPr>
        <p:spPr>
          <a:xfrm>
            <a:off x="8128000" y="1625600"/>
            <a:ext cx="3175000" cy="812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导入加载器</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从 langchain_community 导入 UnstructuredMarkdownLoader 类。</a:t>
            </a:r>
            <a:endParaRPr lang="en-US" sz="1600" b="0" i="0" u="none" strike="noStrike">
              <a:solidFill>
                <a:srgbClr val="757575"/>
              </a:solidFill>
              <a:latin typeface="Noto Sans SC"/>
              <a:ea typeface="Noto Sans SC"/>
              <a:cs typeface="Noto Sans SC"/>
              <a:sym typeface="Noto Sans SC"/>
            </a:endParaRPr>
          </a:p>
        </p:txBody>
      </p:sp>
      <p:sp>
        <p:nvSpPr>
          <p:cNvPr id="12" name="AutoShape 12"/>
          <p:cNvSpPr/>
          <p:nvPr/>
        </p:nvSpPr>
        <p:spPr>
          <a:xfrm>
            <a:off x="7366000" y="2667000"/>
            <a:ext cx="4064000" cy="1016000"/>
          </a:xfrm>
          <a:prstGeom prst="roundRect">
            <a:avLst>
              <a:gd name="adj" fmla="val 12500"/>
            </a:avLst>
          </a:prstGeom>
          <a:solidFill>
            <a:srgbClr val="FFFFFF">
              <a:alpha val="100000"/>
            </a:srgbClr>
          </a:solidFill>
          <a:ln w="12700" cap="flat" cmpd="sng">
            <a:solidFill>
              <a:srgbClr val="B3E5FC">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56500" y="2857500"/>
            <a:ext cx="406400" cy="406400"/>
          </a:xfrm>
          <a:prstGeom prst="rect">
            <a:avLst/>
          </a:prstGeom>
        </p:spPr>
      </p:pic>
      <p:sp>
        <p:nvSpPr>
          <p:cNvPr id="14" name="AutoShape 14"/>
          <p:cNvSpPr/>
          <p:nvPr/>
        </p:nvSpPr>
        <p:spPr>
          <a:xfrm>
            <a:off x="8128000" y="2768600"/>
            <a:ext cx="3175000" cy="812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加载文档</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指定文件路径，创建 loader 对象并调用 load() 方法解析内容。</a:t>
            </a:r>
            <a:endParaRPr lang="en-US" sz="1600" b="0" i="0" u="none" strike="noStrike">
              <a:solidFill>
                <a:srgbClr val="757575"/>
              </a:solidFill>
              <a:latin typeface="Noto Sans SC"/>
              <a:ea typeface="Noto Sans SC"/>
              <a:cs typeface="Noto Sans SC"/>
              <a:sym typeface="Noto Sans SC"/>
            </a:endParaRPr>
          </a:p>
        </p:txBody>
      </p:sp>
      <p:sp>
        <p:nvSpPr>
          <p:cNvPr id="15" name="AutoShape 15"/>
          <p:cNvSpPr/>
          <p:nvPr/>
        </p:nvSpPr>
        <p:spPr>
          <a:xfrm>
            <a:off x="7366000" y="3810000"/>
            <a:ext cx="4064000" cy="1016000"/>
          </a:xfrm>
          <a:prstGeom prst="roundRect">
            <a:avLst>
              <a:gd name="adj" fmla="val 12500"/>
            </a:avLst>
          </a:prstGeom>
          <a:solidFill>
            <a:srgbClr val="FFFFFF">
              <a:alpha val="100000"/>
            </a:srgbClr>
          </a:solidFill>
          <a:ln w="12700" cap="flat" cmpd="sng">
            <a:solidFill>
              <a:srgbClr val="B3E5FC">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56500" y="4000500"/>
            <a:ext cx="406400" cy="406400"/>
          </a:xfrm>
          <a:prstGeom prst="rect">
            <a:avLst/>
          </a:prstGeom>
        </p:spPr>
      </p:pic>
      <p:sp>
        <p:nvSpPr>
          <p:cNvPr id="17" name="AutoShape 17"/>
          <p:cNvSpPr/>
          <p:nvPr/>
        </p:nvSpPr>
        <p:spPr>
          <a:xfrm>
            <a:off x="8128000" y="3911600"/>
            <a:ext cx="3175000" cy="812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查看结果</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提取出 Markdown 文件中的纯文本内容并打印输出。</a:t>
            </a:r>
            <a:endParaRPr lang="en-US" sz="1600" b="0" i="0" u="none" strike="noStrike">
              <a:solidFill>
                <a:srgbClr val="757575"/>
              </a:solidFill>
              <a:latin typeface="Noto Sans SC"/>
              <a:ea typeface="Noto Sans SC"/>
              <a:cs typeface="Noto Sans SC"/>
              <a:sym typeface="Noto Sans SC"/>
            </a:endParaRPr>
          </a:p>
        </p:txBody>
      </p:sp>
      <p:sp>
        <p:nvSpPr>
          <p:cNvPr id="18" name="AutoShape 18"/>
          <p:cNvSpPr/>
          <p:nvPr/>
        </p:nvSpPr>
        <p:spPr>
          <a:xfrm>
            <a:off x="762000" y="5334000"/>
            <a:ext cx="10668000" cy="762000"/>
          </a:xfrm>
          <a:prstGeom prst="roundRect">
            <a:avLst>
              <a:gd name="adj" fmla="val 16666"/>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1016000" y="5461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核心要点：</a:t>
            </a:r>
            <a:r>
              <a:rPr lang="en-US" sz="1800" b="0" i="0" u="none" strike="noStrike">
                <a:solidFill>
                  <a:srgbClr val="546E7A"/>
                </a:solidFill>
                <a:latin typeface="Noto Sans SC"/>
                <a:ea typeface="Noto Sans SC"/>
                <a:cs typeface="Noto Sans SC"/>
                <a:sym typeface="Noto Sans SC"/>
              </a:rPr>
              <a:t>通过简单的三步操作，即可将结构化的 Markdown 文件转化为可供 LLM 处理的纯文本数据。</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保留元素模式</a:t>
            </a:r>
            <a:endParaRPr lang="en-US" sz="1100"/>
          </a:p>
        </p:txBody>
      </p:sp>
      <p:sp>
        <p:nvSpPr>
          <p:cNvPr id="3" name="AutoShape 3"/>
          <p:cNvSpPr/>
          <p:nvPr/>
        </p:nvSpPr>
        <p:spPr>
          <a:xfrm>
            <a:off x="762000" y="1651000"/>
            <a:ext cx="4826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1955800"/>
            <a:ext cx="406400" cy="406400"/>
          </a:xfrm>
          <a:prstGeom prst="rect">
            <a:avLst/>
          </a:prstGeom>
        </p:spPr>
      </p:pic>
      <p:sp>
        <p:nvSpPr>
          <p:cNvPr id="5" name="AutoShape 5"/>
          <p:cNvSpPr/>
          <p:nvPr/>
        </p:nvSpPr>
        <p:spPr>
          <a:xfrm>
            <a:off x="1574800" y="1905000"/>
            <a:ext cx="3810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结构化解析原理</a:t>
            </a:r>
            <a:endParaRPr lang="en-US" sz="1100"/>
          </a:p>
        </p:txBody>
      </p:sp>
      <p:sp>
        <p:nvSpPr>
          <p:cNvPr id="6" name="AutoShape 6"/>
          <p:cNvSpPr/>
          <p:nvPr/>
        </p:nvSpPr>
        <p:spPr>
          <a:xfrm>
            <a:off x="1066800" y="2476500"/>
            <a:ext cx="4216400" cy="1905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800" b="0" i="0" u="none" strike="noStrike">
                <a:solidFill>
                  <a:srgbClr val="757575"/>
                </a:solidFill>
                <a:latin typeface="Noto Sans SC"/>
                <a:ea typeface="Noto Sans SC"/>
                <a:cs typeface="Noto Sans SC"/>
                <a:sym typeface="Noto Sans SC"/>
              </a:rPr>
              <a:t>通过设置</a:t>
            </a:r>
            <a:r>
              <a:rPr lang="en-US" sz="1800" b="1" i="0" u="none" strike="noStrike">
                <a:solidFill>
                  <a:srgbClr val="0277BD"/>
                </a:solidFill>
                <a:latin typeface="Roboto"/>
                <a:ea typeface="Roboto"/>
                <a:cs typeface="Roboto"/>
                <a:sym typeface="Roboto"/>
              </a:rPr>
              <a:t>mode="elements"</a:t>
            </a:r>
            <a:r>
              <a:rPr lang="en-US" sz="1800" b="0" i="0" u="none" strike="noStrike">
                <a:solidFill>
                  <a:srgbClr val="757575"/>
                </a:solidFill>
                <a:latin typeface="Noto Sans SC"/>
                <a:ea typeface="Noto Sans SC"/>
                <a:cs typeface="Noto Sans SC"/>
                <a:sym typeface="Noto Sans SC"/>
              </a:rPr>
              <a:t>，加载器将不再合并内容，而是保留 Markdown 文件的原始结构。</a:t>
            </a:r>
            <a:endParaRPr lang="en-US" sz="1100"/>
          </a:p>
          <a:p>
            <a:pPr indent="0" algn="l">
              <a:lnSpc>
                <a:spcPct val="117000"/>
              </a:lnSpc>
            </a:pPr>
            <a:r>
              <a:rPr lang="en-US" sz="1800" b="0" i="0" u="none" strike="noStrike">
                <a:solidFill>
                  <a:srgbClr val="757575"/>
                </a:solidFill>
                <a:latin typeface="Noto Sans SC"/>
                <a:ea typeface="Noto Sans SC"/>
                <a:cs typeface="Noto Sans SC"/>
                <a:sym typeface="Noto Sans SC"/>
              </a:rPr>
              <a:t>标题、列表、代码块等元素将被识别为独立的文档对象，便于后续进行分块处理。</a:t>
            </a:r>
            <a:endParaRPr lang="en-US" sz="18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5842000" y="1651000"/>
            <a:ext cx="5588000" cy="3048000"/>
          </a:xfrm>
          <a:prstGeom prst="roundRect">
            <a:avLst>
              <a:gd name="adj" fmla="val 4166"/>
            </a:avLst>
          </a:prstGeom>
          <a:solidFill>
            <a:srgbClr val="1E1E1E">
              <a:alpha val="100000"/>
            </a:srgbClr>
          </a:solidFill>
          <a:ln w="25400" cap="flat" cmpd="sng">
            <a:noFill/>
            <a:prstDash val="solid"/>
            <a:round/>
          </a:ln>
          <a:effectLst>
            <a:outerShdw blurRad="127000" dist="50800" dir="5400000" algn="tl" rotWithShape="0">
              <a:srgbClr val="000000">
                <a:alpha val="20000"/>
              </a:srgbClr>
            </a:outerShdw>
          </a:effectLst>
        </p:spPr>
        <p:txBody>
          <a:bodyPr vert="horz" wrap="square" lIns="63500" tIns="63500" rIns="63500" bIns="63500" rtlCol="0" anchor="ctr"/>
          <a:lstStyle/>
          <a:p>
            <a:pPr algn="ctr">
              <a:defRPr/>
            </a:pPr>
          </a:p>
        </p:txBody>
      </p:sp>
      <p:sp>
        <p:nvSpPr>
          <p:cNvPr id="8" name="AutoShape 8"/>
          <p:cNvSpPr/>
          <p:nvPr/>
        </p:nvSpPr>
        <p:spPr>
          <a:xfrm>
            <a:off x="5842000" y="1651000"/>
            <a:ext cx="5588000" cy="457200"/>
          </a:xfrm>
          <a:prstGeom prst="roundRect">
            <a:avLst>
              <a:gd name="adj" fmla="val 0"/>
            </a:avLst>
          </a:prstGeom>
          <a:solidFill>
            <a:srgbClr val="2D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969000" y="1701800"/>
            <a:ext cx="5334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B4B4B4"/>
                </a:solidFill>
                <a:latin typeface="Roboto"/>
                <a:ea typeface="Roboto"/>
                <a:cs typeface="Roboto"/>
                <a:sym typeface="Roboto"/>
              </a:rPr>
              <a:t>Python Code: Load with Elements Mode</a:t>
            </a:r>
            <a:endParaRPr lang="en-US" sz="1100"/>
          </a:p>
        </p:txBody>
      </p:sp>
      <p:sp>
        <p:nvSpPr>
          <p:cNvPr id="10" name="AutoShape 10"/>
          <p:cNvSpPr/>
          <p:nvPr/>
        </p:nvSpPr>
        <p:spPr>
          <a:xfrm>
            <a:off x="6032500" y="2222500"/>
            <a:ext cx="5207000" cy="228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C678DD"/>
                </a:solidFill>
                <a:latin typeface="Roboto"/>
                <a:ea typeface="Roboto"/>
                <a:cs typeface="Roboto"/>
                <a:sym typeface="Roboto"/>
              </a:rPr>
              <a:t>from</a:t>
            </a:r>
            <a:r>
              <a:rPr lang="en-US" sz="1600" b="0" i="0" u="none" strike="noStrike">
                <a:solidFill>
                  <a:srgbClr val="DCDFE4"/>
                </a:solidFill>
                <a:latin typeface="Roboto"/>
                <a:ea typeface="Roboto"/>
                <a:cs typeface="Roboto"/>
                <a:sym typeface="Roboto"/>
              </a:rPr>
              <a:t>langchain.document_loaders</a:t>
            </a:r>
            <a:r>
              <a:rPr lang="en-US" sz="1600" b="0" i="0" u="none" strike="noStrike">
                <a:solidFill>
                  <a:srgbClr val="C678DD"/>
                </a:solidFill>
                <a:latin typeface="Roboto"/>
                <a:ea typeface="Roboto"/>
                <a:cs typeface="Roboto"/>
                <a:sym typeface="Roboto"/>
              </a:rPr>
              <a:t>import</a:t>
            </a:r>
            <a:r>
              <a:rPr lang="en-US" sz="1600" b="0" i="0" u="none" strike="noStrike">
                <a:solidFill>
                  <a:srgbClr val="DCDFE4"/>
                </a:solidFill>
                <a:latin typeface="Roboto"/>
                <a:ea typeface="Roboto"/>
                <a:cs typeface="Roboto"/>
                <a:sym typeface="Roboto"/>
              </a:rPr>
              <a:t>UnstructuredMarkdownLoader</a:t>
            </a:r>
            <a:endParaRPr lang="en-US" sz="1100"/>
          </a:p>
          <a:p>
            <a:pPr indent="0" algn="l">
              <a:lnSpc>
                <a:spcPct val="108000"/>
              </a:lnSpc>
            </a:pPr>
            <a:r>
              <a:rPr lang="en-US" sz="1600" b="0" i="0" u="none" strike="noStrike">
                <a:solidFill>
                  <a:srgbClr val="DCDFE4"/>
                </a:solidFill>
                <a:latin typeface="Roboto"/>
                <a:ea typeface="Roboto"/>
                <a:cs typeface="Roboto"/>
                <a:sym typeface="Roboto"/>
              </a:rPr>
              <a:t>loader = UnstructuredMarkdownLoader(path,</a:t>
            </a:r>
            <a:r>
              <a:rPr lang="en-US" sz="1600" b="0" i="0" u="none" strike="noStrike">
                <a:solidFill>
                  <a:srgbClr val="98C379"/>
                </a:solidFill>
                <a:latin typeface="Roboto"/>
                <a:ea typeface="Roboto"/>
                <a:cs typeface="Roboto"/>
                <a:sym typeface="Roboto"/>
              </a:rPr>
              <a:t>mode</a:t>
            </a:r>
            <a:r>
              <a:rPr lang="en-US" sz="1600" b="0" i="0" u="none" strike="noStrike">
                <a:solidFill>
                  <a:srgbClr val="DCDFE4"/>
                </a:solidFill>
                <a:latin typeface="Roboto"/>
                <a:ea typeface="Roboto"/>
                <a:cs typeface="Roboto"/>
                <a:sym typeface="Roboto"/>
              </a:rPr>
              <a:t>=</a:t>
            </a:r>
            <a:r>
              <a:rPr lang="en-US" sz="1600" b="0" i="0" u="none" strike="noStrike">
                <a:solidFill>
                  <a:srgbClr val="98C379"/>
                </a:solidFill>
                <a:latin typeface="Roboto"/>
                <a:ea typeface="Roboto"/>
                <a:cs typeface="Roboto"/>
                <a:sym typeface="Roboto"/>
              </a:rPr>
              <a:t>"elements"</a:t>
            </a:r>
            <a:r>
              <a:rPr lang="en-US" sz="1600" b="0" i="0" u="none" strike="noStrike">
                <a:solidFill>
                  <a:srgbClr val="DCDFE4"/>
                </a:solidFill>
                <a:latin typeface="Roboto"/>
                <a:ea typeface="Roboto"/>
                <a:cs typeface="Roboto"/>
                <a:sym typeface="Roboto"/>
              </a:rPr>
              <a:t>)</a:t>
            </a:r>
            <a:endParaRPr lang="en-US" sz="1600" b="0" i="0" u="none" strike="noStrike">
              <a:solidFill>
                <a:srgbClr val="DCDFE4"/>
              </a:solidFill>
              <a:latin typeface="Roboto"/>
              <a:ea typeface="Roboto"/>
              <a:cs typeface="Roboto"/>
              <a:sym typeface="Roboto"/>
            </a:endParaRPr>
          </a:p>
          <a:p>
            <a:pPr indent="0" algn="l">
              <a:lnSpc>
                <a:spcPct val="108000"/>
              </a:lnSpc>
            </a:pPr>
            <a:r>
              <a:rPr lang="en-US" sz="1600" b="0" i="0" u="none" strike="noStrike">
                <a:solidFill>
                  <a:srgbClr val="DCDFE4"/>
                </a:solidFill>
                <a:latin typeface="Roboto"/>
                <a:ea typeface="Roboto"/>
                <a:cs typeface="Roboto"/>
                <a:sym typeface="Roboto"/>
              </a:rPr>
              <a:t>data = loader.load()</a:t>
            </a:r>
            <a:endParaRPr lang="en-US" sz="1600" b="0" i="0" u="none" strike="noStrike">
              <a:solidFill>
                <a:srgbClr val="DCDFE4"/>
              </a:solidFill>
              <a:latin typeface="Roboto"/>
              <a:ea typeface="Roboto"/>
              <a:cs typeface="Roboto"/>
              <a:sym typeface="Roboto"/>
            </a:endParaRPr>
          </a:p>
          <a:p>
            <a:pPr indent="0" algn="l">
              <a:lnSpc>
                <a:spcPct val="108000"/>
              </a:lnSpc>
            </a:pPr>
            <a:r>
              <a:rPr lang="en-US" sz="1600" b="0" i="0" u="none" strike="noStrike">
                <a:solidFill>
                  <a:srgbClr val="5C6370"/>
                </a:solidFill>
                <a:latin typeface="Roboto"/>
                <a:ea typeface="Roboto"/>
                <a:cs typeface="Roboto"/>
                <a:sym typeface="Roboto"/>
              </a:rPr>
              <a:t># 遍历并查看每个元素的类型和内容</a:t>
            </a:r>
            <a:endParaRPr lang="en-US" sz="1600" b="0" i="0" u="none" strike="noStrike">
              <a:solidFill>
                <a:srgbClr val="5C6370"/>
              </a:solidFill>
              <a:latin typeface="Roboto"/>
              <a:ea typeface="Roboto"/>
              <a:cs typeface="Roboto"/>
              <a:sym typeface="Roboto"/>
            </a:endParaRPr>
          </a:p>
          <a:p>
            <a:pPr indent="0" algn="l">
              <a:lnSpc>
                <a:spcPct val="108000"/>
              </a:lnSpc>
            </a:pPr>
            <a:r>
              <a:rPr lang="en-US" sz="1600" b="0" i="0" u="none" strike="noStrike">
                <a:solidFill>
                  <a:srgbClr val="C678DD"/>
                </a:solidFill>
                <a:latin typeface="Roboto"/>
                <a:ea typeface="Roboto"/>
                <a:cs typeface="Roboto"/>
                <a:sym typeface="Roboto"/>
              </a:rPr>
              <a:t>for</a:t>
            </a:r>
            <a:r>
              <a:rPr lang="en-US" sz="1600" b="0" i="0" u="none" strike="noStrike">
                <a:solidFill>
                  <a:srgbClr val="DCDFE4"/>
                </a:solidFill>
                <a:latin typeface="Roboto"/>
                <a:ea typeface="Roboto"/>
                <a:cs typeface="Roboto"/>
                <a:sym typeface="Roboto"/>
              </a:rPr>
              <a:t>element</a:t>
            </a:r>
            <a:r>
              <a:rPr lang="en-US" sz="1600" b="0" i="0" u="none" strike="noStrike">
                <a:solidFill>
                  <a:srgbClr val="C678DD"/>
                </a:solidFill>
                <a:latin typeface="Roboto"/>
                <a:ea typeface="Roboto"/>
                <a:cs typeface="Roboto"/>
                <a:sym typeface="Roboto"/>
              </a:rPr>
              <a:t>in</a:t>
            </a:r>
            <a:r>
              <a:rPr lang="en-US" sz="1600" b="0" i="0" u="none" strike="noStrike">
                <a:solidFill>
                  <a:srgbClr val="DCDFE4"/>
                </a:solidFill>
                <a:latin typeface="Roboto"/>
                <a:ea typeface="Roboto"/>
                <a:cs typeface="Roboto"/>
                <a:sym typeface="Roboto"/>
              </a:rPr>
              <a:t>data:</a:t>
            </a:r>
            <a:endParaRPr lang="en-US" sz="1600" b="0" i="0" u="none" strike="noStrike">
              <a:solidFill>
                <a:srgbClr val="DCDFE4"/>
              </a:solidFill>
              <a:latin typeface="Roboto"/>
              <a:ea typeface="Roboto"/>
              <a:cs typeface="Roboto"/>
              <a:sym typeface="Roboto"/>
            </a:endParaRPr>
          </a:p>
          <a:p>
            <a:pPr indent="0" algn="l">
              <a:lnSpc>
                <a:spcPct val="108000"/>
              </a:lnSpc>
            </a:pPr>
            <a:r>
              <a:rPr lang="en-US" sz="1600" b="0" i="0" u="none" strike="noStrike">
                <a:solidFill>
                  <a:srgbClr val="DCDFE4"/>
                </a:solidFill>
                <a:latin typeface="Roboto"/>
                <a:ea typeface="Roboto"/>
                <a:cs typeface="Roboto"/>
                <a:sym typeface="Roboto"/>
              </a:rPr>
              <a:t>print(f"类型: {element.metadata.get('category')}")</a:t>
            </a:r>
            <a:endParaRPr lang="en-US" sz="1600" b="0" i="0" u="none" strike="noStrike">
              <a:solidFill>
                <a:srgbClr val="DCDFE4"/>
              </a:solidFill>
              <a:latin typeface="Roboto"/>
              <a:ea typeface="Roboto"/>
              <a:cs typeface="Roboto"/>
              <a:sym typeface="Roboto"/>
            </a:endParaRPr>
          </a:p>
        </p:txBody>
      </p:sp>
      <p:sp>
        <p:nvSpPr>
          <p:cNvPr id="11" name="AutoShape 11"/>
          <p:cNvSpPr/>
          <p:nvPr/>
        </p:nvSpPr>
        <p:spPr>
          <a:xfrm>
            <a:off x="762000" y="5080000"/>
            <a:ext cx="10668000" cy="1016000"/>
          </a:xfrm>
          <a:prstGeom prst="roundRect">
            <a:avLst>
              <a:gd name="adj" fmla="val 12500"/>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334000"/>
            <a:ext cx="508000" cy="508000"/>
          </a:xfrm>
          <a:prstGeom prst="rect">
            <a:avLst/>
          </a:prstGeom>
        </p:spPr>
      </p:pic>
      <p:sp>
        <p:nvSpPr>
          <p:cNvPr id="13" name="AutoShape 13"/>
          <p:cNvSpPr/>
          <p:nvPr/>
        </p:nvSpPr>
        <p:spPr>
          <a:xfrm>
            <a:off x="1651000" y="52070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核心价值：</a:t>
            </a:r>
            <a:r>
              <a:rPr lang="en-US" sz="2000" b="0" i="0" u="none" strike="noStrike">
                <a:solidFill>
                  <a:srgbClr val="424242"/>
                </a:solidFill>
                <a:latin typeface="Noto Sans SC"/>
                <a:ea typeface="Noto Sans SC"/>
                <a:cs typeface="Noto Sans SC"/>
                <a:sym typeface="Noto Sans SC"/>
              </a:rPr>
              <a:t>这种模式对于后续按结构进行分块（Chunking）非常有用，确保了语义的完整性和逻辑的连贯性。</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5179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2.1.6 加载PDF</a:t>
            </a:r>
            <a:endParaRPr lang="en-US" sz="1100"/>
          </a:p>
        </p:txBody>
      </p:sp>
      <p:sp>
        <p:nvSpPr>
          <p:cNvPr id="3" name="AutoShape 3"/>
          <p:cNvSpPr/>
          <p:nvPr/>
        </p:nvSpPr>
        <p:spPr>
          <a:xfrm>
            <a:off x="762000" y="1651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68500"/>
            <a:ext cx="609600" cy="609600"/>
          </a:xfrm>
          <a:prstGeom prst="rect">
            <a:avLst/>
          </a:prstGeom>
        </p:spPr>
      </p:pic>
      <p:sp>
        <p:nvSpPr>
          <p:cNvPr id="5" name="AutoShape 5"/>
          <p:cNvSpPr/>
          <p:nvPr/>
        </p:nvSpPr>
        <p:spPr>
          <a:xfrm>
            <a:off x="1778000" y="1778000"/>
            <a:ext cx="939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PDF格式定义</a:t>
            </a:r>
            <a:endParaRPr lang="en-US" sz="1100"/>
          </a:p>
          <a:p>
            <a:pPr indent="0" algn="l">
              <a:lnSpc>
                <a:spcPct val="125000"/>
              </a:lnSpc>
            </a:pPr>
            <a:r>
              <a:rPr lang="en-US" sz="2000" b="0" i="0" u="none" strike="noStrike">
                <a:solidFill>
                  <a:srgbClr val="757575"/>
                </a:solidFill>
                <a:latin typeface="Noto Sans SC"/>
                <a:ea typeface="Noto Sans SC"/>
                <a:cs typeface="Noto Sans SC"/>
                <a:sym typeface="Noto Sans SC"/>
              </a:rPr>
              <a:t>便携式文档格式（Portable Document Format），广泛用于文档交换和保存，是信息处理中的常见载体。</a:t>
            </a:r>
            <a:endParaRPr lang="en-US" sz="2000" b="0" i="0" u="none" strike="noStrike">
              <a:solidFill>
                <a:srgbClr val="757575"/>
              </a:solidFill>
              <a:latin typeface="Noto Sans SC"/>
              <a:ea typeface="Noto Sans SC"/>
              <a:cs typeface="Noto Sans SC"/>
              <a:sym typeface="Noto Sans SC"/>
            </a:endParaRPr>
          </a:p>
        </p:txBody>
      </p:sp>
      <p:sp>
        <p:nvSpPr>
          <p:cNvPr id="6" name="AutoShape 6"/>
          <p:cNvSpPr/>
          <p:nvPr/>
        </p:nvSpPr>
        <p:spPr>
          <a:xfrm>
            <a:off x="762000" y="3175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492500"/>
            <a:ext cx="609600" cy="609600"/>
          </a:xfrm>
          <a:prstGeom prst="rect">
            <a:avLst/>
          </a:prstGeom>
        </p:spPr>
      </p:pic>
      <p:sp>
        <p:nvSpPr>
          <p:cNvPr id="8" name="AutoShape 8"/>
          <p:cNvSpPr/>
          <p:nvPr/>
        </p:nvSpPr>
        <p:spPr>
          <a:xfrm>
            <a:off x="1778000" y="3302000"/>
            <a:ext cx="939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专用加载器：PyPDFLoader</a:t>
            </a:r>
            <a:endParaRPr lang="en-US" sz="1100"/>
          </a:p>
          <a:p>
            <a:pPr indent="0" algn="l">
              <a:lnSpc>
                <a:spcPct val="125000"/>
              </a:lnSpc>
            </a:pPr>
            <a:r>
              <a:rPr lang="en-US" sz="2000" b="0" i="0" u="none" strike="noStrike">
                <a:solidFill>
                  <a:srgbClr val="757575"/>
                </a:solidFill>
                <a:latin typeface="Noto Sans SC"/>
                <a:ea typeface="Noto Sans SC"/>
                <a:cs typeface="Noto Sans SC"/>
                <a:sym typeface="Noto Sans SC"/>
              </a:rPr>
              <a:t>LangChain 提供的专用组件，可以高效加载 PDF 文件并提取其中的文本内容，支持多页文档处理。</a:t>
            </a:r>
            <a:endParaRPr lang="en-US" sz="20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762000" y="4699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016500"/>
            <a:ext cx="609600" cy="609600"/>
          </a:xfrm>
          <a:prstGeom prst="rect">
            <a:avLst/>
          </a:prstGeom>
        </p:spPr>
      </p:pic>
      <p:sp>
        <p:nvSpPr>
          <p:cNvPr id="11" name="AutoShape 11"/>
          <p:cNvSpPr/>
          <p:nvPr/>
        </p:nvSpPr>
        <p:spPr>
          <a:xfrm>
            <a:off x="1778000" y="4826000"/>
            <a:ext cx="939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依赖库安装</a:t>
            </a:r>
            <a:endParaRPr lang="en-US" sz="1100"/>
          </a:p>
          <a:p>
            <a:pPr indent="0" algn="l">
              <a:lnSpc>
                <a:spcPct val="125000"/>
              </a:lnSpc>
            </a:pPr>
            <a:r>
              <a:rPr lang="en-US" sz="2000" b="0" i="0" u="none" strike="noStrike">
                <a:solidFill>
                  <a:srgbClr val="757575"/>
                </a:solidFill>
                <a:latin typeface="Noto Sans SC"/>
                <a:ea typeface="Noto Sans SC"/>
                <a:cs typeface="Noto Sans SC"/>
                <a:sym typeface="Noto Sans SC"/>
              </a:rPr>
              <a:t>使用前需通过 pip 安装依赖库：</a:t>
            </a:r>
            <a:r>
              <a:rPr lang="en-US" sz="2000" b="1" i="0" u="none" strike="noStrike">
                <a:solidFill>
                  <a:srgbClr val="0277BD"/>
                </a:solidFill>
                <a:highlight>
                  <a:srgbClr val="0277BD">
                    <a:alpha val="0"/>
                  </a:srgbClr>
                </a:highlight>
                <a:latin typeface="Noto Sans SC"/>
                <a:ea typeface="Noto Sans SC"/>
                <a:cs typeface="Noto Sans SC"/>
                <a:sym typeface="Noto Sans SC"/>
              </a:rPr>
              <a:t>pip3 install pypdf</a:t>
            </a:r>
            <a:endParaRPr lang="en-US" sz="2000" b="1" i="0" u="none" strike="noStrike">
              <a:solidFill>
                <a:srgbClr val="0277BD"/>
              </a:solidFill>
              <a:highlight>
                <a:srgbClr val="0277BD">
                  <a:alpha val="0"/>
                </a:srgbClr>
              </a:highlight>
              <a:latin typeface="Noto Sans SC"/>
              <a:ea typeface="Noto Sans SC"/>
              <a:cs typeface="Noto Sans SC"/>
              <a:sym typeface="Noto Sans SC"/>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5179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基础代码示例</a:t>
            </a:r>
            <a:endParaRPr lang="en-US" sz="1100"/>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778000"/>
            <a:ext cx="609600" cy="609600"/>
          </a:xfrm>
          <a:prstGeom prst="rect">
            <a:avLst/>
          </a:prstGeom>
        </p:spPr>
      </p:pic>
      <p:sp>
        <p:nvSpPr>
          <p:cNvPr id="4" name="AutoShape 4"/>
          <p:cNvSpPr/>
          <p:nvPr/>
        </p:nvSpPr>
        <p:spPr>
          <a:xfrm>
            <a:off x="1524000" y="1752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使用 PyPDFLoader 加载文件</a:t>
            </a:r>
            <a:endParaRPr lang="en-US" sz="1100"/>
          </a:p>
        </p:txBody>
      </p:sp>
      <p:sp>
        <p:nvSpPr>
          <p:cNvPr id="5" name="AutoShape 5"/>
          <p:cNvSpPr/>
          <p:nvPr/>
        </p:nvSpPr>
        <p:spPr>
          <a:xfrm>
            <a:off x="762000" y="2413000"/>
            <a:ext cx="4572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757575"/>
                </a:solidFill>
                <a:latin typeface="Noto Sans SC"/>
                <a:ea typeface="Noto Sans SC"/>
                <a:cs typeface="Noto Sans SC"/>
                <a:sym typeface="Noto Sans SC"/>
              </a:rPr>
              <a:t>此代码展示了如何利用 LangChain 库中的 PyPDFLoader 工具加载并解析 PDF 文件。</a:t>
            </a:r>
            <a:endParaRPr lang="en-US" sz="1100"/>
          </a:p>
          <a:p>
            <a:pPr indent="0" algn="l">
              <a:lnSpc>
                <a:spcPct val="125000"/>
              </a:lnSpc>
            </a:pPr>
          </a:p>
          <a:p>
            <a:pPr indent="0" algn="l">
              <a:lnSpc>
                <a:spcPct val="125000"/>
              </a:lnSpc>
            </a:pPr>
            <a:r>
              <a:rPr lang="en-US" sz="2000" b="0" i="0" u="none" strike="noStrike">
                <a:solidFill>
                  <a:srgbClr val="757575"/>
                </a:solidFill>
                <a:latin typeface="Noto Sans SC"/>
                <a:ea typeface="Noto Sans SC"/>
                <a:cs typeface="Noto Sans SC"/>
                <a:sym typeface="Noto Sans SC"/>
              </a:rPr>
              <a:t>核心功能：</a:t>
            </a:r>
            <a:endParaRPr lang="en-US" sz="2000" b="0" i="0" u="none" strike="noStrike">
              <a:solidFill>
                <a:srgbClr val="757575"/>
              </a:solidFill>
              <a:latin typeface="Noto Sans SC"/>
              <a:ea typeface="Noto Sans SC"/>
              <a:cs typeface="Noto Sans SC"/>
              <a:sym typeface="Noto Sans SC"/>
            </a:endParaRPr>
          </a:p>
          <a:p>
            <a:pPr indent="0" algn="l">
              <a:lnSpc>
                <a:spcPct val="125000"/>
              </a:lnSpc>
            </a:pPr>
            <a:r>
              <a:rPr lang="en-US" sz="2000" b="0" i="0" u="none" strike="noStrike">
                <a:solidFill>
                  <a:srgbClr val="757575"/>
                </a:solidFill>
                <a:latin typeface="Noto Sans SC"/>
                <a:ea typeface="Noto Sans SC"/>
                <a:cs typeface="Noto Sans SC"/>
                <a:sym typeface="Noto Sans SC"/>
              </a:rPr>
              <a:t>1. 导入 PyPDFLoader 模块</a:t>
            </a:r>
            <a:endParaRPr lang="en-US" sz="2000" b="0" i="0" u="none" strike="noStrike">
              <a:solidFill>
                <a:srgbClr val="757575"/>
              </a:solidFill>
              <a:latin typeface="Noto Sans SC"/>
              <a:ea typeface="Noto Sans SC"/>
              <a:cs typeface="Noto Sans SC"/>
              <a:sym typeface="Noto Sans SC"/>
            </a:endParaRPr>
          </a:p>
          <a:p>
            <a:pPr indent="0" algn="l">
              <a:lnSpc>
                <a:spcPct val="125000"/>
              </a:lnSpc>
            </a:pPr>
            <a:r>
              <a:rPr lang="en-US" sz="2000" b="0" i="0" u="none" strike="noStrike">
                <a:solidFill>
                  <a:srgbClr val="757575"/>
                </a:solidFill>
                <a:latin typeface="Noto Sans SC"/>
                <a:ea typeface="Noto Sans SC"/>
                <a:cs typeface="Noto Sans SC"/>
                <a:sym typeface="Noto Sans SC"/>
              </a:rPr>
              <a:t>2. 加载指定路径的 PDF 文件</a:t>
            </a:r>
            <a:endParaRPr lang="en-US" sz="2000" b="0" i="0" u="none" strike="noStrike">
              <a:solidFill>
                <a:srgbClr val="757575"/>
              </a:solidFill>
              <a:latin typeface="Noto Sans SC"/>
              <a:ea typeface="Noto Sans SC"/>
              <a:cs typeface="Noto Sans SC"/>
              <a:sym typeface="Noto Sans SC"/>
            </a:endParaRPr>
          </a:p>
          <a:p>
            <a:pPr indent="0" algn="l">
              <a:lnSpc>
                <a:spcPct val="125000"/>
              </a:lnSpc>
            </a:pPr>
            <a:r>
              <a:rPr lang="en-US" sz="2000" b="0" i="0" u="none" strike="noStrike">
                <a:solidFill>
                  <a:srgbClr val="757575"/>
                </a:solidFill>
                <a:latin typeface="Noto Sans SC"/>
                <a:ea typeface="Noto Sans SC"/>
                <a:cs typeface="Noto Sans SC"/>
                <a:sym typeface="Noto Sans SC"/>
              </a:rPr>
              <a:t>3. 自动按页面分割文档内容</a:t>
            </a:r>
            <a:endParaRPr lang="en-US" sz="2000" b="0" i="0" u="none" strike="noStrike">
              <a:solidFill>
                <a:srgbClr val="757575"/>
              </a:solidFill>
              <a:latin typeface="Noto Sans SC"/>
              <a:ea typeface="Noto Sans SC"/>
              <a:cs typeface="Noto Sans SC"/>
              <a:sym typeface="Noto Sans SC"/>
            </a:endParaRPr>
          </a:p>
          <a:p>
            <a:pPr indent="0" algn="l">
              <a:lnSpc>
                <a:spcPct val="125000"/>
              </a:lnSpc>
            </a:pPr>
            <a:r>
              <a:rPr lang="en-US" sz="2000" b="0" i="0" u="none" strike="noStrike">
                <a:solidFill>
                  <a:srgbClr val="757575"/>
                </a:solidFill>
                <a:latin typeface="Noto Sans SC"/>
                <a:ea typeface="Noto Sans SC"/>
                <a:cs typeface="Noto Sans SC"/>
                <a:sym typeface="Noto Sans SC"/>
              </a:rPr>
              <a:t>4. 遍历并打印每一页的内容片段</a:t>
            </a:r>
            <a:endParaRPr lang="en-US" sz="2000" b="0" i="0" u="none" strike="noStrike">
              <a:solidFill>
                <a:srgbClr val="757575"/>
              </a:solidFill>
              <a:latin typeface="Noto Sans SC"/>
              <a:ea typeface="Noto Sans SC"/>
              <a:cs typeface="Noto Sans SC"/>
              <a:sym typeface="Noto Sans SC"/>
            </a:endParaRPr>
          </a:p>
        </p:txBody>
      </p:sp>
      <p:sp>
        <p:nvSpPr>
          <p:cNvPr id="6" name="AutoShape 6"/>
          <p:cNvSpPr/>
          <p:nvPr/>
        </p:nvSpPr>
        <p:spPr>
          <a:xfrm>
            <a:off x="5842000" y="1651000"/>
            <a:ext cx="5588000" cy="3556000"/>
          </a:xfrm>
          <a:prstGeom prst="roundRect">
            <a:avLst>
              <a:gd name="adj" fmla="val 3571"/>
            </a:avLst>
          </a:prstGeom>
          <a:solidFill>
            <a:srgbClr val="1E1E1E">
              <a:alpha val="100000"/>
            </a:srgbClr>
          </a:solidFill>
          <a:ln w="25400" cap="flat" cmpd="sng">
            <a:noFill/>
            <a:prstDash val="solid"/>
            <a:round/>
          </a:ln>
          <a:effectLst>
            <a:outerShdw blurRad="190500" dist="101600" dir="5400000" algn="tl" rotWithShape="0">
              <a:srgbClr val="000000">
                <a:alpha val="20000"/>
              </a:srgbClr>
            </a:outerShdw>
          </a:effectLst>
        </p:spPr>
        <p:txBody>
          <a:bodyPr vert="horz" wrap="square" lIns="63500" tIns="63500" rIns="63500" bIns="63500" rtlCol="0" anchor="ctr"/>
          <a:lstStyle/>
          <a:p>
            <a:pPr algn="ctr">
              <a:defRPr/>
            </a:pPr>
          </a:p>
        </p:txBody>
      </p:sp>
      <p:sp>
        <p:nvSpPr>
          <p:cNvPr id="7" name="AutoShape 7"/>
          <p:cNvSpPr/>
          <p:nvPr/>
        </p:nvSpPr>
        <p:spPr>
          <a:xfrm>
            <a:off x="6096000" y="1841500"/>
            <a:ext cx="5080000" cy="317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C792EA"/>
                </a:solidFill>
                <a:latin typeface="Roboto"/>
                <a:ea typeface="Roboto"/>
                <a:cs typeface="Roboto"/>
                <a:sym typeface="Roboto"/>
              </a:rPr>
              <a:t>from</a:t>
            </a:r>
            <a:r>
              <a:rPr lang="en-US" sz="1800" b="0" i="0" u="none" strike="noStrike">
                <a:solidFill>
                  <a:srgbClr val="DCDCDC"/>
                </a:solidFill>
                <a:latin typeface="Roboto"/>
                <a:ea typeface="Roboto"/>
                <a:cs typeface="Roboto"/>
                <a:sym typeface="Roboto"/>
              </a:rPr>
              <a:t>langchain_community.document_loaders</a:t>
            </a:r>
            <a:r>
              <a:rPr lang="en-US" sz="1800" b="0" i="0" u="none" strike="noStrike">
                <a:solidFill>
                  <a:srgbClr val="C792EA"/>
                </a:solidFill>
                <a:latin typeface="Roboto"/>
                <a:ea typeface="Roboto"/>
                <a:cs typeface="Roboto"/>
                <a:sym typeface="Roboto"/>
              </a:rPr>
              <a:t>import</a:t>
            </a:r>
            <a:r>
              <a:rPr lang="en-US" sz="1800" b="0" i="0" u="none" strike="noStrike">
                <a:solidFill>
                  <a:srgbClr val="DCDCDC"/>
                </a:solidFill>
                <a:latin typeface="Roboto"/>
                <a:ea typeface="Roboto"/>
                <a:cs typeface="Roboto"/>
                <a:sym typeface="Roboto"/>
              </a:rPr>
              <a:t>PyPDFLoader</a:t>
            </a:r>
            <a:endParaRPr lang="en-US" sz="1100"/>
          </a:p>
          <a:p>
            <a:pPr indent="0" algn="l">
              <a:lnSpc>
                <a:spcPct val="108000"/>
              </a:lnSpc>
            </a:pPr>
          </a:p>
          <a:p>
            <a:pPr indent="0" algn="l">
              <a:lnSpc>
                <a:spcPct val="108000"/>
              </a:lnSpc>
            </a:pPr>
            <a:r>
              <a:rPr lang="en-US" sz="1800" b="0" i="0" u="none" strike="noStrike">
                <a:solidFill>
                  <a:srgbClr val="808080"/>
                </a:solidFill>
                <a:latin typeface="Roboto"/>
                <a:ea typeface="Roboto"/>
                <a:cs typeface="Roboto"/>
                <a:sym typeface="Roboto"/>
              </a:rPr>
              <a:t># 加载PDF文件</a:t>
            </a:r>
            <a:endParaRPr lang="en-US" sz="1800" b="0" i="0" u="none" strike="noStrike">
              <a:solidFill>
                <a:srgbClr val="808080"/>
              </a:solidFill>
              <a:latin typeface="Roboto"/>
              <a:ea typeface="Roboto"/>
              <a:cs typeface="Roboto"/>
              <a:sym typeface="Roboto"/>
            </a:endParaRPr>
          </a:p>
          <a:p>
            <a:pPr indent="0" algn="l">
              <a:lnSpc>
                <a:spcPct val="108000"/>
              </a:lnSpc>
            </a:pPr>
            <a:r>
              <a:rPr lang="en-US" sz="1800" b="0" i="0" u="none" strike="noStrike">
                <a:solidFill>
                  <a:srgbClr val="DCDCDC"/>
                </a:solidFill>
                <a:latin typeface="Roboto"/>
                <a:ea typeface="Roboto"/>
                <a:cs typeface="Roboto"/>
                <a:sym typeface="Roboto"/>
              </a:rPr>
              <a:t>loader = PyPDFLoader(</a:t>
            </a:r>
            <a:r>
              <a:rPr lang="en-US" sz="1800" b="0" i="0" u="none" strike="noStrike">
                <a:solidFill>
                  <a:srgbClr val="98C379"/>
                </a:solidFill>
                <a:latin typeface="Roboto"/>
                <a:ea typeface="Roboto"/>
                <a:cs typeface="Roboto"/>
                <a:sym typeface="Roboto"/>
              </a:rPr>
              <a:t>"../example_data/2024年AI白皮书.pdf"</a:t>
            </a:r>
            <a:r>
              <a:rPr lang="en-US" sz="1800" b="0" i="0" u="none" strike="noStrike">
                <a:solidFill>
                  <a:srgbClr val="DCDCDC"/>
                </a:solidFill>
                <a:latin typeface="Roboto"/>
                <a:ea typeface="Roboto"/>
                <a:cs typeface="Roboto"/>
                <a:sym typeface="Roboto"/>
              </a:rPr>
              <a:t>)</a:t>
            </a:r>
            <a:endParaRPr lang="en-US" sz="1800" b="0" i="0" u="none" strike="noStrike">
              <a:solidFill>
                <a:srgbClr val="DCDCDC"/>
              </a:solidFill>
              <a:latin typeface="Roboto"/>
              <a:ea typeface="Roboto"/>
              <a:cs typeface="Roboto"/>
              <a:sym typeface="Roboto"/>
            </a:endParaRPr>
          </a:p>
          <a:p>
            <a:pPr indent="0" algn="l">
              <a:lnSpc>
                <a:spcPct val="108000"/>
              </a:lnSpc>
            </a:pPr>
            <a:r>
              <a:rPr lang="en-US" sz="1800" b="0" i="0" u="none" strike="noStrike">
                <a:solidFill>
                  <a:srgbClr val="808080"/>
                </a:solidFill>
                <a:latin typeface="Roboto"/>
                <a:ea typeface="Roboto"/>
                <a:cs typeface="Roboto"/>
                <a:sym typeface="Roboto"/>
              </a:rPr>
              <a:t># 加载并按页面分割</a:t>
            </a:r>
            <a:endParaRPr lang="en-US" sz="1800" b="0" i="0" u="none" strike="noStrike">
              <a:solidFill>
                <a:srgbClr val="808080"/>
              </a:solidFill>
              <a:latin typeface="Roboto"/>
              <a:ea typeface="Roboto"/>
              <a:cs typeface="Roboto"/>
              <a:sym typeface="Roboto"/>
            </a:endParaRPr>
          </a:p>
          <a:p>
            <a:pPr indent="0" algn="l">
              <a:lnSpc>
                <a:spcPct val="108000"/>
              </a:lnSpc>
            </a:pPr>
            <a:r>
              <a:rPr lang="en-US" sz="1800" b="0" i="0" u="none" strike="noStrike">
                <a:solidFill>
                  <a:srgbClr val="DCDCDC"/>
                </a:solidFill>
                <a:latin typeface="Roboto"/>
                <a:ea typeface="Roboto"/>
                <a:cs typeface="Roboto"/>
                <a:sym typeface="Roboto"/>
              </a:rPr>
              <a:t>pages = loader.load_and_split()</a:t>
            </a:r>
            <a:endParaRPr lang="en-US" sz="1800" b="0" i="0" u="none" strike="noStrike">
              <a:solidFill>
                <a:srgbClr val="DCDCDC"/>
              </a:solidFill>
              <a:latin typeface="Roboto"/>
              <a:ea typeface="Roboto"/>
              <a:cs typeface="Roboto"/>
              <a:sym typeface="Roboto"/>
            </a:endParaRPr>
          </a:p>
          <a:p>
            <a:pPr indent="0" algn="l">
              <a:lnSpc>
                <a:spcPct val="108000"/>
              </a:lnSpc>
            </a:pPr>
          </a:p>
          <a:p>
            <a:pPr indent="0" algn="l">
              <a:lnSpc>
                <a:spcPct val="108000"/>
              </a:lnSpc>
            </a:pPr>
            <a:r>
              <a:rPr lang="en-US" sz="1800" b="0" i="0" u="none" strike="noStrike">
                <a:solidFill>
                  <a:srgbClr val="808080"/>
                </a:solidFill>
                <a:latin typeface="Roboto"/>
                <a:ea typeface="Roboto"/>
                <a:cs typeface="Roboto"/>
                <a:sym typeface="Roboto"/>
              </a:rPr>
              <a:t># 查看每一页的内容</a:t>
            </a:r>
            <a:endParaRPr lang="en-US" sz="1800" b="0" i="0" u="none" strike="noStrike">
              <a:solidFill>
                <a:srgbClr val="808080"/>
              </a:solidFill>
              <a:latin typeface="Roboto"/>
              <a:ea typeface="Roboto"/>
              <a:cs typeface="Roboto"/>
              <a:sym typeface="Roboto"/>
            </a:endParaRPr>
          </a:p>
          <a:p>
            <a:pPr indent="0" algn="l">
              <a:lnSpc>
                <a:spcPct val="108000"/>
              </a:lnSpc>
            </a:pPr>
            <a:r>
              <a:rPr lang="en-US" sz="1800" b="0" i="0" u="none" strike="noStrike">
                <a:solidFill>
                  <a:srgbClr val="C792EA"/>
                </a:solidFill>
                <a:latin typeface="Roboto"/>
                <a:ea typeface="Roboto"/>
                <a:cs typeface="Roboto"/>
                <a:sym typeface="Roboto"/>
              </a:rPr>
              <a:t>for</a:t>
            </a:r>
            <a:r>
              <a:rPr lang="en-US" sz="1800" b="0" i="0" u="none" strike="noStrike">
                <a:solidFill>
                  <a:srgbClr val="DCDCDC"/>
                </a:solidFill>
                <a:latin typeface="Roboto"/>
                <a:ea typeface="Roboto"/>
                <a:cs typeface="Roboto"/>
                <a:sym typeface="Roboto"/>
              </a:rPr>
              <a:t>i, page</a:t>
            </a:r>
            <a:r>
              <a:rPr lang="en-US" sz="1800" b="0" i="0" u="none" strike="noStrike">
                <a:solidFill>
                  <a:srgbClr val="C792EA"/>
                </a:solidFill>
                <a:latin typeface="Roboto"/>
                <a:ea typeface="Roboto"/>
                <a:cs typeface="Roboto"/>
                <a:sym typeface="Roboto"/>
              </a:rPr>
              <a:t>in</a:t>
            </a:r>
            <a:r>
              <a:rPr lang="en-US" sz="1800" b="0" i="0" u="none" strike="noStrike">
                <a:solidFill>
                  <a:srgbClr val="DCDCDC"/>
                </a:solidFill>
                <a:latin typeface="Roboto"/>
                <a:ea typeface="Roboto"/>
                <a:cs typeface="Roboto"/>
                <a:sym typeface="Roboto"/>
              </a:rPr>
              <a:t>enumerate(pages):</a:t>
            </a:r>
            <a:endParaRPr lang="en-US" sz="1800" b="0" i="0" u="none" strike="noStrike">
              <a:solidFill>
                <a:srgbClr val="DCDCDC"/>
              </a:solidFill>
              <a:latin typeface="Roboto"/>
              <a:ea typeface="Roboto"/>
              <a:cs typeface="Roboto"/>
              <a:sym typeface="Roboto"/>
            </a:endParaRPr>
          </a:p>
          <a:p>
            <a:pPr indent="0" algn="l">
              <a:lnSpc>
                <a:spcPct val="108000"/>
              </a:lnSpc>
            </a:pPr>
            <a:r>
              <a:rPr lang="en-US" sz="1800" b="0" i="0" u="none" strike="noStrike">
                <a:solidFill>
                  <a:srgbClr val="DCDCDC"/>
                </a:solidFill>
                <a:latin typeface="Roboto"/>
                <a:ea typeface="Roboto"/>
                <a:cs typeface="Roboto"/>
                <a:sym typeface="Roboto"/>
              </a:rPr>
              <a:t>print(f</a:t>
            </a:r>
            <a:r>
              <a:rPr lang="en-US" sz="1800" b="0" i="0" u="none" strike="noStrike">
                <a:solidFill>
                  <a:srgbClr val="98C379"/>
                </a:solidFill>
                <a:latin typeface="Roboto"/>
                <a:ea typeface="Roboto"/>
                <a:cs typeface="Roboto"/>
                <a:sym typeface="Roboto"/>
              </a:rPr>
              <a:t>"第 {i+1} 页内容: {page.page_content[:100]}..."</a:t>
            </a:r>
            <a:r>
              <a:rPr lang="en-US" sz="1800" b="0" i="0" u="none" strike="noStrike">
                <a:solidFill>
                  <a:srgbClr val="DCDCDC"/>
                </a:solidFill>
                <a:latin typeface="Roboto"/>
                <a:ea typeface="Roboto"/>
                <a:cs typeface="Roboto"/>
                <a:sym typeface="Roboto"/>
              </a:rPr>
              <a:t>)</a:t>
            </a:r>
            <a:endParaRPr lang="en-US" sz="1800" b="0" i="0" u="none" strike="noStrike">
              <a:solidFill>
                <a:srgbClr val="DCDCDC"/>
              </a:solidFill>
              <a:latin typeface="Roboto"/>
              <a:ea typeface="Roboto"/>
              <a:cs typeface="Roboto"/>
              <a:sym typeface="Roboto"/>
            </a:endParaRPr>
          </a:p>
        </p:txBody>
      </p:sp>
      <p:sp>
        <p:nvSpPr>
          <p:cNvPr id="8" name="AutoShape 8"/>
          <p:cNvSpPr/>
          <p:nvPr/>
        </p:nvSpPr>
        <p:spPr>
          <a:xfrm>
            <a:off x="0" y="6604000"/>
            <a:ext cx="12192000" cy="254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402336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提取PDF中的图片</a:t>
            </a:r>
            <a:endParaRPr lang="en-US" sz="1100"/>
          </a:p>
        </p:txBody>
      </p:sp>
      <p:sp>
        <p:nvSpPr>
          <p:cNvPr id="3" name="AutoShape 3"/>
          <p:cNvSpPr/>
          <p:nvPr/>
        </p:nvSpPr>
        <p:spPr>
          <a:xfrm>
            <a:off x="762000" y="1651000"/>
            <a:ext cx="5080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841500"/>
            <a:ext cx="355600" cy="355600"/>
          </a:xfrm>
          <a:prstGeom prst="rect">
            <a:avLst/>
          </a:prstGeom>
        </p:spPr>
      </p:pic>
      <p:sp>
        <p:nvSpPr>
          <p:cNvPr id="5" name="AutoShape 5"/>
          <p:cNvSpPr/>
          <p:nvPr/>
        </p:nvSpPr>
        <p:spPr>
          <a:xfrm>
            <a:off x="1498600" y="1803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1. 安装依赖库</a:t>
            </a:r>
            <a:endParaRPr lang="en-US" sz="1100"/>
          </a:p>
        </p:txBody>
      </p:sp>
      <p:sp>
        <p:nvSpPr>
          <p:cNvPr id="6" name="AutoShape 6"/>
          <p:cNvSpPr/>
          <p:nvPr/>
        </p:nvSpPr>
        <p:spPr>
          <a:xfrm>
            <a:off x="1016000" y="2286000"/>
            <a:ext cx="4572000" cy="762000"/>
          </a:xfrm>
          <a:prstGeom prst="roundRect">
            <a:avLst>
              <a:gd name="adj" fmla="val 8333"/>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143000" y="2387600"/>
            <a:ext cx="4318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Roboto"/>
                <a:ea typeface="Roboto"/>
                <a:cs typeface="Roboto"/>
                <a:sym typeface="Roboto"/>
              </a:rPr>
              <a:t>pip3 install rapidocr-onnxruntime</a:t>
            </a:r>
            <a:endParaRPr lang="en-US" sz="1100"/>
          </a:p>
        </p:txBody>
      </p:sp>
      <p:sp>
        <p:nvSpPr>
          <p:cNvPr id="8" name="AutoShape 8"/>
          <p:cNvSpPr/>
          <p:nvPr/>
        </p:nvSpPr>
        <p:spPr>
          <a:xfrm>
            <a:off x="762000" y="3556000"/>
            <a:ext cx="5080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746500"/>
            <a:ext cx="355600" cy="355600"/>
          </a:xfrm>
          <a:prstGeom prst="rect">
            <a:avLst/>
          </a:prstGeom>
        </p:spPr>
      </p:pic>
      <p:sp>
        <p:nvSpPr>
          <p:cNvPr id="10" name="AutoShape 10"/>
          <p:cNvSpPr/>
          <p:nvPr/>
        </p:nvSpPr>
        <p:spPr>
          <a:xfrm>
            <a:off x="1498600" y="3708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2. 加载并提取图片</a:t>
            </a:r>
            <a:endParaRPr lang="en-US" sz="1100"/>
          </a:p>
        </p:txBody>
      </p:sp>
      <p:sp>
        <p:nvSpPr>
          <p:cNvPr id="11" name="AutoShape 11"/>
          <p:cNvSpPr/>
          <p:nvPr/>
        </p:nvSpPr>
        <p:spPr>
          <a:xfrm>
            <a:off x="1016000" y="4191000"/>
            <a:ext cx="4572000" cy="1397000"/>
          </a:xfrm>
          <a:prstGeom prst="roundRect">
            <a:avLst>
              <a:gd name="adj" fmla="val 4545"/>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143000" y="4292600"/>
            <a:ext cx="4318000" cy="1193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Roboto"/>
                <a:ea typeface="Roboto"/>
                <a:cs typeface="Roboto"/>
                <a:sym typeface="Roboto"/>
              </a:rPr>
              <a:t>loader = PyPDFLoader("path/to/file.pdf",</a:t>
            </a:r>
            <a:endParaRPr lang="en-US" sz="1100"/>
          </a:p>
          <a:p>
            <a:pPr indent="0" algn="l">
              <a:lnSpc>
                <a:spcPct val="125000"/>
              </a:lnSpc>
            </a:pPr>
            <a:r>
              <a:rPr lang="en-US" sz="1600" b="0" i="0" u="none" strike="noStrike">
                <a:solidFill>
                  <a:srgbClr val="757575"/>
                </a:solidFill>
                <a:latin typeface="Roboto"/>
                <a:ea typeface="Roboto"/>
                <a:cs typeface="Roboto"/>
                <a:sym typeface="Roboto"/>
              </a:rPr>
              <a:t>extract_images=True)</a:t>
            </a:r>
            <a:endParaRPr lang="en-US" sz="1600" b="0" i="0" u="none" strike="noStrike">
              <a:solidFill>
                <a:srgbClr val="757575"/>
              </a:solidFill>
              <a:latin typeface="Roboto"/>
              <a:ea typeface="Roboto"/>
              <a:cs typeface="Roboto"/>
              <a:sym typeface="Roboto"/>
            </a:endParaRPr>
          </a:p>
          <a:p>
            <a:pPr indent="0" algn="l">
              <a:lnSpc>
                <a:spcPct val="125000"/>
              </a:lnSpc>
            </a:pPr>
            <a:r>
              <a:rPr lang="en-US" sz="1600" b="0" i="0" u="none" strike="noStrike">
                <a:solidFill>
                  <a:srgbClr val="757575"/>
                </a:solidFill>
                <a:latin typeface="Roboto"/>
                <a:ea typeface="Roboto"/>
                <a:cs typeface="Roboto"/>
                <a:sym typeface="Roboto"/>
              </a:rPr>
              <a:t>pages = loader.load_and_split()</a:t>
            </a:r>
            <a:endParaRPr lang="en-US" sz="1600" b="0" i="0" u="none" strike="noStrike">
              <a:solidFill>
                <a:srgbClr val="757575"/>
              </a:solidFill>
              <a:latin typeface="Roboto"/>
              <a:ea typeface="Roboto"/>
              <a:cs typeface="Roboto"/>
              <a:sym typeface="Roboto"/>
            </a:endParaRPr>
          </a:p>
          <a:p>
            <a:pPr indent="0" algn="l">
              <a:lnSpc>
                <a:spcPct val="125000"/>
              </a:lnSpc>
            </a:pPr>
            <a:r>
              <a:rPr lang="en-US" sz="1600" b="0" i="0" u="none" strike="noStrike">
                <a:solidFill>
                  <a:srgbClr val="757575"/>
                </a:solidFill>
                <a:latin typeface="Roboto"/>
                <a:ea typeface="Roboto"/>
                <a:cs typeface="Roboto"/>
                <a:sym typeface="Roboto"/>
              </a:rPr>
              <a:t>print(pages[0].metadata.get('images'))</a:t>
            </a:r>
            <a:endParaRPr lang="en-US" sz="1600" b="0" i="0" u="none" strike="noStrike">
              <a:solidFill>
                <a:srgbClr val="757575"/>
              </a:solidFill>
              <a:latin typeface="Roboto"/>
              <a:ea typeface="Roboto"/>
              <a:cs typeface="Roboto"/>
              <a:sym typeface="Roboto"/>
            </a:endParaRPr>
          </a:p>
        </p:txBody>
      </p:sp>
      <p:sp>
        <p:nvSpPr>
          <p:cNvPr id="13" name="AutoShape 13"/>
          <p:cNvSpPr/>
          <p:nvPr/>
        </p:nvSpPr>
        <p:spPr>
          <a:xfrm>
            <a:off x="6350000" y="1651000"/>
            <a:ext cx="5080000" cy="4191000"/>
          </a:xfrm>
          <a:prstGeom prst="roundRect">
            <a:avLst>
              <a:gd name="adj" fmla="val 303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14" name="AutoShape 14"/>
          <p:cNvSpPr/>
          <p:nvPr/>
        </p:nvSpPr>
        <p:spPr>
          <a:xfrm>
            <a:off x="6604000" y="1905000"/>
            <a:ext cx="457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核心机制与流程</a:t>
            </a:r>
            <a:endParaRPr lang="en-US" sz="1100"/>
          </a:p>
        </p:txBody>
      </p:sp>
      <p:sp>
        <p:nvSpPr>
          <p:cNvPr id="15" name="AutoShape 15"/>
          <p:cNvSpPr/>
          <p:nvPr/>
        </p:nvSpPr>
        <p:spPr>
          <a:xfrm>
            <a:off x="6731000" y="2540000"/>
            <a:ext cx="4318000" cy="762000"/>
          </a:xfrm>
          <a:prstGeom prst="roundRect">
            <a:avLst>
              <a:gd name="adj" fmla="val 8333"/>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0" y="2730500"/>
            <a:ext cx="381000" cy="381000"/>
          </a:xfrm>
          <a:prstGeom prst="rect">
            <a:avLst/>
          </a:prstGeom>
        </p:spPr>
      </p:pic>
      <p:sp>
        <p:nvSpPr>
          <p:cNvPr id="17" name="AutoShape 17"/>
          <p:cNvSpPr/>
          <p:nvPr/>
        </p:nvSpPr>
        <p:spPr>
          <a:xfrm>
            <a:off x="7493000" y="26670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74F"/>
                </a:solidFill>
                <a:latin typeface="Noto Sans SC"/>
                <a:ea typeface="Noto Sans SC"/>
                <a:cs typeface="Noto Sans SC"/>
                <a:sym typeface="Noto Sans SC"/>
              </a:rPr>
              <a:t>加载PDF文件</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读取文档结构与内容</a:t>
            </a:r>
            <a:endParaRPr lang="en-US" sz="1400" b="0" i="0" u="none" strike="noStrike">
              <a:solidFill>
                <a:srgbClr val="757575"/>
              </a:solidFill>
              <a:latin typeface="Noto Sans SC"/>
              <a:ea typeface="Noto Sans SC"/>
              <a:cs typeface="Noto Sans SC"/>
              <a:sym typeface="Noto Sans SC"/>
            </a:endParaRPr>
          </a:p>
        </p:txBody>
      </p:sp>
      <p:sp>
        <p:nvSpPr>
          <p:cNvPr id="18" name="AutoShape 18"/>
          <p:cNvSpPr/>
          <p:nvPr/>
        </p:nvSpPr>
        <p:spPr>
          <a:xfrm>
            <a:off x="6731000" y="3429000"/>
            <a:ext cx="4318000" cy="762000"/>
          </a:xfrm>
          <a:prstGeom prst="roundRect">
            <a:avLst>
              <a:gd name="adj" fmla="val 8333"/>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85000" y="3619500"/>
            <a:ext cx="381000" cy="381000"/>
          </a:xfrm>
          <a:prstGeom prst="rect">
            <a:avLst/>
          </a:prstGeom>
        </p:spPr>
      </p:pic>
      <p:sp>
        <p:nvSpPr>
          <p:cNvPr id="20" name="AutoShape 20"/>
          <p:cNvSpPr/>
          <p:nvPr/>
        </p:nvSpPr>
        <p:spPr>
          <a:xfrm>
            <a:off x="7493000" y="35560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74F"/>
                </a:solidFill>
                <a:latin typeface="Noto Sans SC"/>
                <a:ea typeface="Noto Sans SC"/>
                <a:cs typeface="Noto Sans SC"/>
                <a:sym typeface="Noto Sans SC"/>
              </a:rPr>
              <a:t>提取图片资源</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识别并解析图片流数据</a:t>
            </a:r>
            <a:endParaRPr lang="en-US" sz="1400" b="0" i="0" u="none" strike="noStrike">
              <a:solidFill>
                <a:srgbClr val="757575"/>
              </a:solidFill>
              <a:latin typeface="Noto Sans SC"/>
              <a:ea typeface="Noto Sans SC"/>
              <a:cs typeface="Noto Sans SC"/>
              <a:sym typeface="Noto Sans SC"/>
            </a:endParaRPr>
          </a:p>
        </p:txBody>
      </p:sp>
      <p:sp>
        <p:nvSpPr>
          <p:cNvPr id="21" name="AutoShape 21"/>
          <p:cNvSpPr/>
          <p:nvPr/>
        </p:nvSpPr>
        <p:spPr>
          <a:xfrm>
            <a:off x="6731000" y="4318000"/>
            <a:ext cx="4318000" cy="762000"/>
          </a:xfrm>
          <a:prstGeom prst="roundRect">
            <a:avLst>
              <a:gd name="adj" fmla="val 8333"/>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985000" y="4508500"/>
            <a:ext cx="381000" cy="381000"/>
          </a:xfrm>
          <a:prstGeom prst="rect">
            <a:avLst/>
          </a:prstGeom>
        </p:spPr>
      </p:pic>
      <p:sp>
        <p:nvSpPr>
          <p:cNvPr id="23" name="AutoShape 23"/>
          <p:cNvSpPr/>
          <p:nvPr/>
        </p:nvSpPr>
        <p:spPr>
          <a:xfrm>
            <a:off x="7493000" y="44450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74F"/>
                </a:solidFill>
                <a:latin typeface="Noto Sans SC"/>
                <a:ea typeface="Noto Sans SC"/>
                <a:cs typeface="Noto Sans SC"/>
                <a:sym typeface="Noto Sans SC"/>
              </a:rPr>
              <a:t>存储至元数据</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通过 metadata['images'] 访问</a:t>
            </a:r>
            <a:endParaRPr lang="en-US" sz="1400" b="0" i="0" u="none" strike="noStrike">
              <a:solidFill>
                <a:srgbClr val="757575"/>
              </a:solidFill>
              <a:latin typeface="Noto Sans SC"/>
              <a:ea typeface="Noto Sans SC"/>
              <a:cs typeface="Noto Sans SC"/>
              <a:sym typeface="Noto Sans SC"/>
            </a:endParaRPr>
          </a:p>
        </p:txBody>
      </p:sp>
      <p:sp>
        <p:nvSpPr>
          <p:cNvPr id="24" name="AutoShape 24"/>
          <p:cNvSpPr/>
          <p:nvPr/>
        </p:nvSpPr>
        <p:spPr>
          <a:xfrm>
            <a:off x="0" y="6604000"/>
            <a:ext cx="12192000" cy="254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91200" y="1270000"/>
            <a:ext cx="609600" cy="609600"/>
          </a:xfrm>
          <a:prstGeom prst="rect">
            <a:avLst/>
          </a:prstGeom>
        </p:spPr>
      </p:pic>
      <p:sp>
        <p:nvSpPr>
          <p:cNvPr id="3" name="AutoShape 3"/>
          <p:cNvSpPr/>
          <p:nvPr/>
        </p:nvSpPr>
        <p:spPr>
          <a:xfrm>
            <a:off x="3556000" y="2032000"/>
            <a:ext cx="5080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77BD"/>
                </a:solidFill>
                <a:latin typeface="Noto Sans SC"/>
                <a:ea typeface="Noto Sans SC"/>
                <a:cs typeface="Noto Sans SC"/>
                <a:sym typeface="Noto Sans SC"/>
              </a:rPr>
              <a:t>2.2 文档分块</a:t>
            </a:r>
            <a:endParaRPr lang="en-US" sz="1100"/>
          </a:p>
        </p:txBody>
      </p:sp>
      <p:sp>
        <p:nvSpPr>
          <p:cNvPr id="4" name="AutoShape 4"/>
          <p:cNvSpPr/>
          <p:nvPr/>
        </p:nvSpPr>
        <p:spPr>
          <a:xfrm>
            <a:off x="5461000" y="2794000"/>
            <a:ext cx="1270000" cy="50800"/>
          </a:xfrm>
          <a:prstGeom prst="roundRect">
            <a:avLst>
              <a:gd name="adj" fmla="val 0"/>
            </a:avLst>
          </a:prstGeom>
          <a:solidFill>
            <a:srgbClr val="0277BD">
              <a:alpha val="3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651000" y="3048000"/>
            <a:ext cx="88900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文档分块是处理大型文档的必要步骤，它将长文档分割成更小的、语义完整的文本块，以适应大语言模型的上下文窗口限制，并提高检索的准确性。</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402336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2.2.1 按字符进行拆分</a:t>
            </a:r>
            <a:endParaRPr lang="en-US" sz="1100"/>
          </a:p>
        </p:txBody>
      </p:sp>
      <p:sp>
        <p:nvSpPr>
          <p:cNvPr id="3" name="AutoShape 3"/>
          <p:cNvSpPr/>
          <p:nvPr/>
        </p:nvSpPr>
        <p:spPr>
          <a:xfrm>
            <a:off x="762000" y="1397000"/>
            <a:ext cx="10668000" cy="1016000"/>
          </a:xfrm>
          <a:prstGeom prst="roundRect">
            <a:avLst>
              <a:gd name="adj" fmla="val 125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25600"/>
            <a:ext cx="558800" cy="558800"/>
          </a:xfrm>
          <a:prstGeom prst="rect">
            <a:avLst/>
          </a:prstGeom>
        </p:spPr>
      </p:pic>
      <p:sp>
        <p:nvSpPr>
          <p:cNvPr id="5" name="AutoShape 5"/>
          <p:cNvSpPr/>
          <p:nvPr/>
        </p:nvSpPr>
        <p:spPr>
          <a:xfrm>
            <a:off x="1778000" y="1524000"/>
            <a:ext cx="939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核心功能：</a:t>
            </a:r>
            <a:r>
              <a:rPr lang="en-US" sz="2000" b="0" i="0" u="none" strike="noStrike">
                <a:solidFill>
                  <a:srgbClr val="424242"/>
                </a:solidFill>
                <a:latin typeface="Noto Sans SC"/>
                <a:ea typeface="Noto Sans SC"/>
                <a:cs typeface="Noto Sans SC"/>
                <a:sym typeface="Noto Sans SC"/>
              </a:rPr>
              <a:t>使用</a:t>
            </a:r>
            <a:r>
              <a:rPr lang="en-US" sz="2000" b="1" i="0" u="none" strike="noStrike">
                <a:solidFill>
                  <a:srgbClr val="0277BD"/>
                </a:solidFill>
                <a:latin typeface="Noto Sans SC"/>
                <a:ea typeface="Noto Sans SC"/>
                <a:cs typeface="Noto Sans SC"/>
                <a:sym typeface="Noto Sans SC"/>
              </a:rPr>
              <a:t>CharacterTextSplitter</a:t>
            </a:r>
            <a:r>
              <a:rPr lang="en-US" sz="2000" b="0" i="0" u="none" strike="noStrike">
                <a:solidFill>
                  <a:srgbClr val="424242"/>
                </a:solidFill>
                <a:latin typeface="Noto Sans SC"/>
                <a:ea typeface="Noto Sans SC"/>
                <a:cs typeface="Noto Sans SC"/>
                <a:sym typeface="Noto Sans SC"/>
              </a:rPr>
              <a:t>按指定的字符分隔符拆分文本，是最基础的分块方式。</a:t>
            </a:r>
            <a:endParaRPr lang="en-US" sz="1100"/>
          </a:p>
        </p:txBody>
      </p:sp>
      <p:sp>
        <p:nvSpPr>
          <p:cNvPr id="6" name="AutoShape 6"/>
          <p:cNvSpPr/>
          <p:nvPr/>
        </p:nvSpPr>
        <p:spPr>
          <a:xfrm>
            <a:off x="762000" y="2667000"/>
            <a:ext cx="5207000" cy="1270000"/>
          </a:xfrm>
          <a:prstGeom prst="roundRect">
            <a:avLst>
              <a:gd name="adj" fmla="val 10000"/>
            </a:avLst>
          </a:prstGeom>
          <a:solidFill>
            <a:srgbClr val="FFFFFF">
              <a:alpha val="100000"/>
            </a:srgbClr>
          </a:solidFill>
          <a:ln w="25400" cap="flat" cmpd="sng">
            <a:noFill/>
            <a:prstDash val="solid"/>
            <a:round/>
          </a:ln>
          <a:effectLst>
            <a:outerShdw blurRad="101600" dist="50800" dir="5400000" algn="tl" rotWithShape="0">
              <a:srgbClr val="0277BD">
                <a:alpha val="10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984500"/>
            <a:ext cx="457200" cy="457200"/>
          </a:xfrm>
          <a:prstGeom prst="rect">
            <a:avLst/>
          </a:prstGeom>
        </p:spPr>
      </p:pic>
      <p:sp>
        <p:nvSpPr>
          <p:cNvPr id="8" name="AutoShape 8"/>
          <p:cNvSpPr/>
          <p:nvPr/>
        </p:nvSpPr>
        <p:spPr>
          <a:xfrm>
            <a:off x="1651000" y="2794000"/>
            <a:ext cx="406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separator (拆分字符)</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默认值为双换行符(\n\n)，可自定义分隔符。</a:t>
            </a:r>
            <a:endParaRPr lang="en-US" sz="16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6223000" y="2667000"/>
            <a:ext cx="5207000" cy="1270000"/>
          </a:xfrm>
          <a:prstGeom prst="roundRect">
            <a:avLst>
              <a:gd name="adj" fmla="val 10000"/>
            </a:avLst>
          </a:prstGeom>
          <a:solidFill>
            <a:srgbClr val="FFFFFF">
              <a:alpha val="100000"/>
            </a:srgbClr>
          </a:solidFill>
          <a:ln w="25400" cap="flat" cmpd="sng">
            <a:noFill/>
            <a:prstDash val="solid"/>
            <a:round/>
          </a:ln>
          <a:effectLst>
            <a:outerShdw blurRad="101600" dist="50800" dir="5400000" algn="tl" rotWithShape="0">
              <a:srgbClr val="0277BD">
                <a:alpha val="10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2984500"/>
            <a:ext cx="457200" cy="457200"/>
          </a:xfrm>
          <a:prstGeom prst="rect">
            <a:avLst/>
          </a:prstGeom>
        </p:spPr>
      </p:pic>
      <p:sp>
        <p:nvSpPr>
          <p:cNvPr id="11" name="AutoShape 11"/>
          <p:cNvSpPr/>
          <p:nvPr/>
        </p:nvSpPr>
        <p:spPr>
          <a:xfrm>
            <a:off x="7112000" y="2794000"/>
            <a:ext cx="406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chunk_size (块大小)</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每个文本块的最大字符数，控制分块粒度。</a:t>
            </a:r>
            <a:endParaRPr lang="en-US" sz="1600" b="0" i="0" u="none" strike="noStrike">
              <a:solidFill>
                <a:srgbClr val="757575"/>
              </a:solidFill>
              <a:latin typeface="Noto Sans SC"/>
              <a:ea typeface="Noto Sans SC"/>
              <a:cs typeface="Noto Sans SC"/>
              <a:sym typeface="Noto Sans SC"/>
            </a:endParaRPr>
          </a:p>
        </p:txBody>
      </p:sp>
      <p:sp>
        <p:nvSpPr>
          <p:cNvPr id="12" name="AutoShape 12"/>
          <p:cNvSpPr/>
          <p:nvPr/>
        </p:nvSpPr>
        <p:spPr>
          <a:xfrm>
            <a:off x="762000" y="4191000"/>
            <a:ext cx="5207000" cy="1270000"/>
          </a:xfrm>
          <a:prstGeom prst="roundRect">
            <a:avLst>
              <a:gd name="adj" fmla="val 10000"/>
            </a:avLst>
          </a:prstGeom>
          <a:solidFill>
            <a:srgbClr val="FFFFFF">
              <a:alpha val="100000"/>
            </a:srgbClr>
          </a:solidFill>
          <a:ln w="25400" cap="flat" cmpd="sng">
            <a:noFill/>
            <a:prstDash val="solid"/>
            <a:round/>
          </a:ln>
          <a:effectLst>
            <a:outerShdw blurRad="101600" dist="50800" dir="5400000" algn="tl" rotWithShape="0">
              <a:srgbClr val="0277BD">
                <a:alpha val="10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508500"/>
            <a:ext cx="457200" cy="457200"/>
          </a:xfrm>
          <a:prstGeom prst="rect">
            <a:avLst/>
          </a:prstGeom>
        </p:spPr>
      </p:pic>
      <p:sp>
        <p:nvSpPr>
          <p:cNvPr id="14" name="AutoShape 14"/>
          <p:cNvSpPr/>
          <p:nvPr/>
        </p:nvSpPr>
        <p:spPr>
          <a:xfrm>
            <a:off x="1651000" y="4318000"/>
            <a:ext cx="406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chunk_overlap (重叠字符)</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块间重叠字符数，确保上下文连贯性。</a:t>
            </a:r>
            <a:endParaRPr lang="en-US" sz="1600" b="0" i="0" u="none" strike="noStrike">
              <a:solidFill>
                <a:srgbClr val="757575"/>
              </a:solidFill>
              <a:latin typeface="Noto Sans SC"/>
              <a:ea typeface="Noto Sans SC"/>
              <a:cs typeface="Noto Sans SC"/>
              <a:sym typeface="Noto Sans SC"/>
            </a:endParaRPr>
          </a:p>
        </p:txBody>
      </p:sp>
      <p:sp>
        <p:nvSpPr>
          <p:cNvPr id="15" name="AutoShape 15"/>
          <p:cNvSpPr/>
          <p:nvPr/>
        </p:nvSpPr>
        <p:spPr>
          <a:xfrm>
            <a:off x="6223000" y="4191000"/>
            <a:ext cx="5207000" cy="1270000"/>
          </a:xfrm>
          <a:prstGeom prst="roundRect">
            <a:avLst>
              <a:gd name="adj" fmla="val 10000"/>
            </a:avLst>
          </a:prstGeom>
          <a:solidFill>
            <a:srgbClr val="FFFFFF">
              <a:alpha val="100000"/>
            </a:srgbClr>
          </a:solidFill>
          <a:ln w="25400" cap="flat" cmpd="sng">
            <a:noFill/>
            <a:prstDash val="solid"/>
            <a:round/>
          </a:ln>
          <a:effectLst>
            <a:outerShdw blurRad="101600" dist="50800" dir="5400000" algn="tl" rotWithShape="0">
              <a:srgbClr val="0277BD">
                <a:alpha val="10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4508500"/>
            <a:ext cx="457200" cy="457200"/>
          </a:xfrm>
          <a:prstGeom prst="rect">
            <a:avLst/>
          </a:prstGeom>
        </p:spPr>
      </p:pic>
      <p:sp>
        <p:nvSpPr>
          <p:cNvPr id="17" name="AutoShape 17"/>
          <p:cNvSpPr/>
          <p:nvPr/>
        </p:nvSpPr>
        <p:spPr>
          <a:xfrm>
            <a:off x="7112000" y="4318000"/>
            <a:ext cx="406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length_function (长度函数)</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计算文本长度的函数，默认使用 Python 的 len。</a:t>
            </a:r>
            <a:endParaRPr lang="en-US" sz="1600" b="0" i="0" u="none" strike="noStrike">
              <a:solidFill>
                <a:srgbClr val="757575"/>
              </a:solidFill>
              <a:latin typeface="Noto Sans SC"/>
              <a:ea typeface="Noto Sans SC"/>
              <a:cs typeface="Noto Sans SC"/>
              <a:sym typeface="Noto Sans SC"/>
            </a:endParaRPr>
          </a:p>
        </p:txBody>
      </p:sp>
      <p:sp>
        <p:nvSpPr>
          <p:cNvPr id="18" name="AutoShape 18"/>
          <p:cNvSpPr/>
          <p:nvPr/>
        </p:nvSpPr>
        <p:spPr>
          <a:xfrm>
            <a:off x="762000" y="5842000"/>
            <a:ext cx="10668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62000" y="5969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757575"/>
                </a:solidFill>
                <a:latin typeface="Noto Sans SC"/>
                <a:ea typeface="Noto Sans SC"/>
                <a:cs typeface="Noto Sans SC"/>
                <a:sym typeface="Noto Sans SC"/>
              </a:rPr>
              <a:t>适用场景：通用文本处理，需要精确控制字符长度时首选。</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2006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代码示例</a:t>
            </a:r>
            <a:endParaRPr lang="en-US" sz="1100"/>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524000"/>
            <a:ext cx="406400" cy="406400"/>
          </a:xfrm>
          <a:prstGeom prst="rect">
            <a:avLst/>
          </a:prstGeom>
        </p:spPr>
      </p:pic>
      <p:sp>
        <p:nvSpPr>
          <p:cNvPr id="4" name="AutoShape 4"/>
          <p:cNvSpPr/>
          <p:nvPr/>
        </p:nvSpPr>
        <p:spPr>
          <a:xfrm>
            <a:off x="1270000" y="14732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使用 CharacterTextSplitter</a:t>
            </a:r>
            <a:endParaRPr lang="en-US" sz="1100"/>
          </a:p>
        </p:txBody>
      </p:sp>
      <p:sp>
        <p:nvSpPr>
          <p:cNvPr id="5" name="AutoShape 5"/>
          <p:cNvSpPr/>
          <p:nvPr/>
        </p:nvSpPr>
        <p:spPr>
          <a:xfrm>
            <a:off x="762000" y="1968500"/>
            <a:ext cx="3810000" cy="152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0" i="0" u="none" strike="noStrike">
                <a:solidFill>
                  <a:srgbClr val="757575"/>
                </a:solidFill>
                <a:latin typeface="Noto Sans SC"/>
                <a:ea typeface="Noto Sans SC"/>
                <a:cs typeface="Noto Sans SC"/>
                <a:sym typeface="Noto Sans SC"/>
              </a:rPr>
              <a:t>该示例展示了如何利用 LangChain 的 CharacterTextSplitter 工具，将长篇文本（如《三国演义》）按自定义规则拆分为更小的文本块，并为每个块添加元数据（如章节号），以便后续进行向量化处理。</a:t>
            </a:r>
            <a:endParaRPr lang="en-US" sz="1100"/>
          </a:p>
        </p:txBody>
      </p:sp>
      <p:sp>
        <p:nvSpPr>
          <p:cNvPr id="6" name="AutoShape 6"/>
          <p:cNvSpPr/>
          <p:nvPr/>
        </p:nvSpPr>
        <p:spPr>
          <a:xfrm>
            <a:off x="762000" y="3683000"/>
            <a:ext cx="3810000" cy="762000"/>
          </a:xfrm>
          <a:prstGeom prst="roundRect">
            <a:avLst>
              <a:gd name="adj" fmla="val 16666"/>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873500"/>
            <a:ext cx="304800" cy="304800"/>
          </a:xfrm>
          <a:prstGeom prst="rect">
            <a:avLst/>
          </a:prstGeom>
        </p:spPr>
      </p:pic>
      <p:sp>
        <p:nvSpPr>
          <p:cNvPr id="8" name="AutoShape 8"/>
          <p:cNvSpPr/>
          <p:nvPr/>
        </p:nvSpPr>
        <p:spPr>
          <a:xfrm>
            <a:off x="1397000" y="3746500"/>
            <a:ext cx="304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自定义分隔符</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使用特定标记分割文本</a:t>
            </a:r>
            <a:endParaRPr lang="en-US" sz="14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762000" y="4572000"/>
            <a:ext cx="3810000" cy="762000"/>
          </a:xfrm>
          <a:prstGeom prst="roundRect">
            <a:avLst>
              <a:gd name="adj" fmla="val 16666"/>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762500"/>
            <a:ext cx="304800" cy="304800"/>
          </a:xfrm>
          <a:prstGeom prst="rect">
            <a:avLst/>
          </a:prstGeom>
        </p:spPr>
      </p:pic>
      <p:sp>
        <p:nvSpPr>
          <p:cNvPr id="11" name="AutoShape 11"/>
          <p:cNvSpPr/>
          <p:nvPr/>
        </p:nvSpPr>
        <p:spPr>
          <a:xfrm>
            <a:off x="1397000" y="4635500"/>
            <a:ext cx="304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Chunk Size: 1024</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每个块包含1024个字符</a:t>
            </a:r>
            <a:endParaRPr lang="en-US" sz="1400" b="0" i="0" u="none" strike="noStrike">
              <a:solidFill>
                <a:srgbClr val="757575"/>
              </a:solidFill>
              <a:latin typeface="Noto Sans SC"/>
              <a:ea typeface="Noto Sans SC"/>
              <a:cs typeface="Noto Sans SC"/>
              <a:sym typeface="Noto Sans SC"/>
            </a:endParaRPr>
          </a:p>
        </p:txBody>
      </p:sp>
      <p:sp>
        <p:nvSpPr>
          <p:cNvPr id="12" name="AutoShape 12"/>
          <p:cNvSpPr/>
          <p:nvPr/>
        </p:nvSpPr>
        <p:spPr>
          <a:xfrm>
            <a:off x="762000" y="5461000"/>
            <a:ext cx="3810000" cy="762000"/>
          </a:xfrm>
          <a:prstGeom prst="roundRect">
            <a:avLst>
              <a:gd name="adj" fmla="val 16666"/>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5651500"/>
            <a:ext cx="304800" cy="304800"/>
          </a:xfrm>
          <a:prstGeom prst="rect">
            <a:avLst/>
          </a:prstGeom>
        </p:spPr>
      </p:pic>
      <p:sp>
        <p:nvSpPr>
          <p:cNvPr id="14" name="AutoShape 14"/>
          <p:cNvSpPr/>
          <p:nvPr/>
        </p:nvSpPr>
        <p:spPr>
          <a:xfrm>
            <a:off x="1397000" y="5524500"/>
            <a:ext cx="304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重叠: 100字符</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确保语义连贯性</a:t>
            </a:r>
            <a:endParaRPr lang="en-US" sz="1400" b="0" i="0" u="none" strike="noStrike">
              <a:solidFill>
                <a:srgbClr val="757575"/>
              </a:solidFill>
              <a:latin typeface="Noto Sans SC"/>
              <a:ea typeface="Noto Sans SC"/>
              <a:cs typeface="Noto Sans SC"/>
              <a:sym typeface="Noto Sans SC"/>
            </a:endParaRPr>
          </a:p>
        </p:txBody>
      </p:sp>
      <p:sp>
        <p:nvSpPr>
          <p:cNvPr id="15" name="AutoShape 15"/>
          <p:cNvSpPr/>
          <p:nvPr/>
        </p:nvSpPr>
        <p:spPr>
          <a:xfrm>
            <a:off x="4953000" y="1397000"/>
            <a:ext cx="6477000" cy="4318000"/>
          </a:xfrm>
          <a:prstGeom prst="roundRect">
            <a:avLst>
              <a:gd name="adj" fmla="val 2941"/>
            </a:avLst>
          </a:prstGeom>
          <a:solidFill>
            <a:srgbClr val="21252B">
              <a:alpha val="100000"/>
            </a:srgbClr>
          </a:solidFill>
          <a:ln w="25400" cap="flat" cmpd="sng">
            <a:noFill/>
            <a:prstDash val="solid"/>
            <a:round/>
          </a:ln>
          <a:effectLst>
            <a:outerShdw blurRad="254000" dist="101600" dir="2700000" algn="tl" rotWithShape="0">
              <a:srgbClr val="000000">
                <a:alpha val="20000"/>
              </a:srgbClr>
            </a:outerShdw>
          </a:effectLst>
        </p:spPr>
        <p:txBody>
          <a:bodyPr vert="horz" wrap="square" lIns="63500" tIns="63500" rIns="63500" bIns="63500" rtlCol="0" anchor="ctr"/>
          <a:lstStyle/>
          <a:p>
            <a:pPr algn="ctr">
              <a:defRPr/>
            </a:pPr>
          </a:p>
        </p:txBody>
      </p:sp>
      <p:sp>
        <p:nvSpPr>
          <p:cNvPr id="16" name="AutoShape 16"/>
          <p:cNvSpPr/>
          <p:nvPr/>
        </p:nvSpPr>
        <p:spPr>
          <a:xfrm>
            <a:off x="5207000" y="1651000"/>
            <a:ext cx="5969000" cy="381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C678DD"/>
                </a:solidFill>
                <a:latin typeface="Roboto"/>
                <a:ea typeface="Roboto"/>
                <a:cs typeface="Roboto"/>
                <a:sym typeface="Roboto"/>
              </a:rPr>
              <a:t>from</a:t>
            </a:r>
            <a:r>
              <a:rPr lang="en-US" sz="1400" b="0" i="0" u="none" strike="noStrike">
                <a:solidFill>
                  <a:srgbClr val="DCDFE4"/>
                </a:solidFill>
                <a:latin typeface="Roboto"/>
                <a:ea typeface="Roboto"/>
                <a:cs typeface="Roboto"/>
                <a:sym typeface="Roboto"/>
              </a:rPr>
              <a:t>langchain.text_splitter</a:t>
            </a:r>
            <a:r>
              <a:rPr lang="en-US" sz="1400" b="0" i="0" u="none" strike="noStrike">
                <a:solidFill>
                  <a:srgbClr val="C678DD"/>
                </a:solidFill>
                <a:latin typeface="Roboto"/>
                <a:ea typeface="Roboto"/>
                <a:cs typeface="Roboto"/>
                <a:sym typeface="Roboto"/>
              </a:rPr>
              <a:t>import</a:t>
            </a:r>
            <a:r>
              <a:rPr lang="en-US" sz="1400" b="0" i="0" u="none" strike="noStrike">
                <a:solidFill>
                  <a:srgbClr val="DCDFE4"/>
                </a:solidFill>
                <a:latin typeface="Roboto"/>
                <a:ea typeface="Roboto"/>
                <a:cs typeface="Roboto"/>
                <a:sym typeface="Roboto"/>
              </a:rPr>
              <a:t>CharacterTextSplitter</a:t>
            </a:r>
            <a:endParaRPr lang="en-US" sz="1100"/>
          </a:p>
          <a:p>
            <a:pPr indent="0" algn="l">
              <a:lnSpc>
                <a:spcPct val="108000"/>
              </a:lnSpc>
            </a:pPr>
          </a:p>
          <a:p>
            <a:pPr indent="0" algn="l">
              <a:lnSpc>
                <a:spcPct val="108000"/>
              </a:lnSpc>
            </a:pPr>
            <a:r>
              <a:rPr lang="en-US" sz="1400" b="0" i="0" u="none" strike="noStrike">
                <a:solidFill>
                  <a:srgbClr val="5C6370"/>
                </a:solidFill>
                <a:latin typeface="Roboto"/>
                <a:ea typeface="Roboto"/>
                <a:cs typeface="Roboto"/>
                <a:sym typeface="Roboto"/>
              </a:rPr>
              <a:t># 定义文本分割器</a:t>
            </a:r>
            <a:endParaRPr lang="en-US" sz="1400" b="0" i="0" u="none" strike="noStrike">
              <a:solidFill>
                <a:srgbClr val="5C6370"/>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text_splitter = CharacterTextSplitter(</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separator=</a:t>
            </a:r>
            <a:r>
              <a:rPr lang="en-US" sz="1400" b="0" i="0" u="none" strike="noStrike">
                <a:solidFill>
                  <a:srgbClr val="98C379"/>
                </a:solidFill>
                <a:latin typeface="Roboto"/>
                <a:ea typeface="Roboto"/>
                <a:cs typeface="Roboto"/>
                <a:sym typeface="Roboto"/>
              </a:rPr>
              <a:t>"------------\n\n"</a:t>
            </a:r>
            <a:r>
              <a:rPr lang="en-US" sz="1400" b="0" i="0" u="none" strike="noStrike">
                <a:solidFill>
                  <a:srgbClr val="DCDFE4"/>
                </a:solidFill>
                <a:latin typeface="Roboto"/>
                <a:ea typeface="Roboto"/>
                <a:cs typeface="Roboto"/>
                <a:sym typeface="Roboto"/>
              </a:rPr>
              <a:t>,</a:t>
            </a:r>
            <a:r>
              <a:rPr lang="en-US" sz="1400" b="0" i="0" u="none" strike="noStrike">
                <a:solidFill>
                  <a:srgbClr val="5C6370"/>
                </a:solidFill>
                <a:latin typeface="Roboto"/>
                <a:ea typeface="Roboto"/>
                <a:cs typeface="Roboto"/>
                <a:sym typeface="Roboto"/>
              </a:rPr>
              <a:t># 自定义分隔符</a:t>
            </a:r>
            <a:endParaRPr lang="en-US" sz="1400" b="0" i="0" u="none" strike="noStrike">
              <a:solidFill>
                <a:srgbClr val="5C6370"/>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chunk_size=</a:t>
            </a:r>
            <a:r>
              <a:rPr lang="en-US" sz="1400" b="0" i="0" u="none" strike="noStrike">
                <a:solidFill>
                  <a:srgbClr val="D19A66"/>
                </a:solidFill>
                <a:latin typeface="Roboto"/>
                <a:ea typeface="Roboto"/>
                <a:cs typeface="Roboto"/>
                <a:sym typeface="Roboto"/>
              </a:rPr>
              <a:t>1024</a:t>
            </a:r>
            <a:r>
              <a:rPr lang="en-US" sz="1400" b="0" i="0" u="none" strike="noStrike">
                <a:solidFill>
                  <a:srgbClr val="DCDFE4"/>
                </a:solidFill>
                <a:latin typeface="Roboto"/>
                <a:ea typeface="Roboto"/>
                <a:cs typeface="Roboto"/>
                <a:sym typeface="Roboto"/>
              </a:rPr>
              <a:t>,</a:t>
            </a:r>
            <a:r>
              <a:rPr lang="en-US" sz="1400" b="0" i="0" u="none" strike="noStrike">
                <a:solidFill>
                  <a:srgbClr val="5C6370"/>
                </a:solidFill>
                <a:latin typeface="Roboto"/>
                <a:ea typeface="Roboto"/>
                <a:cs typeface="Roboto"/>
                <a:sym typeface="Roboto"/>
              </a:rPr>
              <a:t># 每个块1024个字符</a:t>
            </a:r>
            <a:endParaRPr lang="en-US" sz="1400" b="0" i="0" u="none" strike="noStrike">
              <a:solidFill>
                <a:srgbClr val="5C6370"/>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chunk_overlap=</a:t>
            </a:r>
            <a:r>
              <a:rPr lang="en-US" sz="1400" b="0" i="0" u="none" strike="noStrike">
                <a:solidFill>
                  <a:srgbClr val="D19A66"/>
                </a:solidFill>
                <a:latin typeface="Roboto"/>
                <a:ea typeface="Roboto"/>
                <a:cs typeface="Roboto"/>
                <a:sym typeface="Roboto"/>
              </a:rPr>
              <a:t>100</a:t>
            </a:r>
            <a:r>
              <a:rPr lang="en-US" sz="1400" b="0" i="0" u="none" strike="noStrike">
                <a:solidFill>
                  <a:srgbClr val="DCDFE4"/>
                </a:solidFill>
                <a:latin typeface="Roboto"/>
                <a:ea typeface="Roboto"/>
                <a:cs typeface="Roboto"/>
                <a:sym typeface="Roboto"/>
              </a:rPr>
              <a:t>,</a:t>
            </a:r>
            <a:r>
              <a:rPr lang="en-US" sz="1400" b="0" i="0" u="none" strike="noStrike">
                <a:solidFill>
                  <a:srgbClr val="5C6370"/>
                </a:solidFill>
                <a:latin typeface="Roboto"/>
                <a:ea typeface="Roboto"/>
                <a:cs typeface="Roboto"/>
                <a:sym typeface="Roboto"/>
              </a:rPr>
              <a:t># 块间重叠100个字符</a:t>
            </a:r>
            <a:endParaRPr lang="en-US" sz="1400" b="0" i="0" u="none" strike="noStrike">
              <a:solidFill>
                <a:srgbClr val="5C6370"/>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length_function=len,</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8000"/>
              </a:lnSpc>
            </a:pPr>
          </a:p>
          <a:p>
            <a:pPr indent="0" algn="l">
              <a:lnSpc>
                <a:spcPct val="108000"/>
              </a:lnSpc>
            </a:pPr>
            <a:r>
              <a:rPr lang="en-US" sz="1400" b="0" i="0" u="none" strike="noStrike">
                <a:solidFill>
                  <a:srgbClr val="5C6370"/>
                </a:solidFill>
                <a:latin typeface="Roboto"/>
                <a:ea typeface="Roboto"/>
                <a:cs typeface="Roboto"/>
                <a:sym typeface="Roboto"/>
              </a:rPr>
              <a:t># 读取并拆分文本</a:t>
            </a:r>
            <a:endParaRPr lang="en-US" sz="1400" b="0" i="0" u="none" strike="noStrike">
              <a:solidFill>
                <a:srgbClr val="5C6370"/>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file_path =</a:t>
            </a:r>
            <a:r>
              <a:rPr lang="en-US" sz="1400" b="0" i="0" u="none" strike="noStrike">
                <a:solidFill>
                  <a:srgbClr val="98C379"/>
                </a:solidFill>
                <a:latin typeface="Roboto"/>
                <a:ea typeface="Roboto"/>
                <a:cs typeface="Roboto"/>
                <a:sym typeface="Roboto"/>
              </a:rPr>
              <a:t>'../example_data/三国演义.txt'</a:t>
            </a:r>
            <a:endParaRPr lang="en-US" sz="1400" b="0" i="0" u="none" strike="noStrike">
              <a:solidFill>
                <a:srgbClr val="98C379"/>
              </a:solidFill>
              <a:latin typeface="Roboto"/>
              <a:ea typeface="Roboto"/>
              <a:cs typeface="Roboto"/>
              <a:sym typeface="Roboto"/>
            </a:endParaRPr>
          </a:p>
          <a:p>
            <a:pPr indent="0" algn="l">
              <a:lnSpc>
                <a:spcPct val="108000"/>
              </a:lnSpc>
            </a:pPr>
            <a:r>
              <a:rPr lang="en-US" sz="1400" b="0" i="0" u="none" strike="noStrike">
                <a:solidFill>
                  <a:srgbClr val="C678DD"/>
                </a:solidFill>
                <a:latin typeface="Roboto"/>
                <a:ea typeface="Roboto"/>
                <a:cs typeface="Roboto"/>
                <a:sym typeface="Roboto"/>
              </a:rPr>
              <a:t>with</a:t>
            </a:r>
            <a:r>
              <a:rPr lang="en-US" sz="1400" b="0" i="0" u="none" strike="noStrike">
                <a:solidFill>
                  <a:srgbClr val="DCDFE4"/>
                </a:solidFill>
                <a:latin typeface="Roboto"/>
                <a:ea typeface="Roboto"/>
                <a:cs typeface="Roboto"/>
                <a:sym typeface="Roboto"/>
              </a:rPr>
              <a:t>open(file_path, encoding=</a:t>
            </a:r>
            <a:r>
              <a:rPr lang="en-US" sz="1400" b="0" i="0" u="none" strike="noStrike">
                <a:solidFill>
                  <a:srgbClr val="98C379"/>
                </a:solidFill>
                <a:latin typeface="Roboto"/>
                <a:ea typeface="Roboto"/>
                <a:cs typeface="Roboto"/>
                <a:sym typeface="Roboto"/>
              </a:rPr>
              <a:t>'utf-8'</a:t>
            </a:r>
            <a:r>
              <a:rPr lang="en-US" sz="1400" b="0" i="0" u="none" strike="noStrike">
                <a:solidFill>
                  <a:srgbClr val="DCDFE4"/>
                </a:solidFill>
                <a:latin typeface="Roboto"/>
                <a:ea typeface="Roboto"/>
                <a:cs typeface="Roboto"/>
                <a:sym typeface="Roboto"/>
              </a:rPr>
              <a:t>)</a:t>
            </a:r>
            <a:r>
              <a:rPr lang="en-US" sz="1400" b="0" i="0" u="none" strike="noStrike">
                <a:solidFill>
                  <a:srgbClr val="C678DD"/>
                </a:solidFill>
                <a:latin typeface="Roboto"/>
                <a:ea typeface="Roboto"/>
                <a:cs typeface="Roboto"/>
                <a:sym typeface="Roboto"/>
              </a:rPr>
              <a:t>as</a:t>
            </a:r>
            <a:r>
              <a:rPr lang="en-US" sz="1400" b="0" i="0" u="none" strike="noStrike">
                <a:solidFill>
                  <a:srgbClr val="DCDFE4"/>
                </a:solidFill>
                <a:latin typeface="Roboto"/>
                <a:ea typeface="Roboto"/>
                <a:cs typeface="Roboto"/>
                <a:sym typeface="Roboto"/>
              </a:rPr>
              <a:t>f:</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text = f.read()</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partitions = text_splitter.split_text(text)</a:t>
            </a:r>
            <a:endParaRPr lang="en-US" sz="1400" b="0" i="0" u="none" strike="noStrike">
              <a:solidFill>
                <a:srgbClr val="DCDFE4"/>
              </a:solidFill>
              <a:latin typeface="Roboto"/>
              <a:ea typeface="Roboto"/>
              <a:cs typeface="Roboto"/>
              <a:sym typeface="Roboto"/>
            </a:endParaRPr>
          </a:p>
        </p:txBody>
      </p:sp>
      <p:sp>
        <p:nvSpPr>
          <p:cNvPr id="17" name="AutoShape 17"/>
          <p:cNvSpPr/>
          <p:nvPr/>
        </p:nvSpPr>
        <p:spPr>
          <a:xfrm>
            <a:off x="0" y="6604000"/>
            <a:ext cx="12192000" cy="254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52044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2.2.2 代码分割</a:t>
            </a:r>
            <a:endParaRPr lang="en-US" sz="1100"/>
          </a:p>
        </p:txBody>
      </p:sp>
      <p:sp>
        <p:nvSpPr>
          <p:cNvPr id="3" name="AutoShape 3"/>
          <p:cNvSpPr/>
          <p:nvPr/>
        </p:nvSpPr>
        <p:spPr>
          <a:xfrm>
            <a:off x="762000" y="1651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406400" cy="406400"/>
          </a:xfrm>
          <a:prstGeom prst="rect">
            <a:avLst/>
          </a:prstGeom>
        </p:spPr>
      </p:pic>
      <p:sp>
        <p:nvSpPr>
          <p:cNvPr id="5" name="AutoShape 5"/>
          <p:cNvSpPr/>
          <p:nvPr/>
        </p:nvSpPr>
        <p:spPr>
          <a:xfrm>
            <a:off x="1524000" y="18796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核心功能</a:t>
            </a:r>
            <a:endParaRPr lang="en-US" sz="1100"/>
          </a:p>
        </p:txBody>
      </p:sp>
      <p:sp>
        <p:nvSpPr>
          <p:cNvPr id="6" name="AutoShape 6"/>
          <p:cNvSpPr/>
          <p:nvPr/>
        </p:nvSpPr>
        <p:spPr>
          <a:xfrm>
            <a:off x="1016000" y="2413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使用</a:t>
            </a:r>
            <a:r>
              <a:rPr lang="en-US" sz="1800" b="1" i="0" u="none" strike="noStrike">
                <a:solidFill>
                  <a:srgbClr val="0277BD"/>
                </a:solidFill>
                <a:latin typeface="Noto Sans SC"/>
                <a:ea typeface="Noto Sans SC"/>
                <a:cs typeface="Noto Sans SC"/>
                <a:sym typeface="Noto Sans SC"/>
              </a:rPr>
              <a:t>CodeTextSplitter</a:t>
            </a:r>
            <a:r>
              <a:rPr lang="en-US" sz="1800" b="0" i="0" u="none" strike="noStrike">
                <a:solidFill>
                  <a:srgbClr val="757575"/>
                </a:solidFill>
                <a:latin typeface="Noto Sans SC"/>
                <a:ea typeface="Noto Sans SC"/>
                <a:cs typeface="Noto Sans SC"/>
                <a:sym typeface="Noto Sans SC"/>
              </a:rPr>
              <a:t>或</a:t>
            </a:r>
            <a:r>
              <a:rPr lang="en-US" sz="1800" b="1" i="0" u="none" strike="noStrike">
                <a:solidFill>
                  <a:srgbClr val="0277BD"/>
                </a:solidFill>
                <a:latin typeface="Noto Sans SC"/>
                <a:ea typeface="Noto Sans SC"/>
                <a:cs typeface="Noto Sans SC"/>
                <a:sym typeface="Noto Sans SC"/>
              </a:rPr>
              <a:t>RecursiveCharacterTextSplitter</a:t>
            </a:r>
            <a:r>
              <a:rPr lang="en-US" sz="1800" b="0" i="0" u="none" strike="noStrike">
                <a:solidFill>
                  <a:srgbClr val="757575"/>
                </a:solidFill>
                <a:latin typeface="Noto Sans SC"/>
                <a:ea typeface="Noto Sans SC"/>
                <a:cs typeface="Noto Sans SC"/>
                <a:sym typeface="Noto Sans SC"/>
              </a:rPr>
              <a:t>对代码进行语义化分割，确保结构完整。</a:t>
            </a:r>
            <a:endParaRPr lang="en-US" sz="1100"/>
          </a:p>
        </p:txBody>
      </p:sp>
      <p:sp>
        <p:nvSpPr>
          <p:cNvPr id="7" name="AutoShape 7"/>
          <p:cNvSpPr/>
          <p:nvPr/>
        </p:nvSpPr>
        <p:spPr>
          <a:xfrm>
            <a:off x="4445000" y="1651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905000"/>
            <a:ext cx="406400" cy="406400"/>
          </a:xfrm>
          <a:prstGeom prst="rect">
            <a:avLst/>
          </a:prstGeom>
        </p:spPr>
      </p:pic>
      <p:sp>
        <p:nvSpPr>
          <p:cNvPr id="9" name="AutoShape 9"/>
          <p:cNvSpPr/>
          <p:nvPr/>
        </p:nvSpPr>
        <p:spPr>
          <a:xfrm>
            <a:off x="5207000" y="18796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支持语言</a:t>
            </a:r>
            <a:endParaRPr lang="en-US" sz="1100"/>
          </a:p>
        </p:txBody>
      </p:sp>
      <p:sp>
        <p:nvSpPr>
          <p:cNvPr id="10" name="AutoShape 10"/>
          <p:cNvSpPr/>
          <p:nvPr/>
        </p:nvSpPr>
        <p:spPr>
          <a:xfrm>
            <a:off x="4699000" y="2413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支持多种主流编程语言，包括：</a:t>
            </a:r>
            <a:endParaRPr lang="en-US" sz="1100"/>
          </a:p>
          <a:p>
            <a:pPr marL="228600" indent="-228600" algn="l">
              <a:lnSpc>
                <a:spcPct val="125000"/>
              </a:lnSpc>
              <a:buClr>
                <a:srgbClr val="757575"/>
              </a:buClr>
              <a:buChar char="•"/>
            </a:pPr>
            <a:r>
              <a:rPr lang="en-US" sz="1800" b="0" i="0" u="none" strike="noStrike">
                <a:solidFill>
                  <a:srgbClr val="757575"/>
                </a:solidFill>
                <a:latin typeface="Noto Sans SC"/>
                <a:ea typeface="Noto Sans SC"/>
                <a:cs typeface="Noto Sans SC"/>
                <a:sym typeface="Noto Sans SC"/>
              </a:rPr>
              <a:t>Python, Java</a:t>
            </a:r>
            <a:endParaRPr lang="en-US" sz="1800" b="0" i="0" u="none" strike="noStrike">
              <a:solidFill>
                <a:srgbClr val="757575"/>
              </a:solidFill>
              <a:latin typeface="Noto Sans SC"/>
              <a:ea typeface="Noto Sans SC"/>
              <a:cs typeface="Noto Sans SC"/>
              <a:sym typeface="Noto Sans SC"/>
            </a:endParaRPr>
          </a:p>
          <a:p>
            <a:pPr marL="228600" indent="-228600" algn="l">
              <a:lnSpc>
                <a:spcPct val="125000"/>
              </a:lnSpc>
              <a:buClr>
                <a:srgbClr val="757575"/>
              </a:buClr>
              <a:buChar char="•"/>
            </a:pPr>
            <a:r>
              <a:rPr lang="en-US" sz="1800" b="0" i="0" u="none" strike="noStrike">
                <a:solidFill>
                  <a:srgbClr val="757575"/>
                </a:solidFill>
                <a:latin typeface="Noto Sans SC"/>
                <a:ea typeface="Noto Sans SC"/>
                <a:cs typeface="Noto Sans SC"/>
                <a:sym typeface="Noto Sans SC"/>
              </a:rPr>
              <a:t>C++, JavaScript</a:t>
            </a:r>
            <a:endParaRPr lang="en-US" sz="1800" b="0" i="0" u="none" strike="noStrike">
              <a:solidFill>
                <a:srgbClr val="757575"/>
              </a:solidFill>
              <a:latin typeface="Noto Sans SC"/>
              <a:ea typeface="Noto Sans SC"/>
              <a:cs typeface="Noto Sans SC"/>
              <a:sym typeface="Noto Sans SC"/>
            </a:endParaRPr>
          </a:p>
        </p:txBody>
      </p:sp>
      <p:sp>
        <p:nvSpPr>
          <p:cNvPr id="11" name="AutoShape 11"/>
          <p:cNvSpPr/>
          <p:nvPr/>
        </p:nvSpPr>
        <p:spPr>
          <a:xfrm>
            <a:off x="8128000" y="1651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0" y="1905000"/>
            <a:ext cx="406400" cy="406400"/>
          </a:xfrm>
          <a:prstGeom prst="rect">
            <a:avLst/>
          </a:prstGeom>
        </p:spPr>
      </p:pic>
      <p:sp>
        <p:nvSpPr>
          <p:cNvPr id="13" name="AutoShape 13"/>
          <p:cNvSpPr/>
          <p:nvPr/>
        </p:nvSpPr>
        <p:spPr>
          <a:xfrm>
            <a:off x="8890000" y="18796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获取支持语言</a:t>
            </a:r>
            <a:endParaRPr lang="en-US" sz="1100"/>
          </a:p>
        </p:txBody>
      </p:sp>
      <p:sp>
        <p:nvSpPr>
          <p:cNvPr id="14" name="AutoShape 14"/>
          <p:cNvSpPr/>
          <p:nvPr/>
        </p:nvSpPr>
        <p:spPr>
          <a:xfrm>
            <a:off x="8318500" y="2413000"/>
            <a:ext cx="2921000" cy="1270000"/>
          </a:xfrm>
          <a:prstGeom prst="roundRect">
            <a:avLst>
              <a:gd name="adj" fmla="val 500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445500" y="2476500"/>
            <a:ext cx="26670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424242"/>
                </a:solidFill>
                <a:latin typeface="Source Code Pro"/>
                <a:ea typeface="Source Code Pro"/>
                <a:cs typeface="Source Code Pro"/>
                <a:sym typeface="Source Code Pro"/>
              </a:rPr>
              <a:t>from langchain.text_splitter import Language</a:t>
            </a:r>
            <a:endParaRPr lang="en-US" sz="1100"/>
          </a:p>
          <a:p>
            <a:pPr indent="0" algn="l">
              <a:lnSpc>
                <a:spcPct val="100000"/>
              </a:lnSpc>
            </a:pPr>
            <a:r>
              <a:rPr lang="en-US" sz="1400" b="0" i="0" u="none" strike="noStrike">
                <a:solidFill>
                  <a:srgbClr val="424242"/>
                </a:solidFill>
                <a:latin typeface="Source Code Pro"/>
                <a:ea typeface="Source Code Pro"/>
                <a:cs typeface="Source Code Pro"/>
                <a:sym typeface="Source Code Pro"/>
              </a:rPr>
              <a:t>print([e.value for e in Language])</a:t>
            </a:r>
            <a:endParaRPr lang="en-US" sz="1400" b="0" i="0" u="none" strike="noStrike">
              <a:solidFill>
                <a:srgbClr val="424242"/>
              </a:solidFill>
              <a:latin typeface="Source Code Pro"/>
              <a:ea typeface="Source Code Pro"/>
              <a:cs typeface="Source Code Pro"/>
              <a:sym typeface="Source Code Pro"/>
            </a:endParaRPr>
          </a:p>
        </p:txBody>
      </p:sp>
      <p:sp>
        <p:nvSpPr>
          <p:cNvPr id="16" name="AutoShape 16"/>
          <p:cNvSpPr/>
          <p:nvPr/>
        </p:nvSpPr>
        <p:spPr>
          <a:xfrm>
            <a:off x="762000" y="4318000"/>
            <a:ext cx="10668000" cy="1524000"/>
          </a:xfrm>
          <a:prstGeom prst="roundRect">
            <a:avLst>
              <a:gd name="adj" fmla="val 8333"/>
            </a:avLst>
          </a:prstGeom>
          <a:solidFill>
            <a:srgbClr val="0277BD">
              <a:alpha val="8000"/>
            </a:srgbClr>
          </a:solidFill>
          <a:ln w="12700" cap="flat" cmpd="sng">
            <a:solidFill>
              <a:srgbClr val="0277BD">
                <a:alpha val="3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572000"/>
            <a:ext cx="355600" cy="355600"/>
          </a:xfrm>
          <a:prstGeom prst="rect">
            <a:avLst/>
          </a:prstGeom>
        </p:spPr>
      </p:pic>
      <p:sp>
        <p:nvSpPr>
          <p:cNvPr id="18" name="AutoShape 18"/>
          <p:cNvSpPr/>
          <p:nvPr/>
        </p:nvSpPr>
        <p:spPr>
          <a:xfrm>
            <a:off x="1524000" y="4508500"/>
            <a:ext cx="9652000" cy="1143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2000" b="1" i="0" u="none" strike="noStrike">
                <a:solidFill>
                  <a:srgbClr val="0277BD"/>
                </a:solidFill>
                <a:latin typeface="Noto Sans SC"/>
                <a:ea typeface="Noto Sans SC"/>
                <a:cs typeface="Noto Sans SC"/>
                <a:sym typeface="Noto Sans SC"/>
              </a:rPr>
              <a:t>关键优势：</a:t>
            </a:r>
            <a:endParaRPr lang="en-US" sz="1100"/>
          </a:p>
          <a:p>
            <a:pPr indent="0" algn="l">
              <a:lnSpc>
                <a:spcPct val="117000"/>
              </a:lnSpc>
            </a:pPr>
            <a:r>
              <a:rPr lang="en-US" sz="1800" b="0" i="0" u="none" strike="noStrike">
                <a:solidFill>
                  <a:srgbClr val="757575"/>
                </a:solidFill>
                <a:latin typeface="Noto Sans SC"/>
                <a:ea typeface="Noto Sans SC"/>
                <a:cs typeface="Noto Sans SC"/>
                <a:sym typeface="Noto Sans SC"/>
              </a:rPr>
              <a:t>针对代码文件，智能分割器能识别编程语言的语法结构（如函数、类、块注释等），避免在代码逻辑中间进行生硬分割，从而最大程度保留代码的语义完整性，提升后续检索和理解的准确性。</a:t>
            </a:r>
            <a:endParaRPr lang="en-US" sz="18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5179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Python代码示例</a:t>
            </a:r>
            <a:endParaRPr lang="en-US" sz="1100"/>
          </a:p>
        </p:txBody>
      </p:sp>
      <p:sp>
        <p:nvSpPr>
          <p:cNvPr id="3" name="AutoShape 3"/>
          <p:cNvSpPr/>
          <p:nvPr/>
        </p:nvSpPr>
        <p:spPr>
          <a:xfrm>
            <a:off x="762000" y="1524000"/>
            <a:ext cx="5842000" cy="3556000"/>
          </a:xfrm>
          <a:prstGeom prst="roundRect">
            <a:avLst>
              <a:gd name="adj" fmla="val 3571"/>
            </a:avLst>
          </a:prstGeom>
          <a:solidFill>
            <a:srgbClr val="1E1E1E">
              <a:alpha val="100000"/>
            </a:srgbClr>
          </a:solidFill>
          <a:ln w="25400" cap="flat" cmpd="sng">
            <a:noFill/>
            <a:prstDash val="solid"/>
            <a:round/>
          </a:ln>
          <a:effectLst>
            <a:outerShdw blurRad="127000" dist="101600" dir="5400000" algn="tl" rotWithShape="0">
              <a:srgbClr val="000000">
                <a:alpha val="20000"/>
              </a:srgbClr>
            </a:outerShdw>
          </a:effectLst>
        </p:spPr>
        <p:txBody>
          <a:bodyPr vert="horz" wrap="square" lIns="63500" tIns="63500" rIns="63500" bIns="63500" rtlCol="0" anchor="ctr"/>
          <a:lstStyle/>
          <a:p>
            <a:pPr algn="ctr">
              <a:defRPr/>
            </a:pPr>
          </a:p>
        </p:txBody>
      </p:sp>
      <p:sp>
        <p:nvSpPr>
          <p:cNvPr id="4" name="AutoShape 4"/>
          <p:cNvSpPr/>
          <p:nvPr/>
        </p:nvSpPr>
        <p:spPr>
          <a:xfrm>
            <a:off x="952500" y="1676400"/>
            <a:ext cx="152400" cy="1524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206500" y="1676400"/>
            <a:ext cx="152400" cy="1524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460500" y="1676400"/>
            <a:ext cx="152400" cy="1524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52500" y="1968500"/>
            <a:ext cx="5461000" cy="292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FF79C6"/>
                </a:solidFill>
                <a:latin typeface="Roboto"/>
                <a:ea typeface="Roboto"/>
                <a:cs typeface="Roboto"/>
                <a:sym typeface="Roboto"/>
              </a:rPr>
              <a:t>from</a:t>
            </a:r>
            <a:r>
              <a:rPr lang="en-US" sz="1400" b="0" i="0" u="none" strike="noStrike">
                <a:solidFill>
                  <a:srgbClr val="F8F8F2"/>
                </a:solidFill>
                <a:latin typeface="Roboto"/>
                <a:ea typeface="Roboto"/>
                <a:cs typeface="Roboto"/>
                <a:sym typeface="Roboto"/>
              </a:rPr>
              <a:t>langchain.text_splitter</a:t>
            </a:r>
            <a:r>
              <a:rPr lang="en-US" sz="1400" b="0" i="0" u="none" strike="noStrike">
                <a:solidFill>
                  <a:srgbClr val="FF79C6"/>
                </a:solidFill>
                <a:latin typeface="Roboto"/>
                <a:ea typeface="Roboto"/>
                <a:cs typeface="Roboto"/>
                <a:sym typeface="Roboto"/>
              </a:rPr>
              <a:t>import</a:t>
            </a:r>
            <a:r>
              <a:rPr lang="en-US" sz="1400" b="0" i="0" u="none" strike="noStrike">
                <a:solidFill>
                  <a:srgbClr val="F8F8F2"/>
                </a:solidFill>
                <a:latin typeface="Roboto"/>
                <a:ea typeface="Roboto"/>
                <a:cs typeface="Roboto"/>
                <a:sym typeface="Roboto"/>
              </a:rPr>
              <a:t>RecursiveCharacterTextSplitter, Language</a:t>
            </a:r>
            <a:endParaRPr lang="en-US" sz="1100"/>
          </a:p>
          <a:p>
            <a:pPr indent="0" algn="l">
              <a:lnSpc>
                <a:spcPct val="100000"/>
              </a:lnSpc>
            </a:pPr>
          </a:p>
          <a:p>
            <a:pPr indent="0" algn="l">
              <a:lnSpc>
                <a:spcPct val="100000"/>
              </a:lnSpc>
            </a:pPr>
            <a:r>
              <a:rPr lang="en-US" sz="1400" b="0" i="0" u="none" strike="noStrike">
                <a:solidFill>
                  <a:srgbClr val="8BE9FD"/>
                </a:solidFill>
                <a:latin typeface="Roboto"/>
                <a:ea typeface="Roboto"/>
                <a:cs typeface="Roboto"/>
                <a:sym typeface="Roboto"/>
              </a:rPr>
              <a:t>def</a:t>
            </a:r>
            <a:r>
              <a:rPr lang="en-US" sz="1400" b="0" i="0" u="none" strike="noStrike">
                <a:solidFill>
                  <a:srgbClr val="F8F8F2"/>
                </a:solidFill>
                <a:latin typeface="Roboto"/>
                <a:ea typeface="Roboto"/>
                <a:cs typeface="Roboto"/>
                <a:sym typeface="Roboto"/>
              </a:rPr>
              <a:t>hello_world():</a:t>
            </a:r>
            <a:endParaRPr lang="en-US" sz="1400" b="0" i="0" u="none" strike="noStrike">
              <a:solidFill>
                <a:srgbClr val="F8F8F2"/>
              </a:solidFill>
              <a:latin typeface="Roboto"/>
              <a:ea typeface="Roboto"/>
              <a:cs typeface="Roboto"/>
              <a:sym typeface="Roboto"/>
            </a:endParaRPr>
          </a:p>
          <a:p>
            <a:pPr indent="0" algn="l">
              <a:lnSpc>
                <a:spcPct val="100000"/>
              </a:lnSpc>
            </a:pPr>
            <a:r>
              <a:rPr lang="en-US" sz="1400" b="0" i="0" u="none" strike="noStrike">
                <a:solidFill>
                  <a:srgbClr val="8BE9FD"/>
                </a:solidFill>
                <a:latin typeface="Roboto"/>
                <a:ea typeface="Roboto"/>
                <a:cs typeface="Roboto"/>
                <a:sym typeface="Roboto"/>
              </a:rPr>
              <a:t>print</a:t>
            </a:r>
            <a:r>
              <a:rPr lang="en-US" sz="1400" b="0" i="0" u="none" strike="noStrike">
                <a:solidFill>
                  <a:srgbClr val="F8F8F2"/>
                </a:solidFill>
                <a:latin typeface="Roboto"/>
                <a:ea typeface="Roboto"/>
                <a:cs typeface="Roboto"/>
                <a:sym typeface="Roboto"/>
              </a:rPr>
              <a:t>(</a:t>
            </a:r>
            <a:r>
              <a:rPr lang="en-US" sz="1400" b="0" i="0" u="none" strike="noStrike">
                <a:solidFill>
                  <a:srgbClr val="F1FA8C"/>
                </a:solidFill>
                <a:latin typeface="Roboto"/>
                <a:ea typeface="Roboto"/>
                <a:cs typeface="Roboto"/>
                <a:sym typeface="Roboto"/>
              </a:rPr>
              <a:t>"Hello, World!"</a:t>
            </a:r>
            <a:r>
              <a:rPr lang="en-US" sz="1400" b="0" i="0" u="none" strike="noStrike">
                <a:solidFill>
                  <a:srgbClr val="F8F8F2"/>
                </a:solidFill>
                <a:latin typeface="Roboto"/>
                <a:ea typeface="Roboto"/>
                <a:cs typeface="Roboto"/>
                <a:sym typeface="Roboto"/>
              </a:rPr>
              <a:t>)</a:t>
            </a:r>
            <a:endParaRPr lang="en-US" sz="1400" b="0" i="0" u="none" strike="noStrike">
              <a:solidFill>
                <a:srgbClr val="F8F8F2"/>
              </a:solidFill>
              <a:latin typeface="Roboto"/>
              <a:ea typeface="Roboto"/>
              <a:cs typeface="Roboto"/>
              <a:sym typeface="Roboto"/>
            </a:endParaRPr>
          </a:p>
          <a:p>
            <a:pPr indent="0" algn="l">
              <a:lnSpc>
                <a:spcPct val="100000"/>
              </a:lnSpc>
            </a:pPr>
            <a:r>
              <a:rPr lang="en-US" sz="1400" b="0" i="0" u="none" strike="noStrike">
                <a:solidFill>
                  <a:srgbClr val="F8F8F2"/>
                </a:solidFill>
                <a:latin typeface="Roboto"/>
                <a:ea typeface="Roboto"/>
                <a:cs typeface="Roboto"/>
                <a:sym typeface="Roboto"/>
              </a:rPr>
              <a:t>hello_world()</a:t>
            </a:r>
            <a:endParaRPr lang="en-US" sz="1400" b="0" i="0" u="none" strike="noStrike">
              <a:solidFill>
                <a:srgbClr val="F8F8F2"/>
              </a:solidFill>
              <a:latin typeface="Roboto"/>
              <a:ea typeface="Roboto"/>
              <a:cs typeface="Roboto"/>
              <a:sym typeface="Roboto"/>
            </a:endParaRPr>
          </a:p>
          <a:p>
            <a:pPr indent="0" algn="l">
              <a:lnSpc>
                <a:spcPct val="100000"/>
              </a:lnSpc>
            </a:pPr>
          </a:p>
          <a:p>
            <a:pPr indent="0" algn="l">
              <a:lnSpc>
                <a:spcPct val="100000"/>
              </a:lnSpc>
            </a:pPr>
            <a:r>
              <a:rPr lang="en-US" sz="1400" b="0" i="0" u="none" strike="noStrike">
                <a:solidFill>
                  <a:srgbClr val="F8F8F2"/>
                </a:solidFill>
                <a:latin typeface="Roboto"/>
                <a:ea typeface="Roboto"/>
                <a:cs typeface="Roboto"/>
                <a:sym typeface="Roboto"/>
              </a:rPr>
              <a:t># 创建针对Python语言的分割器</a:t>
            </a:r>
            <a:endParaRPr lang="en-US" sz="1400" b="0" i="0" u="none" strike="noStrike">
              <a:solidFill>
                <a:srgbClr val="F8F8F2"/>
              </a:solidFill>
              <a:latin typeface="Roboto"/>
              <a:ea typeface="Roboto"/>
              <a:cs typeface="Roboto"/>
              <a:sym typeface="Roboto"/>
            </a:endParaRPr>
          </a:p>
          <a:p>
            <a:pPr indent="0" algn="l">
              <a:lnSpc>
                <a:spcPct val="100000"/>
              </a:lnSpc>
            </a:pPr>
            <a:r>
              <a:rPr lang="en-US" sz="1400" b="0" i="0" u="none" strike="noStrike">
                <a:solidFill>
                  <a:srgbClr val="F8F8F2"/>
                </a:solidFill>
                <a:latin typeface="Roboto"/>
                <a:ea typeface="Roboto"/>
                <a:cs typeface="Roboto"/>
                <a:sym typeface="Roboto"/>
              </a:rPr>
              <a:t>splitter = RecursiveCharacterTextSplitter.from_language(</a:t>
            </a:r>
            <a:endParaRPr lang="en-US" sz="1400" b="0" i="0" u="none" strike="noStrike">
              <a:solidFill>
                <a:srgbClr val="F8F8F2"/>
              </a:solidFill>
              <a:latin typeface="Roboto"/>
              <a:ea typeface="Roboto"/>
              <a:cs typeface="Roboto"/>
              <a:sym typeface="Roboto"/>
            </a:endParaRPr>
          </a:p>
          <a:p>
            <a:pPr indent="0" algn="l">
              <a:lnSpc>
                <a:spcPct val="100000"/>
              </a:lnSpc>
            </a:pPr>
            <a:r>
              <a:rPr lang="en-US" sz="1400" b="0" i="0" u="none" strike="noStrike">
                <a:solidFill>
                  <a:srgbClr val="F8F8F2"/>
                </a:solidFill>
                <a:latin typeface="Roboto"/>
                <a:ea typeface="Roboto"/>
                <a:cs typeface="Roboto"/>
                <a:sym typeface="Roboto"/>
              </a:rPr>
              <a:t>language=Language.PYTHON, chunk_size=50</a:t>
            </a:r>
            <a:endParaRPr lang="en-US" sz="1400" b="0" i="0" u="none" strike="noStrike">
              <a:solidFill>
                <a:srgbClr val="F8F8F2"/>
              </a:solidFill>
              <a:latin typeface="Roboto"/>
              <a:ea typeface="Roboto"/>
              <a:cs typeface="Roboto"/>
              <a:sym typeface="Roboto"/>
            </a:endParaRPr>
          </a:p>
          <a:p>
            <a:pPr indent="0" algn="l">
              <a:lnSpc>
                <a:spcPct val="100000"/>
              </a:lnSpc>
            </a:pPr>
            <a:r>
              <a:rPr lang="en-US" sz="1400" b="0" i="0" u="none" strike="noStrike">
                <a:solidFill>
                  <a:srgbClr val="F8F8F2"/>
                </a:solidFill>
                <a:latin typeface="Roboto"/>
                <a:ea typeface="Roboto"/>
                <a:cs typeface="Roboto"/>
                <a:sym typeface="Roboto"/>
              </a:rPr>
              <a:t>)</a:t>
            </a:r>
            <a:endParaRPr lang="en-US" sz="1400" b="0" i="0" u="none" strike="noStrike">
              <a:solidFill>
                <a:srgbClr val="F8F8F2"/>
              </a:solidFill>
              <a:latin typeface="Roboto"/>
              <a:ea typeface="Roboto"/>
              <a:cs typeface="Roboto"/>
              <a:sym typeface="Roboto"/>
            </a:endParaRPr>
          </a:p>
          <a:p>
            <a:pPr indent="0" algn="l">
              <a:lnSpc>
                <a:spcPct val="100000"/>
              </a:lnSpc>
            </a:pPr>
            <a:r>
              <a:rPr lang="en-US" sz="1400" b="0" i="0" u="none" strike="noStrike">
                <a:solidFill>
                  <a:srgbClr val="F8F8F2"/>
                </a:solidFill>
                <a:latin typeface="Roboto"/>
                <a:ea typeface="Roboto"/>
                <a:cs typeface="Roboto"/>
                <a:sym typeface="Roboto"/>
              </a:rPr>
              <a:t>docs = splitter.create_documents([python_code])</a:t>
            </a:r>
            <a:endParaRPr lang="en-US" sz="1400" b="0" i="0" u="none" strike="noStrike">
              <a:solidFill>
                <a:srgbClr val="F8F8F2"/>
              </a:solidFill>
              <a:latin typeface="Roboto"/>
              <a:ea typeface="Roboto"/>
              <a:cs typeface="Roboto"/>
              <a:sym typeface="Roboto"/>
            </a:endParaRPr>
          </a:p>
        </p:txBody>
      </p:sp>
      <p:sp>
        <p:nvSpPr>
          <p:cNvPr id="8" name="AutoShape 8"/>
          <p:cNvSpPr/>
          <p:nvPr/>
        </p:nvSpPr>
        <p:spPr>
          <a:xfrm>
            <a:off x="6858000" y="1524000"/>
            <a:ext cx="4572000" cy="1143000"/>
          </a:xfrm>
          <a:prstGeom prst="roundRect">
            <a:avLst>
              <a:gd name="adj" fmla="val 11111"/>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48500" y="1714500"/>
            <a:ext cx="406400" cy="406400"/>
          </a:xfrm>
          <a:prstGeom prst="rect">
            <a:avLst/>
          </a:prstGeom>
        </p:spPr>
      </p:pic>
      <p:sp>
        <p:nvSpPr>
          <p:cNvPr id="10" name="AutoShape 10"/>
          <p:cNvSpPr/>
          <p:nvPr/>
        </p:nvSpPr>
        <p:spPr>
          <a:xfrm>
            <a:off x="7556500" y="1651000"/>
            <a:ext cx="3683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智能语言识别</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通过 Language.PYTHON 参数，自动识别代码结构，避免在函数或语句中间分割。</a:t>
            </a:r>
            <a:endParaRPr lang="en-US" sz="1600" b="0" i="0" u="none" strike="noStrike">
              <a:solidFill>
                <a:srgbClr val="757575"/>
              </a:solidFill>
              <a:latin typeface="Noto Sans SC"/>
              <a:ea typeface="Noto Sans SC"/>
              <a:cs typeface="Noto Sans SC"/>
              <a:sym typeface="Noto Sans SC"/>
            </a:endParaRPr>
          </a:p>
        </p:txBody>
      </p:sp>
      <p:sp>
        <p:nvSpPr>
          <p:cNvPr id="11" name="AutoShape 11"/>
          <p:cNvSpPr/>
          <p:nvPr/>
        </p:nvSpPr>
        <p:spPr>
          <a:xfrm>
            <a:off x="6858000" y="2857500"/>
            <a:ext cx="4572000" cy="1143000"/>
          </a:xfrm>
          <a:prstGeom prst="roundRect">
            <a:avLst>
              <a:gd name="adj" fmla="val 11111"/>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48500" y="3048000"/>
            <a:ext cx="406400" cy="406400"/>
          </a:xfrm>
          <a:prstGeom prst="rect">
            <a:avLst/>
          </a:prstGeom>
        </p:spPr>
      </p:pic>
      <p:sp>
        <p:nvSpPr>
          <p:cNvPr id="13" name="AutoShape 13"/>
          <p:cNvSpPr/>
          <p:nvPr/>
        </p:nvSpPr>
        <p:spPr>
          <a:xfrm>
            <a:off x="7556500" y="2984500"/>
            <a:ext cx="3683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代码完整性保障</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确保分割后的代码块逻辑完整，保留函数定义和调用的上下文，便于后续处理。</a:t>
            </a:r>
            <a:endParaRPr lang="en-US" sz="1600" b="0" i="0" u="none" strike="noStrike">
              <a:solidFill>
                <a:srgbClr val="757575"/>
              </a:solidFill>
              <a:latin typeface="Noto Sans SC"/>
              <a:ea typeface="Noto Sans SC"/>
              <a:cs typeface="Noto Sans SC"/>
              <a:sym typeface="Noto Sans SC"/>
            </a:endParaRPr>
          </a:p>
        </p:txBody>
      </p:sp>
      <p:sp>
        <p:nvSpPr>
          <p:cNvPr id="14" name="AutoShape 14"/>
          <p:cNvSpPr/>
          <p:nvPr/>
        </p:nvSpPr>
        <p:spPr>
          <a:xfrm>
            <a:off x="6858000" y="4191000"/>
            <a:ext cx="4572000" cy="1143000"/>
          </a:xfrm>
          <a:prstGeom prst="roundRect">
            <a:avLst>
              <a:gd name="adj" fmla="val 11111"/>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048500" y="4381500"/>
            <a:ext cx="406400" cy="406400"/>
          </a:xfrm>
          <a:prstGeom prst="rect">
            <a:avLst/>
          </a:prstGeom>
        </p:spPr>
      </p:pic>
      <p:sp>
        <p:nvSpPr>
          <p:cNvPr id="16" name="AutoShape 16"/>
          <p:cNvSpPr/>
          <p:nvPr/>
        </p:nvSpPr>
        <p:spPr>
          <a:xfrm>
            <a:off x="7556500" y="4318000"/>
            <a:ext cx="3683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灵活参数配置</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支持自定义 chunk_size 和 chunk_overlap，适应不同场景下的代码处理需求。</a:t>
            </a:r>
            <a:endParaRPr lang="en-US" sz="1600" b="0" i="0" u="none" strike="noStrike">
              <a:solidFill>
                <a:srgbClr val="757575"/>
              </a:solidFill>
              <a:latin typeface="Noto Sans SC"/>
              <a:ea typeface="Noto Sans SC"/>
              <a:cs typeface="Noto Sans SC"/>
              <a:sym typeface="Noto Sans SC"/>
            </a:endParaRPr>
          </a:p>
        </p:txBody>
      </p:sp>
      <p:sp>
        <p:nvSpPr>
          <p:cNvPr id="17" name="AutoShape 17"/>
          <p:cNvSpPr/>
          <p:nvPr/>
        </p:nvSpPr>
        <p:spPr>
          <a:xfrm>
            <a:off x="762000" y="5461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1016000" y="5588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总结：</a:t>
            </a:r>
            <a:r>
              <a:rPr lang="en-US" sz="1800" b="0" i="0" u="none" strike="noStrike">
                <a:solidFill>
                  <a:srgbClr val="757575"/>
                </a:solidFill>
                <a:latin typeface="Noto Sans SC"/>
                <a:ea typeface="Noto Sans SC"/>
                <a:cs typeface="Noto Sans SC"/>
                <a:sym typeface="Noto Sans SC"/>
              </a:rPr>
              <a:t>使用 RecursiveCharacterTextSplitter 配合语言类型参数，是处理编程代码文本的最佳实践。</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6540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2.2.3 按MarkDown标题分割</a:t>
            </a:r>
            <a:endParaRPr lang="en-US" sz="1100"/>
          </a:p>
        </p:txBody>
      </p:sp>
      <p:sp>
        <p:nvSpPr>
          <p:cNvPr id="3" name="AutoShape 3"/>
          <p:cNvSpPr/>
          <p:nvPr/>
        </p:nvSpPr>
        <p:spPr>
          <a:xfrm>
            <a:off x="762000" y="1778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2032000"/>
            <a:ext cx="635000" cy="635000"/>
          </a:xfrm>
          <a:prstGeom prst="rect">
            <a:avLst/>
          </a:prstGeom>
        </p:spPr>
      </p:pic>
      <p:sp>
        <p:nvSpPr>
          <p:cNvPr id="5" name="AutoShape 5"/>
          <p:cNvSpPr/>
          <p:nvPr/>
        </p:nvSpPr>
        <p:spPr>
          <a:xfrm>
            <a:off x="889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0277BD"/>
                </a:solidFill>
                <a:latin typeface="Noto Sans SC"/>
                <a:ea typeface="Noto Sans SC"/>
                <a:cs typeface="Noto Sans SC"/>
                <a:sym typeface="Noto Sans SC"/>
              </a:rPr>
              <a:t>核心功能</a:t>
            </a:r>
            <a:endParaRPr lang="en-US" sz="1100"/>
          </a:p>
        </p:txBody>
      </p:sp>
      <p:sp>
        <p:nvSpPr>
          <p:cNvPr id="6" name="AutoShape 6"/>
          <p:cNvSpPr/>
          <p:nvPr/>
        </p:nvSpPr>
        <p:spPr>
          <a:xfrm>
            <a:off x="952500" y="3302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使用</a:t>
            </a:r>
            <a:r>
              <a:rPr lang="en-US" sz="1800" b="1" i="0" u="none" strike="noStrike">
                <a:solidFill>
                  <a:srgbClr val="0277BD"/>
                </a:solidFill>
                <a:latin typeface="Noto Sans SC"/>
                <a:ea typeface="Noto Sans SC"/>
                <a:cs typeface="Noto Sans SC"/>
                <a:sym typeface="Noto Sans SC"/>
              </a:rPr>
              <a:t>MarkdownHeaderTextSplitter</a:t>
            </a:r>
            <a:r>
              <a:rPr lang="en-US" sz="1800" b="0" i="0" u="none" strike="noStrike">
                <a:solidFill>
                  <a:srgbClr val="757575"/>
                </a:solidFill>
                <a:latin typeface="Noto Sans SC"/>
                <a:ea typeface="Noto Sans SC"/>
                <a:cs typeface="Noto Sans SC"/>
                <a:sym typeface="Noto Sans SC"/>
              </a:rPr>
              <a:t>根据 Markdown 的标题层级进行智能分块处理。</a:t>
            </a:r>
            <a:endParaRPr lang="en-US" sz="1100"/>
          </a:p>
        </p:txBody>
      </p:sp>
      <p:sp>
        <p:nvSpPr>
          <p:cNvPr id="7" name="AutoShape 7"/>
          <p:cNvSpPr/>
          <p:nvPr/>
        </p:nvSpPr>
        <p:spPr>
          <a:xfrm>
            <a:off x="4445000" y="1778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2032000"/>
            <a:ext cx="635000" cy="635000"/>
          </a:xfrm>
          <a:prstGeom prst="rect">
            <a:avLst/>
          </a:prstGeom>
        </p:spPr>
      </p:pic>
      <p:sp>
        <p:nvSpPr>
          <p:cNvPr id="9" name="AutoShape 9"/>
          <p:cNvSpPr/>
          <p:nvPr/>
        </p:nvSpPr>
        <p:spPr>
          <a:xfrm>
            <a:off x="4572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0277BD"/>
                </a:solidFill>
                <a:latin typeface="Noto Sans SC"/>
                <a:ea typeface="Noto Sans SC"/>
                <a:cs typeface="Noto Sans SC"/>
                <a:sym typeface="Noto Sans SC"/>
              </a:rPr>
              <a:t>主要优势</a:t>
            </a:r>
            <a:endParaRPr lang="en-US" sz="1100"/>
          </a:p>
        </p:txBody>
      </p:sp>
      <p:sp>
        <p:nvSpPr>
          <p:cNvPr id="10" name="AutoShape 10"/>
          <p:cNvSpPr/>
          <p:nvPr/>
        </p:nvSpPr>
        <p:spPr>
          <a:xfrm>
            <a:off x="4635500" y="3302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完美保留文档结构，每个标题下的内容作为独立文本块，符合自然阅读习惯。</a:t>
            </a:r>
            <a:endParaRPr lang="en-US" sz="1100"/>
          </a:p>
        </p:txBody>
      </p:sp>
      <p:sp>
        <p:nvSpPr>
          <p:cNvPr id="11" name="AutoShape 11"/>
          <p:cNvSpPr/>
          <p:nvPr/>
        </p:nvSpPr>
        <p:spPr>
          <a:xfrm>
            <a:off x="8128000" y="1778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2032000"/>
            <a:ext cx="635000" cy="635000"/>
          </a:xfrm>
          <a:prstGeom prst="rect">
            <a:avLst/>
          </a:prstGeom>
        </p:spPr>
      </p:pic>
      <p:sp>
        <p:nvSpPr>
          <p:cNvPr id="13" name="AutoShape 13"/>
          <p:cNvSpPr/>
          <p:nvPr/>
        </p:nvSpPr>
        <p:spPr>
          <a:xfrm>
            <a:off x="8255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0277BD"/>
                </a:solidFill>
                <a:latin typeface="Noto Sans SC"/>
                <a:ea typeface="Noto Sans SC"/>
                <a:cs typeface="Noto Sans SC"/>
                <a:sym typeface="Noto Sans SC"/>
              </a:rPr>
              <a:t>使用方法</a:t>
            </a:r>
            <a:endParaRPr lang="en-US" sz="1100"/>
          </a:p>
        </p:txBody>
      </p:sp>
      <p:sp>
        <p:nvSpPr>
          <p:cNvPr id="14" name="AutoShape 14"/>
          <p:cNvSpPr/>
          <p:nvPr/>
        </p:nvSpPr>
        <p:spPr>
          <a:xfrm>
            <a:off x="8318500" y="3302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在代码中指定需要分割的标题级别（如 #、##、###），即可自动拆分文档。</a:t>
            </a:r>
            <a:endParaRPr lang="en-US" sz="1100"/>
          </a:p>
        </p:txBody>
      </p:sp>
      <p:sp>
        <p:nvSpPr>
          <p:cNvPr id="15" name="AutoShape 15"/>
          <p:cNvSpPr/>
          <p:nvPr/>
        </p:nvSpPr>
        <p:spPr>
          <a:xfrm>
            <a:off x="0" y="6604000"/>
            <a:ext cx="12192000" cy="254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2006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代码示例</a:t>
            </a:r>
            <a:endParaRPr lang="en-US" sz="1100"/>
          </a:p>
        </p:txBody>
      </p:sp>
      <p:sp>
        <p:nvSpPr>
          <p:cNvPr id="3" name="AutoShape 3"/>
          <p:cNvSpPr/>
          <p:nvPr/>
        </p:nvSpPr>
        <p:spPr>
          <a:xfrm>
            <a:off x="762000" y="1397000"/>
            <a:ext cx="6858000" cy="3810000"/>
          </a:xfrm>
          <a:prstGeom prst="roundRect">
            <a:avLst>
              <a:gd name="adj" fmla="val 3333"/>
            </a:avLst>
          </a:prstGeom>
          <a:solidFill>
            <a:srgbClr val="1E1E1E">
              <a:alpha val="100000"/>
            </a:srgbClr>
          </a:solidFill>
          <a:ln w="25400" cap="flat" cmpd="sng">
            <a:noFill/>
            <a:prstDash val="solid"/>
            <a:round/>
          </a:ln>
          <a:effectLst>
            <a:outerShdw blurRad="127000" dist="50800" dir="5400000" algn="tl" rotWithShape="0">
              <a:srgbClr val="000000">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587500"/>
            <a:ext cx="6350000" cy="3429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400" b="0" i="0" u="none" strike="noStrike">
                <a:solidFill>
                  <a:srgbClr val="FF79C6"/>
                </a:solidFill>
                <a:latin typeface="Roboto Mono"/>
                <a:ea typeface="Roboto Mono"/>
                <a:cs typeface="Roboto Mono"/>
                <a:sym typeface="Roboto Mono"/>
              </a:rPr>
              <a:t>from</a:t>
            </a:r>
            <a:r>
              <a:rPr lang="en-US" sz="1400" b="0" i="0" u="none" strike="noStrike">
                <a:solidFill>
                  <a:srgbClr val="F8F8F2"/>
                </a:solidFill>
                <a:latin typeface="Roboto Mono"/>
                <a:ea typeface="Roboto Mono"/>
                <a:cs typeface="Roboto Mono"/>
                <a:sym typeface="Roboto Mono"/>
              </a:rPr>
              <a:t>langchain.text_splitter</a:t>
            </a:r>
            <a:r>
              <a:rPr lang="en-US" sz="1400" b="0" i="0" u="none" strike="noStrike">
                <a:solidFill>
                  <a:srgbClr val="FF79C6"/>
                </a:solidFill>
                <a:latin typeface="Roboto Mono"/>
                <a:ea typeface="Roboto Mono"/>
                <a:cs typeface="Roboto Mono"/>
                <a:sym typeface="Roboto Mono"/>
              </a:rPr>
              <a:t>import</a:t>
            </a:r>
            <a:r>
              <a:rPr lang="en-US" sz="1400" b="0" i="0" u="none" strike="noStrike">
                <a:solidFill>
                  <a:srgbClr val="F8F8F2"/>
                </a:solidFill>
                <a:latin typeface="Roboto Mono"/>
                <a:ea typeface="Roboto Mono"/>
                <a:cs typeface="Roboto Mono"/>
                <a:sym typeface="Roboto Mono"/>
              </a:rPr>
              <a:t>MarkdownHeaderTextSplitter</a:t>
            </a:r>
            <a:endParaRPr lang="en-US" sz="1100"/>
          </a:p>
          <a:p>
            <a:pPr indent="0" algn="l">
              <a:lnSpc>
                <a:spcPct val="100000"/>
              </a:lnSpc>
            </a:pPr>
            <a:r>
              <a:rPr lang="en-US" sz="1400" b="0" i="0" u="none" strike="noStrike">
                <a:solidFill>
                  <a:srgbClr val="6272A4"/>
                </a:solidFill>
                <a:latin typeface="Roboto Mono"/>
                <a:ea typeface="Roboto Mono"/>
                <a:cs typeface="Roboto Mono"/>
                <a:sym typeface="Roboto Mono"/>
              </a:rPr>
              <a:t># 读取Markdown文件</a:t>
            </a:r>
            <a:endParaRPr lang="en-US" sz="1400" b="0" i="0" u="none" strike="noStrike">
              <a:solidFill>
                <a:srgbClr val="6272A4"/>
              </a:solidFill>
              <a:latin typeface="Roboto Mono"/>
              <a:ea typeface="Roboto Mono"/>
              <a:cs typeface="Roboto Mono"/>
              <a:sym typeface="Roboto Mono"/>
            </a:endParaRPr>
          </a:p>
          <a:p>
            <a:pPr indent="0" algn="l">
              <a:lnSpc>
                <a:spcPct val="100000"/>
              </a:lnSpc>
            </a:pPr>
            <a:r>
              <a:rPr lang="en-US" sz="1400" b="0" i="0" u="none" strike="noStrike">
                <a:solidFill>
                  <a:srgbClr val="F8F8F2"/>
                </a:solidFill>
                <a:latin typeface="Roboto Mono"/>
                <a:ea typeface="Roboto Mono"/>
                <a:cs typeface="Roboto Mono"/>
                <a:sym typeface="Roboto Mono"/>
              </a:rPr>
              <a:t>markdown_path =</a:t>
            </a:r>
            <a:r>
              <a:rPr lang="en-US" sz="1400" b="0" i="0" u="none" strike="noStrike">
                <a:solidFill>
                  <a:srgbClr val="F1FA8C"/>
                </a:solidFill>
                <a:latin typeface="Roboto Mono"/>
                <a:ea typeface="Roboto Mono"/>
                <a:cs typeface="Roboto Mono"/>
                <a:sym typeface="Roboto Mono"/>
              </a:rPr>
              <a:t>"../example_data/generation_prompt.md"</a:t>
            </a:r>
            <a:endParaRPr lang="en-US" sz="1400" b="0" i="0" u="none" strike="noStrike">
              <a:solidFill>
                <a:srgbClr val="F1FA8C"/>
              </a:solidFill>
              <a:latin typeface="Roboto Mono"/>
              <a:ea typeface="Roboto Mono"/>
              <a:cs typeface="Roboto Mono"/>
              <a:sym typeface="Roboto Mono"/>
            </a:endParaRPr>
          </a:p>
          <a:p>
            <a:pPr indent="0" algn="l">
              <a:lnSpc>
                <a:spcPct val="100000"/>
              </a:lnSpc>
            </a:pPr>
            <a:r>
              <a:rPr lang="en-US" sz="1400" b="0" i="0" u="none" strike="noStrike">
                <a:solidFill>
                  <a:srgbClr val="FF79C6"/>
                </a:solidFill>
                <a:latin typeface="Roboto Mono"/>
                <a:ea typeface="Roboto Mono"/>
                <a:cs typeface="Roboto Mono"/>
                <a:sym typeface="Roboto Mono"/>
              </a:rPr>
              <a:t>with</a:t>
            </a:r>
            <a:r>
              <a:rPr lang="en-US" sz="1400" b="0" i="0" u="none" strike="noStrike">
                <a:solidFill>
                  <a:srgbClr val="F8F8F2"/>
                </a:solidFill>
                <a:latin typeface="Roboto Mono"/>
                <a:ea typeface="Roboto Mono"/>
                <a:cs typeface="Roboto Mono"/>
                <a:sym typeface="Roboto Mono"/>
              </a:rPr>
              <a:t>open(markdown_path, encoding=</a:t>
            </a:r>
            <a:r>
              <a:rPr lang="en-US" sz="1400" b="0" i="0" u="none" strike="noStrike">
                <a:solidFill>
                  <a:srgbClr val="F1FA8C"/>
                </a:solidFill>
                <a:latin typeface="Roboto Mono"/>
                <a:ea typeface="Roboto Mono"/>
                <a:cs typeface="Roboto Mono"/>
                <a:sym typeface="Roboto Mono"/>
              </a:rPr>
              <a:t>'utf-8'</a:t>
            </a:r>
            <a:r>
              <a:rPr lang="en-US" sz="1400" b="0" i="0" u="none" strike="noStrike">
                <a:solidFill>
                  <a:srgbClr val="F8F8F2"/>
                </a:solidFill>
                <a:latin typeface="Roboto Mono"/>
                <a:ea typeface="Roboto Mono"/>
                <a:cs typeface="Roboto Mono"/>
                <a:sym typeface="Roboto Mono"/>
              </a:rPr>
              <a:t>)</a:t>
            </a:r>
            <a:r>
              <a:rPr lang="en-US" sz="1400" b="0" i="0" u="none" strike="noStrike">
                <a:solidFill>
                  <a:srgbClr val="FF79C6"/>
                </a:solidFill>
                <a:latin typeface="Roboto Mono"/>
                <a:ea typeface="Roboto Mono"/>
                <a:cs typeface="Roboto Mono"/>
                <a:sym typeface="Roboto Mono"/>
              </a:rPr>
              <a:t>as</a:t>
            </a:r>
            <a:r>
              <a:rPr lang="en-US" sz="1400" b="0" i="0" u="none" strike="noStrike">
                <a:solidFill>
                  <a:srgbClr val="F8F8F2"/>
                </a:solidFill>
                <a:latin typeface="Roboto Mono"/>
                <a:ea typeface="Roboto Mono"/>
                <a:cs typeface="Roboto Mono"/>
                <a:sym typeface="Roboto Mono"/>
              </a:rPr>
              <a:t>f:</a:t>
            </a:r>
            <a:endParaRPr lang="en-US" sz="1400" b="0" i="0" u="none" strike="noStrike">
              <a:solidFill>
                <a:srgbClr val="F8F8F2"/>
              </a:solidFill>
              <a:latin typeface="Roboto Mono"/>
              <a:ea typeface="Roboto Mono"/>
              <a:cs typeface="Roboto Mono"/>
              <a:sym typeface="Roboto Mono"/>
            </a:endParaRPr>
          </a:p>
          <a:p>
            <a:pPr indent="0" algn="l">
              <a:lnSpc>
                <a:spcPct val="100000"/>
              </a:lnSpc>
            </a:pPr>
            <a:r>
              <a:rPr lang="en-US" sz="1400" b="0" i="0" u="none" strike="noStrike">
                <a:solidFill>
                  <a:srgbClr val="F8F8F2"/>
                </a:solidFill>
                <a:latin typeface="Roboto Mono"/>
                <a:ea typeface="Roboto Mono"/>
                <a:cs typeface="Roboto Mono"/>
                <a:sym typeface="Roboto Mono"/>
              </a:rPr>
              <a:t>markdown_document = f.read()</a:t>
            </a:r>
            <a:endParaRPr lang="en-US" sz="1400" b="0" i="0" u="none" strike="noStrike">
              <a:solidFill>
                <a:srgbClr val="F8F8F2"/>
              </a:solidFill>
              <a:latin typeface="Roboto Mono"/>
              <a:ea typeface="Roboto Mono"/>
              <a:cs typeface="Roboto Mono"/>
              <a:sym typeface="Roboto Mono"/>
            </a:endParaRPr>
          </a:p>
          <a:p>
            <a:pPr indent="0" algn="l">
              <a:lnSpc>
                <a:spcPct val="100000"/>
              </a:lnSpc>
            </a:pPr>
            <a:r>
              <a:rPr lang="en-US" sz="1400" b="0" i="0" u="none" strike="noStrike">
                <a:solidFill>
                  <a:srgbClr val="6272A4"/>
                </a:solidFill>
                <a:latin typeface="Roboto Mono"/>
                <a:ea typeface="Roboto Mono"/>
                <a:cs typeface="Roboto Mono"/>
                <a:sym typeface="Roboto Mono"/>
              </a:rPr>
              <a:t># 定义要分割的标题级别</a:t>
            </a:r>
            <a:endParaRPr lang="en-US" sz="1400" b="0" i="0" u="none" strike="noStrike">
              <a:solidFill>
                <a:srgbClr val="6272A4"/>
              </a:solidFill>
              <a:latin typeface="Roboto Mono"/>
              <a:ea typeface="Roboto Mono"/>
              <a:cs typeface="Roboto Mono"/>
              <a:sym typeface="Roboto Mono"/>
            </a:endParaRPr>
          </a:p>
          <a:p>
            <a:pPr indent="0" algn="l">
              <a:lnSpc>
                <a:spcPct val="100000"/>
              </a:lnSpc>
            </a:pPr>
            <a:r>
              <a:rPr lang="en-US" sz="1400" b="0" i="0" u="none" strike="noStrike">
                <a:solidFill>
                  <a:srgbClr val="F8F8F2"/>
                </a:solidFill>
                <a:latin typeface="Roboto Mono"/>
                <a:ea typeface="Roboto Mono"/>
                <a:cs typeface="Roboto Mono"/>
                <a:sym typeface="Roboto Mono"/>
              </a:rPr>
              <a:t>headers_to_split_on = [</a:t>
            </a:r>
            <a:endParaRPr lang="en-US" sz="1400" b="0" i="0" u="none" strike="noStrike">
              <a:solidFill>
                <a:srgbClr val="F8F8F2"/>
              </a:solidFill>
              <a:latin typeface="Roboto Mono"/>
              <a:ea typeface="Roboto Mono"/>
              <a:cs typeface="Roboto Mono"/>
              <a:sym typeface="Roboto Mono"/>
            </a:endParaRPr>
          </a:p>
          <a:p>
            <a:pPr indent="0" algn="l">
              <a:lnSpc>
                <a:spcPct val="100000"/>
              </a:lnSpc>
            </a:pPr>
            <a:r>
              <a:rPr lang="en-US" sz="1400" b="0" i="0" u="none" strike="noStrike">
                <a:solidFill>
                  <a:srgbClr val="F8F8F2"/>
                </a:solidFill>
                <a:latin typeface="Roboto Mono"/>
                <a:ea typeface="Roboto Mono"/>
                <a:cs typeface="Roboto Mono"/>
                <a:sym typeface="Roboto Mono"/>
              </a:rPr>
              <a:t>(</a:t>
            </a:r>
            <a:r>
              <a:rPr lang="en-US" sz="1400" b="0" i="0" u="none" strike="noStrike">
                <a:solidFill>
                  <a:srgbClr val="F1FA8C"/>
                </a:solidFill>
                <a:latin typeface="Roboto Mono"/>
                <a:ea typeface="Roboto Mono"/>
                <a:cs typeface="Roboto Mono"/>
                <a:sym typeface="Roboto Mono"/>
              </a:rPr>
              <a:t>"#"</a:t>
            </a:r>
            <a:r>
              <a:rPr lang="en-US" sz="1400" b="0" i="0" u="none" strike="noStrike">
                <a:solidFill>
                  <a:srgbClr val="F8F8F2"/>
                </a:solidFill>
                <a:latin typeface="Roboto Mono"/>
                <a:ea typeface="Roboto Mono"/>
                <a:cs typeface="Roboto Mono"/>
                <a:sym typeface="Roboto Mono"/>
              </a:rPr>
              <a:t>,</a:t>
            </a:r>
            <a:r>
              <a:rPr lang="en-US" sz="1400" b="0" i="0" u="none" strike="noStrike">
                <a:solidFill>
                  <a:srgbClr val="F1FA8C"/>
                </a:solidFill>
                <a:latin typeface="Roboto Mono"/>
                <a:ea typeface="Roboto Mono"/>
                <a:cs typeface="Roboto Mono"/>
                <a:sym typeface="Roboto Mono"/>
              </a:rPr>
              <a:t>"Header 1"</a:t>
            </a:r>
            <a:r>
              <a:rPr lang="en-US" sz="1400" b="0" i="0" u="none" strike="noStrike">
                <a:solidFill>
                  <a:srgbClr val="F8F8F2"/>
                </a:solidFill>
                <a:latin typeface="Roboto Mono"/>
                <a:ea typeface="Roboto Mono"/>
                <a:cs typeface="Roboto Mono"/>
                <a:sym typeface="Roboto Mono"/>
              </a:rPr>
              <a:t>),</a:t>
            </a:r>
            <a:endParaRPr lang="en-US" sz="1400" b="0" i="0" u="none" strike="noStrike">
              <a:solidFill>
                <a:srgbClr val="F8F8F2"/>
              </a:solidFill>
              <a:latin typeface="Roboto Mono"/>
              <a:ea typeface="Roboto Mono"/>
              <a:cs typeface="Roboto Mono"/>
              <a:sym typeface="Roboto Mono"/>
            </a:endParaRPr>
          </a:p>
          <a:p>
            <a:pPr indent="0" algn="l">
              <a:lnSpc>
                <a:spcPct val="100000"/>
              </a:lnSpc>
            </a:pPr>
            <a:r>
              <a:rPr lang="en-US" sz="1400" b="0" i="0" u="none" strike="noStrike">
                <a:solidFill>
                  <a:srgbClr val="F8F8F2"/>
                </a:solidFill>
                <a:latin typeface="Roboto Mono"/>
                <a:ea typeface="Roboto Mono"/>
                <a:cs typeface="Roboto Mono"/>
                <a:sym typeface="Roboto Mono"/>
              </a:rPr>
              <a:t>(</a:t>
            </a:r>
            <a:r>
              <a:rPr lang="en-US" sz="1400" b="0" i="0" u="none" strike="noStrike">
                <a:solidFill>
                  <a:srgbClr val="F1FA8C"/>
                </a:solidFill>
                <a:latin typeface="Roboto Mono"/>
                <a:ea typeface="Roboto Mono"/>
                <a:cs typeface="Roboto Mono"/>
                <a:sym typeface="Roboto Mono"/>
              </a:rPr>
              <a:t>"##"</a:t>
            </a:r>
            <a:r>
              <a:rPr lang="en-US" sz="1400" b="0" i="0" u="none" strike="noStrike">
                <a:solidFill>
                  <a:srgbClr val="F8F8F2"/>
                </a:solidFill>
                <a:latin typeface="Roboto Mono"/>
                <a:ea typeface="Roboto Mono"/>
                <a:cs typeface="Roboto Mono"/>
                <a:sym typeface="Roboto Mono"/>
              </a:rPr>
              <a:t>,</a:t>
            </a:r>
            <a:r>
              <a:rPr lang="en-US" sz="1400" b="0" i="0" u="none" strike="noStrike">
                <a:solidFill>
                  <a:srgbClr val="F1FA8C"/>
                </a:solidFill>
                <a:latin typeface="Roboto Mono"/>
                <a:ea typeface="Roboto Mono"/>
                <a:cs typeface="Roboto Mono"/>
                <a:sym typeface="Roboto Mono"/>
              </a:rPr>
              <a:t>"Header 2"</a:t>
            </a:r>
            <a:r>
              <a:rPr lang="en-US" sz="1400" b="0" i="0" u="none" strike="noStrike">
                <a:solidFill>
                  <a:srgbClr val="F8F8F2"/>
                </a:solidFill>
                <a:latin typeface="Roboto Mono"/>
                <a:ea typeface="Roboto Mono"/>
                <a:cs typeface="Roboto Mono"/>
                <a:sym typeface="Roboto Mono"/>
              </a:rPr>
              <a:t>),</a:t>
            </a:r>
            <a:endParaRPr lang="en-US" sz="1400" b="0" i="0" u="none" strike="noStrike">
              <a:solidFill>
                <a:srgbClr val="F8F8F2"/>
              </a:solidFill>
              <a:latin typeface="Roboto Mono"/>
              <a:ea typeface="Roboto Mono"/>
              <a:cs typeface="Roboto Mono"/>
              <a:sym typeface="Roboto Mono"/>
            </a:endParaRPr>
          </a:p>
          <a:p>
            <a:pPr indent="0" algn="l">
              <a:lnSpc>
                <a:spcPct val="100000"/>
              </a:lnSpc>
            </a:pPr>
            <a:r>
              <a:rPr lang="en-US" sz="1400" b="0" i="0" u="none" strike="noStrike">
                <a:solidFill>
                  <a:srgbClr val="F8F8F2"/>
                </a:solidFill>
                <a:latin typeface="Roboto Mono"/>
                <a:ea typeface="Roboto Mono"/>
                <a:cs typeface="Roboto Mono"/>
                <a:sym typeface="Roboto Mono"/>
              </a:rPr>
              <a:t>(</a:t>
            </a:r>
            <a:r>
              <a:rPr lang="en-US" sz="1400" b="0" i="0" u="none" strike="noStrike">
                <a:solidFill>
                  <a:srgbClr val="F1FA8C"/>
                </a:solidFill>
                <a:latin typeface="Roboto Mono"/>
                <a:ea typeface="Roboto Mono"/>
                <a:cs typeface="Roboto Mono"/>
                <a:sym typeface="Roboto Mono"/>
              </a:rPr>
              <a:t>"###"</a:t>
            </a:r>
            <a:r>
              <a:rPr lang="en-US" sz="1400" b="0" i="0" u="none" strike="noStrike">
                <a:solidFill>
                  <a:srgbClr val="F8F8F2"/>
                </a:solidFill>
                <a:latin typeface="Roboto Mono"/>
                <a:ea typeface="Roboto Mono"/>
                <a:cs typeface="Roboto Mono"/>
                <a:sym typeface="Roboto Mono"/>
              </a:rPr>
              <a:t>,</a:t>
            </a:r>
            <a:r>
              <a:rPr lang="en-US" sz="1400" b="0" i="0" u="none" strike="noStrike">
                <a:solidFill>
                  <a:srgbClr val="F1FA8C"/>
                </a:solidFill>
                <a:latin typeface="Roboto Mono"/>
                <a:ea typeface="Roboto Mono"/>
                <a:cs typeface="Roboto Mono"/>
                <a:sym typeface="Roboto Mono"/>
              </a:rPr>
              <a:t>"Header 3"</a:t>
            </a:r>
            <a:r>
              <a:rPr lang="en-US" sz="1400" b="0" i="0" u="none" strike="noStrike">
                <a:solidFill>
                  <a:srgbClr val="F8F8F2"/>
                </a:solidFill>
                <a:latin typeface="Roboto Mono"/>
                <a:ea typeface="Roboto Mono"/>
                <a:cs typeface="Roboto Mono"/>
                <a:sym typeface="Roboto Mono"/>
              </a:rPr>
              <a:t>),</a:t>
            </a:r>
            <a:endParaRPr lang="en-US" sz="1400" b="0" i="0" u="none" strike="noStrike">
              <a:solidFill>
                <a:srgbClr val="F8F8F2"/>
              </a:solidFill>
              <a:latin typeface="Roboto Mono"/>
              <a:ea typeface="Roboto Mono"/>
              <a:cs typeface="Roboto Mono"/>
              <a:sym typeface="Roboto Mono"/>
            </a:endParaRPr>
          </a:p>
          <a:p>
            <a:pPr indent="0" algn="l">
              <a:lnSpc>
                <a:spcPct val="100000"/>
              </a:lnSpc>
            </a:pPr>
            <a:r>
              <a:rPr lang="en-US" sz="1400" b="0" i="0" u="none" strike="noStrike">
                <a:solidFill>
                  <a:srgbClr val="F8F8F2"/>
                </a:solidFill>
                <a:latin typeface="Roboto Mono"/>
                <a:ea typeface="Roboto Mono"/>
                <a:cs typeface="Roboto Mono"/>
                <a:sym typeface="Roboto Mono"/>
              </a:rPr>
              <a:t>]</a:t>
            </a:r>
            <a:endParaRPr lang="en-US" sz="1400" b="0" i="0" u="none" strike="noStrike">
              <a:solidFill>
                <a:srgbClr val="F8F8F2"/>
              </a:solidFill>
              <a:latin typeface="Roboto Mono"/>
              <a:ea typeface="Roboto Mono"/>
              <a:cs typeface="Roboto Mono"/>
              <a:sym typeface="Roboto Mono"/>
            </a:endParaRPr>
          </a:p>
          <a:p>
            <a:pPr indent="0" algn="l">
              <a:lnSpc>
                <a:spcPct val="100000"/>
              </a:lnSpc>
            </a:pPr>
            <a:r>
              <a:rPr lang="en-US" sz="1400" b="0" i="0" u="none" strike="noStrike">
                <a:solidFill>
                  <a:srgbClr val="6272A4"/>
                </a:solidFill>
                <a:latin typeface="Roboto Mono"/>
                <a:ea typeface="Roboto Mono"/>
                <a:cs typeface="Roboto Mono"/>
                <a:sym typeface="Roboto Mono"/>
              </a:rPr>
              <a:t># 创建分割器并执行分割</a:t>
            </a:r>
            <a:endParaRPr lang="en-US" sz="1400" b="0" i="0" u="none" strike="noStrike">
              <a:solidFill>
                <a:srgbClr val="6272A4"/>
              </a:solidFill>
              <a:latin typeface="Roboto Mono"/>
              <a:ea typeface="Roboto Mono"/>
              <a:cs typeface="Roboto Mono"/>
              <a:sym typeface="Roboto Mono"/>
            </a:endParaRPr>
          </a:p>
          <a:p>
            <a:pPr indent="0" algn="l">
              <a:lnSpc>
                <a:spcPct val="100000"/>
              </a:lnSpc>
            </a:pPr>
            <a:r>
              <a:rPr lang="en-US" sz="1400" b="0" i="0" u="none" strike="noStrike">
                <a:solidFill>
                  <a:srgbClr val="F8F8F2"/>
                </a:solidFill>
                <a:latin typeface="Roboto Mono"/>
                <a:ea typeface="Roboto Mono"/>
                <a:cs typeface="Roboto Mono"/>
                <a:sym typeface="Roboto Mono"/>
              </a:rPr>
              <a:t>splitter = MarkdownHeaderTextSplitter(headers_to_split_on=headers_to_split_on)</a:t>
            </a:r>
            <a:endParaRPr lang="en-US" sz="1400" b="0" i="0" u="none" strike="noStrike">
              <a:solidFill>
                <a:srgbClr val="F8F8F2"/>
              </a:solidFill>
              <a:latin typeface="Roboto Mono"/>
              <a:ea typeface="Roboto Mono"/>
              <a:cs typeface="Roboto Mono"/>
              <a:sym typeface="Roboto Mono"/>
            </a:endParaRPr>
          </a:p>
          <a:p>
            <a:pPr indent="0" algn="l">
              <a:lnSpc>
                <a:spcPct val="100000"/>
              </a:lnSpc>
            </a:pPr>
            <a:r>
              <a:rPr lang="en-US" sz="1400" b="0" i="0" u="none" strike="noStrike">
                <a:solidFill>
                  <a:srgbClr val="F8F8F2"/>
                </a:solidFill>
                <a:latin typeface="Roboto Mono"/>
                <a:ea typeface="Roboto Mono"/>
                <a:cs typeface="Roboto Mono"/>
                <a:sym typeface="Roboto Mono"/>
              </a:rPr>
              <a:t>md_header_splits = splitter.split_text(markdown_document)</a:t>
            </a:r>
            <a:endParaRPr lang="en-US" sz="1400" b="0" i="0" u="none" strike="noStrike">
              <a:solidFill>
                <a:srgbClr val="F8F8F2"/>
              </a:solidFill>
              <a:latin typeface="Roboto Mono"/>
              <a:ea typeface="Roboto Mono"/>
              <a:cs typeface="Roboto Mono"/>
              <a:sym typeface="Roboto Mono"/>
            </a:endParaRPr>
          </a:p>
        </p:txBody>
      </p:sp>
      <p:sp>
        <p:nvSpPr>
          <p:cNvPr id="5" name="AutoShape 5"/>
          <p:cNvSpPr/>
          <p:nvPr/>
        </p:nvSpPr>
        <p:spPr>
          <a:xfrm>
            <a:off x="7874000" y="1397000"/>
            <a:ext cx="3556000" cy="1143000"/>
          </a:xfrm>
          <a:prstGeom prst="roundRect">
            <a:avLst>
              <a:gd name="adj" fmla="val 11111"/>
            </a:avLst>
          </a:prstGeom>
          <a:solidFill>
            <a:srgbClr val="FFFFFF">
              <a:alpha val="100000"/>
            </a:srgbClr>
          </a:solidFill>
          <a:ln w="25400" cap="flat" cmpd="sng">
            <a:noFill/>
            <a:prstDash val="solid"/>
            <a:round/>
          </a:ln>
          <a:effectLst>
            <a:outerShdw blurRad="635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64500" y="1651000"/>
            <a:ext cx="406400" cy="406400"/>
          </a:xfrm>
          <a:prstGeom prst="rect">
            <a:avLst/>
          </a:prstGeom>
        </p:spPr>
      </p:pic>
      <p:sp>
        <p:nvSpPr>
          <p:cNvPr id="7" name="AutoShape 7"/>
          <p:cNvSpPr/>
          <p:nvPr/>
        </p:nvSpPr>
        <p:spPr>
          <a:xfrm>
            <a:off x="8572500" y="1587500"/>
            <a:ext cx="266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导入与读取</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导入分割器，读取本地 Markdown 文件内容。</a:t>
            </a:r>
            <a:endParaRPr lang="en-US" sz="1400" b="0" i="0" u="none" strike="noStrike">
              <a:solidFill>
                <a:srgbClr val="757575"/>
              </a:solidFill>
              <a:latin typeface="Noto Sans SC"/>
              <a:ea typeface="Noto Sans SC"/>
              <a:cs typeface="Noto Sans SC"/>
              <a:sym typeface="Noto Sans SC"/>
            </a:endParaRPr>
          </a:p>
        </p:txBody>
      </p:sp>
      <p:sp>
        <p:nvSpPr>
          <p:cNvPr id="8" name="AutoShape 8"/>
          <p:cNvSpPr/>
          <p:nvPr/>
        </p:nvSpPr>
        <p:spPr>
          <a:xfrm>
            <a:off x="7874000" y="2730500"/>
            <a:ext cx="3556000" cy="1143000"/>
          </a:xfrm>
          <a:prstGeom prst="roundRect">
            <a:avLst>
              <a:gd name="adj" fmla="val 11111"/>
            </a:avLst>
          </a:prstGeom>
          <a:solidFill>
            <a:srgbClr val="FFFFFF">
              <a:alpha val="100000"/>
            </a:srgbClr>
          </a:solidFill>
          <a:ln w="25400" cap="flat" cmpd="sng">
            <a:noFill/>
            <a:prstDash val="solid"/>
            <a:round/>
          </a:ln>
          <a:effectLst>
            <a:outerShdw blurRad="635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64500" y="2984500"/>
            <a:ext cx="406400" cy="406400"/>
          </a:xfrm>
          <a:prstGeom prst="rect">
            <a:avLst/>
          </a:prstGeom>
        </p:spPr>
      </p:pic>
      <p:sp>
        <p:nvSpPr>
          <p:cNvPr id="10" name="AutoShape 10"/>
          <p:cNvSpPr/>
          <p:nvPr/>
        </p:nvSpPr>
        <p:spPr>
          <a:xfrm>
            <a:off x="8572500" y="2921000"/>
            <a:ext cx="266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定义分割规则</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指定标题级别（#、##、###）作为分割依据。</a:t>
            </a:r>
            <a:endParaRPr lang="en-US" sz="1400" b="0" i="0" u="none" strike="noStrike">
              <a:solidFill>
                <a:srgbClr val="757575"/>
              </a:solidFill>
              <a:latin typeface="Noto Sans SC"/>
              <a:ea typeface="Noto Sans SC"/>
              <a:cs typeface="Noto Sans SC"/>
              <a:sym typeface="Noto Sans SC"/>
            </a:endParaRPr>
          </a:p>
        </p:txBody>
      </p:sp>
      <p:sp>
        <p:nvSpPr>
          <p:cNvPr id="11" name="AutoShape 11"/>
          <p:cNvSpPr/>
          <p:nvPr/>
        </p:nvSpPr>
        <p:spPr>
          <a:xfrm>
            <a:off x="7874000" y="4064000"/>
            <a:ext cx="3556000" cy="1143000"/>
          </a:xfrm>
          <a:prstGeom prst="roundRect">
            <a:avLst>
              <a:gd name="adj" fmla="val 11111"/>
            </a:avLst>
          </a:prstGeom>
          <a:solidFill>
            <a:srgbClr val="FFFFFF">
              <a:alpha val="100000"/>
            </a:srgbClr>
          </a:solidFill>
          <a:ln w="25400" cap="flat" cmpd="sng">
            <a:noFill/>
            <a:prstDash val="solid"/>
            <a:round/>
          </a:ln>
          <a:effectLst>
            <a:outerShdw blurRad="635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64500" y="4318000"/>
            <a:ext cx="406400" cy="406400"/>
          </a:xfrm>
          <a:prstGeom prst="rect">
            <a:avLst/>
          </a:prstGeom>
        </p:spPr>
      </p:pic>
      <p:sp>
        <p:nvSpPr>
          <p:cNvPr id="13" name="AutoShape 13"/>
          <p:cNvSpPr/>
          <p:nvPr/>
        </p:nvSpPr>
        <p:spPr>
          <a:xfrm>
            <a:off x="8572500" y="4254500"/>
            <a:ext cx="266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执行分割</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调用 split_text 方法，按标题层级自动拆分文档。</a:t>
            </a:r>
            <a:endParaRPr lang="en-US" sz="1400" b="0" i="0" u="none" strike="noStrike">
              <a:solidFill>
                <a:srgbClr val="757575"/>
              </a:solidFill>
              <a:latin typeface="Noto Sans SC"/>
              <a:ea typeface="Noto Sans SC"/>
              <a:cs typeface="Noto Sans SC"/>
              <a:sym typeface="Noto Sans SC"/>
            </a:endParaRPr>
          </a:p>
        </p:txBody>
      </p:sp>
      <p:sp>
        <p:nvSpPr>
          <p:cNvPr id="14" name="AutoShape 14"/>
          <p:cNvSpPr/>
          <p:nvPr/>
        </p:nvSpPr>
        <p:spPr>
          <a:xfrm>
            <a:off x="762000" y="5461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1016000" y="5461000"/>
            <a:ext cx="1016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关键优势：</a:t>
            </a:r>
            <a:r>
              <a:rPr lang="en-US" sz="1600" b="0" i="0" u="none" strike="noStrike">
                <a:solidFill>
                  <a:srgbClr val="757575"/>
                </a:solidFill>
                <a:latin typeface="Noto Sans SC"/>
                <a:ea typeface="Noto Sans SC"/>
                <a:cs typeface="Noto Sans SC"/>
                <a:sym typeface="Noto Sans SC"/>
              </a:rPr>
              <a:t>分割后的每个文档对象都会包含其所属的各级标题作为元数据，内容结构清晰，便于后续检索和分析。</a:t>
            </a:r>
            <a:endParaRPr lang="en-US" sz="11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5029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2.2.4 递归按字符分割</a:t>
            </a:r>
            <a:endParaRPr lang="en-US" sz="1100"/>
          </a:p>
        </p:txBody>
      </p:sp>
      <p:sp>
        <p:nvSpPr>
          <p:cNvPr id="3" name="AutoShape 3"/>
          <p:cNvSpPr/>
          <p:nvPr/>
        </p:nvSpPr>
        <p:spPr>
          <a:xfrm>
            <a:off x="762000" y="1651000"/>
            <a:ext cx="3302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968500" y="1905000"/>
            <a:ext cx="889000" cy="889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59000" y="2095500"/>
            <a:ext cx="508000" cy="508000"/>
          </a:xfrm>
          <a:prstGeom prst="rect">
            <a:avLst/>
          </a:prstGeom>
        </p:spPr>
      </p:pic>
      <p:sp>
        <p:nvSpPr>
          <p:cNvPr id="6" name="AutoShape 6"/>
          <p:cNvSpPr/>
          <p:nvPr/>
        </p:nvSpPr>
        <p:spPr>
          <a:xfrm>
            <a:off x="889000" y="2921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0277BD"/>
                </a:solidFill>
                <a:latin typeface="Noto Sans SC"/>
                <a:ea typeface="Noto Sans SC"/>
                <a:cs typeface="Noto Sans SC"/>
                <a:sym typeface="Noto Sans SC"/>
              </a:rPr>
              <a:t>核心功能</a:t>
            </a:r>
            <a:endParaRPr lang="en-US" sz="1100"/>
          </a:p>
        </p:txBody>
      </p:sp>
      <p:sp>
        <p:nvSpPr>
          <p:cNvPr id="7" name="AutoShape 7"/>
          <p:cNvSpPr/>
          <p:nvPr/>
        </p:nvSpPr>
        <p:spPr>
          <a:xfrm>
            <a:off x="952500" y="3429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2000" b="0" i="0" u="none" strike="noStrike">
                <a:solidFill>
                  <a:srgbClr val="757575"/>
                </a:solidFill>
                <a:latin typeface="Noto Sans SC"/>
                <a:ea typeface="Noto Sans SC"/>
                <a:cs typeface="Noto Sans SC"/>
                <a:sym typeface="Noto Sans SC"/>
              </a:rPr>
              <a:t>RecursiveCharacterTextSplitter 是推荐的通用文本分割器，适用于大多数场景。</a:t>
            </a:r>
            <a:endParaRPr lang="en-US" sz="1100"/>
          </a:p>
        </p:txBody>
      </p:sp>
      <p:sp>
        <p:nvSpPr>
          <p:cNvPr id="8" name="AutoShape 8"/>
          <p:cNvSpPr/>
          <p:nvPr/>
        </p:nvSpPr>
        <p:spPr>
          <a:xfrm>
            <a:off x="4445000" y="1651000"/>
            <a:ext cx="3302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5651500" y="1905000"/>
            <a:ext cx="889000" cy="889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42000" y="2095500"/>
            <a:ext cx="508000" cy="508000"/>
          </a:xfrm>
          <a:prstGeom prst="rect">
            <a:avLst/>
          </a:prstGeom>
        </p:spPr>
      </p:pic>
      <p:sp>
        <p:nvSpPr>
          <p:cNvPr id="11" name="AutoShape 11"/>
          <p:cNvSpPr/>
          <p:nvPr/>
        </p:nvSpPr>
        <p:spPr>
          <a:xfrm>
            <a:off x="4572000" y="2921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0277BD"/>
                </a:solidFill>
                <a:latin typeface="Noto Sans SC"/>
                <a:ea typeface="Noto Sans SC"/>
                <a:cs typeface="Noto Sans SC"/>
                <a:sym typeface="Noto Sans SC"/>
              </a:rPr>
              <a:t>工作原理</a:t>
            </a:r>
            <a:endParaRPr lang="en-US" sz="1100"/>
          </a:p>
        </p:txBody>
      </p:sp>
      <p:sp>
        <p:nvSpPr>
          <p:cNvPr id="12" name="AutoShape 12"/>
          <p:cNvSpPr/>
          <p:nvPr/>
        </p:nvSpPr>
        <p:spPr>
          <a:xfrm>
            <a:off x="4635500" y="3429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2000" b="0" i="0" u="none" strike="noStrike">
                <a:solidFill>
                  <a:srgbClr val="757575"/>
                </a:solidFill>
                <a:latin typeface="Noto Sans SC"/>
                <a:ea typeface="Noto Sans SC"/>
                <a:cs typeface="Noto Sans SC"/>
                <a:sym typeface="Noto Sans SC"/>
              </a:rPr>
              <a:t>按优先级尝试不同分隔符（\n\n, \n, 空格），直到分割出的文本块大小符合要求。</a:t>
            </a:r>
            <a:endParaRPr lang="en-US" sz="1100"/>
          </a:p>
        </p:txBody>
      </p:sp>
      <p:sp>
        <p:nvSpPr>
          <p:cNvPr id="13" name="AutoShape 13"/>
          <p:cNvSpPr/>
          <p:nvPr/>
        </p:nvSpPr>
        <p:spPr>
          <a:xfrm>
            <a:off x="8128000" y="1651000"/>
            <a:ext cx="3302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14" name="AutoShape 14"/>
          <p:cNvSpPr/>
          <p:nvPr/>
        </p:nvSpPr>
        <p:spPr>
          <a:xfrm>
            <a:off x="9334500" y="1905000"/>
            <a:ext cx="889000" cy="889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0" y="2095500"/>
            <a:ext cx="508000" cy="508000"/>
          </a:xfrm>
          <a:prstGeom prst="rect">
            <a:avLst/>
          </a:prstGeom>
        </p:spPr>
      </p:pic>
      <p:sp>
        <p:nvSpPr>
          <p:cNvPr id="16" name="AutoShape 16"/>
          <p:cNvSpPr/>
          <p:nvPr/>
        </p:nvSpPr>
        <p:spPr>
          <a:xfrm>
            <a:off x="8255000" y="2921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0277BD"/>
                </a:solidFill>
                <a:latin typeface="Noto Sans SC"/>
                <a:ea typeface="Noto Sans SC"/>
                <a:cs typeface="Noto Sans SC"/>
                <a:sym typeface="Noto Sans SC"/>
              </a:rPr>
              <a:t>主要优势</a:t>
            </a:r>
            <a:endParaRPr lang="en-US" sz="1100"/>
          </a:p>
        </p:txBody>
      </p:sp>
      <p:sp>
        <p:nvSpPr>
          <p:cNvPr id="17" name="AutoShape 17"/>
          <p:cNvSpPr/>
          <p:nvPr/>
        </p:nvSpPr>
        <p:spPr>
          <a:xfrm>
            <a:off x="8318500" y="3429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2000" b="0" i="0" u="none" strike="noStrike">
                <a:solidFill>
                  <a:srgbClr val="757575"/>
                </a:solidFill>
                <a:latin typeface="Noto Sans SC"/>
                <a:ea typeface="Noto Sans SC"/>
                <a:cs typeface="Noto Sans SC"/>
                <a:sym typeface="Noto Sans SC"/>
              </a:rPr>
              <a:t>尽量保持段落、句子、单词的完整性，生成的文本块具有更好的语义连续性。</a:t>
            </a:r>
            <a:endParaRPr lang="en-US" sz="1100"/>
          </a:p>
        </p:txBody>
      </p:sp>
      <p:sp>
        <p:nvSpPr>
          <p:cNvPr id="18" name="AutoShape 18"/>
          <p:cNvSpPr/>
          <p:nvPr/>
        </p:nvSpPr>
        <p:spPr>
          <a:xfrm>
            <a:off x="762000" y="5334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1016000" y="5461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总结：智能递归分割，平衡块大小与语义完整性，是通用场景的最佳选择。</a:t>
            </a:r>
            <a:endParaRPr lang="en-US" sz="11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2006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代码示例</a:t>
            </a:r>
            <a:endParaRPr lang="en-US" sz="1100"/>
          </a:p>
        </p:txBody>
      </p:sp>
      <p:sp>
        <p:nvSpPr>
          <p:cNvPr id="3" name="AutoShape 3"/>
          <p:cNvSpPr/>
          <p:nvPr/>
        </p:nvSpPr>
        <p:spPr>
          <a:xfrm>
            <a:off x="762000" y="1270000"/>
            <a:ext cx="762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3556000" cy="3556000"/>
          </a:xfrm>
          <a:prstGeom prst="roundRect">
            <a:avLst>
              <a:gd name="adj" fmla="val 3571"/>
            </a:avLst>
          </a:prstGeom>
          <a:solidFill>
            <a:srgbClr val="FFFFFF">
              <a:alpha val="80000"/>
            </a:srgbClr>
          </a:solidFill>
          <a:ln cap="flat" cmpd="sng">
            <a:solidFill>
              <a:srgbClr val="E6CFCF">
                <a:alpha val="80000"/>
              </a:srgbClr>
            </a:solid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1016000" y="19050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核心功能解析</a:t>
            </a:r>
            <a:endParaRPr lang="en-US" sz="1100"/>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413000"/>
            <a:ext cx="304800" cy="304800"/>
          </a:xfrm>
          <a:prstGeom prst="rect">
            <a:avLst/>
          </a:prstGeom>
        </p:spPr>
      </p:pic>
      <p:sp>
        <p:nvSpPr>
          <p:cNvPr id="7" name="AutoShape 7"/>
          <p:cNvSpPr/>
          <p:nvPr/>
        </p:nvSpPr>
        <p:spPr>
          <a:xfrm>
            <a:off x="1397000" y="2387600"/>
            <a:ext cx="266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自定义分隔符优先级</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按照列表顺序尝试分割，灵活适应不同文本结构。</a:t>
            </a:r>
            <a:endParaRPr lang="en-US" sz="1400" b="0" i="0" u="none" strike="noStrike">
              <a:solidFill>
                <a:srgbClr val="757575"/>
              </a:solidFill>
              <a:latin typeface="Noto Sans SC"/>
              <a:ea typeface="Noto Sans SC"/>
              <a:cs typeface="Noto Sans SC"/>
              <a:sym typeface="Noto Sans SC"/>
            </a:endParaR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302000"/>
            <a:ext cx="304800" cy="304800"/>
          </a:xfrm>
          <a:prstGeom prst="rect">
            <a:avLst/>
          </a:prstGeom>
        </p:spPr>
      </p:pic>
      <p:sp>
        <p:nvSpPr>
          <p:cNvPr id="9" name="AutoShape 9"/>
          <p:cNvSpPr/>
          <p:nvPr/>
        </p:nvSpPr>
        <p:spPr>
          <a:xfrm>
            <a:off x="1397000" y="3276600"/>
            <a:ext cx="266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递归分割机制</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若大分隔符分割后块过大，则自动尝试更小的分隔符。</a:t>
            </a:r>
            <a:endParaRPr lang="en-US" sz="1400" b="0" i="0" u="none" strike="noStrike">
              <a:solidFill>
                <a:srgbClr val="757575"/>
              </a:solidFill>
              <a:latin typeface="Noto Sans SC"/>
              <a:ea typeface="Noto Sans SC"/>
              <a:cs typeface="Noto Sans SC"/>
              <a:sym typeface="Noto Sans SC"/>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191000"/>
            <a:ext cx="304800" cy="304800"/>
          </a:xfrm>
          <a:prstGeom prst="rect">
            <a:avLst/>
          </a:prstGeom>
        </p:spPr>
      </p:pic>
      <p:sp>
        <p:nvSpPr>
          <p:cNvPr id="11" name="AutoShape 11"/>
          <p:cNvSpPr/>
          <p:nvPr/>
        </p:nvSpPr>
        <p:spPr>
          <a:xfrm>
            <a:off x="1397000" y="4165600"/>
            <a:ext cx="266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精细参数控制</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通过 chunk_size 和 chunk_overlap 精准控制块大小与重叠度。</a:t>
            </a:r>
            <a:endParaRPr lang="en-US" sz="1400" b="0" i="0" u="none" strike="noStrike">
              <a:solidFill>
                <a:srgbClr val="757575"/>
              </a:solidFill>
              <a:latin typeface="Noto Sans SC"/>
              <a:ea typeface="Noto Sans SC"/>
              <a:cs typeface="Noto Sans SC"/>
              <a:sym typeface="Noto Sans SC"/>
            </a:endParaRPr>
          </a:p>
        </p:txBody>
      </p:sp>
      <p:sp>
        <p:nvSpPr>
          <p:cNvPr id="12" name="AutoShape 12"/>
          <p:cNvSpPr/>
          <p:nvPr/>
        </p:nvSpPr>
        <p:spPr>
          <a:xfrm>
            <a:off x="4572000" y="1651000"/>
            <a:ext cx="6858000" cy="3556000"/>
          </a:xfrm>
          <a:prstGeom prst="roundRect">
            <a:avLst>
              <a:gd name="adj" fmla="val 3571"/>
            </a:avLst>
          </a:prstGeom>
          <a:solidFill>
            <a:srgbClr val="1E1E1E">
              <a:alpha val="100000"/>
            </a:srgbClr>
          </a:solidFill>
          <a:ln w="25400" cap="flat" cmpd="sng">
            <a:noFill/>
            <a:prstDash val="solid"/>
            <a:round/>
          </a:ln>
          <a:effectLst>
            <a:outerShdw blurRad="152400" dist="76200" dir="5400000" algn="tl" rotWithShape="0">
              <a:srgbClr val="000000">
                <a:alpha val="20000"/>
              </a:srgbClr>
            </a:outerShdw>
          </a:effectLst>
        </p:spPr>
        <p:txBody>
          <a:bodyPr vert="horz" wrap="square" lIns="63500" tIns="63500" rIns="63500" bIns="63500" rtlCol="0" anchor="ctr"/>
          <a:lstStyle/>
          <a:p>
            <a:pPr algn="ctr">
              <a:defRPr/>
            </a:pPr>
          </a:p>
        </p:txBody>
      </p:sp>
      <p:sp>
        <p:nvSpPr>
          <p:cNvPr id="13" name="AutoShape 13"/>
          <p:cNvSpPr/>
          <p:nvPr/>
        </p:nvSpPr>
        <p:spPr>
          <a:xfrm>
            <a:off x="4572000" y="1651000"/>
            <a:ext cx="6858000" cy="406400"/>
          </a:xfrm>
          <a:prstGeom prst="roundRect">
            <a:avLst>
              <a:gd name="adj" fmla="val 0"/>
            </a:avLst>
          </a:prstGeom>
          <a:solidFill>
            <a:srgbClr val="2D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762500" y="1778000"/>
            <a:ext cx="127000" cy="1270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978400" y="1778000"/>
            <a:ext cx="127000" cy="1270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5194300" y="1778000"/>
            <a:ext cx="127000" cy="1270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5461000" y="17018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69696"/>
                </a:solidFill>
                <a:latin typeface="Roboto"/>
                <a:ea typeface="Roboto"/>
                <a:cs typeface="Roboto"/>
                <a:sym typeface="Roboto"/>
              </a:rPr>
              <a:t>split_text.py</a:t>
            </a:r>
            <a:endParaRPr lang="en-US" sz="1100"/>
          </a:p>
        </p:txBody>
      </p:sp>
      <p:sp>
        <p:nvSpPr>
          <p:cNvPr id="18" name="AutoShape 18"/>
          <p:cNvSpPr/>
          <p:nvPr/>
        </p:nvSpPr>
        <p:spPr>
          <a:xfrm>
            <a:off x="4762500" y="2159000"/>
            <a:ext cx="6477000" cy="292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C678DD"/>
                </a:solidFill>
                <a:latin typeface="Roboto"/>
                <a:ea typeface="Roboto"/>
                <a:cs typeface="Roboto"/>
                <a:sym typeface="Roboto"/>
              </a:rPr>
              <a:t>from</a:t>
            </a:r>
            <a:r>
              <a:rPr lang="en-US" sz="1300" b="0" i="0" u="none" strike="noStrike">
                <a:solidFill>
                  <a:srgbClr val="DCDFE4"/>
                </a:solidFill>
                <a:latin typeface="Roboto"/>
                <a:ea typeface="Roboto"/>
                <a:cs typeface="Roboto"/>
                <a:sym typeface="Roboto"/>
              </a:rPr>
              <a:t>langchain.text_splitter</a:t>
            </a:r>
            <a:r>
              <a:rPr lang="en-US" sz="1300" b="0" i="0" u="none" strike="noStrike">
                <a:solidFill>
                  <a:srgbClr val="C678DD"/>
                </a:solidFill>
                <a:latin typeface="Roboto"/>
                <a:ea typeface="Roboto"/>
                <a:cs typeface="Roboto"/>
                <a:sym typeface="Roboto"/>
              </a:rPr>
              <a:t>import</a:t>
            </a:r>
            <a:r>
              <a:rPr lang="en-US" sz="1300" b="0" i="0" u="none" strike="noStrike">
                <a:solidFill>
                  <a:srgbClr val="61AFEF"/>
                </a:solidFill>
                <a:latin typeface="Roboto"/>
                <a:ea typeface="Roboto"/>
                <a:cs typeface="Roboto"/>
                <a:sym typeface="Roboto"/>
              </a:rPr>
              <a:t>RecursiveCharacterTextSplitter</a:t>
            </a:r>
            <a:endParaRPr lang="en-US" sz="1100"/>
          </a:p>
          <a:p>
            <a:pPr indent="0" algn="l">
              <a:lnSpc>
                <a:spcPct val="100000"/>
              </a:lnSpc>
            </a:pPr>
            <a:r>
              <a:rPr lang="en-US" sz="1300" b="0" i="0" u="none" strike="noStrike">
                <a:solidFill>
                  <a:srgbClr val="5C6370"/>
                </a:solidFill>
                <a:latin typeface="Roboto"/>
                <a:ea typeface="Roboto"/>
                <a:cs typeface="Roboto"/>
                <a:sym typeface="Roboto"/>
              </a:rPr>
              <a:t># 读取文本文件</a:t>
            </a:r>
            <a:endParaRPr lang="en-US" sz="1300" b="0" i="0" u="none" strike="noStrike">
              <a:solidFill>
                <a:srgbClr val="5C6370"/>
              </a:solidFill>
              <a:latin typeface="Roboto"/>
              <a:ea typeface="Roboto"/>
              <a:cs typeface="Roboto"/>
              <a:sym typeface="Roboto"/>
            </a:endParaRPr>
          </a:p>
          <a:p>
            <a:pPr indent="0" algn="l">
              <a:lnSpc>
                <a:spcPct val="100000"/>
              </a:lnSpc>
            </a:pPr>
            <a:r>
              <a:rPr lang="en-US" sz="1300" b="0" i="0" u="none" strike="noStrike">
                <a:solidFill>
                  <a:srgbClr val="DCDFE4"/>
                </a:solidFill>
                <a:latin typeface="Roboto"/>
                <a:ea typeface="Roboto"/>
                <a:cs typeface="Roboto"/>
                <a:sym typeface="Roboto"/>
              </a:rPr>
              <a:t>file_path =</a:t>
            </a:r>
            <a:r>
              <a:rPr lang="en-US" sz="1300" b="0" i="0" u="none" strike="noStrike">
                <a:solidFill>
                  <a:srgbClr val="98C379"/>
                </a:solidFill>
                <a:latin typeface="Roboto"/>
                <a:ea typeface="Roboto"/>
                <a:cs typeface="Roboto"/>
                <a:sym typeface="Roboto"/>
              </a:rPr>
              <a:t>'../example_data/三国演义.txt'</a:t>
            </a:r>
            <a:endParaRPr lang="en-US" sz="1300" b="0" i="0" u="none" strike="noStrike">
              <a:solidFill>
                <a:srgbClr val="98C379"/>
              </a:solidFill>
              <a:latin typeface="Roboto"/>
              <a:ea typeface="Roboto"/>
              <a:cs typeface="Roboto"/>
              <a:sym typeface="Roboto"/>
            </a:endParaRPr>
          </a:p>
          <a:p>
            <a:pPr indent="0" algn="l">
              <a:lnSpc>
                <a:spcPct val="100000"/>
              </a:lnSpc>
            </a:pPr>
            <a:r>
              <a:rPr lang="en-US" sz="1300" b="0" i="0" u="none" strike="noStrike">
                <a:solidFill>
                  <a:srgbClr val="C678DD"/>
                </a:solidFill>
                <a:latin typeface="Roboto"/>
                <a:ea typeface="Roboto"/>
                <a:cs typeface="Roboto"/>
                <a:sym typeface="Roboto"/>
              </a:rPr>
              <a:t>with</a:t>
            </a:r>
            <a:r>
              <a:rPr lang="en-US" sz="1300" b="0" i="0" u="none" strike="noStrike">
                <a:solidFill>
                  <a:srgbClr val="DCDFE4"/>
                </a:solidFill>
                <a:latin typeface="Roboto"/>
                <a:ea typeface="Roboto"/>
                <a:cs typeface="Roboto"/>
                <a:sym typeface="Roboto"/>
              </a:rPr>
              <a:t>open(file_path, encoding=</a:t>
            </a:r>
            <a:r>
              <a:rPr lang="en-US" sz="1300" b="0" i="0" u="none" strike="noStrike">
                <a:solidFill>
                  <a:srgbClr val="98C379"/>
                </a:solidFill>
                <a:latin typeface="Roboto"/>
                <a:ea typeface="Roboto"/>
                <a:cs typeface="Roboto"/>
                <a:sym typeface="Roboto"/>
              </a:rPr>
              <a:t>'utf-8'</a:t>
            </a:r>
            <a:r>
              <a:rPr lang="en-US" sz="1300" b="0" i="0" u="none" strike="noStrike">
                <a:solidFill>
                  <a:srgbClr val="DCDFE4"/>
                </a:solidFill>
                <a:latin typeface="Roboto"/>
                <a:ea typeface="Roboto"/>
                <a:cs typeface="Roboto"/>
                <a:sym typeface="Roboto"/>
              </a:rPr>
              <a:t>)</a:t>
            </a:r>
            <a:r>
              <a:rPr lang="en-US" sz="1300" b="0" i="0" u="none" strike="noStrike">
                <a:solidFill>
                  <a:srgbClr val="C678DD"/>
                </a:solidFill>
                <a:latin typeface="Roboto"/>
                <a:ea typeface="Roboto"/>
                <a:cs typeface="Roboto"/>
                <a:sym typeface="Roboto"/>
              </a:rPr>
              <a:t>as</a:t>
            </a:r>
            <a:r>
              <a:rPr lang="en-US" sz="1300" b="0" i="0" u="none" strike="noStrike">
                <a:solidFill>
                  <a:srgbClr val="DCDFE4"/>
                </a:solidFill>
                <a:latin typeface="Roboto"/>
                <a:ea typeface="Roboto"/>
                <a:cs typeface="Roboto"/>
                <a:sym typeface="Roboto"/>
              </a:rPr>
              <a:t>f:</a:t>
            </a:r>
            <a:endParaRPr lang="en-US" sz="1300" b="0" i="0" u="none" strike="noStrike">
              <a:solidFill>
                <a:srgbClr val="DCDFE4"/>
              </a:solidFill>
              <a:latin typeface="Roboto"/>
              <a:ea typeface="Roboto"/>
              <a:cs typeface="Roboto"/>
              <a:sym typeface="Roboto"/>
            </a:endParaRPr>
          </a:p>
          <a:p>
            <a:pPr indent="0" algn="l">
              <a:lnSpc>
                <a:spcPct val="100000"/>
              </a:lnSpc>
            </a:pPr>
            <a:r>
              <a:rPr lang="en-US" sz="1300" b="0" i="0" u="none" strike="noStrike">
                <a:solidFill>
                  <a:srgbClr val="DCDFE4"/>
                </a:solidFill>
                <a:latin typeface="Roboto"/>
                <a:ea typeface="Roboto"/>
                <a:cs typeface="Roboto"/>
                <a:sym typeface="Roboto"/>
              </a:rPr>
              <a:t>text = f.read()</a:t>
            </a:r>
            <a:endParaRPr lang="en-US" sz="1300" b="0" i="0" u="none" strike="noStrike">
              <a:solidFill>
                <a:srgbClr val="DCDFE4"/>
              </a:solidFill>
              <a:latin typeface="Roboto"/>
              <a:ea typeface="Roboto"/>
              <a:cs typeface="Roboto"/>
              <a:sym typeface="Roboto"/>
            </a:endParaRPr>
          </a:p>
          <a:p>
            <a:pPr indent="0" algn="l">
              <a:lnSpc>
                <a:spcPct val="100000"/>
              </a:lnSpc>
            </a:pPr>
            <a:r>
              <a:rPr lang="en-US" sz="1300" b="0" i="0" u="none" strike="noStrike">
                <a:solidFill>
                  <a:srgbClr val="5C6370"/>
                </a:solidFill>
                <a:latin typeface="Roboto"/>
                <a:ea typeface="Roboto"/>
                <a:cs typeface="Roboto"/>
                <a:sym typeface="Roboto"/>
              </a:rPr>
              <a:t># 定义自定义的分隔符列表</a:t>
            </a:r>
            <a:endParaRPr lang="en-US" sz="1300" b="0" i="0" u="none" strike="noStrike">
              <a:solidFill>
                <a:srgbClr val="5C6370"/>
              </a:solidFill>
              <a:latin typeface="Roboto"/>
              <a:ea typeface="Roboto"/>
              <a:cs typeface="Roboto"/>
              <a:sym typeface="Roboto"/>
            </a:endParaRPr>
          </a:p>
          <a:p>
            <a:pPr indent="0" algn="l">
              <a:lnSpc>
                <a:spcPct val="100000"/>
              </a:lnSpc>
            </a:pPr>
            <a:r>
              <a:rPr lang="en-US" sz="1300" b="0" i="0" u="none" strike="noStrike">
                <a:solidFill>
                  <a:srgbClr val="DCDFE4"/>
                </a:solidFill>
                <a:latin typeface="Roboto"/>
                <a:ea typeface="Roboto"/>
                <a:cs typeface="Roboto"/>
                <a:sym typeface="Roboto"/>
              </a:rPr>
              <a:t>separators = [</a:t>
            </a:r>
            <a:r>
              <a:rPr lang="en-US" sz="1300" b="0" i="0" u="none" strike="noStrike">
                <a:solidFill>
                  <a:srgbClr val="98C379"/>
                </a:solidFill>
                <a:latin typeface="Roboto"/>
                <a:ea typeface="Roboto"/>
                <a:cs typeface="Roboto"/>
                <a:sym typeface="Roboto"/>
              </a:rPr>
              <a:t>"------------\n\n"</a:t>
            </a:r>
            <a:r>
              <a:rPr lang="en-US" sz="1300" b="0" i="0" u="none" strike="noStrike">
                <a:solidFill>
                  <a:srgbClr val="DCDFE4"/>
                </a:solidFill>
                <a:latin typeface="Roboto"/>
                <a:ea typeface="Roboto"/>
                <a:cs typeface="Roboto"/>
                <a:sym typeface="Roboto"/>
              </a:rPr>
              <a:t>,</a:t>
            </a:r>
            <a:r>
              <a:rPr lang="en-US" sz="1300" b="0" i="0" u="none" strike="noStrike">
                <a:solidFill>
                  <a:srgbClr val="98C379"/>
                </a:solidFill>
                <a:latin typeface="Roboto"/>
                <a:ea typeface="Roboto"/>
                <a:cs typeface="Roboto"/>
                <a:sym typeface="Roboto"/>
              </a:rPr>
              <a:t>"\n\n"</a:t>
            </a:r>
            <a:r>
              <a:rPr lang="en-US" sz="1300" b="0" i="0" u="none" strike="noStrike">
                <a:solidFill>
                  <a:srgbClr val="DCDFE4"/>
                </a:solidFill>
                <a:latin typeface="Roboto"/>
                <a:ea typeface="Roboto"/>
                <a:cs typeface="Roboto"/>
                <a:sym typeface="Roboto"/>
              </a:rPr>
              <a:t>,</a:t>
            </a:r>
            <a:r>
              <a:rPr lang="en-US" sz="1300" b="0" i="0" u="none" strike="noStrike">
                <a:solidFill>
                  <a:srgbClr val="98C379"/>
                </a:solidFill>
                <a:latin typeface="Roboto"/>
                <a:ea typeface="Roboto"/>
                <a:cs typeface="Roboto"/>
                <a:sym typeface="Roboto"/>
              </a:rPr>
              <a:t>"\n"</a:t>
            </a:r>
            <a:r>
              <a:rPr lang="en-US" sz="1300" b="0" i="0" u="none" strike="noStrike">
                <a:solidFill>
                  <a:srgbClr val="DCDFE4"/>
                </a:solidFill>
                <a:latin typeface="Roboto"/>
                <a:ea typeface="Roboto"/>
                <a:cs typeface="Roboto"/>
                <a:sym typeface="Roboto"/>
              </a:rPr>
              <a:t>,</a:t>
            </a:r>
            <a:r>
              <a:rPr lang="en-US" sz="1300" b="0" i="0" u="none" strike="noStrike">
                <a:solidFill>
                  <a:srgbClr val="98C379"/>
                </a:solidFill>
                <a:latin typeface="Roboto"/>
                <a:ea typeface="Roboto"/>
                <a:cs typeface="Roboto"/>
                <a:sym typeface="Roboto"/>
              </a:rPr>
              <a:t>" "</a:t>
            </a:r>
            <a:r>
              <a:rPr lang="en-US" sz="1300" b="0" i="0" u="none" strike="noStrike">
                <a:solidFill>
                  <a:srgbClr val="DCDFE4"/>
                </a:solidFill>
                <a:latin typeface="Roboto"/>
                <a:ea typeface="Roboto"/>
                <a:cs typeface="Roboto"/>
                <a:sym typeface="Roboto"/>
              </a:rPr>
              <a:t>]</a:t>
            </a:r>
            <a:endParaRPr lang="en-US" sz="1300" b="0" i="0" u="none" strike="noStrike">
              <a:solidFill>
                <a:srgbClr val="DCDFE4"/>
              </a:solidFill>
              <a:latin typeface="Roboto"/>
              <a:ea typeface="Roboto"/>
              <a:cs typeface="Roboto"/>
              <a:sym typeface="Roboto"/>
            </a:endParaRPr>
          </a:p>
          <a:p>
            <a:pPr indent="0" algn="l">
              <a:lnSpc>
                <a:spcPct val="100000"/>
              </a:lnSpc>
            </a:pPr>
            <a:r>
              <a:rPr lang="en-US" sz="1300" b="0" i="0" u="none" strike="noStrike">
                <a:solidFill>
                  <a:srgbClr val="5C6370"/>
                </a:solidFill>
                <a:latin typeface="Roboto"/>
                <a:ea typeface="Roboto"/>
                <a:cs typeface="Roboto"/>
                <a:sym typeface="Roboto"/>
              </a:rPr>
              <a:t># 创建递归字符分割器</a:t>
            </a:r>
            <a:endParaRPr lang="en-US" sz="1300" b="0" i="0" u="none" strike="noStrike">
              <a:solidFill>
                <a:srgbClr val="5C6370"/>
              </a:solidFill>
              <a:latin typeface="Roboto"/>
              <a:ea typeface="Roboto"/>
              <a:cs typeface="Roboto"/>
              <a:sym typeface="Roboto"/>
            </a:endParaRPr>
          </a:p>
          <a:p>
            <a:pPr indent="0" algn="l">
              <a:lnSpc>
                <a:spcPct val="100000"/>
              </a:lnSpc>
            </a:pPr>
            <a:r>
              <a:rPr lang="en-US" sz="1300" b="0" i="0" u="none" strike="noStrike">
                <a:solidFill>
                  <a:srgbClr val="DCDFE4"/>
                </a:solidFill>
                <a:latin typeface="Roboto"/>
                <a:ea typeface="Roboto"/>
                <a:cs typeface="Roboto"/>
                <a:sym typeface="Roboto"/>
              </a:rPr>
              <a:t>text_splitter =</a:t>
            </a:r>
            <a:r>
              <a:rPr lang="en-US" sz="1300" b="0" i="0" u="none" strike="noStrike">
                <a:solidFill>
                  <a:srgbClr val="61AFEF"/>
                </a:solidFill>
                <a:latin typeface="Roboto"/>
                <a:ea typeface="Roboto"/>
                <a:cs typeface="Roboto"/>
                <a:sym typeface="Roboto"/>
              </a:rPr>
              <a:t>RecursiveCharacterTextSplitter</a:t>
            </a:r>
            <a:r>
              <a:rPr lang="en-US" sz="1300" b="0" i="0" u="none" strike="noStrike">
                <a:solidFill>
                  <a:srgbClr val="DCDFE4"/>
                </a:solidFill>
                <a:latin typeface="Roboto"/>
                <a:ea typeface="Roboto"/>
                <a:cs typeface="Roboto"/>
                <a:sym typeface="Roboto"/>
              </a:rPr>
              <a:t>(</a:t>
            </a:r>
            <a:endParaRPr lang="en-US" sz="1300" b="0" i="0" u="none" strike="noStrike">
              <a:solidFill>
                <a:srgbClr val="DCDFE4"/>
              </a:solidFill>
              <a:latin typeface="Roboto"/>
              <a:ea typeface="Roboto"/>
              <a:cs typeface="Roboto"/>
              <a:sym typeface="Roboto"/>
            </a:endParaRPr>
          </a:p>
          <a:p>
            <a:pPr indent="0" algn="l">
              <a:lnSpc>
                <a:spcPct val="100000"/>
              </a:lnSpc>
            </a:pPr>
            <a:r>
              <a:rPr lang="en-US" sz="1300" b="0" i="0" u="none" strike="noStrike">
                <a:solidFill>
                  <a:srgbClr val="DCDFE4"/>
                </a:solidFill>
                <a:latin typeface="Roboto"/>
                <a:ea typeface="Roboto"/>
                <a:cs typeface="Roboto"/>
                <a:sym typeface="Roboto"/>
              </a:rPr>
              <a:t>separators=separators, chunk_size=256, chunk_overlap=30</a:t>
            </a:r>
            <a:endParaRPr lang="en-US" sz="1300" b="0" i="0" u="none" strike="noStrike">
              <a:solidFill>
                <a:srgbClr val="DCDFE4"/>
              </a:solidFill>
              <a:latin typeface="Roboto"/>
              <a:ea typeface="Roboto"/>
              <a:cs typeface="Roboto"/>
              <a:sym typeface="Roboto"/>
            </a:endParaRPr>
          </a:p>
          <a:p>
            <a:pPr indent="0" algn="l">
              <a:lnSpc>
                <a:spcPct val="100000"/>
              </a:lnSpc>
            </a:pPr>
            <a:r>
              <a:rPr lang="en-US" sz="1300" b="0" i="0" u="none" strike="noStrike">
                <a:solidFill>
                  <a:srgbClr val="DCDFE4"/>
                </a:solidFill>
                <a:latin typeface="Roboto"/>
                <a:ea typeface="Roboto"/>
                <a:cs typeface="Roboto"/>
                <a:sym typeface="Roboto"/>
              </a:rPr>
              <a:t>)</a:t>
            </a:r>
            <a:endParaRPr lang="en-US" sz="1300" b="0" i="0" u="none" strike="noStrike">
              <a:solidFill>
                <a:srgbClr val="DCDFE4"/>
              </a:solidFill>
              <a:latin typeface="Roboto"/>
              <a:ea typeface="Roboto"/>
              <a:cs typeface="Roboto"/>
              <a:sym typeface="Roboto"/>
            </a:endParaRPr>
          </a:p>
          <a:p>
            <a:pPr indent="0" algn="l">
              <a:lnSpc>
                <a:spcPct val="100000"/>
              </a:lnSpc>
            </a:pPr>
            <a:r>
              <a:rPr lang="en-US" sz="1300" b="0" i="0" u="none" strike="noStrike">
                <a:solidFill>
                  <a:srgbClr val="DCDFE4"/>
                </a:solidFill>
                <a:latin typeface="Roboto"/>
                <a:ea typeface="Roboto"/>
                <a:cs typeface="Roboto"/>
                <a:sym typeface="Roboto"/>
              </a:rPr>
              <a:t>texts = text_splitter.create_documents([text])</a:t>
            </a:r>
            <a:endParaRPr lang="en-US" sz="1300" b="0" i="0" u="none" strike="noStrike">
              <a:solidFill>
                <a:srgbClr val="DCDFE4"/>
              </a:solidFill>
              <a:latin typeface="Roboto"/>
              <a:ea typeface="Roboto"/>
              <a:cs typeface="Roboto"/>
              <a:sym typeface="Roboto"/>
            </a:endParaRPr>
          </a:p>
          <a:p>
            <a:pPr indent="0" algn="l">
              <a:lnSpc>
                <a:spcPct val="100000"/>
              </a:lnSpc>
            </a:pPr>
            <a:r>
              <a:rPr lang="en-US" sz="1300" b="0" i="0" u="none" strike="noStrike">
                <a:solidFill>
                  <a:srgbClr val="DCDFE4"/>
                </a:solidFill>
                <a:latin typeface="Roboto"/>
                <a:ea typeface="Roboto"/>
                <a:cs typeface="Roboto"/>
                <a:sym typeface="Roboto"/>
              </a:rPr>
              <a:t>print(f"文本被拆分为 {len(texts)} 个块")</a:t>
            </a:r>
            <a:endParaRPr lang="en-US" sz="1300" b="0" i="0" u="none" strike="noStrike">
              <a:solidFill>
                <a:srgbClr val="DCDFE4"/>
              </a:solidFill>
              <a:latin typeface="Roboto"/>
              <a:ea typeface="Roboto"/>
              <a:cs typeface="Roboto"/>
              <a:sym typeface="Roboto"/>
            </a:endParaRPr>
          </a:p>
        </p:txBody>
      </p:sp>
      <p:sp>
        <p:nvSpPr>
          <p:cNvPr id="19" name="AutoShape 19"/>
          <p:cNvSpPr/>
          <p:nvPr/>
        </p:nvSpPr>
        <p:spPr>
          <a:xfrm>
            <a:off x="762000" y="5461000"/>
            <a:ext cx="10668000" cy="762000"/>
          </a:xfrm>
          <a:prstGeom prst="roundRect">
            <a:avLst>
              <a:gd name="adj" fmla="val 16666"/>
            </a:avLst>
          </a:prstGeom>
          <a:solidFill>
            <a:srgbClr val="0277BD">
              <a:alpha val="10000"/>
            </a:srgbClr>
          </a:solidFill>
          <a:ln w="12700" cap="flat" cmpd="sng">
            <a:solidFill>
              <a:srgbClr val="0277BD">
                <a:alpha val="3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651500"/>
            <a:ext cx="381000" cy="381000"/>
          </a:xfrm>
          <a:prstGeom prst="rect">
            <a:avLst/>
          </a:prstGeom>
        </p:spPr>
      </p:pic>
      <p:sp>
        <p:nvSpPr>
          <p:cNvPr id="21" name="AutoShape 21"/>
          <p:cNvSpPr/>
          <p:nvPr/>
        </p:nvSpPr>
        <p:spPr>
          <a:xfrm>
            <a:off x="1524000" y="5613400"/>
            <a:ext cx="9652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总结：</a:t>
            </a:r>
            <a:r>
              <a:rPr lang="en-US" sz="1800" b="0" i="0" u="none" strike="noStrike">
                <a:solidFill>
                  <a:srgbClr val="505050"/>
                </a:solidFill>
                <a:latin typeface="Noto Sans SC"/>
                <a:ea typeface="Noto Sans SC"/>
                <a:cs typeface="Noto Sans SC"/>
                <a:sym typeface="Noto Sans SC"/>
              </a:rPr>
              <a:t>通过自定义分隔符列表，我们可以控制分割的粒度和优先级，这是处理复杂长文本的关键技巧。</a:t>
            </a:r>
            <a:endParaRPr lang="en-US" sz="11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2.2.5 按标记进行分割</a:t>
            </a:r>
            <a:endParaRPr lang="en-US" sz="1100"/>
          </a:p>
        </p:txBody>
      </p:sp>
      <p:sp>
        <p:nvSpPr>
          <p:cNvPr id="3" name="AutoShape 3"/>
          <p:cNvSpPr/>
          <p:nvPr/>
        </p:nvSpPr>
        <p:spPr>
          <a:xfrm>
            <a:off x="762000" y="1651000"/>
            <a:ext cx="3302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406400" cy="406400"/>
          </a:xfrm>
          <a:prstGeom prst="rect">
            <a:avLst/>
          </a:prstGeom>
        </p:spPr>
      </p:pic>
      <p:sp>
        <p:nvSpPr>
          <p:cNvPr id="5" name="AutoShape 5"/>
          <p:cNvSpPr/>
          <p:nvPr/>
        </p:nvSpPr>
        <p:spPr>
          <a:xfrm>
            <a:off x="1524000" y="18542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核心功能</a:t>
            </a:r>
            <a:endParaRPr lang="en-US" sz="1100"/>
          </a:p>
        </p:txBody>
      </p:sp>
      <p:sp>
        <p:nvSpPr>
          <p:cNvPr id="6" name="AutoShape 6"/>
          <p:cNvSpPr/>
          <p:nvPr/>
        </p:nvSpPr>
        <p:spPr>
          <a:xfrm>
            <a:off x="1016000" y="2413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按标记（Token）数量进行分割，而非字符数，更贴近模型处理逻辑。</a:t>
            </a:r>
            <a:endParaRPr lang="en-US" sz="1100"/>
          </a:p>
        </p:txBody>
      </p:sp>
      <p:sp>
        <p:nvSpPr>
          <p:cNvPr id="7" name="AutoShape 7"/>
          <p:cNvSpPr/>
          <p:nvPr/>
        </p:nvSpPr>
        <p:spPr>
          <a:xfrm>
            <a:off x="4445000" y="1651000"/>
            <a:ext cx="3302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905000"/>
            <a:ext cx="406400" cy="406400"/>
          </a:xfrm>
          <a:prstGeom prst="rect">
            <a:avLst/>
          </a:prstGeom>
        </p:spPr>
      </p:pic>
      <p:sp>
        <p:nvSpPr>
          <p:cNvPr id="9" name="AutoShape 9"/>
          <p:cNvSpPr/>
          <p:nvPr/>
        </p:nvSpPr>
        <p:spPr>
          <a:xfrm>
            <a:off x="5207000" y="18542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主要优势</a:t>
            </a:r>
            <a:endParaRPr lang="en-US" sz="1100"/>
          </a:p>
        </p:txBody>
      </p:sp>
      <p:sp>
        <p:nvSpPr>
          <p:cNvPr id="10" name="AutoShape 10"/>
          <p:cNvSpPr/>
          <p:nvPr/>
        </p:nvSpPr>
        <p:spPr>
          <a:xfrm>
            <a:off x="4699000" y="2413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符合大语言模型上下文窗口限制，避免因字符数计算导致的上下文溢出。</a:t>
            </a:r>
            <a:endParaRPr lang="en-US" sz="1100"/>
          </a:p>
        </p:txBody>
      </p:sp>
      <p:sp>
        <p:nvSpPr>
          <p:cNvPr id="11" name="AutoShape 11"/>
          <p:cNvSpPr/>
          <p:nvPr/>
        </p:nvSpPr>
        <p:spPr>
          <a:xfrm>
            <a:off x="8128000" y="1651000"/>
            <a:ext cx="3302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905000"/>
            <a:ext cx="406400" cy="406400"/>
          </a:xfrm>
          <a:prstGeom prst="rect">
            <a:avLst/>
          </a:prstGeom>
        </p:spPr>
      </p:pic>
      <p:sp>
        <p:nvSpPr>
          <p:cNvPr id="13" name="AutoShape 13"/>
          <p:cNvSpPr/>
          <p:nvPr/>
        </p:nvSpPr>
        <p:spPr>
          <a:xfrm>
            <a:off x="8890000" y="18542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实现方式</a:t>
            </a:r>
            <a:endParaRPr lang="en-US" sz="1100"/>
          </a:p>
        </p:txBody>
      </p:sp>
      <p:sp>
        <p:nvSpPr>
          <p:cNvPr id="14" name="AutoShape 14"/>
          <p:cNvSpPr/>
          <p:nvPr/>
        </p:nvSpPr>
        <p:spPr>
          <a:xfrm>
            <a:off x="8382000" y="2413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利用 LangChain 提供的 `CharacterTextSplitter.from_tiktoken_encoder` 方法。</a:t>
            </a:r>
            <a:endParaRPr lang="en-US" sz="1100"/>
          </a:p>
        </p:txBody>
      </p:sp>
      <p:sp>
        <p:nvSpPr>
          <p:cNvPr id="15" name="AutoShape 15"/>
          <p:cNvSpPr/>
          <p:nvPr/>
        </p:nvSpPr>
        <p:spPr>
          <a:xfrm>
            <a:off x="762000" y="4064000"/>
            <a:ext cx="10668000" cy="1524000"/>
          </a:xfrm>
          <a:prstGeom prst="roundRect">
            <a:avLst>
              <a:gd name="adj" fmla="val 8333"/>
            </a:avLst>
          </a:prstGeom>
          <a:solidFill>
            <a:srgbClr val="0277BD">
              <a:alpha val="100000"/>
            </a:srgbClr>
          </a:solidFill>
          <a:ln w="25400" cap="flat" cmpd="sng">
            <a:noFill/>
            <a:prstDash val="solid"/>
            <a:round/>
          </a:ln>
          <a:effectLst>
            <a:outerShdw blurRad="190500" dist="63500" dir="2700000" algn="tl" rotWithShape="0">
              <a:srgbClr val="000000">
                <a:alpha val="20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318000"/>
            <a:ext cx="406400" cy="406400"/>
          </a:xfrm>
          <a:prstGeom prst="rect">
            <a:avLst/>
          </a:prstGeom>
        </p:spPr>
      </p:pic>
      <p:sp>
        <p:nvSpPr>
          <p:cNvPr id="17" name="AutoShape 17"/>
          <p:cNvSpPr/>
          <p:nvPr/>
        </p:nvSpPr>
        <p:spPr>
          <a:xfrm>
            <a:off x="1524000" y="4267200"/>
            <a:ext cx="9652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依赖安装 (Dependency Installation)</a:t>
            </a:r>
            <a:endParaRPr lang="en-US" sz="1100"/>
          </a:p>
        </p:txBody>
      </p:sp>
      <p:sp>
        <p:nvSpPr>
          <p:cNvPr id="18" name="AutoShape 18"/>
          <p:cNvSpPr/>
          <p:nvPr/>
        </p:nvSpPr>
        <p:spPr>
          <a:xfrm>
            <a:off x="1016000" y="4762500"/>
            <a:ext cx="10160000" cy="635000"/>
          </a:xfrm>
          <a:prstGeom prst="roundRect">
            <a:avLst>
              <a:gd name="adj" fmla="val 10000"/>
            </a:avLst>
          </a:prstGeom>
          <a:solidFill>
            <a:srgbClr val="000000">
              <a:alpha val="2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1143000" y="4851400"/>
            <a:ext cx="9906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FFFFFF"/>
                </a:solidFill>
                <a:latin typeface="Consolas"/>
                <a:ea typeface="Consolas"/>
                <a:cs typeface="Consolas"/>
                <a:sym typeface="Consolas"/>
              </a:rPr>
              <a:t>pip3 install tiktoken</a:t>
            </a:r>
            <a:endParaRPr lang="en-US" sz="11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2006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代码示例</a:t>
            </a:r>
            <a:endParaRPr lang="en-US" sz="1100"/>
          </a:p>
        </p:txBody>
      </p:sp>
      <p:sp>
        <p:nvSpPr>
          <p:cNvPr id="3" name="AutoShape 3"/>
          <p:cNvSpPr/>
          <p:nvPr/>
        </p:nvSpPr>
        <p:spPr>
          <a:xfrm>
            <a:off x="762000" y="1397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基于 Tiktoken 的文本分割</a:t>
            </a:r>
            <a:endParaRPr lang="en-US" sz="1100"/>
          </a:p>
        </p:txBody>
      </p:sp>
      <p:sp>
        <p:nvSpPr>
          <p:cNvPr id="4" name="AutoShape 4"/>
          <p:cNvSpPr/>
          <p:nvPr/>
        </p:nvSpPr>
        <p:spPr>
          <a:xfrm>
            <a:off x="762000" y="1905000"/>
            <a:ext cx="4318000" cy="152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800" b="0" i="0" u="none" strike="noStrike">
                <a:solidFill>
                  <a:srgbClr val="757575"/>
                </a:solidFill>
                <a:latin typeface="Noto Sans SC"/>
                <a:ea typeface="Noto Sans SC"/>
                <a:cs typeface="Noto Sans SC"/>
                <a:sym typeface="Noto Sans SC"/>
              </a:rPr>
              <a:t>展示了如何使用 LangChain 库中的 CharacterTextSplitter 结合 tiktoken 编码器进行文本分割。</a:t>
            </a:r>
            <a:endParaRPr lang="en-US" sz="1100"/>
          </a:p>
          <a:p>
            <a:pPr indent="0" algn="l">
              <a:lnSpc>
                <a:spcPct val="117000"/>
              </a:lnSpc>
            </a:pPr>
          </a:p>
          <a:p>
            <a:pPr indent="0" algn="l">
              <a:lnSpc>
                <a:spcPct val="117000"/>
              </a:lnSpc>
            </a:pPr>
            <a:r>
              <a:rPr lang="en-US" sz="1800" b="0" i="0" u="none" strike="noStrike">
                <a:solidFill>
                  <a:srgbClr val="757575"/>
                </a:solidFill>
                <a:latin typeface="Noto Sans SC"/>
                <a:ea typeface="Noto Sans SC"/>
                <a:cs typeface="Noto Sans SC"/>
                <a:sym typeface="Noto Sans SC"/>
              </a:rPr>
              <a:t>通过指定 chunk_size 和 chunk_overlap 参数，可以灵活控制文本块的大小和重叠度，适用于处理长文本输入。</a:t>
            </a:r>
            <a:endParaRPr lang="en-US" sz="1800" b="0" i="0" u="none" strike="noStrike">
              <a:solidFill>
                <a:srgbClr val="757575"/>
              </a:solidFill>
              <a:latin typeface="Noto Sans SC"/>
              <a:ea typeface="Noto Sans SC"/>
              <a:cs typeface="Noto Sans SC"/>
              <a:sym typeface="Noto Sans SC"/>
            </a:endParaRPr>
          </a:p>
        </p:txBody>
      </p:sp>
      <p:sp>
        <p:nvSpPr>
          <p:cNvPr id="5" name="AutoShape 5"/>
          <p:cNvSpPr/>
          <p:nvPr/>
        </p:nvSpPr>
        <p:spPr>
          <a:xfrm>
            <a:off x="762000" y="3683000"/>
            <a:ext cx="4318000" cy="762000"/>
          </a:xfrm>
          <a:prstGeom prst="roundRect">
            <a:avLst>
              <a:gd name="adj" fmla="val 16666"/>
            </a:avLst>
          </a:prstGeom>
          <a:solidFill>
            <a:srgbClr val="FFFFFF">
              <a:alpha val="80000"/>
            </a:srgbClr>
          </a:solidFill>
          <a:ln cap="flat" cmpd="sng">
            <a:solidFill>
              <a:srgbClr val="E6CFCF">
                <a:alpha val="8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3873500"/>
            <a:ext cx="381000" cy="381000"/>
          </a:xfrm>
          <a:prstGeom prst="rect">
            <a:avLst/>
          </a:prstGeom>
        </p:spPr>
      </p:pic>
      <p:sp>
        <p:nvSpPr>
          <p:cNvPr id="7" name="AutoShape 7"/>
          <p:cNvSpPr/>
          <p:nvPr/>
        </p:nvSpPr>
        <p:spPr>
          <a:xfrm>
            <a:off x="1460500" y="3784600"/>
            <a:ext cx="3429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精确控制：</a:t>
            </a:r>
            <a:r>
              <a:rPr lang="en-US" sz="1600" b="0" i="0" u="none" strike="noStrike">
                <a:solidFill>
                  <a:srgbClr val="424242"/>
                </a:solidFill>
                <a:latin typeface="Noto Sans SC"/>
                <a:ea typeface="Noto Sans SC"/>
                <a:cs typeface="Noto Sans SC"/>
                <a:sym typeface="Noto Sans SC"/>
              </a:rPr>
              <a:t>基于 Token 数量而非字符数进行分割，更符合大模型上下文限制。</a:t>
            </a:r>
            <a:endParaRPr lang="en-US" sz="1100"/>
          </a:p>
        </p:txBody>
      </p:sp>
      <p:sp>
        <p:nvSpPr>
          <p:cNvPr id="8" name="AutoShape 8"/>
          <p:cNvSpPr/>
          <p:nvPr/>
        </p:nvSpPr>
        <p:spPr>
          <a:xfrm>
            <a:off x="762000" y="4572000"/>
            <a:ext cx="4318000" cy="762000"/>
          </a:xfrm>
          <a:prstGeom prst="roundRect">
            <a:avLst>
              <a:gd name="adj" fmla="val 16666"/>
            </a:avLst>
          </a:prstGeom>
          <a:solidFill>
            <a:srgbClr val="FFFFFF">
              <a:alpha val="80000"/>
            </a:srgbClr>
          </a:solidFill>
          <a:ln cap="flat" cmpd="sng">
            <a:solidFill>
              <a:srgbClr val="E6CFCF">
                <a:alpha val="8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4762500"/>
            <a:ext cx="381000" cy="381000"/>
          </a:xfrm>
          <a:prstGeom prst="rect">
            <a:avLst/>
          </a:prstGeom>
        </p:spPr>
      </p:pic>
      <p:sp>
        <p:nvSpPr>
          <p:cNvPr id="10" name="AutoShape 10"/>
          <p:cNvSpPr/>
          <p:nvPr/>
        </p:nvSpPr>
        <p:spPr>
          <a:xfrm>
            <a:off x="1460500" y="4673600"/>
            <a:ext cx="3429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灵活配置：</a:t>
            </a:r>
            <a:r>
              <a:rPr lang="en-US" sz="1600" b="0" i="0" u="none" strike="noStrike">
                <a:solidFill>
                  <a:srgbClr val="424242"/>
                </a:solidFill>
                <a:latin typeface="Noto Sans SC"/>
                <a:ea typeface="Noto Sans SC"/>
                <a:cs typeface="Noto Sans SC"/>
                <a:sym typeface="Noto Sans SC"/>
              </a:rPr>
              <a:t>支持自定义块大小和重叠度，适应不同场景需求。</a:t>
            </a:r>
            <a:endParaRPr lang="en-US" sz="1100"/>
          </a:p>
        </p:txBody>
      </p:sp>
      <p:sp>
        <p:nvSpPr>
          <p:cNvPr id="11" name="AutoShape 11"/>
          <p:cNvSpPr/>
          <p:nvPr/>
        </p:nvSpPr>
        <p:spPr>
          <a:xfrm>
            <a:off x="762000" y="5461000"/>
            <a:ext cx="4318000" cy="762000"/>
          </a:xfrm>
          <a:prstGeom prst="roundRect">
            <a:avLst>
              <a:gd name="adj" fmla="val 16666"/>
            </a:avLst>
          </a:prstGeom>
          <a:solidFill>
            <a:srgbClr val="FFFFFF">
              <a:alpha val="80000"/>
            </a:srgbClr>
          </a:solidFill>
          <a:ln cap="flat" cmpd="sng">
            <a:solidFill>
              <a:srgbClr val="E6CFCF">
                <a:alpha val="8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5651500"/>
            <a:ext cx="381000" cy="381000"/>
          </a:xfrm>
          <a:prstGeom prst="rect">
            <a:avLst/>
          </a:prstGeom>
        </p:spPr>
      </p:pic>
      <p:sp>
        <p:nvSpPr>
          <p:cNvPr id="13" name="AutoShape 13"/>
          <p:cNvSpPr/>
          <p:nvPr/>
        </p:nvSpPr>
        <p:spPr>
          <a:xfrm>
            <a:off x="1460500" y="5562600"/>
            <a:ext cx="3429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242"/>
                </a:solidFill>
                <a:latin typeface="Noto Sans SC"/>
                <a:ea typeface="Noto Sans SC"/>
                <a:cs typeface="Noto Sans SC"/>
                <a:sym typeface="Noto Sans SC"/>
              </a:rPr>
              <a:t>高效处理：</a:t>
            </a:r>
            <a:r>
              <a:rPr lang="en-US" sz="1600" b="0" i="0" u="none" strike="noStrike">
                <a:solidFill>
                  <a:srgbClr val="424242"/>
                </a:solidFill>
                <a:latin typeface="Noto Sans SC"/>
                <a:ea typeface="Noto Sans SC"/>
                <a:cs typeface="Noto Sans SC"/>
                <a:sym typeface="Noto Sans SC"/>
              </a:rPr>
              <a:t>自动处理长文本，输出可直接用于模型输入的文本块列表。</a:t>
            </a:r>
            <a:endParaRPr lang="en-US" sz="1100"/>
          </a:p>
        </p:txBody>
      </p:sp>
      <p:sp>
        <p:nvSpPr>
          <p:cNvPr id="14" name="AutoShape 14"/>
          <p:cNvSpPr/>
          <p:nvPr/>
        </p:nvSpPr>
        <p:spPr>
          <a:xfrm>
            <a:off x="5334000" y="1397000"/>
            <a:ext cx="6096000" cy="3810000"/>
          </a:xfrm>
          <a:prstGeom prst="roundRect">
            <a:avLst>
              <a:gd name="adj" fmla="val 3333"/>
            </a:avLst>
          </a:prstGeom>
          <a:solidFill>
            <a:srgbClr val="1E1E1E">
              <a:alpha val="100000"/>
            </a:srgbClr>
          </a:solidFill>
          <a:ln w="25400" cap="flat" cmpd="sng">
            <a:noFill/>
            <a:prstDash val="solid"/>
            <a:round/>
          </a:ln>
          <a:effectLst>
            <a:outerShdw blurRad="254000" dist="127000" dir="5400000" algn="tl" rotWithShape="0">
              <a:srgbClr val="000000">
                <a:alpha val="20000"/>
              </a:srgbClr>
            </a:outerShdw>
          </a:effectLst>
        </p:spPr>
        <p:txBody>
          <a:bodyPr vert="horz" wrap="square" lIns="63500" tIns="63500" rIns="63500" bIns="63500" rtlCol="0" anchor="ctr"/>
          <a:lstStyle/>
          <a:p>
            <a:pPr algn="ctr">
              <a:defRPr/>
            </a:pPr>
          </a:p>
        </p:txBody>
      </p:sp>
      <p:sp>
        <p:nvSpPr>
          <p:cNvPr id="15" name="AutoShape 15"/>
          <p:cNvSpPr/>
          <p:nvPr/>
        </p:nvSpPr>
        <p:spPr>
          <a:xfrm>
            <a:off x="5334000" y="1397000"/>
            <a:ext cx="6096000" cy="457200"/>
          </a:xfrm>
          <a:prstGeom prst="roundRect">
            <a:avLst>
              <a:gd name="adj" fmla="val 0"/>
            </a:avLst>
          </a:prstGeom>
          <a:solidFill>
            <a:srgbClr val="2D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5524500" y="1549400"/>
            <a:ext cx="152400" cy="1524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5778500" y="1549400"/>
            <a:ext cx="152400" cy="1524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032500" y="1549400"/>
            <a:ext cx="152400" cy="1524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5524500" y="1968500"/>
            <a:ext cx="5715000" cy="304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C678DD"/>
                </a:solidFill>
                <a:latin typeface="Roboto Mono"/>
                <a:ea typeface="Roboto Mono"/>
                <a:cs typeface="Roboto Mono"/>
                <a:sym typeface="Roboto Mono"/>
              </a:rPr>
              <a:t>from</a:t>
            </a:r>
            <a:r>
              <a:rPr lang="en-US" sz="1400" b="0" i="0" u="none" strike="noStrike">
                <a:solidFill>
                  <a:srgbClr val="CCCCCC"/>
                </a:solidFill>
                <a:latin typeface="Roboto Mono"/>
                <a:ea typeface="Roboto Mono"/>
                <a:cs typeface="Roboto Mono"/>
                <a:sym typeface="Roboto Mono"/>
              </a:rPr>
              <a:t>langchain.text_splitter</a:t>
            </a:r>
            <a:r>
              <a:rPr lang="en-US" sz="1400" b="0" i="0" u="none" strike="noStrike">
                <a:solidFill>
                  <a:srgbClr val="C678DD"/>
                </a:solidFill>
                <a:latin typeface="Roboto Mono"/>
                <a:ea typeface="Roboto Mono"/>
                <a:cs typeface="Roboto Mono"/>
                <a:sym typeface="Roboto Mono"/>
              </a:rPr>
              <a:t>import</a:t>
            </a:r>
            <a:r>
              <a:rPr lang="en-US" sz="1400" b="0" i="0" u="none" strike="noStrike">
                <a:solidFill>
                  <a:srgbClr val="CCCCCC"/>
                </a:solidFill>
                <a:latin typeface="Roboto Mono"/>
                <a:ea typeface="Roboto Mono"/>
                <a:cs typeface="Roboto Mono"/>
                <a:sym typeface="Roboto Mono"/>
              </a:rPr>
              <a:t>CharacterTextSplitter</a:t>
            </a:r>
            <a:endParaRPr lang="en-US" sz="1100"/>
          </a:p>
          <a:p>
            <a:pPr indent="0" algn="l">
              <a:lnSpc>
                <a:spcPct val="100000"/>
              </a:lnSpc>
            </a:pPr>
          </a:p>
          <a:p>
            <a:pPr indent="0" algn="l">
              <a:lnSpc>
                <a:spcPct val="100000"/>
              </a:lnSpc>
            </a:pPr>
            <a:r>
              <a:rPr lang="en-US" sz="1400" b="0" i="0" u="none" strike="noStrike">
                <a:solidFill>
                  <a:srgbClr val="5C6370"/>
                </a:solidFill>
                <a:latin typeface="Roboto Mono"/>
                <a:ea typeface="Roboto Mono"/>
                <a:cs typeface="Roboto Mono"/>
                <a:sym typeface="Roboto Mono"/>
              </a:rPr>
              <a:t># 读取文本文件</a:t>
            </a:r>
            <a:endParaRPr lang="en-US" sz="1400" b="0" i="0" u="none" strike="noStrike">
              <a:solidFill>
                <a:srgbClr val="5C6370"/>
              </a:solidFill>
              <a:latin typeface="Roboto Mono"/>
              <a:ea typeface="Roboto Mono"/>
              <a:cs typeface="Roboto Mono"/>
              <a:sym typeface="Roboto Mono"/>
            </a:endParaRPr>
          </a:p>
          <a:p>
            <a:pPr indent="0" algn="l">
              <a:lnSpc>
                <a:spcPct val="100000"/>
              </a:lnSpc>
            </a:pPr>
            <a:r>
              <a:rPr lang="en-US" sz="1400" b="0" i="0" u="none" strike="noStrike">
                <a:solidFill>
                  <a:srgbClr val="CCCCCC"/>
                </a:solidFill>
                <a:latin typeface="Roboto Mono"/>
                <a:ea typeface="Roboto Mono"/>
                <a:cs typeface="Roboto Mono"/>
                <a:sym typeface="Roboto Mono"/>
              </a:rPr>
              <a:t>file_path =</a:t>
            </a:r>
            <a:r>
              <a:rPr lang="en-US" sz="1400" b="0" i="0" u="none" strike="noStrike">
                <a:solidFill>
                  <a:srgbClr val="98C379"/>
                </a:solidFill>
                <a:latin typeface="Roboto Mono"/>
                <a:ea typeface="Roboto Mono"/>
                <a:cs typeface="Roboto Mono"/>
                <a:sym typeface="Roboto Mono"/>
              </a:rPr>
              <a:t>'../example_data/三国演义.txt'</a:t>
            </a:r>
            <a:endParaRPr lang="en-US" sz="1400" b="0" i="0" u="none" strike="noStrike">
              <a:solidFill>
                <a:srgbClr val="98C379"/>
              </a:solidFill>
              <a:latin typeface="Roboto Mono"/>
              <a:ea typeface="Roboto Mono"/>
              <a:cs typeface="Roboto Mono"/>
              <a:sym typeface="Roboto Mono"/>
            </a:endParaRPr>
          </a:p>
          <a:p>
            <a:pPr indent="0" algn="l">
              <a:lnSpc>
                <a:spcPct val="100000"/>
              </a:lnSpc>
            </a:pPr>
            <a:r>
              <a:rPr lang="en-US" sz="1400" b="0" i="0" u="none" strike="noStrike">
                <a:solidFill>
                  <a:srgbClr val="C678DD"/>
                </a:solidFill>
                <a:latin typeface="Roboto Mono"/>
                <a:ea typeface="Roboto Mono"/>
                <a:cs typeface="Roboto Mono"/>
                <a:sym typeface="Roboto Mono"/>
              </a:rPr>
              <a:t>with</a:t>
            </a:r>
            <a:r>
              <a:rPr lang="en-US" sz="1400" b="0" i="0" u="none" strike="noStrike">
                <a:solidFill>
                  <a:srgbClr val="CCCCCC"/>
                </a:solidFill>
                <a:latin typeface="Roboto Mono"/>
                <a:ea typeface="Roboto Mono"/>
                <a:cs typeface="Roboto Mono"/>
                <a:sym typeface="Roboto Mono"/>
              </a:rPr>
              <a:t>open(file_path, encoding=</a:t>
            </a:r>
            <a:r>
              <a:rPr lang="en-US" sz="1400" b="0" i="0" u="none" strike="noStrike">
                <a:solidFill>
                  <a:srgbClr val="98C379"/>
                </a:solidFill>
                <a:latin typeface="Roboto Mono"/>
                <a:ea typeface="Roboto Mono"/>
                <a:cs typeface="Roboto Mono"/>
                <a:sym typeface="Roboto Mono"/>
              </a:rPr>
              <a:t>'utf-8'</a:t>
            </a:r>
            <a:r>
              <a:rPr lang="en-US" sz="1400" b="0" i="0" u="none" strike="noStrike">
                <a:solidFill>
                  <a:srgbClr val="CCCCCC"/>
                </a:solidFill>
                <a:latin typeface="Roboto Mono"/>
                <a:ea typeface="Roboto Mono"/>
                <a:cs typeface="Roboto Mono"/>
                <a:sym typeface="Roboto Mono"/>
              </a:rPr>
              <a:t>)</a:t>
            </a:r>
            <a:r>
              <a:rPr lang="en-US" sz="1400" b="0" i="0" u="none" strike="noStrike">
                <a:solidFill>
                  <a:srgbClr val="C678DD"/>
                </a:solidFill>
                <a:latin typeface="Roboto Mono"/>
                <a:ea typeface="Roboto Mono"/>
                <a:cs typeface="Roboto Mono"/>
                <a:sym typeface="Roboto Mono"/>
              </a:rPr>
              <a:t>as</a:t>
            </a:r>
            <a:r>
              <a:rPr lang="en-US" sz="1400" b="0" i="0" u="none" strike="noStrike">
                <a:solidFill>
                  <a:srgbClr val="CCCCCC"/>
                </a:solidFill>
                <a:latin typeface="Roboto Mono"/>
                <a:ea typeface="Roboto Mono"/>
                <a:cs typeface="Roboto Mono"/>
                <a:sym typeface="Roboto Mono"/>
              </a:rPr>
              <a:t>f:</a:t>
            </a:r>
            <a:endParaRPr lang="en-US" sz="1400" b="0" i="0" u="none" strike="noStrike">
              <a:solidFill>
                <a:srgbClr val="CCCCCC"/>
              </a:solidFill>
              <a:latin typeface="Roboto Mono"/>
              <a:ea typeface="Roboto Mono"/>
              <a:cs typeface="Roboto Mono"/>
              <a:sym typeface="Roboto Mono"/>
            </a:endParaRPr>
          </a:p>
          <a:p>
            <a:pPr indent="0" algn="l">
              <a:lnSpc>
                <a:spcPct val="100000"/>
              </a:lnSpc>
            </a:pPr>
            <a:r>
              <a:rPr lang="en-US" sz="1400" b="0" i="0" u="none" strike="noStrike">
                <a:solidFill>
                  <a:srgbClr val="CCCCCC"/>
                </a:solidFill>
                <a:latin typeface="Roboto Mono"/>
                <a:ea typeface="Roboto Mono"/>
                <a:cs typeface="Roboto Mono"/>
                <a:sym typeface="Roboto Mono"/>
              </a:rPr>
              <a:t>text = f.read()</a:t>
            </a:r>
            <a:endParaRPr lang="en-US" sz="1400" b="0" i="0" u="none" strike="noStrike">
              <a:solidFill>
                <a:srgbClr val="CCCCCC"/>
              </a:solidFill>
              <a:latin typeface="Roboto Mono"/>
              <a:ea typeface="Roboto Mono"/>
              <a:cs typeface="Roboto Mono"/>
              <a:sym typeface="Roboto Mono"/>
            </a:endParaRPr>
          </a:p>
          <a:p>
            <a:pPr indent="0" algn="l">
              <a:lnSpc>
                <a:spcPct val="100000"/>
              </a:lnSpc>
            </a:pPr>
          </a:p>
          <a:p>
            <a:pPr indent="0" algn="l">
              <a:lnSpc>
                <a:spcPct val="100000"/>
              </a:lnSpc>
            </a:pPr>
            <a:r>
              <a:rPr lang="en-US" sz="1400" b="0" i="0" u="none" strike="noStrike">
                <a:solidFill>
                  <a:srgbClr val="5C6370"/>
                </a:solidFill>
                <a:latin typeface="Roboto Mono"/>
                <a:ea typeface="Roboto Mono"/>
                <a:cs typeface="Roboto Mono"/>
                <a:sym typeface="Roboto Mono"/>
              </a:rPr>
              <a:t># 使用tiktoken编码器创建文本分割器</a:t>
            </a:r>
            <a:endParaRPr lang="en-US" sz="1400" b="0" i="0" u="none" strike="noStrike">
              <a:solidFill>
                <a:srgbClr val="5C6370"/>
              </a:solidFill>
              <a:latin typeface="Roboto Mono"/>
              <a:ea typeface="Roboto Mono"/>
              <a:cs typeface="Roboto Mono"/>
              <a:sym typeface="Roboto Mono"/>
            </a:endParaRPr>
          </a:p>
          <a:p>
            <a:pPr indent="0" algn="l">
              <a:lnSpc>
                <a:spcPct val="100000"/>
              </a:lnSpc>
            </a:pPr>
            <a:r>
              <a:rPr lang="en-US" sz="1400" b="0" i="0" u="none" strike="noStrike">
                <a:solidFill>
                  <a:srgbClr val="CCCCCC"/>
                </a:solidFill>
                <a:latin typeface="Roboto Mono"/>
                <a:ea typeface="Roboto Mono"/>
                <a:cs typeface="Roboto Mono"/>
                <a:sym typeface="Roboto Mono"/>
              </a:rPr>
              <a:t>text_splitter = CharacterTextSplitter.from_tiktoken_encoder(</a:t>
            </a:r>
            <a:endParaRPr lang="en-US" sz="1400" b="0" i="0" u="none" strike="noStrike">
              <a:solidFill>
                <a:srgbClr val="CCCCCC"/>
              </a:solidFill>
              <a:latin typeface="Roboto Mono"/>
              <a:ea typeface="Roboto Mono"/>
              <a:cs typeface="Roboto Mono"/>
              <a:sym typeface="Roboto Mono"/>
            </a:endParaRPr>
          </a:p>
          <a:p>
            <a:pPr indent="0" algn="l">
              <a:lnSpc>
                <a:spcPct val="100000"/>
              </a:lnSpc>
            </a:pPr>
            <a:r>
              <a:rPr lang="en-US" sz="1400" b="0" i="0" u="none" strike="noStrike">
                <a:solidFill>
                  <a:srgbClr val="CCCCCC"/>
                </a:solidFill>
                <a:latin typeface="Roboto Mono"/>
                <a:ea typeface="Roboto Mono"/>
                <a:cs typeface="Roboto Mono"/>
                <a:sym typeface="Roboto Mono"/>
              </a:rPr>
              <a:t>chunk_size=128,</a:t>
            </a:r>
            <a:r>
              <a:rPr lang="en-US" sz="1400" b="0" i="0" u="none" strike="noStrike">
                <a:solidFill>
                  <a:srgbClr val="5C6370"/>
                </a:solidFill>
                <a:latin typeface="Roboto Mono"/>
                <a:ea typeface="Roboto Mono"/>
                <a:cs typeface="Roboto Mono"/>
                <a:sym typeface="Roboto Mono"/>
              </a:rPr>
              <a:t># 每个块128个标记</a:t>
            </a:r>
            <a:endParaRPr lang="en-US" sz="1400" b="0" i="0" u="none" strike="noStrike">
              <a:solidFill>
                <a:srgbClr val="5C6370"/>
              </a:solidFill>
              <a:latin typeface="Roboto Mono"/>
              <a:ea typeface="Roboto Mono"/>
              <a:cs typeface="Roboto Mono"/>
              <a:sym typeface="Roboto Mono"/>
            </a:endParaRPr>
          </a:p>
          <a:p>
            <a:pPr indent="0" algn="l">
              <a:lnSpc>
                <a:spcPct val="100000"/>
              </a:lnSpc>
            </a:pPr>
            <a:r>
              <a:rPr lang="en-US" sz="1400" b="0" i="0" u="none" strike="noStrike">
                <a:solidFill>
                  <a:srgbClr val="CCCCCC"/>
                </a:solidFill>
                <a:latin typeface="Roboto Mono"/>
                <a:ea typeface="Roboto Mono"/>
                <a:cs typeface="Roboto Mono"/>
                <a:sym typeface="Roboto Mono"/>
              </a:rPr>
              <a:t>chunk_overlap=0</a:t>
            </a:r>
            <a:endParaRPr lang="en-US" sz="1400" b="0" i="0" u="none" strike="noStrike">
              <a:solidFill>
                <a:srgbClr val="CCCCCC"/>
              </a:solidFill>
              <a:latin typeface="Roboto Mono"/>
              <a:ea typeface="Roboto Mono"/>
              <a:cs typeface="Roboto Mono"/>
              <a:sym typeface="Roboto Mono"/>
            </a:endParaRPr>
          </a:p>
          <a:p>
            <a:pPr indent="0" algn="l">
              <a:lnSpc>
                <a:spcPct val="100000"/>
              </a:lnSpc>
            </a:pPr>
            <a:r>
              <a:rPr lang="en-US" sz="1400" b="0" i="0" u="none" strike="noStrike">
                <a:solidFill>
                  <a:srgbClr val="CCCCCC"/>
                </a:solidFill>
                <a:latin typeface="Roboto Mono"/>
                <a:ea typeface="Roboto Mono"/>
                <a:cs typeface="Roboto Mono"/>
                <a:sym typeface="Roboto Mono"/>
              </a:rPr>
              <a:t>)</a:t>
            </a:r>
            <a:endParaRPr lang="en-US" sz="1400" b="0" i="0" u="none" strike="noStrike">
              <a:solidFill>
                <a:srgbClr val="CCCCCC"/>
              </a:solidFill>
              <a:latin typeface="Roboto Mono"/>
              <a:ea typeface="Roboto Mono"/>
              <a:cs typeface="Roboto Mono"/>
              <a:sym typeface="Roboto Mono"/>
            </a:endParaRPr>
          </a:p>
          <a:p>
            <a:pPr indent="0" algn="l">
              <a:lnSpc>
                <a:spcPct val="100000"/>
              </a:lnSpc>
            </a:pPr>
          </a:p>
          <a:p>
            <a:pPr indent="0" algn="l">
              <a:lnSpc>
                <a:spcPct val="100000"/>
              </a:lnSpc>
            </a:pPr>
            <a:r>
              <a:rPr lang="en-US" sz="1400" b="0" i="0" u="none" strike="noStrike">
                <a:solidFill>
                  <a:srgbClr val="5C6370"/>
                </a:solidFill>
                <a:latin typeface="Roboto Mono"/>
                <a:ea typeface="Roboto Mono"/>
                <a:cs typeface="Roboto Mono"/>
                <a:sym typeface="Roboto Mono"/>
              </a:rPr>
              <a:t># 拆分文本并打印结果</a:t>
            </a:r>
            <a:endParaRPr lang="en-US" sz="1400" b="0" i="0" u="none" strike="noStrike">
              <a:solidFill>
                <a:srgbClr val="5C6370"/>
              </a:solidFill>
              <a:latin typeface="Roboto Mono"/>
              <a:ea typeface="Roboto Mono"/>
              <a:cs typeface="Roboto Mono"/>
              <a:sym typeface="Roboto Mono"/>
            </a:endParaRPr>
          </a:p>
          <a:p>
            <a:pPr indent="0" algn="l">
              <a:lnSpc>
                <a:spcPct val="100000"/>
              </a:lnSpc>
            </a:pPr>
            <a:r>
              <a:rPr lang="en-US" sz="1400" b="0" i="0" u="none" strike="noStrike">
                <a:solidFill>
                  <a:srgbClr val="CCCCCC"/>
                </a:solidFill>
                <a:latin typeface="Roboto Mono"/>
                <a:ea typeface="Roboto Mono"/>
                <a:cs typeface="Roboto Mono"/>
                <a:sym typeface="Roboto Mono"/>
              </a:rPr>
              <a:t>texts = text_splitter.split_text(text)</a:t>
            </a:r>
            <a:endParaRPr lang="en-US" sz="1400" b="0" i="0" u="none" strike="noStrike">
              <a:solidFill>
                <a:srgbClr val="CCCCCC"/>
              </a:solidFill>
              <a:latin typeface="Roboto Mono"/>
              <a:ea typeface="Roboto Mono"/>
              <a:cs typeface="Roboto Mono"/>
              <a:sym typeface="Roboto Mono"/>
            </a:endParaRPr>
          </a:p>
          <a:p>
            <a:pPr indent="0" algn="l">
              <a:lnSpc>
                <a:spcPct val="100000"/>
              </a:lnSpc>
            </a:pPr>
            <a:r>
              <a:rPr lang="en-US" sz="1400" b="0" i="0" u="none" strike="noStrike">
                <a:solidFill>
                  <a:srgbClr val="CCCCCC"/>
                </a:solidFill>
                <a:latin typeface="Roboto Mono"/>
                <a:ea typeface="Roboto Mono"/>
                <a:cs typeface="Roboto Mono"/>
                <a:sym typeface="Roboto Mono"/>
              </a:rPr>
              <a:t>print(f</a:t>
            </a:r>
            <a:r>
              <a:rPr lang="en-US" sz="1400" b="0" i="0" u="none" strike="noStrike">
                <a:solidFill>
                  <a:srgbClr val="98C379"/>
                </a:solidFill>
                <a:latin typeface="Roboto Mono"/>
                <a:ea typeface="Roboto Mono"/>
                <a:cs typeface="Roboto Mono"/>
                <a:sym typeface="Roboto Mono"/>
              </a:rPr>
              <a:t>"文本被拆分为 {len(texts)} 个块。"</a:t>
            </a:r>
            <a:r>
              <a:rPr lang="en-US" sz="1400" b="0" i="0" u="none" strike="noStrike">
                <a:solidFill>
                  <a:srgbClr val="CCCCCC"/>
                </a:solidFill>
                <a:latin typeface="Roboto Mono"/>
                <a:ea typeface="Roboto Mono"/>
                <a:cs typeface="Roboto Mono"/>
                <a:sym typeface="Roboto Mono"/>
              </a:rPr>
              <a:t>)</a:t>
            </a:r>
            <a:endParaRPr lang="en-US" sz="1400" b="0" i="0" u="none" strike="noStrike">
              <a:solidFill>
                <a:srgbClr val="CCCCCC"/>
              </a:solidFill>
              <a:latin typeface="Roboto Mono"/>
              <a:ea typeface="Roboto Mono"/>
              <a:cs typeface="Roboto Mono"/>
              <a:sym typeface="Roboto Mono"/>
            </a:endParaRPr>
          </a:p>
        </p:txBody>
      </p:sp>
      <p:sp>
        <p:nvSpPr>
          <p:cNvPr id="20" name="AutoShape 20"/>
          <p:cNvSpPr/>
          <p:nvPr/>
        </p:nvSpPr>
        <p:spPr>
          <a:xfrm>
            <a:off x="5334000" y="5461000"/>
            <a:ext cx="6096000" cy="762000"/>
          </a:xfrm>
          <a:prstGeom prst="roundRect">
            <a:avLst>
              <a:gd name="adj" fmla="val 16666"/>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sp>
        <p:nvSpPr>
          <p:cNvPr id="21" name="AutoShape 21"/>
          <p:cNvSpPr/>
          <p:nvPr/>
        </p:nvSpPr>
        <p:spPr>
          <a:xfrm>
            <a:off x="5524500" y="5562600"/>
            <a:ext cx="5715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核心优势：</a:t>
            </a:r>
            <a:r>
              <a:rPr lang="en-US" sz="1600" b="0" i="0" u="none" strike="noStrike">
                <a:solidFill>
                  <a:srgbClr val="0277BD"/>
                </a:solidFill>
                <a:latin typeface="Noto Sans SC"/>
                <a:ea typeface="Noto Sans SC"/>
                <a:cs typeface="Noto Sans SC"/>
                <a:sym typeface="Noto Sans SC"/>
              </a:rPr>
              <a:t>无需手动计算字符数，直接通过 Token 维度控制文本长度，适配大模型输入限制。</a:t>
            </a:r>
            <a:endParaRPr lang="en-US" sz="11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524000" y="2286000"/>
            <a:ext cx="9144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277BD"/>
                </a:solidFill>
                <a:latin typeface="Noto Sans SC"/>
                <a:ea typeface="Noto Sans SC"/>
                <a:cs typeface="Noto Sans SC"/>
                <a:sym typeface="Noto Sans SC"/>
              </a:rPr>
              <a:t>2.3 文本嵌入</a:t>
            </a:r>
            <a:endParaRPr lang="en-US" sz="1100"/>
          </a:p>
        </p:txBody>
      </p:sp>
      <p:sp>
        <p:nvSpPr>
          <p:cNvPr id="3" name="AutoShape 3"/>
          <p:cNvSpPr/>
          <p:nvPr/>
        </p:nvSpPr>
        <p:spPr>
          <a:xfrm>
            <a:off x="1778000" y="3175000"/>
            <a:ext cx="8636000" cy="1270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600" b="0" i="0" u="none" strike="noStrike">
                <a:solidFill>
                  <a:srgbClr val="757575"/>
                </a:solidFill>
                <a:latin typeface="Noto Sans SC"/>
                <a:ea typeface="Noto Sans SC"/>
                <a:cs typeface="Noto Sans SC"/>
                <a:sym typeface="Noto Sans SC"/>
              </a:rPr>
              <a:t>文本嵌入是将文本数据（单词、句子、段落）转换为低维数值向量的过程，这些向量能够捕捉文本的语义信息和上下文关系，是实现高效信息检索和语义理解的基础。</a:t>
            </a:r>
            <a:endParaRPr lang="en-US" sz="11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6045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2.3.1 文本嵌入的定义</a:t>
            </a:r>
            <a:endParaRPr lang="en-US" sz="1100"/>
          </a:p>
        </p:txBody>
      </p:sp>
      <p:sp>
        <p:nvSpPr>
          <p:cNvPr id="3" name="AutoShape 3"/>
          <p:cNvSpPr/>
          <p:nvPr/>
        </p:nvSpPr>
        <p:spPr>
          <a:xfrm>
            <a:off x="762000" y="1524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524000"/>
            <a:ext cx="101600" cy="1270000"/>
          </a:xfrm>
          <a:prstGeom prst="roundRect">
            <a:avLst>
              <a:gd name="adj" fmla="val 12500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587500"/>
            <a:ext cx="10160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定义：</a:t>
            </a:r>
            <a:r>
              <a:rPr lang="en-US" sz="2000" b="0" i="0" u="none" strike="noStrike">
                <a:solidFill>
                  <a:srgbClr val="757575"/>
                </a:solidFill>
                <a:latin typeface="Noto Sans SC"/>
                <a:ea typeface="Noto Sans SC"/>
                <a:cs typeface="Noto Sans SC"/>
                <a:sym typeface="Noto Sans SC"/>
              </a:rPr>
              <a:t>文本嵌入（Text Embedding）是指将文本数据（如单词、句子或段落）映射到一个高维或低维的数值向量空间的过程。</a:t>
            </a:r>
            <a:endParaRPr lang="en-US" sz="1100"/>
          </a:p>
        </p:txBody>
      </p:sp>
      <p:sp>
        <p:nvSpPr>
          <p:cNvPr id="6" name="AutoShape 6"/>
          <p:cNvSpPr/>
          <p:nvPr/>
        </p:nvSpPr>
        <p:spPr>
          <a:xfrm>
            <a:off x="762000" y="3048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核心目的</a:t>
            </a:r>
            <a:endParaRPr lang="en-US" sz="1100"/>
          </a:p>
        </p:txBody>
      </p:sp>
      <p:sp>
        <p:nvSpPr>
          <p:cNvPr id="7" name="AutoShape 7"/>
          <p:cNvSpPr/>
          <p:nvPr/>
        </p:nvSpPr>
        <p:spPr>
          <a:xfrm>
            <a:off x="762000" y="3556000"/>
            <a:ext cx="3378200" cy="2032000"/>
          </a:xfrm>
          <a:prstGeom prst="roundRect">
            <a:avLst>
              <a:gd name="adj" fmla="val 6250"/>
            </a:avLst>
          </a:prstGeom>
          <a:solidFill>
            <a:srgbClr val="FFFFFF">
              <a:alpha val="100000"/>
            </a:srgbClr>
          </a:solidFill>
          <a:ln w="25400" cap="flat" cmpd="sng">
            <a:noFill/>
            <a:prstDash val="solid"/>
            <a:round/>
          </a:ln>
          <a:effectLst>
            <a:outerShdw blurRad="101600" dist="38100" dir="5400000" algn="tl" rotWithShape="0">
              <a:srgbClr val="0277BD">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3746500"/>
            <a:ext cx="406400" cy="406400"/>
          </a:xfrm>
          <a:prstGeom prst="rect">
            <a:avLst/>
          </a:prstGeom>
        </p:spPr>
      </p:pic>
      <p:sp>
        <p:nvSpPr>
          <p:cNvPr id="9" name="AutoShape 9"/>
          <p:cNvSpPr/>
          <p:nvPr/>
        </p:nvSpPr>
        <p:spPr>
          <a:xfrm>
            <a:off x="1524000" y="3708400"/>
            <a:ext cx="2413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语义表示</a:t>
            </a:r>
            <a:endParaRPr lang="en-US" sz="1100"/>
          </a:p>
        </p:txBody>
      </p:sp>
      <p:sp>
        <p:nvSpPr>
          <p:cNvPr id="10" name="AutoShape 10"/>
          <p:cNvSpPr/>
          <p:nvPr/>
        </p:nvSpPr>
        <p:spPr>
          <a:xfrm>
            <a:off x="1016000" y="4254500"/>
            <a:ext cx="2870200" cy="1143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600" b="0" i="0" u="none" strike="noStrike">
                <a:solidFill>
                  <a:srgbClr val="757575"/>
                </a:solidFill>
                <a:latin typeface="Noto Sans SC"/>
                <a:ea typeface="Noto Sans SC"/>
                <a:cs typeface="Noto Sans SC"/>
                <a:sym typeface="Noto Sans SC"/>
              </a:rPr>
              <a:t>将文本的语义信息编码到向量中，使得语义相似的文本在向量空间中距离更近。</a:t>
            </a:r>
            <a:endParaRPr lang="en-US" sz="1100"/>
          </a:p>
        </p:txBody>
      </p:sp>
      <p:sp>
        <p:nvSpPr>
          <p:cNvPr id="11" name="AutoShape 11"/>
          <p:cNvSpPr/>
          <p:nvPr/>
        </p:nvSpPr>
        <p:spPr>
          <a:xfrm>
            <a:off x="4394200" y="3556000"/>
            <a:ext cx="3378200" cy="2032000"/>
          </a:xfrm>
          <a:prstGeom prst="roundRect">
            <a:avLst>
              <a:gd name="adj" fmla="val 6250"/>
            </a:avLst>
          </a:prstGeom>
          <a:solidFill>
            <a:srgbClr val="FFFFFF">
              <a:alpha val="100000"/>
            </a:srgbClr>
          </a:solidFill>
          <a:ln w="25400" cap="flat" cmpd="sng">
            <a:noFill/>
            <a:prstDash val="solid"/>
            <a:round/>
          </a:ln>
          <a:effectLst>
            <a:outerShdw blurRad="101600" dist="38100" dir="5400000" algn="tl" rotWithShape="0">
              <a:srgbClr val="0277BD">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48200" y="3746500"/>
            <a:ext cx="406400" cy="406400"/>
          </a:xfrm>
          <a:prstGeom prst="rect">
            <a:avLst/>
          </a:prstGeom>
        </p:spPr>
      </p:pic>
      <p:sp>
        <p:nvSpPr>
          <p:cNvPr id="13" name="AutoShape 13"/>
          <p:cNvSpPr/>
          <p:nvPr/>
        </p:nvSpPr>
        <p:spPr>
          <a:xfrm>
            <a:off x="5156200" y="3708400"/>
            <a:ext cx="2413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降维处理</a:t>
            </a:r>
            <a:endParaRPr lang="en-US" sz="1100"/>
          </a:p>
        </p:txBody>
      </p:sp>
      <p:sp>
        <p:nvSpPr>
          <p:cNvPr id="14" name="AutoShape 14"/>
          <p:cNvSpPr/>
          <p:nvPr/>
        </p:nvSpPr>
        <p:spPr>
          <a:xfrm>
            <a:off x="4648200" y="4254500"/>
            <a:ext cx="2870200" cy="1143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600" b="0" i="0" u="none" strike="noStrike">
                <a:solidFill>
                  <a:srgbClr val="757575"/>
                </a:solidFill>
                <a:latin typeface="Noto Sans SC"/>
                <a:ea typeface="Noto Sans SC"/>
                <a:cs typeface="Noto Sans SC"/>
                <a:sym typeface="Noto Sans SC"/>
              </a:rPr>
              <a:t>将高维的文本数据转换为低维向量，降低计算复杂度，便于存储和计算。</a:t>
            </a:r>
            <a:endParaRPr lang="en-US" sz="1100"/>
          </a:p>
        </p:txBody>
      </p:sp>
      <p:sp>
        <p:nvSpPr>
          <p:cNvPr id="15" name="AutoShape 15"/>
          <p:cNvSpPr/>
          <p:nvPr/>
        </p:nvSpPr>
        <p:spPr>
          <a:xfrm>
            <a:off x="8026400" y="3556000"/>
            <a:ext cx="3378200" cy="2032000"/>
          </a:xfrm>
          <a:prstGeom prst="roundRect">
            <a:avLst>
              <a:gd name="adj" fmla="val 6250"/>
            </a:avLst>
          </a:prstGeom>
          <a:solidFill>
            <a:srgbClr val="FFFFFF">
              <a:alpha val="100000"/>
            </a:srgbClr>
          </a:solidFill>
          <a:ln w="25400" cap="flat" cmpd="sng">
            <a:noFill/>
            <a:prstDash val="solid"/>
            <a:round/>
          </a:ln>
          <a:effectLst>
            <a:outerShdw blurRad="101600" dist="38100" dir="5400000" algn="tl" rotWithShape="0">
              <a:srgbClr val="0277BD">
                <a:alpha val="10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80400" y="3746500"/>
            <a:ext cx="406400" cy="406400"/>
          </a:xfrm>
          <a:prstGeom prst="rect">
            <a:avLst/>
          </a:prstGeom>
        </p:spPr>
      </p:pic>
      <p:sp>
        <p:nvSpPr>
          <p:cNvPr id="17" name="AutoShape 17"/>
          <p:cNvSpPr/>
          <p:nvPr/>
        </p:nvSpPr>
        <p:spPr>
          <a:xfrm>
            <a:off x="8788400" y="3708400"/>
            <a:ext cx="2413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任务适配</a:t>
            </a:r>
            <a:endParaRPr lang="en-US" sz="1100"/>
          </a:p>
        </p:txBody>
      </p:sp>
      <p:sp>
        <p:nvSpPr>
          <p:cNvPr id="18" name="AutoShape 18"/>
          <p:cNvSpPr/>
          <p:nvPr/>
        </p:nvSpPr>
        <p:spPr>
          <a:xfrm>
            <a:off x="8280400" y="4254500"/>
            <a:ext cx="2870200" cy="1143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600" b="0" i="0" u="none" strike="noStrike">
                <a:solidFill>
                  <a:srgbClr val="757575"/>
                </a:solidFill>
                <a:latin typeface="Noto Sans SC"/>
                <a:ea typeface="Noto Sans SC"/>
                <a:cs typeface="Noto Sans SC"/>
                <a:sym typeface="Noto Sans SC"/>
              </a:rPr>
              <a:t>为后续的机器学习任务（如文本分类、聚类、检索）提供数值化的输入。</a:t>
            </a:r>
            <a:endParaRPr lang="en-US" sz="1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5537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文本嵌入过程示意图</a:t>
            </a:r>
            <a:endParaRPr lang="en-US" sz="1100"/>
          </a:p>
        </p:txBody>
      </p:sp>
      <p:pic>
        <p:nvPicPr>
          <p:cNvPr id="3" name="Picture 3"/>
          <p:cNvPicPr>
            <a:picLocks noChangeAspect="1"/>
          </p:cNvPicPr>
          <p:nvPr/>
        </p:nvPicPr>
        <p:blipFill>
          <a:blip r:embed="rId1"/>
          <a:srcRect l="33" r="33"/>
          <a:stretch>
            <a:fillRect/>
          </a:stretch>
        </p:blipFill>
        <p:spPr>
          <a:xfrm>
            <a:off x="762000" y="1397000"/>
            <a:ext cx="10668000" cy="2044700"/>
          </a:xfrm>
          <a:prstGeom prst="roundRect">
            <a:avLst>
              <a:gd name="adj" fmla="val 6211"/>
            </a:avLst>
          </a:prstGeom>
          <a:noFill/>
          <a:ln w="25400" cap="flat" cmpd="sng">
            <a:noFill/>
            <a:prstDash val="solid"/>
            <a:round/>
          </a:ln>
          <a:effectLst>
            <a:outerShdw blurRad="101600" dist="50800" dir="5400000" algn="tl" rotWithShape="0">
              <a:srgbClr val="0277BD">
                <a:alpha val="15000"/>
              </a:srgbClr>
            </a:outerShdw>
          </a:effectLst>
        </p:spPr>
      </p:pic>
      <p:sp>
        <p:nvSpPr>
          <p:cNvPr id="4" name="AutoShape 4"/>
          <p:cNvSpPr/>
          <p:nvPr/>
        </p:nvSpPr>
        <p:spPr>
          <a:xfrm>
            <a:off x="762000" y="3810000"/>
            <a:ext cx="3302000" cy="1778000"/>
          </a:xfrm>
          <a:prstGeom prst="roundRect">
            <a:avLst>
              <a:gd name="adj" fmla="val 7142"/>
            </a:avLst>
          </a:prstGeom>
          <a:solidFill>
            <a:srgbClr val="FFFFFF">
              <a:alpha val="100000"/>
            </a:srgbClr>
          </a:solidFill>
          <a:ln w="25400" cap="flat" cmpd="sng">
            <a:noFill/>
            <a:prstDash val="solid"/>
            <a:round/>
          </a:ln>
          <a:effectLst>
            <a:outerShdw blurRad="76200" dist="25400" dir="5400000" algn="tl" rotWithShape="0">
              <a:srgbClr val="000000">
                <a:alpha val="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4064000"/>
            <a:ext cx="406400" cy="406400"/>
          </a:xfrm>
          <a:prstGeom prst="rect">
            <a:avLst/>
          </a:prstGeom>
        </p:spPr>
      </p:pic>
      <p:sp>
        <p:nvSpPr>
          <p:cNvPr id="6" name="AutoShape 6"/>
          <p:cNvSpPr/>
          <p:nvPr/>
        </p:nvSpPr>
        <p:spPr>
          <a:xfrm>
            <a:off x="1524000" y="40386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输入文本</a:t>
            </a:r>
            <a:endParaRPr lang="en-US" sz="1100"/>
          </a:p>
        </p:txBody>
      </p:sp>
      <p:sp>
        <p:nvSpPr>
          <p:cNvPr id="7" name="AutoShape 7"/>
          <p:cNvSpPr/>
          <p:nvPr/>
        </p:nvSpPr>
        <p:spPr>
          <a:xfrm>
            <a:off x="1016000" y="4572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原始的文本数据，如句子或段落，作为模型的初始输入。</a:t>
            </a:r>
            <a:endParaRPr lang="en-US" sz="1100"/>
          </a:p>
        </p:txBody>
      </p:sp>
      <p:sp>
        <p:nvSpPr>
          <p:cNvPr id="8" name="AutoShape 8"/>
          <p:cNvSpPr/>
          <p:nvPr/>
        </p:nvSpPr>
        <p:spPr>
          <a:xfrm>
            <a:off x="4445000" y="3810000"/>
            <a:ext cx="3302000" cy="1778000"/>
          </a:xfrm>
          <a:prstGeom prst="roundRect">
            <a:avLst>
              <a:gd name="adj" fmla="val 7142"/>
            </a:avLst>
          </a:prstGeom>
          <a:solidFill>
            <a:srgbClr val="FFFFFF">
              <a:alpha val="100000"/>
            </a:srgbClr>
          </a:solidFill>
          <a:ln w="25400" cap="flat" cmpd="sng">
            <a:noFill/>
            <a:prstDash val="solid"/>
            <a:round/>
          </a:ln>
          <a:effectLst>
            <a:outerShdw blurRad="76200" dist="25400" dir="5400000" algn="tl" rotWithShape="0">
              <a:srgbClr val="000000">
                <a:alpha val="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4064000"/>
            <a:ext cx="406400" cy="406400"/>
          </a:xfrm>
          <a:prstGeom prst="rect">
            <a:avLst/>
          </a:prstGeom>
        </p:spPr>
      </p:pic>
      <p:sp>
        <p:nvSpPr>
          <p:cNvPr id="10" name="AutoShape 10"/>
          <p:cNvSpPr/>
          <p:nvPr/>
        </p:nvSpPr>
        <p:spPr>
          <a:xfrm>
            <a:off x="5207000" y="40386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嵌入模型</a:t>
            </a:r>
            <a:endParaRPr lang="en-US" sz="1100"/>
          </a:p>
        </p:txBody>
      </p:sp>
      <p:sp>
        <p:nvSpPr>
          <p:cNvPr id="11" name="AutoShape 11"/>
          <p:cNvSpPr/>
          <p:nvPr/>
        </p:nvSpPr>
        <p:spPr>
          <a:xfrm>
            <a:off x="4699000" y="4572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经过训练的神经网络模型（如BERT, Word2Vec）对文本进行编码处理。</a:t>
            </a:r>
            <a:endParaRPr lang="en-US" sz="1100"/>
          </a:p>
        </p:txBody>
      </p:sp>
      <p:sp>
        <p:nvSpPr>
          <p:cNvPr id="12" name="AutoShape 12"/>
          <p:cNvSpPr/>
          <p:nvPr/>
        </p:nvSpPr>
        <p:spPr>
          <a:xfrm>
            <a:off x="8128000" y="3810000"/>
            <a:ext cx="3302000" cy="1778000"/>
          </a:xfrm>
          <a:prstGeom prst="roundRect">
            <a:avLst>
              <a:gd name="adj" fmla="val 7142"/>
            </a:avLst>
          </a:prstGeom>
          <a:solidFill>
            <a:srgbClr val="FFFFFF">
              <a:alpha val="100000"/>
            </a:srgbClr>
          </a:solidFill>
          <a:ln w="25400" cap="flat" cmpd="sng">
            <a:noFill/>
            <a:prstDash val="solid"/>
            <a:round/>
          </a:ln>
          <a:effectLst>
            <a:outerShdw blurRad="76200" dist="25400" dir="5400000" algn="tl" rotWithShape="0">
              <a:srgbClr val="000000">
                <a:alpha val="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00" y="4064000"/>
            <a:ext cx="406400" cy="406400"/>
          </a:xfrm>
          <a:prstGeom prst="rect">
            <a:avLst/>
          </a:prstGeom>
        </p:spPr>
      </p:pic>
      <p:sp>
        <p:nvSpPr>
          <p:cNvPr id="14" name="AutoShape 14"/>
          <p:cNvSpPr/>
          <p:nvPr/>
        </p:nvSpPr>
        <p:spPr>
          <a:xfrm>
            <a:off x="8890000" y="40386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输出向量</a:t>
            </a:r>
            <a:endParaRPr lang="en-US" sz="1100"/>
          </a:p>
        </p:txBody>
      </p:sp>
      <p:sp>
        <p:nvSpPr>
          <p:cNvPr id="15" name="AutoShape 15"/>
          <p:cNvSpPr/>
          <p:nvPr/>
        </p:nvSpPr>
        <p:spPr>
          <a:xfrm>
            <a:off x="8382000" y="4572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最终生成的数值向量，包含了文本的深层语义信息，便于计算机处理。</a:t>
            </a:r>
            <a:endParaRPr lang="en-US" sz="11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60325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LangChain中的嵌入接口</a:t>
            </a:r>
            <a:endParaRPr lang="en-US" sz="1100"/>
          </a:p>
        </p:txBody>
      </p:sp>
      <p:sp>
        <p:nvSpPr>
          <p:cNvPr id="3" name="AutoShape 3"/>
          <p:cNvSpPr/>
          <p:nvPr/>
        </p:nvSpPr>
        <p:spPr>
          <a:xfrm>
            <a:off x="762000" y="1397000"/>
            <a:ext cx="5080000" cy="1905000"/>
          </a:xfrm>
          <a:prstGeom prst="roundRect">
            <a:avLst>
              <a:gd name="adj" fmla="val 6666"/>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Roboto"/>
                <a:ea typeface="Roboto"/>
                <a:cs typeface="Roboto"/>
                <a:sym typeface="Roboto"/>
              </a:rPr>
              <a:t>embed_documents</a:t>
            </a:r>
            <a:endParaRPr lang="en-US" sz="1100"/>
          </a:p>
        </p:txBody>
      </p:sp>
      <p:sp>
        <p:nvSpPr>
          <p:cNvPr id="6" name="AutoShape 6"/>
          <p:cNvSpPr/>
          <p:nvPr/>
        </p:nvSpPr>
        <p:spPr>
          <a:xfrm>
            <a:off x="1016000" y="20955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757575"/>
                </a:solidFill>
                <a:latin typeface="Noto Sans SC"/>
                <a:ea typeface="Noto Sans SC"/>
                <a:cs typeface="Noto Sans SC"/>
                <a:sym typeface="Noto Sans SC"/>
              </a:rPr>
              <a:t>用途：</a:t>
            </a:r>
            <a:r>
              <a:rPr lang="en-US" sz="1600" b="0" i="0" u="none" strike="noStrike">
                <a:solidFill>
                  <a:srgbClr val="757575"/>
                </a:solidFill>
                <a:latin typeface="Noto Sans SC"/>
                <a:ea typeface="Noto Sans SC"/>
                <a:cs typeface="Noto Sans SC"/>
                <a:sym typeface="Noto Sans SC"/>
              </a:rPr>
              <a:t>批量处理文档，生成向量库</a:t>
            </a:r>
            <a:endParaRPr lang="en-US" sz="1100"/>
          </a:p>
          <a:p>
            <a:pPr indent="0" algn="l">
              <a:lnSpc>
                <a:spcPct val="100000"/>
              </a:lnSpc>
            </a:pPr>
            <a:r>
              <a:rPr lang="en-US" sz="1600" b="1" i="0" u="none" strike="noStrike">
                <a:solidFill>
                  <a:srgbClr val="757575"/>
                </a:solidFill>
                <a:latin typeface="Noto Sans SC"/>
                <a:ea typeface="Noto Sans SC"/>
                <a:cs typeface="Noto Sans SC"/>
                <a:sym typeface="Noto Sans SC"/>
              </a:rPr>
              <a:t>输入：</a:t>
            </a:r>
            <a:r>
              <a:rPr lang="en-US" sz="1600" b="0" i="0" u="none" strike="noStrike">
                <a:solidFill>
                  <a:srgbClr val="757575"/>
                </a:solidFill>
                <a:latin typeface="Roboto"/>
                <a:ea typeface="Roboto"/>
                <a:cs typeface="Roboto"/>
                <a:sym typeface="Roboto"/>
              </a:rPr>
              <a:t>List[str] (文本列表)</a:t>
            </a:r>
            <a:endParaRPr lang="en-US" sz="1600" b="0" i="0" u="none" strike="noStrike">
              <a:solidFill>
                <a:srgbClr val="757575"/>
              </a:solidFill>
              <a:latin typeface="Roboto"/>
              <a:ea typeface="Roboto"/>
              <a:cs typeface="Roboto"/>
              <a:sym typeface="Roboto"/>
            </a:endParaRPr>
          </a:p>
          <a:p>
            <a:pPr indent="0" algn="l">
              <a:lnSpc>
                <a:spcPct val="100000"/>
              </a:lnSpc>
            </a:pPr>
            <a:r>
              <a:rPr lang="en-US" sz="1600" b="1" i="0" u="none" strike="noStrike">
                <a:solidFill>
                  <a:srgbClr val="757575"/>
                </a:solidFill>
                <a:latin typeface="Noto Sans SC"/>
                <a:ea typeface="Noto Sans SC"/>
                <a:cs typeface="Noto Sans SC"/>
                <a:sym typeface="Noto Sans SC"/>
              </a:rPr>
              <a:t>输出：</a:t>
            </a:r>
            <a:r>
              <a:rPr lang="en-US" sz="1600" b="0" i="0" u="none" strike="noStrike">
                <a:solidFill>
                  <a:srgbClr val="757575"/>
                </a:solidFill>
                <a:latin typeface="Roboto"/>
                <a:ea typeface="Roboto"/>
                <a:cs typeface="Roboto"/>
                <a:sym typeface="Roboto"/>
              </a:rPr>
              <a:t>List[List[float]] (向量列表)</a:t>
            </a:r>
            <a:endParaRPr lang="en-US" sz="1600" b="0" i="0" u="none" strike="noStrike">
              <a:solidFill>
                <a:srgbClr val="757575"/>
              </a:solidFill>
              <a:latin typeface="Roboto"/>
              <a:ea typeface="Roboto"/>
              <a:cs typeface="Roboto"/>
              <a:sym typeface="Roboto"/>
            </a:endParaRPr>
          </a:p>
        </p:txBody>
      </p:sp>
      <p:sp>
        <p:nvSpPr>
          <p:cNvPr id="7" name="AutoShape 7"/>
          <p:cNvSpPr/>
          <p:nvPr/>
        </p:nvSpPr>
        <p:spPr>
          <a:xfrm>
            <a:off x="762000" y="3556000"/>
            <a:ext cx="5080000" cy="1905000"/>
          </a:xfrm>
          <a:prstGeom prst="roundRect">
            <a:avLst>
              <a:gd name="adj" fmla="val 6666"/>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810000"/>
            <a:ext cx="406400" cy="406400"/>
          </a:xfrm>
          <a:prstGeom prst="rect">
            <a:avLst/>
          </a:prstGeom>
        </p:spPr>
      </p:pic>
      <p:sp>
        <p:nvSpPr>
          <p:cNvPr id="9" name="AutoShape 9"/>
          <p:cNvSpPr/>
          <p:nvPr/>
        </p:nvSpPr>
        <p:spPr>
          <a:xfrm>
            <a:off x="1524000" y="3759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Roboto"/>
                <a:ea typeface="Roboto"/>
                <a:cs typeface="Roboto"/>
                <a:sym typeface="Roboto"/>
              </a:rPr>
              <a:t>embed_query</a:t>
            </a:r>
            <a:endParaRPr lang="en-US" sz="1100"/>
          </a:p>
        </p:txBody>
      </p:sp>
      <p:sp>
        <p:nvSpPr>
          <p:cNvPr id="10" name="AutoShape 10"/>
          <p:cNvSpPr/>
          <p:nvPr/>
        </p:nvSpPr>
        <p:spPr>
          <a:xfrm>
            <a:off x="1016000" y="42545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757575"/>
                </a:solidFill>
                <a:latin typeface="Noto Sans SC"/>
                <a:ea typeface="Noto Sans SC"/>
                <a:cs typeface="Noto Sans SC"/>
                <a:sym typeface="Noto Sans SC"/>
              </a:rPr>
              <a:t>用途：</a:t>
            </a:r>
            <a:r>
              <a:rPr lang="en-US" sz="1600" b="0" i="0" u="none" strike="noStrike">
                <a:solidFill>
                  <a:srgbClr val="757575"/>
                </a:solidFill>
                <a:latin typeface="Noto Sans SC"/>
                <a:ea typeface="Noto Sans SC"/>
                <a:cs typeface="Noto Sans SC"/>
                <a:sym typeface="Noto Sans SC"/>
              </a:rPr>
              <a:t>处理用户查询，生成查询向量</a:t>
            </a:r>
            <a:endParaRPr lang="en-US" sz="1100"/>
          </a:p>
          <a:p>
            <a:pPr indent="0" algn="l">
              <a:lnSpc>
                <a:spcPct val="100000"/>
              </a:lnSpc>
            </a:pPr>
            <a:r>
              <a:rPr lang="en-US" sz="1600" b="1" i="0" u="none" strike="noStrike">
                <a:solidFill>
                  <a:srgbClr val="757575"/>
                </a:solidFill>
                <a:latin typeface="Noto Sans SC"/>
                <a:ea typeface="Noto Sans SC"/>
                <a:cs typeface="Noto Sans SC"/>
                <a:sym typeface="Noto Sans SC"/>
              </a:rPr>
              <a:t>输入：</a:t>
            </a:r>
            <a:r>
              <a:rPr lang="en-US" sz="1600" b="0" i="0" u="none" strike="noStrike">
                <a:solidFill>
                  <a:srgbClr val="757575"/>
                </a:solidFill>
                <a:latin typeface="Roboto"/>
                <a:ea typeface="Roboto"/>
                <a:cs typeface="Roboto"/>
                <a:sym typeface="Roboto"/>
              </a:rPr>
              <a:t>str (单个查询文本)</a:t>
            </a:r>
            <a:endParaRPr lang="en-US" sz="1600" b="0" i="0" u="none" strike="noStrike">
              <a:solidFill>
                <a:srgbClr val="757575"/>
              </a:solidFill>
              <a:latin typeface="Roboto"/>
              <a:ea typeface="Roboto"/>
              <a:cs typeface="Roboto"/>
              <a:sym typeface="Roboto"/>
            </a:endParaRPr>
          </a:p>
          <a:p>
            <a:pPr indent="0" algn="l">
              <a:lnSpc>
                <a:spcPct val="100000"/>
              </a:lnSpc>
            </a:pPr>
            <a:r>
              <a:rPr lang="en-US" sz="1600" b="1" i="0" u="none" strike="noStrike">
                <a:solidFill>
                  <a:srgbClr val="757575"/>
                </a:solidFill>
                <a:latin typeface="Noto Sans SC"/>
                <a:ea typeface="Noto Sans SC"/>
                <a:cs typeface="Noto Sans SC"/>
                <a:sym typeface="Noto Sans SC"/>
              </a:rPr>
              <a:t>输出：</a:t>
            </a:r>
            <a:r>
              <a:rPr lang="en-US" sz="1600" b="0" i="0" u="none" strike="noStrike">
                <a:solidFill>
                  <a:srgbClr val="757575"/>
                </a:solidFill>
                <a:latin typeface="Roboto"/>
                <a:ea typeface="Roboto"/>
                <a:cs typeface="Roboto"/>
                <a:sym typeface="Roboto"/>
              </a:rPr>
              <a:t>List[float] (单个向量)</a:t>
            </a:r>
            <a:endParaRPr lang="en-US" sz="1600" b="0" i="0" u="none" strike="noStrike">
              <a:solidFill>
                <a:srgbClr val="757575"/>
              </a:solidFill>
              <a:latin typeface="Roboto"/>
              <a:ea typeface="Roboto"/>
              <a:cs typeface="Roboto"/>
              <a:sym typeface="Roboto"/>
            </a:endParaRPr>
          </a:p>
        </p:txBody>
      </p:sp>
      <p:sp>
        <p:nvSpPr>
          <p:cNvPr id="11" name="AutoShape 11"/>
          <p:cNvSpPr/>
          <p:nvPr/>
        </p:nvSpPr>
        <p:spPr>
          <a:xfrm>
            <a:off x="6096000" y="1397000"/>
            <a:ext cx="5334000" cy="4064000"/>
          </a:xfrm>
          <a:prstGeom prst="roundRect">
            <a:avLst>
              <a:gd name="adj" fmla="val 3125"/>
            </a:avLst>
          </a:prstGeom>
          <a:solidFill>
            <a:srgbClr val="1E1E1E">
              <a:alpha val="100000"/>
            </a:srgbClr>
          </a:solidFill>
          <a:ln w="25400" cap="flat" cmpd="sng">
            <a:noFill/>
            <a:prstDash val="solid"/>
            <a:round/>
          </a:ln>
          <a:effectLst>
            <a:outerShdw blurRad="190500" dist="63500" dir="2700000" algn="tl" rotWithShape="0">
              <a:srgbClr val="000000">
                <a:alpha val="20000"/>
              </a:srgbClr>
            </a:outerShdw>
          </a:effectLst>
        </p:spPr>
        <p:txBody>
          <a:bodyPr vert="horz" wrap="square" lIns="63500" tIns="63500" rIns="63500" bIns="63500" rtlCol="0" anchor="ctr"/>
          <a:lstStyle/>
          <a:p>
            <a:pPr algn="ctr">
              <a:defRPr/>
            </a:pPr>
          </a:p>
        </p:txBody>
      </p:sp>
      <p:sp>
        <p:nvSpPr>
          <p:cNvPr id="12" name="AutoShape 12"/>
          <p:cNvSpPr/>
          <p:nvPr/>
        </p:nvSpPr>
        <p:spPr>
          <a:xfrm>
            <a:off x="6286500" y="15875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代码示例 (OpenAI)</a:t>
            </a:r>
            <a:endParaRPr lang="en-US" sz="1100"/>
          </a:p>
        </p:txBody>
      </p:sp>
      <p:sp>
        <p:nvSpPr>
          <p:cNvPr id="13" name="AutoShape 13"/>
          <p:cNvSpPr/>
          <p:nvPr/>
        </p:nvSpPr>
        <p:spPr>
          <a:xfrm>
            <a:off x="6286500" y="2032000"/>
            <a:ext cx="4953000" cy="317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C678DD"/>
                </a:solidFill>
                <a:latin typeface="Roboto"/>
                <a:ea typeface="Roboto"/>
                <a:cs typeface="Roboto"/>
                <a:sym typeface="Roboto"/>
              </a:rPr>
              <a:t>from</a:t>
            </a:r>
            <a:r>
              <a:rPr lang="en-US" sz="1600" b="0" i="0" u="none" strike="noStrike">
                <a:solidFill>
                  <a:srgbClr val="DCDFE4"/>
                </a:solidFill>
                <a:latin typeface="Roboto"/>
                <a:ea typeface="Roboto"/>
                <a:cs typeface="Roboto"/>
                <a:sym typeface="Roboto"/>
              </a:rPr>
              <a:t>langchain_openai</a:t>
            </a:r>
            <a:r>
              <a:rPr lang="en-US" sz="1600" b="0" i="0" u="none" strike="noStrike">
                <a:solidFill>
                  <a:srgbClr val="C678DD"/>
                </a:solidFill>
                <a:latin typeface="Roboto"/>
                <a:ea typeface="Roboto"/>
                <a:cs typeface="Roboto"/>
                <a:sym typeface="Roboto"/>
              </a:rPr>
              <a:t>import</a:t>
            </a:r>
            <a:r>
              <a:rPr lang="en-US" sz="1600" b="0" i="0" u="none" strike="noStrike">
                <a:solidFill>
                  <a:srgbClr val="E5C07B"/>
                </a:solidFill>
                <a:latin typeface="Roboto"/>
                <a:ea typeface="Roboto"/>
                <a:cs typeface="Roboto"/>
                <a:sym typeface="Roboto"/>
              </a:rPr>
              <a:t>OpenAIEmbeddings</a:t>
            </a:r>
            <a:endParaRPr lang="en-US" sz="1100"/>
          </a:p>
          <a:p>
            <a:pPr indent="0" algn="l">
              <a:lnSpc>
                <a:spcPct val="108000"/>
              </a:lnSpc>
            </a:pPr>
          </a:p>
          <a:p>
            <a:pPr indent="0" algn="l">
              <a:lnSpc>
                <a:spcPct val="108000"/>
              </a:lnSpc>
            </a:pPr>
            <a:r>
              <a:rPr lang="en-US" sz="1600" b="0" i="0" u="none" strike="noStrike">
                <a:solidFill>
                  <a:srgbClr val="DCDFE4"/>
                </a:solidFill>
                <a:latin typeface="Roboto"/>
                <a:ea typeface="Roboto"/>
                <a:cs typeface="Roboto"/>
                <a:sym typeface="Roboto"/>
              </a:rPr>
              <a:t>embeddings_model =</a:t>
            </a:r>
            <a:r>
              <a:rPr lang="en-US" sz="1600" b="0" i="0" u="none" strike="noStrike">
                <a:solidFill>
                  <a:srgbClr val="E5C07B"/>
                </a:solidFill>
                <a:latin typeface="Roboto"/>
                <a:ea typeface="Roboto"/>
                <a:cs typeface="Roboto"/>
                <a:sym typeface="Roboto"/>
              </a:rPr>
              <a:t>OpenAIEmbeddings</a:t>
            </a:r>
            <a:r>
              <a:rPr lang="en-US" sz="1600" b="0" i="0" u="none" strike="noStrike">
                <a:solidFill>
                  <a:srgbClr val="DCDFE4"/>
                </a:solidFill>
                <a:latin typeface="Roboto"/>
                <a:ea typeface="Roboto"/>
                <a:cs typeface="Roboto"/>
                <a:sym typeface="Roboto"/>
              </a:rPr>
              <a:t>(openai_api_key=</a:t>
            </a:r>
            <a:r>
              <a:rPr lang="en-US" sz="1600" b="0" i="0" u="none" strike="noStrike">
                <a:solidFill>
                  <a:srgbClr val="98C379"/>
                </a:solidFill>
                <a:latin typeface="Roboto"/>
                <a:ea typeface="Roboto"/>
                <a:cs typeface="Roboto"/>
                <a:sym typeface="Roboto"/>
              </a:rPr>
              <a:t>"your-api-key"</a:t>
            </a:r>
            <a:r>
              <a:rPr lang="en-US" sz="1600" b="0" i="0" u="none" strike="noStrike">
                <a:solidFill>
                  <a:srgbClr val="DCDFE4"/>
                </a:solidFill>
                <a:latin typeface="Roboto"/>
                <a:ea typeface="Roboto"/>
                <a:cs typeface="Roboto"/>
                <a:sym typeface="Roboto"/>
              </a:rPr>
              <a:t>)</a:t>
            </a:r>
            <a:endParaRPr lang="en-US" sz="1600" b="0" i="0" u="none" strike="noStrike">
              <a:solidFill>
                <a:srgbClr val="DCDFE4"/>
              </a:solidFill>
              <a:latin typeface="Roboto"/>
              <a:ea typeface="Roboto"/>
              <a:cs typeface="Roboto"/>
              <a:sym typeface="Roboto"/>
            </a:endParaRPr>
          </a:p>
          <a:p>
            <a:pPr indent="0" algn="l">
              <a:lnSpc>
                <a:spcPct val="108000"/>
              </a:lnSpc>
            </a:pPr>
          </a:p>
          <a:p>
            <a:pPr indent="0" algn="l">
              <a:lnSpc>
                <a:spcPct val="108000"/>
              </a:lnSpc>
            </a:pPr>
            <a:r>
              <a:rPr lang="en-US" sz="1600" b="0" i="0" u="none" strike="noStrike">
                <a:solidFill>
                  <a:srgbClr val="5C6370"/>
                </a:solidFill>
                <a:latin typeface="Roboto"/>
                <a:ea typeface="Roboto"/>
                <a:cs typeface="Roboto"/>
                <a:sym typeface="Roboto"/>
              </a:rPr>
              <a:t># 嵌入多个文档</a:t>
            </a:r>
            <a:endParaRPr lang="en-US" sz="1600" b="0" i="0" u="none" strike="noStrike">
              <a:solidFill>
                <a:srgbClr val="5C6370"/>
              </a:solidFill>
              <a:latin typeface="Roboto"/>
              <a:ea typeface="Roboto"/>
              <a:cs typeface="Roboto"/>
              <a:sym typeface="Roboto"/>
            </a:endParaRPr>
          </a:p>
          <a:p>
            <a:pPr indent="0" algn="l">
              <a:lnSpc>
                <a:spcPct val="108000"/>
              </a:lnSpc>
            </a:pPr>
            <a:r>
              <a:rPr lang="en-US" sz="1600" b="0" i="0" u="none" strike="noStrike">
                <a:solidFill>
                  <a:srgbClr val="DCDFE4"/>
                </a:solidFill>
                <a:latin typeface="Roboto"/>
                <a:ea typeface="Roboto"/>
                <a:cs typeface="Roboto"/>
                <a:sym typeface="Roboto"/>
              </a:rPr>
              <a:t>doc_embeddings = embeddings_model.</a:t>
            </a:r>
            <a:r>
              <a:rPr lang="en-US" sz="1600" b="0" i="0" u="none" strike="noStrike">
                <a:solidFill>
                  <a:srgbClr val="61AFEF"/>
                </a:solidFill>
                <a:latin typeface="Roboto"/>
                <a:ea typeface="Roboto"/>
                <a:cs typeface="Roboto"/>
                <a:sym typeface="Roboto"/>
              </a:rPr>
              <a:t>embed_documents</a:t>
            </a:r>
            <a:r>
              <a:rPr lang="en-US" sz="1600" b="0" i="0" u="none" strike="noStrike">
                <a:solidFill>
                  <a:srgbClr val="DCDFE4"/>
                </a:solidFill>
                <a:latin typeface="Roboto"/>
                <a:ea typeface="Roboto"/>
                <a:cs typeface="Roboto"/>
                <a:sym typeface="Roboto"/>
              </a:rPr>
              <a:t>([</a:t>
            </a:r>
            <a:r>
              <a:rPr lang="en-US" sz="1600" b="0" i="0" u="none" strike="noStrike">
                <a:solidFill>
                  <a:srgbClr val="98C379"/>
                </a:solidFill>
                <a:latin typeface="Roboto"/>
                <a:ea typeface="Roboto"/>
                <a:cs typeface="Roboto"/>
                <a:sym typeface="Roboto"/>
              </a:rPr>
              <a:t>"文本1"</a:t>
            </a:r>
            <a:r>
              <a:rPr lang="en-US" sz="1600" b="0" i="0" u="none" strike="noStrike">
                <a:solidFill>
                  <a:srgbClr val="DCDFE4"/>
                </a:solidFill>
                <a:latin typeface="Roboto"/>
                <a:ea typeface="Roboto"/>
                <a:cs typeface="Roboto"/>
                <a:sym typeface="Roboto"/>
              </a:rPr>
              <a:t>,</a:t>
            </a:r>
            <a:r>
              <a:rPr lang="en-US" sz="1600" b="0" i="0" u="none" strike="noStrike">
                <a:solidFill>
                  <a:srgbClr val="98C379"/>
                </a:solidFill>
                <a:latin typeface="Roboto"/>
                <a:ea typeface="Roboto"/>
                <a:cs typeface="Roboto"/>
                <a:sym typeface="Roboto"/>
              </a:rPr>
              <a:t>"文本2"</a:t>
            </a:r>
            <a:r>
              <a:rPr lang="en-US" sz="1600" b="0" i="0" u="none" strike="noStrike">
                <a:solidFill>
                  <a:srgbClr val="DCDFE4"/>
                </a:solidFill>
                <a:latin typeface="Roboto"/>
                <a:ea typeface="Roboto"/>
                <a:cs typeface="Roboto"/>
                <a:sym typeface="Roboto"/>
              </a:rPr>
              <a:t>])</a:t>
            </a:r>
            <a:endParaRPr lang="en-US" sz="1600" b="0" i="0" u="none" strike="noStrike">
              <a:solidFill>
                <a:srgbClr val="DCDFE4"/>
              </a:solidFill>
              <a:latin typeface="Roboto"/>
              <a:ea typeface="Roboto"/>
              <a:cs typeface="Roboto"/>
              <a:sym typeface="Roboto"/>
            </a:endParaRPr>
          </a:p>
          <a:p>
            <a:pPr indent="0" algn="l">
              <a:lnSpc>
                <a:spcPct val="108000"/>
              </a:lnSpc>
            </a:pPr>
          </a:p>
          <a:p>
            <a:pPr indent="0" algn="l">
              <a:lnSpc>
                <a:spcPct val="108000"/>
              </a:lnSpc>
            </a:pPr>
            <a:r>
              <a:rPr lang="en-US" sz="1600" b="0" i="0" u="none" strike="noStrike">
                <a:solidFill>
                  <a:srgbClr val="5C6370"/>
                </a:solidFill>
                <a:latin typeface="Roboto"/>
                <a:ea typeface="Roboto"/>
                <a:cs typeface="Roboto"/>
                <a:sym typeface="Roboto"/>
              </a:rPr>
              <a:t># 嵌入单个查询</a:t>
            </a:r>
            <a:endParaRPr lang="en-US" sz="1600" b="0" i="0" u="none" strike="noStrike">
              <a:solidFill>
                <a:srgbClr val="5C6370"/>
              </a:solidFill>
              <a:latin typeface="Roboto"/>
              <a:ea typeface="Roboto"/>
              <a:cs typeface="Roboto"/>
              <a:sym typeface="Roboto"/>
            </a:endParaRPr>
          </a:p>
          <a:p>
            <a:pPr indent="0" algn="l">
              <a:lnSpc>
                <a:spcPct val="108000"/>
              </a:lnSpc>
            </a:pPr>
            <a:r>
              <a:rPr lang="en-US" sz="1600" b="0" i="0" u="none" strike="noStrike">
                <a:solidFill>
                  <a:srgbClr val="DCDFE4"/>
                </a:solidFill>
                <a:latin typeface="Roboto"/>
                <a:ea typeface="Roboto"/>
                <a:cs typeface="Roboto"/>
                <a:sym typeface="Roboto"/>
              </a:rPr>
              <a:t>query_embedding = embeddings_model.</a:t>
            </a:r>
            <a:r>
              <a:rPr lang="en-US" sz="1600" b="0" i="0" u="none" strike="noStrike">
                <a:solidFill>
                  <a:srgbClr val="61AFEF"/>
                </a:solidFill>
                <a:latin typeface="Roboto"/>
                <a:ea typeface="Roboto"/>
                <a:cs typeface="Roboto"/>
                <a:sym typeface="Roboto"/>
              </a:rPr>
              <a:t>embed_query</a:t>
            </a:r>
            <a:r>
              <a:rPr lang="en-US" sz="1600" b="0" i="0" u="none" strike="noStrike">
                <a:solidFill>
                  <a:srgbClr val="DCDFE4"/>
                </a:solidFill>
                <a:latin typeface="Roboto"/>
                <a:ea typeface="Roboto"/>
                <a:cs typeface="Roboto"/>
                <a:sym typeface="Roboto"/>
              </a:rPr>
              <a:t>(</a:t>
            </a:r>
            <a:r>
              <a:rPr lang="en-US" sz="1600" b="0" i="0" u="none" strike="noStrike">
                <a:solidFill>
                  <a:srgbClr val="98C379"/>
                </a:solidFill>
                <a:latin typeface="Roboto"/>
                <a:ea typeface="Roboto"/>
                <a:cs typeface="Roboto"/>
                <a:sym typeface="Roboto"/>
              </a:rPr>
              <a:t>"这是一个查询"</a:t>
            </a:r>
            <a:r>
              <a:rPr lang="en-US" sz="1600" b="0" i="0" u="none" strike="noStrike">
                <a:solidFill>
                  <a:srgbClr val="DCDFE4"/>
                </a:solidFill>
                <a:latin typeface="Roboto"/>
                <a:ea typeface="Roboto"/>
                <a:cs typeface="Roboto"/>
                <a:sym typeface="Roboto"/>
              </a:rPr>
              <a:t>)</a:t>
            </a:r>
            <a:endParaRPr lang="en-US" sz="1600" b="0" i="0" u="none" strike="noStrike">
              <a:solidFill>
                <a:srgbClr val="DCDFE4"/>
              </a:solidFill>
              <a:latin typeface="Roboto"/>
              <a:ea typeface="Roboto"/>
              <a:cs typeface="Roboto"/>
              <a:sym typeface="Roboto"/>
            </a:endParaRPr>
          </a:p>
        </p:txBody>
      </p:sp>
      <p:sp>
        <p:nvSpPr>
          <p:cNvPr id="14" name="AutoShape 14"/>
          <p:cNvSpPr/>
          <p:nvPr/>
        </p:nvSpPr>
        <p:spPr>
          <a:xfrm>
            <a:off x="762000" y="5715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1016000" y="584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核心优势：</a:t>
            </a:r>
            <a:r>
              <a:rPr lang="en-US" sz="1800" b="0" i="0" u="none" strike="noStrike">
                <a:solidFill>
                  <a:srgbClr val="505050"/>
                </a:solidFill>
                <a:latin typeface="Noto Sans SC"/>
                <a:ea typeface="Noto Sans SC"/>
                <a:cs typeface="Noto Sans SC"/>
                <a:sym typeface="Noto Sans SC"/>
              </a:rPr>
              <a:t>统一接口设计不仅简化了开发流程，更允许在不同嵌入模型间无缝切换，同时适应文档与查询的差异化编码需求。</a:t>
            </a:r>
            <a:endParaRPr lang="en-US" sz="11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106424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2.3.2 文本嵌入的应用 - OpenAI嵌入</a:t>
            </a:r>
            <a:endParaRPr lang="en-US" sz="1100"/>
          </a:p>
        </p:txBody>
      </p:sp>
      <p:sp>
        <p:nvSpPr>
          <p:cNvPr id="3" name="AutoShape 3"/>
          <p:cNvSpPr/>
          <p:nvPr/>
        </p:nvSpPr>
        <p:spPr>
          <a:xfrm>
            <a:off x="762000" y="1524000"/>
            <a:ext cx="5842000" cy="3556000"/>
          </a:xfrm>
          <a:prstGeom prst="roundRect">
            <a:avLst>
              <a:gd name="adj" fmla="val 3571"/>
            </a:avLst>
          </a:prstGeom>
          <a:solidFill>
            <a:srgbClr val="1E1E1E">
              <a:alpha val="100000"/>
            </a:srgbClr>
          </a:solidFill>
          <a:ln w="25400" cap="flat" cmpd="sng">
            <a:noFill/>
            <a:prstDash val="solid"/>
            <a:round/>
          </a:ln>
          <a:effectLst>
            <a:outerShdw blurRad="127000" dist="50800" dir="5400000" algn="tl" rotWithShape="0">
              <a:srgbClr val="000000">
                <a:alpha val="20000"/>
              </a:srgbClr>
            </a:outerShdw>
          </a:effectLst>
        </p:spPr>
        <p:txBody>
          <a:bodyPr vert="horz" wrap="square" lIns="63500" tIns="63500" rIns="63500" bIns="63500" rtlCol="0" anchor="ctr"/>
          <a:lstStyle/>
          <a:p>
            <a:pPr algn="ctr">
              <a:defRPr/>
            </a:pPr>
          </a:p>
        </p:txBody>
      </p:sp>
      <p:sp>
        <p:nvSpPr>
          <p:cNvPr id="4" name="AutoShape 4"/>
          <p:cNvSpPr/>
          <p:nvPr/>
        </p:nvSpPr>
        <p:spPr>
          <a:xfrm>
            <a:off x="952500" y="1714500"/>
            <a:ext cx="5461000" cy="317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C678DD"/>
                </a:solidFill>
                <a:latin typeface="Roboto"/>
                <a:ea typeface="Roboto"/>
                <a:cs typeface="Roboto"/>
                <a:sym typeface="Roboto"/>
              </a:rPr>
              <a:t>import</a:t>
            </a:r>
            <a:r>
              <a:rPr lang="en-US" sz="1400" b="0" i="0" u="none" strike="noStrike">
                <a:solidFill>
                  <a:srgbClr val="DCDFE4"/>
                </a:solidFill>
                <a:latin typeface="Roboto"/>
                <a:ea typeface="Roboto"/>
                <a:cs typeface="Roboto"/>
                <a:sym typeface="Roboto"/>
              </a:rPr>
              <a:t>os</a:t>
            </a:r>
            <a:endParaRPr lang="en-US" sz="1100"/>
          </a:p>
          <a:p>
            <a:pPr indent="0" algn="l">
              <a:lnSpc>
                <a:spcPct val="108000"/>
              </a:lnSpc>
            </a:pPr>
            <a:r>
              <a:rPr lang="en-US" sz="1400" b="0" i="0" u="none" strike="noStrike">
                <a:solidFill>
                  <a:srgbClr val="C678DD"/>
                </a:solidFill>
                <a:latin typeface="Roboto"/>
                <a:ea typeface="Roboto"/>
                <a:cs typeface="Roboto"/>
                <a:sym typeface="Roboto"/>
              </a:rPr>
              <a:t>from</a:t>
            </a:r>
            <a:r>
              <a:rPr lang="en-US" sz="1400" b="0" i="0" u="none" strike="noStrike">
                <a:solidFill>
                  <a:srgbClr val="DCDFE4"/>
                </a:solidFill>
                <a:latin typeface="Roboto"/>
                <a:ea typeface="Roboto"/>
                <a:cs typeface="Roboto"/>
                <a:sym typeface="Roboto"/>
              </a:rPr>
              <a:t>langchain_openai</a:t>
            </a:r>
            <a:r>
              <a:rPr lang="en-US" sz="1400" b="0" i="0" u="none" strike="noStrike">
                <a:solidFill>
                  <a:srgbClr val="C678DD"/>
                </a:solidFill>
                <a:latin typeface="Roboto"/>
                <a:ea typeface="Roboto"/>
                <a:cs typeface="Roboto"/>
                <a:sym typeface="Roboto"/>
              </a:rPr>
              <a:t>import</a:t>
            </a:r>
            <a:r>
              <a:rPr lang="en-US" sz="1400" b="0" i="0" u="none" strike="noStrike">
                <a:solidFill>
                  <a:srgbClr val="DCDFE4"/>
                </a:solidFill>
                <a:latin typeface="Roboto"/>
                <a:ea typeface="Roboto"/>
                <a:cs typeface="Roboto"/>
                <a:sym typeface="Roboto"/>
              </a:rPr>
              <a:t>OpenAIEmbeddings</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5C6370"/>
                </a:solidFill>
                <a:latin typeface="Roboto"/>
                <a:ea typeface="Roboto"/>
                <a:cs typeface="Roboto"/>
                <a:sym typeface="Roboto"/>
              </a:rPr>
              <a:t># 设置API密钥</a:t>
            </a:r>
            <a:endParaRPr lang="en-US" sz="1400" b="0" i="0" u="none" strike="noStrike">
              <a:solidFill>
                <a:srgbClr val="5C6370"/>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os.environ[</a:t>
            </a:r>
            <a:r>
              <a:rPr lang="en-US" sz="1400" b="0" i="0" u="none" strike="noStrike">
                <a:solidFill>
                  <a:srgbClr val="98C379"/>
                </a:solidFill>
                <a:latin typeface="Roboto"/>
                <a:ea typeface="Roboto"/>
                <a:cs typeface="Roboto"/>
                <a:sym typeface="Roboto"/>
              </a:rPr>
              <a:t>'OPENAI_API_KEY'</a:t>
            </a:r>
            <a:r>
              <a:rPr lang="en-US" sz="1400" b="0" i="0" u="none" strike="noStrike">
                <a:solidFill>
                  <a:srgbClr val="DCDFE4"/>
                </a:solidFill>
                <a:latin typeface="Roboto"/>
                <a:ea typeface="Roboto"/>
                <a:cs typeface="Roboto"/>
                <a:sym typeface="Roboto"/>
              </a:rPr>
              <a:t>] =</a:t>
            </a:r>
            <a:r>
              <a:rPr lang="en-US" sz="1400" b="0" i="0" u="none" strike="noStrike">
                <a:solidFill>
                  <a:srgbClr val="98C379"/>
                </a:solidFill>
                <a:latin typeface="Roboto"/>
                <a:ea typeface="Roboto"/>
                <a:cs typeface="Roboto"/>
                <a:sym typeface="Roboto"/>
              </a:rPr>
              <a:t>"your-api-key"</a:t>
            </a:r>
            <a:endParaRPr lang="en-US" sz="1400" b="0" i="0" u="none" strike="noStrike">
              <a:solidFill>
                <a:srgbClr val="98C379"/>
              </a:solidFill>
              <a:latin typeface="Roboto"/>
              <a:ea typeface="Roboto"/>
              <a:cs typeface="Roboto"/>
              <a:sym typeface="Roboto"/>
            </a:endParaRPr>
          </a:p>
          <a:p>
            <a:pPr indent="0" algn="l">
              <a:lnSpc>
                <a:spcPct val="108000"/>
              </a:lnSpc>
            </a:pPr>
            <a:r>
              <a:rPr lang="en-US" sz="1400" b="0" i="0" u="none" strike="noStrike">
                <a:solidFill>
                  <a:srgbClr val="5C6370"/>
                </a:solidFill>
                <a:latin typeface="Roboto"/>
                <a:ea typeface="Roboto"/>
                <a:cs typeface="Roboto"/>
                <a:sym typeface="Roboto"/>
              </a:rPr>
              <a:t># 创建嵌入模型实例</a:t>
            </a:r>
            <a:endParaRPr lang="en-US" sz="1400" b="0" i="0" u="none" strike="noStrike">
              <a:solidFill>
                <a:srgbClr val="5C6370"/>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embeddings = OpenAIEmbeddings()</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5C6370"/>
                </a:solidFill>
                <a:latin typeface="Roboto"/>
                <a:ea typeface="Roboto"/>
                <a:cs typeface="Roboto"/>
                <a:sym typeface="Roboto"/>
              </a:rPr>
              <a:t># 嵌入文档列表</a:t>
            </a:r>
            <a:endParaRPr lang="en-US" sz="1400" b="0" i="0" u="none" strike="noStrike">
              <a:solidFill>
                <a:srgbClr val="5C6370"/>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doc_result = embeddings.embed_documents([</a:t>
            </a:r>
            <a:r>
              <a:rPr lang="en-US" sz="1400" b="0" i="0" u="none" strike="noStrike">
                <a:solidFill>
                  <a:srgbClr val="98C379"/>
                </a:solidFill>
                <a:latin typeface="Roboto"/>
                <a:ea typeface="Roboto"/>
                <a:cs typeface="Roboto"/>
                <a:sym typeface="Roboto"/>
              </a:rPr>
              <a:t>"测试内容"</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8000"/>
              </a:lnSpc>
            </a:pPr>
            <a:r>
              <a:rPr lang="en-US" sz="1400" b="0" i="0" u="none" strike="noStrike">
                <a:solidFill>
                  <a:srgbClr val="5C6370"/>
                </a:solidFill>
                <a:latin typeface="Roboto"/>
                <a:ea typeface="Roboto"/>
                <a:cs typeface="Roboto"/>
                <a:sym typeface="Roboto"/>
              </a:rPr>
              <a:t># 嵌入单个查询</a:t>
            </a:r>
            <a:endParaRPr lang="en-US" sz="1400" b="0" i="0" u="none" strike="noStrike">
              <a:solidFill>
                <a:srgbClr val="5C6370"/>
              </a:solidFill>
              <a:latin typeface="Roboto"/>
              <a:ea typeface="Roboto"/>
              <a:cs typeface="Roboto"/>
              <a:sym typeface="Roboto"/>
            </a:endParaRPr>
          </a:p>
          <a:p>
            <a:pPr indent="0" algn="l">
              <a:lnSpc>
                <a:spcPct val="108000"/>
              </a:lnSpc>
            </a:pPr>
            <a:r>
              <a:rPr lang="en-US" sz="1400" b="0" i="0" u="none" strike="noStrike">
                <a:solidFill>
                  <a:srgbClr val="DCDFE4"/>
                </a:solidFill>
                <a:latin typeface="Roboto"/>
                <a:ea typeface="Roboto"/>
                <a:cs typeface="Roboto"/>
                <a:sym typeface="Roboto"/>
              </a:rPr>
              <a:t>query_result = embeddings.embed_query(</a:t>
            </a:r>
            <a:r>
              <a:rPr lang="en-US" sz="1400" b="0" i="0" u="none" strike="noStrike">
                <a:solidFill>
                  <a:srgbClr val="98C379"/>
                </a:solidFill>
                <a:latin typeface="Roboto"/>
                <a:ea typeface="Roboto"/>
                <a:cs typeface="Roboto"/>
                <a:sym typeface="Roboto"/>
              </a:rPr>
              <a:t>"测试内容"</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p:txBody>
      </p:sp>
      <p:sp>
        <p:nvSpPr>
          <p:cNvPr id="5" name="AutoShape 5"/>
          <p:cNvSpPr/>
          <p:nvPr/>
        </p:nvSpPr>
        <p:spPr>
          <a:xfrm>
            <a:off x="6858000" y="1524000"/>
            <a:ext cx="4572000" cy="1016000"/>
          </a:xfrm>
          <a:prstGeom prst="roundRect">
            <a:avLst>
              <a:gd name="adj" fmla="val 12500"/>
            </a:avLst>
          </a:prstGeom>
          <a:solidFill>
            <a:srgbClr val="FFFFFF">
              <a:alpha val="100000"/>
            </a:srgbClr>
          </a:solidFill>
          <a:ln w="25400" cap="flat" cmpd="sng">
            <a:noFill/>
            <a:prstDash val="solid"/>
            <a:round/>
          </a:ln>
          <a:effectLst>
            <a:outerShdw blurRad="76200" dist="25400" dir="5400000" algn="tl" rotWithShape="0">
              <a:srgbClr val="0277BD">
                <a:alpha val="10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48500" y="1714500"/>
            <a:ext cx="406400" cy="406400"/>
          </a:xfrm>
          <a:prstGeom prst="rect">
            <a:avLst/>
          </a:prstGeom>
        </p:spPr>
      </p:pic>
      <p:sp>
        <p:nvSpPr>
          <p:cNvPr id="7" name="AutoShape 7"/>
          <p:cNvSpPr/>
          <p:nvPr/>
        </p:nvSpPr>
        <p:spPr>
          <a:xfrm>
            <a:off x="7556500" y="1651000"/>
            <a:ext cx="3683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导入与配置</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导入OpenAIEmbeddings类，设置环境变量API_KEY即可初始化模型。</a:t>
            </a:r>
            <a:endParaRPr lang="en-US" sz="1400" b="0" i="0" u="none" strike="noStrike">
              <a:solidFill>
                <a:srgbClr val="757575"/>
              </a:solidFill>
              <a:latin typeface="Noto Sans SC"/>
              <a:ea typeface="Noto Sans SC"/>
              <a:cs typeface="Noto Sans SC"/>
              <a:sym typeface="Noto Sans SC"/>
            </a:endParaRPr>
          </a:p>
        </p:txBody>
      </p:sp>
      <p:sp>
        <p:nvSpPr>
          <p:cNvPr id="8" name="AutoShape 8"/>
          <p:cNvSpPr/>
          <p:nvPr/>
        </p:nvSpPr>
        <p:spPr>
          <a:xfrm>
            <a:off x="6858000" y="2667000"/>
            <a:ext cx="4572000" cy="1016000"/>
          </a:xfrm>
          <a:prstGeom prst="roundRect">
            <a:avLst>
              <a:gd name="adj" fmla="val 12500"/>
            </a:avLst>
          </a:prstGeom>
          <a:solidFill>
            <a:srgbClr val="FFFFFF">
              <a:alpha val="100000"/>
            </a:srgbClr>
          </a:solidFill>
          <a:ln w="25400" cap="flat" cmpd="sng">
            <a:noFill/>
            <a:prstDash val="solid"/>
            <a:round/>
          </a:ln>
          <a:effectLst>
            <a:outerShdw blurRad="76200" dist="25400" dir="5400000" algn="tl" rotWithShape="0">
              <a:srgbClr val="0277BD">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48500" y="2857500"/>
            <a:ext cx="406400" cy="406400"/>
          </a:xfrm>
          <a:prstGeom prst="rect">
            <a:avLst/>
          </a:prstGeom>
        </p:spPr>
      </p:pic>
      <p:sp>
        <p:nvSpPr>
          <p:cNvPr id="10" name="AutoShape 10"/>
          <p:cNvSpPr/>
          <p:nvPr/>
        </p:nvSpPr>
        <p:spPr>
          <a:xfrm>
            <a:off x="7556500" y="2794000"/>
            <a:ext cx="3683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批量文档嵌入</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使用embed_documents方法处理列表数据，适合知识库批量向量化。</a:t>
            </a:r>
            <a:endParaRPr lang="en-US" sz="1400" b="0" i="0" u="none" strike="noStrike">
              <a:solidFill>
                <a:srgbClr val="757575"/>
              </a:solidFill>
              <a:latin typeface="Noto Sans SC"/>
              <a:ea typeface="Noto Sans SC"/>
              <a:cs typeface="Noto Sans SC"/>
              <a:sym typeface="Noto Sans SC"/>
            </a:endParaRPr>
          </a:p>
        </p:txBody>
      </p:sp>
      <p:sp>
        <p:nvSpPr>
          <p:cNvPr id="11" name="AutoShape 11"/>
          <p:cNvSpPr/>
          <p:nvPr/>
        </p:nvSpPr>
        <p:spPr>
          <a:xfrm>
            <a:off x="6858000" y="3810000"/>
            <a:ext cx="4572000" cy="1016000"/>
          </a:xfrm>
          <a:prstGeom prst="roundRect">
            <a:avLst>
              <a:gd name="adj" fmla="val 12500"/>
            </a:avLst>
          </a:prstGeom>
          <a:solidFill>
            <a:srgbClr val="FFFFFF">
              <a:alpha val="100000"/>
            </a:srgbClr>
          </a:solidFill>
          <a:ln w="25400" cap="flat" cmpd="sng">
            <a:noFill/>
            <a:prstDash val="solid"/>
            <a:round/>
          </a:ln>
          <a:effectLst>
            <a:outerShdw blurRad="76200" dist="25400" dir="5400000" algn="tl" rotWithShape="0">
              <a:srgbClr val="0277BD">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048500" y="4000500"/>
            <a:ext cx="406400" cy="406400"/>
          </a:xfrm>
          <a:prstGeom prst="rect">
            <a:avLst/>
          </a:prstGeom>
        </p:spPr>
      </p:pic>
      <p:sp>
        <p:nvSpPr>
          <p:cNvPr id="13" name="AutoShape 13"/>
          <p:cNvSpPr/>
          <p:nvPr/>
        </p:nvSpPr>
        <p:spPr>
          <a:xfrm>
            <a:off x="7556500" y="3937000"/>
            <a:ext cx="3683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单条查询嵌入</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使用embed_query方法处理用户输入的查询语句，生成匹配向量。</a:t>
            </a:r>
            <a:endParaRPr lang="en-US" sz="1400" b="0" i="0" u="none" strike="noStrike">
              <a:solidFill>
                <a:srgbClr val="757575"/>
              </a:solidFill>
              <a:latin typeface="Noto Sans SC"/>
              <a:ea typeface="Noto Sans SC"/>
              <a:cs typeface="Noto Sans SC"/>
              <a:sym typeface="Noto Sans SC"/>
            </a:endParaRPr>
          </a:p>
        </p:txBody>
      </p:sp>
      <p:sp>
        <p:nvSpPr>
          <p:cNvPr id="14" name="AutoShape 14"/>
          <p:cNvSpPr/>
          <p:nvPr/>
        </p:nvSpPr>
        <p:spPr>
          <a:xfrm>
            <a:off x="762000" y="5334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sp>
        <p:nvSpPr>
          <p:cNvPr id="15" name="AutoShape 15"/>
          <p:cNvSpPr/>
          <p:nvPr/>
        </p:nvSpPr>
        <p:spPr>
          <a:xfrm>
            <a:off x="1016000" y="5461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 提示：</a:t>
            </a:r>
            <a:r>
              <a:rPr lang="en-US" sz="1600" b="0" i="0" u="none" strike="noStrike">
                <a:solidFill>
                  <a:srgbClr val="757575"/>
                </a:solidFill>
                <a:latin typeface="Noto Sans SC"/>
                <a:ea typeface="Noto Sans SC"/>
                <a:cs typeface="Noto Sans SC"/>
                <a:sym typeface="Noto Sans SC"/>
              </a:rPr>
              <a:t>OpenAI嵌入模型支持多语言处理，生成的向量通常为1536维，能够有效捕捉语义信息，是构建RAG系统的首选方案。</a:t>
            </a:r>
            <a:endParaRPr lang="en-US" sz="11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5664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2.3.2 文本嵌入的应用 - DashScope嵌入</a:t>
            </a:r>
            <a:endParaRPr lang="en-US" sz="1100"/>
          </a:p>
        </p:txBody>
      </p:sp>
      <p:sp>
        <p:nvSpPr>
          <p:cNvPr id="3" name="AutoShape 3"/>
          <p:cNvSpPr/>
          <p:nvPr/>
        </p:nvSpPr>
        <p:spPr>
          <a:xfrm>
            <a:off x="762000" y="1524000"/>
            <a:ext cx="3810000" cy="3556000"/>
          </a:xfrm>
          <a:prstGeom prst="roundRect">
            <a:avLst>
              <a:gd name="adj" fmla="val 3571"/>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304800" cy="304800"/>
          </a:xfrm>
          <a:prstGeom prst="rect">
            <a:avLst/>
          </a:prstGeom>
        </p:spPr>
      </p:pic>
      <p:sp>
        <p:nvSpPr>
          <p:cNvPr id="5" name="AutoShape 5"/>
          <p:cNvSpPr/>
          <p:nvPr/>
        </p:nvSpPr>
        <p:spPr>
          <a:xfrm>
            <a:off x="1397000" y="17272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核心功能说明</a:t>
            </a:r>
            <a:endParaRPr lang="en-US" sz="1100"/>
          </a:p>
        </p:txBody>
      </p:sp>
      <p:sp>
        <p:nvSpPr>
          <p:cNvPr id="6" name="AutoShape 6"/>
          <p:cNvSpPr/>
          <p:nvPr/>
        </p:nvSpPr>
        <p:spPr>
          <a:xfrm>
            <a:off x="1016000" y="2286000"/>
            <a:ext cx="3302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接入方式：</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通过 LangChain 调用阿里云通义千问的嵌入模型，实现文本向量化。</a:t>
            </a:r>
            <a:endParaRPr lang="en-US" sz="1600" b="0" i="0" u="none" strike="noStrike">
              <a:solidFill>
                <a:srgbClr val="757575"/>
              </a:solidFill>
              <a:latin typeface="Noto Sans SC"/>
              <a:ea typeface="Noto Sans SC"/>
              <a:cs typeface="Noto Sans SC"/>
              <a:sym typeface="Noto Sans SC"/>
            </a:endParaRPr>
          </a:p>
          <a:p>
            <a:pPr indent="0" algn="l">
              <a:lnSpc>
                <a:spcPct val="125000"/>
              </a:lnSpc>
            </a:pPr>
          </a:p>
          <a:p>
            <a:pPr indent="0" algn="l">
              <a:lnSpc>
                <a:spcPct val="125000"/>
              </a:lnSpc>
            </a:pPr>
            <a:r>
              <a:rPr lang="en-US" sz="1600" b="1" i="0" u="none" strike="noStrike">
                <a:solidFill>
                  <a:srgbClr val="757575"/>
                </a:solidFill>
                <a:latin typeface="Noto Sans SC"/>
                <a:ea typeface="Noto Sans SC"/>
                <a:cs typeface="Noto Sans SC"/>
                <a:sym typeface="Noto Sans SC"/>
              </a:rPr>
              <a:t>关键步骤：</a:t>
            </a:r>
            <a:endParaRPr lang="en-US" sz="1600" b="1" i="0" u="none" strike="noStrike">
              <a:solidFill>
                <a:srgbClr val="757575"/>
              </a:solidFill>
              <a:latin typeface="Noto Sans SC"/>
              <a:ea typeface="Noto Sans SC"/>
              <a:cs typeface="Noto Sans SC"/>
              <a:sym typeface="Noto Sans SC"/>
            </a:endParaRPr>
          </a:p>
          <a:p>
            <a:pPr indent="0" algn="l">
              <a:lnSpc>
                <a:spcPct val="125000"/>
              </a:lnSpc>
            </a:pPr>
            <a:r>
              <a:rPr lang="en-US" sz="1600" b="0" i="0" u="none" strike="noStrike">
                <a:solidFill>
                  <a:srgbClr val="757575"/>
                </a:solidFill>
                <a:latin typeface="Noto Sans SC"/>
                <a:ea typeface="Noto Sans SC"/>
                <a:cs typeface="Noto Sans SC"/>
                <a:sym typeface="Noto Sans SC"/>
              </a:rPr>
              <a:t>1. 配置 API Key</a:t>
            </a:r>
            <a:endParaRPr lang="en-US" sz="1600" b="0" i="0" u="none" strike="noStrike">
              <a:solidFill>
                <a:srgbClr val="757575"/>
              </a:solidFill>
              <a:latin typeface="Noto Sans SC"/>
              <a:ea typeface="Noto Sans SC"/>
              <a:cs typeface="Noto Sans SC"/>
              <a:sym typeface="Noto Sans SC"/>
            </a:endParaRPr>
          </a:p>
          <a:p>
            <a:pPr indent="0" algn="l">
              <a:lnSpc>
                <a:spcPct val="125000"/>
              </a:lnSpc>
            </a:pPr>
            <a:r>
              <a:rPr lang="en-US" sz="1600" b="0" i="0" u="none" strike="noStrike">
                <a:solidFill>
                  <a:srgbClr val="757575"/>
                </a:solidFill>
                <a:latin typeface="Noto Sans SC"/>
                <a:ea typeface="Noto Sans SC"/>
                <a:cs typeface="Noto Sans SC"/>
                <a:sym typeface="Noto Sans SC"/>
              </a:rPr>
              <a:t>2. 指定模型名称 (text-embedding-v3)</a:t>
            </a:r>
            <a:endParaRPr lang="en-US" sz="1600" b="0" i="0" u="none" strike="noStrike">
              <a:solidFill>
                <a:srgbClr val="757575"/>
              </a:solidFill>
              <a:latin typeface="Noto Sans SC"/>
              <a:ea typeface="Noto Sans SC"/>
              <a:cs typeface="Noto Sans SC"/>
              <a:sym typeface="Noto Sans SC"/>
            </a:endParaRPr>
          </a:p>
          <a:p>
            <a:pPr indent="0" algn="l">
              <a:lnSpc>
                <a:spcPct val="125000"/>
              </a:lnSpc>
            </a:pPr>
            <a:r>
              <a:rPr lang="en-US" sz="1600" b="0" i="0" u="none" strike="noStrike">
                <a:solidFill>
                  <a:srgbClr val="757575"/>
                </a:solidFill>
                <a:latin typeface="Noto Sans SC"/>
                <a:ea typeface="Noto Sans SC"/>
                <a:cs typeface="Noto Sans SC"/>
                <a:sym typeface="Noto Sans SC"/>
              </a:rPr>
              <a:t>3. 调用 embed_documents 或 embed_query</a:t>
            </a:r>
            <a:endParaRPr lang="en-US" sz="16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4953000" y="1524000"/>
            <a:ext cx="6477000" cy="3556000"/>
          </a:xfrm>
          <a:prstGeom prst="roundRect">
            <a:avLst>
              <a:gd name="adj" fmla="val 3571"/>
            </a:avLst>
          </a:prstGeom>
          <a:solidFill>
            <a:srgbClr val="1E1E1E">
              <a:alpha val="100000"/>
            </a:srgbClr>
          </a:solidFill>
          <a:ln w="25400" cap="flat" cmpd="sng">
            <a:noFill/>
            <a:prstDash val="solid"/>
            <a:round/>
          </a:ln>
          <a:effectLst>
            <a:outerShdw blurRad="190500" dist="76200" dir="2700000" algn="tl" rotWithShape="0">
              <a:srgbClr val="000000">
                <a:alpha val="20000"/>
              </a:srgbClr>
            </a:outerShdw>
          </a:effectLst>
        </p:spPr>
        <p:txBody>
          <a:bodyPr vert="horz" wrap="square" lIns="63500" tIns="63500" rIns="63500" bIns="63500" rtlCol="0" anchor="ctr"/>
          <a:lstStyle/>
          <a:p>
            <a:pPr algn="ctr">
              <a:defRPr/>
            </a:pPr>
          </a:p>
        </p:txBody>
      </p:sp>
      <p:sp>
        <p:nvSpPr>
          <p:cNvPr id="8" name="AutoShape 8"/>
          <p:cNvSpPr/>
          <p:nvPr/>
        </p:nvSpPr>
        <p:spPr>
          <a:xfrm>
            <a:off x="4953000" y="1524000"/>
            <a:ext cx="6477000" cy="406400"/>
          </a:xfrm>
          <a:prstGeom prst="roundRect">
            <a:avLst>
              <a:gd name="adj" fmla="val 0"/>
            </a:avLst>
          </a:prstGeom>
          <a:solidFill>
            <a:srgbClr val="2D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143500" y="1663700"/>
            <a:ext cx="127000" cy="1270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5334000" y="1663700"/>
            <a:ext cx="127000" cy="1270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5524500" y="1663700"/>
            <a:ext cx="127000" cy="1270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5778500" y="15748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969696"/>
                </a:solidFill>
                <a:latin typeface="Roboto"/>
                <a:ea typeface="Roboto"/>
                <a:cs typeface="Roboto"/>
                <a:sym typeface="Roboto"/>
              </a:rPr>
              <a:t>dashscope_embedding_demo.py</a:t>
            </a:r>
            <a:endParaRPr lang="en-US" sz="1100"/>
          </a:p>
        </p:txBody>
      </p:sp>
      <p:sp>
        <p:nvSpPr>
          <p:cNvPr id="13" name="AutoShape 13"/>
          <p:cNvSpPr/>
          <p:nvPr/>
        </p:nvSpPr>
        <p:spPr>
          <a:xfrm>
            <a:off x="5143500" y="2032000"/>
            <a:ext cx="6096000" cy="292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C678DD"/>
                </a:solidFill>
                <a:latin typeface="Roboto"/>
                <a:ea typeface="Roboto"/>
                <a:cs typeface="Roboto"/>
                <a:sym typeface="Roboto"/>
              </a:rPr>
              <a:t>from</a:t>
            </a:r>
            <a:r>
              <a:rPr lang="en-US" sz="1400" b="0" i="0" u="none" strike="noStrike">
                <a:solidFill>
                  <a:srgbClr val="DCDFE4"/>
                </a:solidFill>
                <a:latin typeface="Roboto"/>
                <a:ea typeface="Roboto"/>
                <a:cs typeface="Roboto"/>
                <a:sym typeface="Roboto"/>
              </a:rPr>
              <a:t>langchain_community.embeddings</a:t>
            </a:r>
            <a:r>
              <a:rPr lang="en-US" sz="1400" b="0" i="0" u="none" strike="noStrike">
                <a:solidFill>
                  <a:srgbClr val="C678DD"/>
                </a:solidFill>
                <a:latin typeface="Roboto"/>
                <a:ea typeface="Roboto"/>
                <a:cs typeface="Roboto"/>
                <a:sym typeface="Roboto"/>
              </a:rPr>
              <a:t>import</a:t>
            </a:r>
            <a:r>
              <a:rPr lang="en-US" sz="1400" b="0" i="0" u="none" strike="noStrike">
                <a:solidFill>
                  <a:srgbClr val="E5C07B"/>
                </a:solidFill>
                <a:latin typeface="Roboto"/>
                <a:ea typeface="Roboto"/>
                <a:cs typeface="Roboto"/>
                <a:sym typeface="Roboto"/>
              </a:rPr>
              <a:t>DashScopeEmbeddings</a:t>
            </a:r>
            <a:endParaRPr lang="en-US" sz="1100"/>
          </a:p>
          <a:p>
            <a:pPr indent="0" algn="l">
              <a:lnSpc>
                <a:spcPct val="100000"/>
              </a:lnSpc>
            </a:pPr>
            <a:r>
              <a:rPr lang="en-US" sz="1400" b="0" i="0" u="none" strike="noStrike">
                <a:solidFill>
                  <a:srgbClr val="5C6370"/>
                </a:solidFill>
                <a:latin typeface="Roboto"/>
                <a:ea typeface="Roboto"/>
                <a:cs typeface="Roboto"/>
                <a:sym typeface="Roboto"/>
              </a:rPr>
              <a:t># 设置API密钥</a:t>
            </a:r>
            <a:endParaRPr lang="en-US" sz="1400" b="0" i="0" u="none" strike="noStrike">
              <a:solidFill>
                <a:srgbClr val="5C6370"/>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dash_scope_api_key =</a:t>
            </a:r>
            <a:r>
              <a:rPr lang="en-US" sz="1400" b="0" i="0" u="none" strike="noStrike">
                <a:solidFill>
                  <a:srgbClr val="98C379"/>
                </a:solidFill>
                <a:latin typeface="Roboto"/>
                <a:ea typeface="Roboto"/>
                <a:cs typeface="Roboto"/>
                <a:sym typeface="Roboto"/>
              </a:rPr>
              <a:t>"your-api-key"</a:t>
            </a:r>
            <a:endParaRPr lang="en-US" sz="1400" b="0" i="0" u="none" strike="noStrike">
              <a:solidFill>
                <a:srgbClr val="98C379"/>
              </a:solidFill>
              <a:latin typeface="Roboto"/>
              <a:ea typeface="Roboto"/>
              <a:cs typeface="Roboto"/>
              <a:sym typeface="Roboto"/>
            </a:endParaRPr>
          </a:p>
          <a:p>
            <a:pPr indent="0" algn="l">
              <a:lnSpc>
                <a:spcPct val="100000"/>
              </a:lnSpc>
            </a:pPr>
            <a:r>
              <a:rPr lang="en-US" sz="1400" b="0" i="0" u="none" strike="noStrike">
                <a:solidFill>
                  <a:srgbClr val="5C6370"/>
                </a:solidFill>
                <a:latin typeface="Roboto"/>
                <a:ea typeface="Roboto"/>
                <a:cs typeface="Roboto"/>
                <a:sym typeface="Roboto"/>
              </a:rPr>
              <a:t># 创建嵌入模型实例</a:t>
            </a:r>
            <a:endParaRPr lang="en-US" sz="1400" b="0" i="0" u="none" strike="noStrike">
              <a:solidFill>
                <a:srgbClr val="5C6370"/>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embeddings =</a:t>
            </a:r>
            <a:r>
              <a:rPr lang="en-US" sz="1400" b="0" i="0" u="none" strike="noStrike">
                <a:solidFill>
                  <a:srgbClr val="61AFEF"/>
                </a:solidFill>
                <a:latin typeface="Roboto"/>
                <a:ea typeface="Roboto"/>
                <a:cs typeface="Roboto"/>
                <a:sym typeface="Roboto"/>
              </a:rPr>
              <a:t>DashScopeEmbeddings</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model=</a:t>
            </a:r>
            <a:r>
              <a:rPr lang="en-US" sz="1400" b="0" i="0" u="none" strike="noStrike">
                <a:solidFill>
                  <a:srgbClr val="98C379"/>
                </a:solidFill>
                <a:latin typeface="Roboto"/>
                <a:ea typeface="Roboto"/>
                <a:cs typeface="Roboto"/>
                <a:sym typeface="Roboto"/>
              </a:rPr>
              <a:t>"text-embedding-v3"</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dashscope_api_key=dash_scope_api_key</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5C6370"/>
                </a:solidFill>
                <a:latin typeface="Roboto"/>
                <a:ea typeface="Roboto"/>
                <a:cs typeface="Roboto"/>
                <a:sym typeface="Roboto"/>
              </a:rPr>
              <a:t># 嵌入文档列表</a:t>
            </a:r>
            <a:endParaRPr lang="en-US" sz="1400" b="0" i="0" u="none" strike="noStrike">
              <a:solidFill>
                <a:srgbClr val="5C6370"/>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doc_results = embeddings.embed_documents([</a:t>
            </a:r>
            <a:r>
              <a:rPr lang="en-US" sz="1400" b="0" i="0" u="none" strike="noStrike">
                <a:solidFill>
                  <a:srgbClr val="98C379"/>
                </a:solidFill>
                <a:latin typeface="Roboto"/>
                <a:ea typeface="Roboto"/>
                <a:cs typeface="Roboto"/>
                <a:sym typeface="Roboto"/>
              </a:rPr>
              <a:t>"这是一个测试内容！"</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print(f</a:t>
            </a:r>
            <a:r>
              <a:rPr lang="en-US" sz="1400" b="0" i="0" u="none" strike="noStrike">
                <a:solidFill>
                  <a:srgbClr val="98C379"/>
                </a:solidFill>
                <a:latin typeface="Roboto"/>
                <a:ea typeface="Roboto"/>
                <a:cs typeface="Roboto"/>
                <a:sym typeface="Roboto"/>
              </a:rPr>
              <a:t>"向量长度: {len(doc_results[0])}"</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p:txBody>
      </p:sp>
      <p:sp>
        <p:nvSpPr>
          <p:cNvPr id="14" name="AutoShape 14"/>
          <p:cNvSpPr/>
          <p:nvPr/>
        </p:nvSpPr>
        <p:spPr>
          <a:xfrm>
            <a:off x="762000" y="5334000"/>
            <a:ext cx="10668000" cy="762000"/>
          </a:xfrm>
          <a:prstGeom prst="roundRect">
            <a:avLst>
              <a:gd name="adj" fmla="val 16666"/>
            </a:avLst>
          </a:prstGeom>
          <a:solidFill>
            <a:srgbClr val="0277BD">
              <a:alpha val="10000"/>
            </a:srgbClr>
          </a:solidFill>
          <a:ln w="12700" cap="flat" cmpd="sng">
            <a:solidFill>
              <a:srgbClr val="0277BD">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511800"/>
            <a:ext cx="406400" cy="406400"/>
          </a:xfrm>
          <a:prstGeom prst="rect">
            <a:avLst/>
          </a:prstGeom>
        </p:spPr>
      </p:pic>
      <p:sp>
        <p:nvSpPr>
          <p:cNvPr id="16" name="AutoShape 16"/>
          <p:cNvSpPr/>
          <p:nvPr/>
        </p:nvSpPr>
        <p:spPr>
          <a:xfrm>
            <a:off x="1524000" y="5461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注意：</a:t>
            </a:r>
            <a:r>
              <a:rPr lang="en-US" sz="1600" b="0" i="0" u="none" strike="noStrike">
                <a:solidFill>
                  <a:srgbClr val="505050"/>
                </a:solidFill>
                <a:latin typeface="Noto Sans SC"/>
                <a:ea typeface="Noto Sans SC"/>
                <a:cs typeface="Noto Sans SC"/>
                <a:sym typeface="Noto Sans SC"/>
              </a:rPr>
              <a:t>使用前需在阿里云平台申请 API 密钥，并确保环境已安装依赖包 langchain-community 和 dashscope。</a:t>
            </a:r>
            <a:endParaRPr lang="en-US" sz="11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文本嵌入的应用 - Hugging Face嵌入</a:t>
            </a:r>
            <a:endParaRPr lang="en-US" sz="1100"/>
          </a:p>
        </p:txBody>
      </p:sp>
      <p:sp>
        <p:nvSpPr>
          <p:cNvPr id="3" name="AutoShape 3"/>
          <p:cNvSpPr/>
          <p:nvPr/>
        </p:nvSpPr>
        <p:spPr>
          <a:xfrm>
            <a:off x="762000" y="1524000"/>
            <a:ext cx="4318000" cy="3556000"/>
          </a:xfrm>
          <a:prstGeom prst="roundRect">
            <a:avLst>
              <a:gd name="adj" fmla="val 3571"/>
            </a:avLst>
          </a:prstGeom>
          <a:solidFill>
            <a:srgbClr val="FFFFFF">
              <a:alpha val="80000"/>
            </a:srgbClr>
          </a:solidFill>
          <a:ln cap="flat" cmpd="sng">
            <a:solidFill>
              <a:srgbClr val="E6CFCF">
                <a:alpha val="80000"/>
              </a:srgbClr>
            </a:solid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727200"/>
            <a:ext cx="3302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本地化部署与隐私保护</a:t>
            </a:r>
            <a:endParaRPr lang="en-US" sz="1100"/>
          </a:p>
        </p:txBody>
      </p:sp>
      <p:sp>
        <p:nvSpPr>
          <p:cNvPr id="6" name="AutoShape 6"/>
          <p:cNvSpPr/>
          <p:nvPr/>
        </p:nvSpPr>
        <p:spPr>
          <a:xfrm>
            <a:off x="1016000" y="2286000"/>
            <a:ext cx="3810000" cy="228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800" b="0" i="0" u="none" strike="noStrike">
                <a:solidFill>
                  <a:srgbClr val="757575"/>
                </a:solidFill>
                <a:latin typeface="Noto Sans SC"/>
                <a:ea typeface="Noto Sans SC"/>
                <a:cs typeface="Noto Sans SC"/>
                <a:sym typeface="Noto Sans SC"/>
              </a:rPr>
              <a:t>对于有严格隐私要求或希望完全掌控数据的场景，推荐使用 Hugging Face 上的开源模型。</a:t>
            </a:r>
            <a:endParaRPr lang="en-US" sz="1100"/>
          </a:p>
          <a:p>
            <a:pPr indent="0" algn="l">
              <a:lnSpc>
                <a:spcPct val="117000"/>
              </a:lnSpc>
            </a:pPr>
            <a:r>
              <a:rPr lang="en-US" sz="1800" b="0" i="0" u="none" strike="noStrike">
                <a:solidFill>
                  <a:srgbClr val="757575"/>
                </a:solidFill>
                <a:latin typeface="Noto Sans SC"/>
                <a:ea typeface="Noto Sans SC"/>
                <a:cs typeface="Noto Sans SC"/>
                <a:sym typeface="Noto Sans SC"/>
              </a:rPr>
              <a:t>以中文常用的</a:t>
            </a:r>
            <a:r>
              <a:rPr lang="en-US" sz="1800" b="1" i="0" u="none" strike="noStrike">
                <a:solidFill>
                  <a:srgbClr val="0277BD"/>
                </a:solidFill>
                <a:latin typeface="Noto Sans SC"/>
                <a:ea typeface="Noto Sans SC"/>
                <a:cs typeface="Noto Sans SC"/>
                <a:sym typeface="Noto Sans SC"/>
              </a:rPr>
              <a:t>BGE (bge-large-zh-v1.5)</a:t>
            </a:r>
            <a:r>
              <a:rPr lang="en-US" sz="1800" b="0" i="0" u="none" strike="noStrike">
                <a:solidFill>
                  <a:srgbClr val="757575"/>
                </a:solidFill>
                <a:latin typeface="Noto Sans SC"/>
                <a:ea typeface="Noto Sans SC"/>
                <a:cs typeface="Noto Sans SC"/>
                <a:sym typeface="Noto Sans SC"/>
              </a:rPr>
              <a:t>模型为例，通过 LangChain 可以快速加载并使用。</a:t>
            </a:r>
            <a:endParaRPr lang="en-US" sz="18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5334000" y="1524000"/>
            <a:ext cx="6096000" cy="3556000"/>
          </a:xfrm>
          <a:prstGeom prst="roundRect">
            <a:avLst>
              <a:gd name="adj" fmla="val 3571"/>
            </a:avLst>
          </a:prstGeom>
          <a:solidFill>
            <a:srgbClr val="1E1E1E">
              <a:alpha val="100000"/>
            </a:srgbClr>
          </a:solidFill>
          <a:ln w="25400" cap="flat" cmpd="sng">
            <a:noFill/>
            <a:prstDash val="solid"/>
            <a:round/>
          </a:ln>
          <a:effectLst>
            <a:outerShdw blurRad="127000" dist="63500" dir="2700000" algn="tl" rotWithShape="0">
              <a:srgbClr val="000000">
                <a:alpha val="20000"/>
              </a:srgbClr>
            </a:outerShdw>
          </a:effectLst>
        </p:spPr>
        <p:txBody>
          <a:bodyPr vert="horz" wrap="square" lIns="63500" tIns="63500" rIns="63500" bIns="63500" rtlCol="0" anchor="ctr"/>
          <a:lstStyle/>
          <a:p>
            <a:pPr algn="ctr">
              <a:defRPr/>
            </a:pPr>
          </a:p>
        </p:txBody>
      </p:sp>
      <p:sp>
        <p:nvSpPr>
          <p:cNvPr id="8" name="AutoShape 8"/>
          <p:cNvSpPr/>
          <p:nvPr/>
        </p:nvSpPr>
        <p:spPr>
          <a:xfrm>
            <a:off x="5588000" y="1714500"/>
            <a:ext cx="558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969696"/>
                </a:solidFill>
                <a:latin typeface="Roboto"/>
                <a:ea typeface="Roboto"/>
                <a:cs typeface="Roboto"/>
                <a:sym typeface="Roboto"/>
              </a:rPr>
              <a:t># 使用 Hugging Face Embeddings 进行文本向量化</a:t>
            </a:r>
            <a:endParaRPr lang="en-US" sz="1100"/>
          </a:p>
        </p:txBody>
      </p:sp>
      <p:sp>
        <p:nvSpPr>
          <p:cNvPr id="9" name="AutoShape 9"/>
          <p:cNvSpPr/>
          <p:nvPr/>
        </p:nvSpPr>
        <p:spPr>
          <a:xfrm>
            <a:off x="5588000" y="2095500"/>
            <a:ext cx="5588000" cy="279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E06C75"/>
                </a:solidFill>
                <a:latin typeface="Roboto"/>
                <a:ea typeface="Roboto"/>
                <a:cs typeface="Roboto"/>
                <a:sym typeface="Roboto"/>
              </a:rPr>
              <a:t>from</a:t>
            </a:r>
            <a:r>
              <a:rPr lang="en-US" sz="1400" b="0" i="0" u="none" strike="noStrike">
                <a:solidFill>
                  <a:srgbClr val="D19A66"/>
                </a:solidFill>
                <a:latin typeface="Roboto"/>
                <a:ea typeface="Roboto"/>
                <a:cs typeface="Roboto"/>
                <a:sym typeface="Roboto"/>
              </a:rPr>
              <a:t>langchain_community.embeddings</a:t>
            </a:r>
            <a:r>
              <a:rPr lang="en-US" sz="1400" b="0" i="0" u="none" strike="noStrike">
                <a:solidFill>
                  <a:srgbClr val="E06C75"/>
                </a:solidFill>
                <a:latin typeface="Roboto"/>
                <a:ea typeface="Roboto"/>
                <a:cs typeface="Roboto"/>
                <a:sym typeface="Roboto"/>
              </a:rPr>
              <a:t>import</a:t>
            </a:r>
            <a:r>
              <a:rPr lang="en-US" sz="1400" b="0" i="0" u="none" strike="noStrike">
                <a:solidFill>
                  <a:srgbClr val="D19A66"/>
                </a:solidFill>
                <a:latin typeface="Roboto"/>
                <a:ea typeface="Roboto"/>
                <a:cs typeface="Roboto"/>
                <a:sym typeface="Roboto"/>
              </a:rPr>
              <a:t>HuggingFaceEmbeddings</a:t>
            </a:r>
            <a:endParaRPr lang="en-US" sz="1100"/>
          </a:p>
          <a:p>
            <a:pPr indent="0" algn="l">
              <a:lnSpc>
                <a:spcPct val="100000"/>
              </a:lnSpc>
            </a:pPr>
          </a:p>
          <a:p>
            <a:pPr indent="0" algn="l">
              <a:lnSpc>
                <a:spcPct val="100000"/>
              </a:lnSpc>
            </a:pPr>
            <a:r>
              <a:rPr lang="en-US" sz="1400" b="0" i="0" u="none" strike="noStrike">
                <a:solidFill>
                  <a:srgbClr val="98C379"/>
                </a:solidFill>
                <a:latin typeface="Roboto"/>
                <a:ea typeface="Roboto"/>
                <a:cs typeface="Roboto"/>
                <a:sym typeface="Roboto"/>
              </a:rPr>
              <a:t># 指定开源模型名称 (BGE中文模型)</a:t>
            </a:r>
            <a:endParaRPr lang="en-US" sz="1400" b="0" i="0" u="none" strike="noStrike">
              <a:solidFill>
                <a:srgbClr val="98C379"/>
              </a:solidFill>
              <a:latin typeface="Roboto"/>
              <a:ea typeface="Roboto"/>
              <a:cs typeface="Roboto"/>
              <a:sym typeface="Roboto"/>
            </a:endParaRPr>
          </a:p>
          <a:p>
            <a:pPr indent="0" algn="l">
              <a:lnSpc>
                <a:spcPct val="100000"/>
              </a:lnSpc>
            </a:pPr>
            <a:r>
              <a:rPr lang="en-US" sz="1400" b="0" i="0" u="none" strike="noStrike">
                <a:solidFill>
                  <a:srgbClr val="D19A66"/>
                </a:solidFill>
                <a:latin typeface="Roboto"/>
                <a:ea typeface="Roboto"/>
                <a:cs typeface="Roboto"/>
                <a:sym typeface="Roboto"/>
              </a:rPr>
              <a:t>model_name =</a:t>
            </a:r>
            <a:r>
              <a:rPr lang="en-US" sz="1400" b="0" i="0" u="none" strike="noStrike">
                <a:solidFill>
                  <a:srgbClr val="98C379"/>
                </a:solidFill>
                <a:latin typeface="Roboto"/>
                <a:ea typeface="Roboto"/>
                <a:cs typeface="Roboto"/>
                <a:sym typeface="Roboto"/>
              </a:rPr>
              <a:t>"bge-large-zh-v1.5"</a:t>
            </a:r>
            <a:endParaRPr lang="en-US" sz="1400" b="0" i="0" u="none" strike="noStrike">
              <a:solidFill>
                <a:srgbClr val="98C379"/>
              </a:solidFill>
              <a:latin typeface="Roboto"/>
              <a:ea typeface="Roboto"/>
              <a:cs typeface="Roboto"/>
              <a:sym typeface="Roboto"/>
            </a:endParaRPr>
          </a:p>
          <a:p>
            <a:pPr indent="0" algn="l">
              <a:lnSpc>
                <a:spcPct val="100000"/>
              </a:lnSpc>
            </a:pPr>
            <a:r>
              <a:rPr lang="en-US" sz="1400" b="0" i="0" u="none" strike="noStrike">
                <a:solidFill>
                  <a:srgbClr val="D19A66"/>
                </a:solidFill>
                <a:latin typeface="Roboto"/>
                <a:ea typeface="Roboto"/>
                <a:cs typeface="Roboto"/>
                <a:sym typeface="Roboto"/>
              </a:rPr>
              <a:t>embeddings = HuggingFaceEmbeddings(model_name=model_name)</a:t>
            </a:r>
            <a:endParaRPr lang="en-US" sz="1400" b="0" i="0" u="none" strike="noStrike">
              <a:solidFill>
                <a:srgbClr val="D19A66"/>
              </a:solidFill>
              <a:latin typeface="Roboto"/>
              <a:ea typeface="Roboto"/>
              <a:cs typeface="Roboto"/>
              <a:sym typeface="Roboto"/>
            </a:endParaRPr>
          </a:p>
          <a:p>
            <a:pPr indent="0" algn="l">
              <a:lnSpc>
                <a:spcPct val="100000"/>
              </a:lnSpc>
            </a:pPr>
          </a:p>
          <a:p>
            <a:pPr indent="0" algn="l">
              <a:lnSpc>
                <a:spcPct val="100000"/>
              </a:lnSpc>
            </a:pPr>
            <a:r>
              <a:rPr lang="en-US" sz="1400" b="0" i="0" u="none" strike="noStrike">
                <a:solidFill>
                  <a:srgbClr val="98C379"/>
                </a:solidFill>
                <a:latin typeface="Roboto"/>
                <a:ea typeface="Roboto"/>
                <a:cs typeface="Roboto"/>
                <a:sym typeface="Roboto"/>
              </a:rPr>
              <a:t># 文本嵌入示例</a:t>
            </a:r>
            <a:endParaRPr lang="en-US" sz="1400" b="0" i="0" u="none" strike="noStrike">
              <a:solidFill>
                <a:srgbClr val="98C379"/>
              </a:solidFill>
              <a:latin typeface="Roboto"/>
              <a:ea typeface="Roboto"/>
              <a:cs typeface="Roboto"/>
              <a:sym typeface="Roboto"/>
            </a:endParaRPr>
          </a:p>
          <a:p>
            <a:pPr indent="0" algn="l">
              <a:lnSpc>
                <a:spcPct val="100000"/>
              </a:lnSpc>
            </a:pPr>
            <a:r>
              <a:rPr lang="en-US" sz="1400" b="0" i="0" u="none" strike="noStrike">
                <a:solidFill>
                  <a:srgbClr val="D19A66"/>
                </a:solidFill>
                <a:latin typeface="Roboto"/>
                <a:ea typeface="Roboto"/>
                <a:cs typeface="Roboto"/>
                <a:sym typeface="Roboto"/>
              </a:rPr>
              <a:t>text =</a:t>
            </a:r>
            <a:r>
              <a:rPr lang="en-US" sz="1400" b="0" i="0" u="none" strike="noStrike">
                <a:solidFill>
                  <a:srgbClr val="98C379"/>
                </a:solidFill>
                <a:latin typeface="Roboto"/>
                <a:ea typeface="Roboto"/>
                <a:cs typeface="Roboto"/>
                <a:sym typeface="Roboto"/>
              </a:rPr>
              <a:t>"这是一个测试内容！"</a:t>
            </a:r>
            <a:endParaRPr lang="en-US" sz="1400" b="0" i="0" u="none" strike="noStrike">
              <a:solidFill>
                <a:srgbClr val="98C379"/>
              </a:solidFill>
              <a:latin typeface="Roboto"/>
              <a:ea typeface="Roboto"/>
              <a:cs typeface="Roboto"/>
              <a:sym typeface="Roboto"/>
            </a:endParaRPr>
          </a:p>
          <a:p>
            <a:pPr indent="0" algn="l">
              <a:lnSpc>
                <a:spcPct val="100000"/>
              </a:lnSpc>
            </a:pPr>
            <a:r>
              <a:rPr lang="en-US" sz="1400" b="0" i="0" u="none" strike="noStrike">
                <a:solidFill>
                  <a:srgbClr val="D19A66"/>
                </a:solidFill>
                <a:latin typeface="Roboto"/>
                <a:ea typeface="Roboto"/>
                <a:cs typeface="Roboto"/>
                <a:sym typeface="Roboto"/>
              </a:rPr>
              <a:t>doc_result = embeddings.embed_documents([text])</a:t>
            </a:r>
            <a:endParaRPr lang="en-US" sz="1400" b="0" i="0" u="none" strike="noStrike">
              <a:solidFill>
                <a:srgbClr val="D19A66"/>
              </a:solidFill>
              <a:latin typeface="Roboto"/>
              <a:ea typeface="Roboto"/>
              <a:cs typeface="Roboto"/>
              <a:sym typeface="Roboto"/>
            </a:endParaRPr>
          </a:p>
          <a:p>
            <a:pPr indent="0" algn="l">
              <a:lnSpc>
                <a:spcPct val="100000"/>
              </a:lnSpc>
            </a:pPr>
            <a:r>
              <a:rPr lang="en-US" sz="1400" b="0" i="0" u="none" strike="noStrike">
                <a:solidFill>
                  <a:srgbClr val="D19A66"/>
                </a:solidFill>
                <a:latin typeface="Roboto"/>
                <a:ea typeface="Roboto"/>
                <a:cs typeface="Roboto"/>
                <a:sym typeface="Roboto"/>
              </a:rPr>
              <a:t>query_result = embeddings.embed_query(text)</a:t>
            </a:r>
            <a:endParaRPr lang="en-US" sz="1400" b="0" i="0" u="none" strike="noStrike">
              <a:solidFill>
                <a:srgbClr val="D19A66"/>
              </a:solidFill>
              <a:latin typeface="Roboto"/>
              <a:ea typeface="Roboto"/>
              <a:cs typeface="Roboto"/>
              <a:sym typeface="Roboto"/>
            </a:endParaRPr>
          </a:p>
        </p:txBody>
      </p:sp>
      <p:sp>
        <p:nvSpPr>
          <p:cNvPr id="10" name="AutoShape 10"/>
          <p:cNvSpPr/>
          <p:nvPr/>
        </p:nvSpPr>
        <p:spPr>
          <a:xfrm>
            <a:off x="762000" y="5334000"/>
            <a:ext cx="10668000" cy="762000"/>
          </a:xfrm>
          <a:prstGeom prst="roundRect">
            <a:avLst>
              <a:gd name="adj" fmla="val 16666"/>
            </a:avLst>
          </a:prstGeom>
          <a:solidFill>
            <a:srgbClr val="0277BD">
              <a:alpha val="10000"/>
            </a:srgbClr>
          </a:solidFill>
          <a:ln w="12700" cap="flat" cmpd="sng">
            <a:solidFill>
              <a:srgbClr val="0277BD">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511800"/>
            <a:ext cx="355600" cy="355600"/>
          </a:xfrm>
          <a:prstGeom prst="rect">
            <a:avLst/>
          </a:prstGeom>
        </p:spPr>
      </p:pic>
      <p:sp>
        <p:nvSpPr>
          <p:cNvPr id="12" name="AutoShape 12"/>
          <p:cNvSpPr/>
          <p:nvPr/>
        </p:nvSpPr>
        <p:spPr>
          <a:xfrm>
            <a:off x="1524000" y="5461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核心优势：</a:t>
            </a:r>
            <a:r>
              <a:rPr lang="en-US" sz="1800" b="0" i="0" u="none" strike="noStrike">
                <a:solidFill>
                  <a:srgbClr val="757575"/>
                </a:solidFill>
                <a:latin typeface="Noto Sans SC"/>
                <a:ea typeface="Noto Sans SC"/>
                <a:cs typeface="Noto Sans SC"/>
                <a:sym typeface="Noto Sans SC"/>
              </a:rPr>
              <a:t>无需依赖外部API，数据不出本地，安全可控；支持多种开源模型，灵活性高。</a:t>
            </a:r>
            <a:endParaRPr lang="en-US" sz="11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2.3.2 文本嵌入的应用 - 自定义嵌入模型</a:t>
            </a:r>
            <a:endParaRPr lang="en-US" sz="1100"/>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651000"/>
            <a:ext cx="609600" cy="609600"/>
          </a:xfrm>
          <a:prstGeom prst="rect">
            <a:avLst/>
          </a:prstGeom>
        </p:spPr>
      </p:pic>
      <p:sp>
        <p:nvSpPr>
          <p:cNvPr id="4" name="AutoShape 4"/>
          <p:cNvSpPr/>
          <p:nvPr/>
        </p:nvSpPr>
        <p:spPr>
          <a:xfrm>
            <a:off x="1524000" y="1625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接入自研模型</a:t>
            </a:r>
            <a:endParaRPr lang="en-US" sz="1100"/>
          </a:p>
        </p:txBody>
      </p:sp>
      <p:sp>
        <p:nvSpPr>
          <p:cNvPr id="5" name="AutoShape 5"/>
          <p:cNvSpPr/>
          <p:nvPr/>
        </p:nvSpPr>
        <p:spPr>
          <a:xfrm>
            <a:off x="762000" y="2286000"/>
            <a:ext cx="4318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757575"/>
                </a:solidFill>
                <a:latin typeface="Noto Sans SC"/>
                <a:ea typeface="Noto Sans SC"/>
                <a:cs typeface="Noto Sans SC"/>
                <a:sym typeface="Noto Sans SC"/>
              </a:rPr>
              <a:t>如果拥有自研的嵌入模型，只需实现 LangChain 提供的</a:t>
            </a:r>
            <a:r>
              <a:rPr lang="en-US" sz="2000" b="1" i="0" u="none" strike="noStrike">
                <a:solidFill>
                  <a:srgbClr val="0277BD"/>
                </a:solidFill>
                <a:latin typeface="Roboto"/>
                <a:ea typeface="Roboto"/>
                <a:cs typeface="Roboto"/>
                <a:sym typeface="Roboto"/>
              </a:rPr>
              <a:t>Embeddings</a:t>
            </a:r>
            <a:r>
              <a:rPr lang="en-US" sz="2000" b="0" i="0" u="none" strike="noStrike">
                <a:solidFill>
                  <a:srgbClr val="757575"/>
                </a:solidFill>
                <a:latin typeface="Noto Sans SC"/>
                <a:ea typeface="Noto Sans SC"/>
                <a:cs typeface="Noto Sans SC"/>
                <a:sym typeface="Noto Sans SC"/>
              </a:rPr>
              <a:t>接口，即可无缝集成。</a:t>
            </a:r>
            <a:endParaRPr lang="en-US" sz="1100"/>
          </a:p>
          <a:p>
            <a:pPr indent="0" algn="l">
              <a:lnSpc>
                <a:spcPct val="125000"/>
              </a:lnSpc>
            </a:pPr>
            <a:r>
              <a:rPr lang="en-US" sz="2000" b="0" i="0" u="none" strike="noStrike">
                <a:solidFill>
                  <a:srgbClr val="757575"/>
                </a:solidFill>
                <a:latin typeface="Noto Sans SC"/>
                <a:ea typeface="Noto Sans SC"/>
                <a:cs typeface="Noto Sans SC"/>
                <a:sym typeface="Noto Sans SC"/>
              </a:rPr>
              <a:t>核心步骤：</a:t>
            </a:r>
            <a:endParaRPr lang="en-US" sz="2000" b="0" i="0" u="none" strike="noStrike">
              <a:solidFill>
                <a:srgbClr val="757575"/>
              </a:solidFill>
              <a:latin typeface="Noto Sans SC"/>
              <a:ea typeface="Noto Sans SC"/>
              <a:cs typeface="Noto Sans SC"/>
              <a:sym typeface="Noto Sans SC"/>
            </a:endParaRPr>
          </a:p>
          <a:p>
            <a:pPr marL="228600" indent="-228600" algn="l">
              <a:lnSpc>
                <a:spcPct val="125000"/>
              </a:lnSpc>
              <a:buClr>
                <a:srgbClr val="757575"/>
              </a:buClr>
              <a:buChar char="•"/>
            </a:pPr>
            <a:r>
              <a:rPr lang="en-US" sz="1800" b="0" i="0" u="none" strike="noStrike">
                <a:solidFill>
                  <a:srgbClr val="757575"/>
                </a:solidFill>
                <a:latin typeface="Noto Sans SC"/>
                <a:ea typeface="Noto Sans SC"/>
                <a:cs typeface="Noto Sans SC"/>
                <a:sym typeface="Noto Sans SC"/>
              </a:rPr>
              <a:t>继承 Embeddings 基类</a:t>
            </a:r>
            <a:endParaRPr lang="en-US" sz="1800" b="0" i="0" u="none" strike="noStrike">
              <a:solidFill>
                <a:srgbClr val="757575"/>
              </a:solidFill>
              <a:latin typeface="Noto Sans SC"/>
              <a:ea typeface="Noto Sans SC"/>
              <a:cs typeface="Noto Sans SC"/>
              <a:sym typeface="Noto Sans SC"/>
            </a:endParaRPr>
          </a:p>
          <a:p>
            <a:pPr marL="228600" indent="-228600" algn="l">
              <a:lnSpc>
                <a:spcPct val="125000"/>
              </a:lnSpc>
              <a:buClr>
                <a:srgbClr val="757575"/>
              </a:buClr>
              <a:buChar char="•"/>
            </a:pPr>
            <a:r>
              <a:rPr lang="en-US" sz="1800" b="0" i="0" u="none" strike="noStrike">
                <a:solidFill>
                  <a:srgbClr val="757575"/>
                </a:solidFill>
                <a:latin typeface="Noto Sans SC"/>
                <a:ea typeface="Noto Sans SC"/>
                <a:cs typeface="Noto Sans SC"/>
                <a:sym typeface="Noto Sans SC"/>
              </a:rPr>
              <a:t>实现</a:t>
            </a:r>
            <a:r>
              <a:rPr lang="en-US" sz="1800" b="0" i="0" u="none" strike="noStrike">
                <a:solidFill>
                  <a:srgbClr val="0277BD"/>
                </a:solidFill>
                <a:latin typeface="Roboto"/>
                <a:ea typeface="Roboto"/>
                <a:cs typeface="Roboto"/>
                <a:sym typeface="Roboto"/>
              </a:rPr>
              <a:t>embed_documents</a:t>
            </a:r>
            <a:r>
              <a:rPr lang="en-US" sz="1800" b="0" i="0" u="none" strike="noStrike">
                <a:solidFill>
                  <a:srgbClr val="757575"/>
                </a:solidFill>
                <a:latin typeface="Noto Sans SC"/>
                <a:ea typeface="Noto Sans SC"/>
                <a:cs typeface="Noto Sans SC"/>
                <a:sym typeface="Noto Sans SC"/>
              </a:rPr>
              <a:t>方法</a:t>
            </a:r>
            <a:endParaRPr lang="en-US" sz="1800" b="0" i="0" u="none" strike="noStrike">
              <a:solidFill>
                <a:srgbClr val="757575"/>
              </a:solidFill>
              <a:latin typeface="Noto Sans SC"/>
              <a:ea typeface="Noto Sans SC"/>
              <a:cs typeface="Noto Sans SC"/>
              <a:sym typeface="Noto Sans SC"/>
            </a:endParaRPr>
          </a:p>
          <a:p>
            <a:pPr marL="228600" indent="-228600" algn="l">
              <a:lnSpc>
                <a:spcPct val="125000"/>
              </a:lnSpc>
              <a:buClr>
                <a:srgbClr val="757575"/>
              </a:buClr>
              <a:buChar char="•"/>
            </a:pPr>
            <a:r>
              <a:rPr lang="en-US" sz="1800" b="0" i="0" u="none" strike="noStrike">
                <a:solidFill>
                  <a:srgbClr val="757575"/>
                </a:solidFill>
                <a:latin typeface="Noto Sans SC"/>
                <a:ea typeface="Noto Sans SC"/>
                <a:cs typeface="Noto Sans SC"/>
                <a:sym typeface="Noto Sans SC"/>
              </a:rPr>
              <a:t>实现</a:t>
            </a:r>
            <a:r>
              <a:rPr lang="en-US" sz="1800" b="0" i="0" u="none" strike="noStrike">
                <a:solidFill>
                  <a:srgbClr val="0277BD"/>
                </a:solidFill>
                <a:latin typeface="Roboto"/>
                <a:ea typeface="Roboto"/>
                <a:cs typeface="Roboto"/>
                <a:sym typeface="Roboto"/>
              </a:rPr>
              <a:t>embed_query</a:t>
            </a:r>
            <a:r>
              <a:rPr lang="en-US" sz="1800" b="0" i="0" u="none" strike="noStrike">
                <a:solidFill>
                  <a:srgbClr val="757575"/>
                </a:solidFill>
                <a:latin typeface="Noto Sans SC"/>
                <a:ea typeface="Noto Sans SC"/>
                <a:cs typeface="Noto Sans SC"/>
                <a:sym typeface="Noto Sans SC"/>
              </a:rPr>
              <a:t>方法</a:t>
            </a:r>
            <a:endParaRPr lang="en-US" sz="1800" b="0" i="0" u="none" strike="noStrike">
              <a:solidFill>
                <a:srgbClr val="757575"/>
              </a:solidFill>
              <a:latin typeface="Noto Sans SC"/>
              <a:ea typeface="Noto Sans SC"/>
              <a:cs typeface="Noto Sans SC"/>
              <a:sym typeface="Noto Sans SC"/>
            </a:endParaRPr>
          </a:p>
        </p:txBody>
      </p:sp>
      <p:sp>
        <p:nvSpPr>
          <p:cNvPr id="6" name="AutoShape 6"/>
          <p:cNvSpPr/>
          <p:nvPr/>
        </p:nvSpPr>
        <p:spPr>
          <a:xfrm>
            <a:off x="5334000" y="1524000"/>
            <a:ext cx="6096000" cy="3556000"/>
          </a:xfrm>
          <a:prstGeom prst="roundRect">
            <a:avLst>
              <a:gd name="adj" fmla="val 3571"/>
            </a:avLst>
          </a:prstGeom>
          <a:solidFill>
            <a:srgbClr val="FFFFFF">
              <a:alpha val="100000"/>
            </a:srgbClr>
          </a:solidFill>
          <a:ln w="25400" cap="flat" cmpd="sng">
            <a:noFill/>
            <a:prstDash val="solid"/>
            <a:round/>
          </a:ln>
          <a:effectLst>
            <a:outerShdw blurRad="254000" dist="127000" dir="2700000" algn="tl" rotWithShape="0">
              <a:srgbClr val="0277BD">
                <a:alpha val="15000"/>
              </a:srgbClr>
            </a:outerShdw>
          </a:effectLst>
        </p:spPr>
        <p:txBody>
          <a:bodyPr vert="horz" wrap="square" lIns="63500" tIns="63500" rIns="63500" bIns="63500" rtlCol="0" anchor="ctr"/>
          <a:lstStyle/>
          <a:p>
            <a:pPr algn="ctr">
              <a:defRPr/>
            </a:pPr>
          </a:p>
        </p:txBody>
      </p:sp>
      <p:sp>
        <p:nvSpPr>
          <p:cNvPr id="7" name="AutoShape 7"/>
          <p:cNvSpPr/>
          <p:nvPr/>
        </p:nvSpPr>
        <p:spPr>
          <a:xfrm>
            <a:off x="5334000" y="1524000"/>
            <a:ext cx="6096000" cy="406400"/>
          </a:xfrm>
          <a:prstGeom prst="roundRect">
            <a:avLst>
              <a:gd name="adj" fmla="val 0"/>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461000" y="15748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77BD"/>
                </a:solidFill>
                <a:latin typeface="Roboto"/>
                <a:ea typeface="Roboto"/>
                <a:cs typeface="Roboto"/>
                <a:sym typeface="Roboto"/>
              </a:rPr>
              <a:t>Python Implementation</a:t>
            </a:r>
            <a:endParaRPr lang="en-US" sz="1100"/>
          </a:p>
        </p:txBody>
      </p:sp>
      <p:sp>
        <p:nvSpPr>
          <p:cNvPr id="9" name="AutoShape 9"/>
          <p:cNvSpPr/>
          <p:nvPr/>
        </p:nvSpPr>
        <p:spPr>
          <a:xfrm>
            <a:off x="5461000" y="2032000"/>
            <a:ext cx="5842000" cy="2794000"/>
          </a:xfrm>
          <a:prstGeom prst="rect">
            <a:avLst/>
          </a:prstGeom>
          <a:noFill/>
          <a:ln w="12700" cap="flat" cmpd="sng">
            <a:noFill/>
            <a:prstDash val="solid"/>
            <a:round/>
          </a:ln>
        </p:spPr>
        <p:txBody>
          <a:bodyPr vert="horz" wrap="square" lIns="0" tIns="0" rIns="0" bIns="0" rtlCol="0" anchor="ctr" anchorCtr="0"/>
          <a:lstStyle/>
          <a:p>
            <a:pPr indent="0" algn="l">
              <a:lnSpc>
                <a:spcPts val="2200"/>
              </a:lnSpc>
              <a:defRPr/>
            </a:pPr>
            <a:r>
              <a:rPr lang="en-US" sz="1400" b="0" i="0" u="none" strike="noStrike">
                <a:solidFill>
                  <a:srgbClr val="757575"/>
                </a:solidFill>
                <a:latin typeface="Roboto"/>
                <a:ea typeface="Roboto"/>
                <a:cs typeface="Roboto"/>
                <a:sym typeface="Roboto"/>
              </a:rPr>
              <a:t># 导入必要模块</a:t>
            </a:r>
            <a:endParaRPr lang="en-US" sz="1100"/>
          </a:p>
          <a:p>
            <a:pPr indent="0" algn="l">
              <a:lnSpc>
                <a:spcPts val="2200"/>
              </a:lnSpc>
            </a:pPr>
            <a:r>
              <a:rPr lang="en-US" sz="1400" b="0" i="0" u="none" strike="noStrike">
                <a:solidFill>
                  <a:srgbClr val="0277BD"/>
                </a:solidFill>
                <a:latin typeface="Roboto"/>
                <a:ea typeface="Roboto"/>
                <a:cs typeface="Roboto"/>
                <a:sym typeface="Roboto"/>
              </a:rPr>
              <a:t>from</a:t>
            </a:r>
            <a:r>
              <a:rPr lang="en-US" sz="1400" b="0" i="0" u="none" strike="noStrike">
                <a:solidFill>
                  <a:srgbClr val="333333"/>
                </a:solidFill>
                <a:latin typeface="Roboto"/>
                <a:ea typeface="Roboto"/>
                <a:cs typeface="Roboto"/>
                <a:sym typeface="Roboto"/>
              </a:rPr>
              <a:t>langchain_core.embeddings</a:t>
            </a:r>
            <a:r>
              <a:rPr lang="en-US" sz="1400" b="0" i="0" u="none" strike="noStrike">
                <a:solidFill>
                  <a:srgbClr val="0277BD"/>
                </a:solidFill>
                <a:latin typeface="Roboto"/>
                <a:ea typeface="Roboto"/>
                <a:cs typeface="Roboto"/>
                <a:sym typeface="Roboto"/>
              </a:rPr>
              <a:t>import</a:t>
            </a:r>
            <a:r>
              <a:rPr lang="en-US" sz="1400" b="0" i="0" u="none" strike="noStrike">
                <a:solidFill>
                  <a:srgbClr val="333333"/>
                </a:solidFill>
                <a:latin typeface="Roboto"/>
                <a:ea typeface="Roboto"/>
                <a:cs typeface="Roboto"/>
                <a:sym typeface="Roboto"/>
              </a:rPr>
              <a:t>Embeddings</a:t>
            </a:r>
            <a:endParaRPr lang="en-US" sz="1400" b="0" i="0" u="none" strike="noStrike">
              <a:solidFill>
                <a:srgbClr val="333333"/>
              </a:solidFill>
              <a:latin typeface="Roboto"/>
              <a:ea typeface="Roboto"/>
              <a:cs typeface="Roboto"/>
              <a:sym typeface="Roboto"/>
            </a:endParaRPr>
          </a:p>
          <a:p>
            <a:pPr indent="0" algn="l">
              <a:lnSpc>
                <a:spcPts val="2200"/>
              </a:lnSpc>
            </a:pPr>
            <a:r>
              <a:rPr lang="en-US" sz="1400" b="0" i="0" u="none" strike="noStrike">
                <a:solidFill>
                  <a:srgbClr val="0277BD"/>
                </a:solidFill>
                <a:latin typeface="Roboto"/>
                <a:ea typeface="Roboto"/>
                <a:cs typeface="Roboto"/>
                <a:sym typeface="Roboto"/>
              </a:rPr>
              <a:t>import</a:t>
            </a:r>
            <a:r>
              <a:rPr lang="en-US" sz="1400" b="0" i="0" u="none" strike="noStrike">
                <a:solidFill>
                  <a:srgbClr val="333333"/>
                </a:solidFill>
                <a:latin typeface="Roboto"/>
                <a:ea typeface="Roboto"/>
                <a:cs typeface="Roboto"/>
                <a:sym typeface="Roboto"/>
              </a:rPr>
              <a:t>numpy</a:t>
            </a:r>
            <a:r>
              <a:rPr lang="en-US" sz="1400" b="0" i="0" u="none" strike="noStrike">
                <a:solidFill>
                  <a:srgbClr val="0277BD"/>
                </a:solidFill>
                <a:latin typeface="Roboto"/>
                <a:ea typeface="Roboto"/>
                <a:cs typeface="Roboto"/>
                <a:sym typeface="Roboto"/>
              </a:rPr>
              <a:t>as</a:t>
            </a:r>
            <a:r>
              <a:rPr lang="en-US" sz="1400" b="0" i="0" u="none" strike="noStrike">
                <a:solidFill>
                  <a:srgbClr val="333333"/>
                </a:solidFill>
                <a:latin typeface="Roboto"/>
                <a:ea typeface="Roboto"/>
                <a:cs typeface="Roboto"/>
                <a:sym typeface="Roboto"/>
              </a:rPr>
              <a:t>np</a:t>
            </a:r>
            <a:endParaRPr lang="en-US" sz="1400" b="0" i="0" u="none" strike="noStrike">
              <a:solidFill>
                <a:srgbClr val="333333"/>
              </a:solidFill>
              <a:latin typeface="Roboto"/>
              <a:ea typeface="Roboto"/>
              <a:cs typeface="Roboto"/>
              <a:sym typeface="Roboto"/>
            </a:endParaRPr>
          </a:p>
          <a:p>
            <a:pPr indent="0" algn="l">
              <a:lnSpc>
                <a:spcPts val="2200"/>
              </a:lnSpc>
            </a:pPr>
            <a:r>
              <a:rPr lang="en-US" sz="1400" b="0" i="0" u="none" strike="noStrike">
                <a:solidFill>
                  <a:srgbClr val="0277BD"/>
                </a:solidFill>
                <a:latin typeface="Roboto"/>
                <a:ea typeface="Roboto"/>
                <a:cs typeface="Roboto"/>
                <a:sym typeface="Roboto"/>
              </a:rPr>
              <a:t>classCustomEmbeddings</a:t>
            </a:r>
            <a:r>
              <a:rPr lang="en-US" sz="1400" b="0" i="0" u="none" strike="noStrike">
                <a:solidFill>
                  <a:srgbClr val="333333"/>
                </a:solidFill>
                <a:latin typeface="Roboto"/>
                <a:ea typeface="Roboto"/>
                <a:cs typeface="Roboto"/>
                <a:sym typeface="Roboto"/>
              </a:rPr>
              <a:t>(Embeddings):</a:t>
            </a:r>
            <a:endParaRPr lang="en-US" sz="1400" b="0" i="0" u="none" strike="noStrike">
              <a:solidFill>
                <a:srgbClr val="333333"/>
              </a:solidFill>
              <a:latin typeface="Roboto"/>
              <a:ea typeface="Roboto"/>
              <a:cs typeface="Roboto"/>
              <a:sym typeface="Roboto"/>
            </a:endParaRPr>
          </a:p>
          <a:p>
            <a:pPr indent="0" algn="l">
              <a:lnSpc>
                <a:spcPts val="2200"/>
              </a:lnSpc>
            </a:pPr>
            <a:r>
              <a:rPr lang="en-US" sz="1400" b="0" i="0" u="none" strike="noStrike">
                <a:solidFill>
                  <a:srgbClr val="757575"/>
                </a:solidFill>
                <a:latin typeface="Roboto"/>
                <a:ea typeface="Roboto"/>
                <a:cs typeface="Roboto"/>
                <a:sym typeface="Roboto"/>
              </a:rPr>
              <a:t>"""自定义嵌入模型示例"""</a:t>
            </a:r>
            <a:endParaRPr lang="en-US" sz="1400" b="0" i="0" u="none" strike="noStrike">
              <a:solidFill>
                <a:srgbClr val="757575"/>
              </a:solidFill>
              <a:latin typeface="Roboto"/>
              <a:ea typeface="Roboto"/>
              <a:cs typeface="Roboto"/>
              <a:sym typeface="Roboto"/>
            </a:endParaRPr>
          </a:p>
          <a:p>
            <a:pPr indent="0" algn="l">
              <a:lnSpc>
                <a:spcPts val="2200"/>
              </a:lnSpc>
            </a:pPr>
            <a:r>
              <a:rPr lang="en-US" sz="1400" b="0" i="0" u="none" strike="noStrike">
                <a:solidFill>
                  <a:srgbClr val="0277BD"/>
                </a:solidFill>
                <a:latin typeface="Roboto"/>
                <a:ea typeface="Roboto"/>
                <a:cs typeface="Roboto"/>
                <a:sym typeface="Roboto"/>
              </a:rPr>
              <a:t>def</a:t>
            </a:r>
            <a:r>
              <a:rPr lang="en-US" sz="1400" b="0" i="0" u="none" strike="noStrike">
                <a:solidFill>
                  <a:srgbClr val="333333"/>
                </a:solidFill>
                <a:latin typeface="Roboto"/>
                <a:ea typeface="Roboto"/>
                <a:cs typeface="Roboto"/>
                <a:sym typeface="Roboto"/>
              </a:rPr>
              <a:t>embed_documents(self, texts):</a:t>
            </a:r>
            <a:endParaRPr lang="en-US" sz="1400" b="0" i="0" u="none" strike="noStrike">
              <a:solidFill>
                <a:srgbClr val="333333"/>
              </a:solidFill>
              <a:latin typeface="Roboto"/>
              <a:ea typeface="Roboto"/>
              <a:cs typeface="Roboto"/>
              <a:sym typeface="Roboto"/>
            </a:endParaRPr>
          </a:p>
          <a:p>
            <a:pPr indent="0" algn="l">
              <a:lnSpc>
                <a:spcPts val="2200"/>
              </a:lnSpc>
            </a:pPr>
            <a:r>
              <a:rPr lang="en-US" sz="1400" b="0" i="0" u="none" strike="noStrike">
                <a:solidFill>
                  <a:srgbClr val="757575"/>
                </a:solidFill>
                <a:latin typeface="Roboto"/>
                <a:ea typeface="Roboto"/>
                <a:cs typeface="Roboto"/>
                <a:sym typeface="Roboto"/>
              </a:rPr>
              <a:t># 实现文档嵌入逻辑，返回向量列表</a:t>
            </a:r>
            <a:endParaRPr lang="en-US" sz="1400" b="0" i="0" u="none" strike="noStrike">
              <a:solidFill>
                <a:srgbClr val="757575"/>
              </a:solidFill>
              <a:latin typeface="Roboto"/>
              <a:ea typeface="Roboto"/>
              <a:cs typeface="Roboto"/>
              <a:sym typeface="Roboto"/>
            </a:endParaRPr>
          </a:p>
          <a:p>
            <a:pPr indent="0" algn="l">
              <a:lnSpc>
                <a:spcPts val="2200"/>
              </a:lnSpc>
            </a:pPr>
            <a:r>
              <a:rPr lang="en-US" sz="1400" b="0" i="0" u="none" strike="noStrike">
                <a:solidFill>
                  <a:srgbClr val="0277BD"/>
                </a:solidFill>
                <a:latin typeface="Roboto"/>
                <a:ea typeface="Roboto"/>
                <a:cs typeface="Roboto"/>
                <a:sym typeface="Roboto"/>
              </a:rPr>
              <a:t>return</a:t>
            </a:r>
            <a:r>
              <a:rPr lang="en-US" sz="1400" b="0" i="0" u="none" strike="noStrike">
                <a:solidFill>
                  <a:srgbClr val="333333"/>
                </a:solidFill>
                <a:latin typeface="Roboto"/>
                <a:ea typeface="Roboto"/>
                <a:cs typeface="Roboto"/>
                <a:sym typeface="Roboto"/>
              </a:rPr>
              <a:t>[list(np.random.rand(1024))</a:t>
            </a:r>
            <a:r>
              <a:rPr lang="en-US" sz="1400" b="0" i="0" u="none" strike="noStrike">
                <a:solidFill>
                  <a:srgbClr val="0277BD"/>
                </a:solidFill>
                <a:latin typeface="Roboto"/>
                <a:ea typeface="Roboto"/>
                <a:cs typeface="Roboto"/>
                <a:sym typeface="Roboto"/>
              </a:rPr>
              <a:t>for</a:t>
            </a:r>
            <a:r>
              <a:rPr lang="en-US" sz="1400" b="0" i="0" u="none" strike="noStrike">
                <a:solidFill>
                  <a:srgbClr val="333333"/>
                </a:solidFill>
                <a:latin typeface="Roboto"/>
                <a:ea typeface="Roboto"/>
                <a:cs typeface="Roboto"/>
                <a:sym typeface="Roboto"/>
              </a:rPr>
              <a:t>_</a:t>
            </a:r>
            <a:r>
              <a:rPr lang="en-US" sz="1400" b="0" i="0" u="none" strike="noStrike">
                <a:solidFill>
                  <a:srgbClr val="0277BD"/>
                </a:solidFill>
                <a:latin typeface="Roboto"/>
                <a:ea typeface="Roboto"/>
                <a:cs typeface="Roboto"/>
                <a:sym typeface="Roboto"/>
              </a:rPr>
              <a:t>in</a:t>
            </a:r>
            <a:r>
              <a:rPr lang="en-US" sz="1400" b="0" i="0" u="none" strike="noStrike">
                <a:solidFill>
                  <a:srgbClr val="333333"/>
                </a:solidFill>
                <a:latin typeface="Roboto"/>
                <a:ea typeface="Roboto"/>
                <a:cs typeface="Roboto"/>
                <a:sym typeface="Roboto"/>
              </a:rPr>
              <a:t>texts]</a:t>
            </a:r>
            <a:endParaRPr lang="en-US" sz="1400" b="0" i="0" u="none" strike="noStrike">
              <a:solidFill>
                <a:srgbClr val="333333"/>
              </a:solidFill>
              <a:latin typeface="Roboto"/>
              <a:ea typeface="Roboto"/>
              <a:cs typeface="Roboto"/>
              <a:sym typeface="Roboto"/>
            </a:endParaRPr>
          </a:p>
          <a:p>
            <a:pPr indent="0" algn="l">
              <a:lnSpc>
                <a:spcPts val="2200"/>
              </a:lnSpc>
            </a:pPr>
            <a:r>
              <a:rPr lang="en-US" sz="1400" b="0" i="0" u="none" strike="noStrike">
                <a:solidFill>
                  <a:srgbClr val="0277BD"/>
                </a:solidFill>
                <a:latin typeface="Roboto"/>
                <a:ea typeface="Roboto"/>
                <a:cs typeface="Roboto"/>
                <a:sym typeface="Roboto"/>
              </a:rPr>
              <a:t>def</a:t>
            </a:r>
            <a:r>
              <a:rPr lang="en-US" sz="1400" b="0" i="0" u="none" strike="noStrike">
                <a:solidFill>
                  <a:srgbClr val="333333"/>
                </a:solidFill>
                <a:latin typeface="Roboto"/>
                <a:ea typeface="Roboto"/>
                <a:cs typeface="Roboto"/>
                <a:sym typeface="Roboto"/>
              </a:rPr>
              <a:t>embed_query(self, text):</a:t>
            </a:r>
            <a:endParaRPr lang="en-US" sz="1400" b="0" i="0" u="none" strike="noStrike">
              <a:solidFill>
                <a:srgbClr val="333333"/>
              </a:solidFill>
              <a:latin typeface="Roboto"/>
              <a:ea typeface="Roboto"/>
              <a:cs typeface="Roboto"/>
              <a:sym typeface="Roboto"/>
            </a:endParaRPr>
          </a:p>
          <a:p>
            <a:pPr indent="0" algn="l">
              <a:lnSpc>
                <a:spcPts val="2200"/>
              </a:lnSpc>
            </a:pPr>
            <a:r>
              <a:rPr lang="en-US" sz="1400" b="0" i="0" u="none" strike="noStrike">
                <a:solidFill>
                  <a:srgbClr val="757575"/>
                </a:solidFill>
                <a:latin typeface="Roboto"/>
                <a:ea typeface="Roboto"/>
                <a:cs typeface="Roboto"/>
                <a:sym typeface="Roboto"/>
              </a:rPr>
              <a:t># 实现查询嵌入逻辑，返回单个向量</a:t>
            </a:r>
            <a:endParaRPr lang="en-US" sz="1400" b="0" i="0" u="none" strike="noStrike">
              <a:solidFill>
                <a:srgbClr val="757575"/>
              </a:solidFill>
              <a:latin typeface="Roboto"/>
              <a:ea typeface="Roboto"/>
              <a:cs typeface="Roboto"/>
              <a:sym typeface="Roboto"/>
            </a:endParaRPr>
          </a:p>
          <a:p>
            <a:pPr indent="0" algn="l">
              <a:lnSpc>
                <a:spcPts val="2200"/>
              </a:lnSpc>
            </a:pPr>
            <a:r>
              <a:rPr lang="en-US" sz="1400" b="0" i="0" u="none" strike="noStrike">
                <a:solidFill>
                  <a:srgbClr val="0277BD"/>
                </a:solidFill>
                <a:latin typeface="Roboto"/>
                <a:ea typeface="Roboto"/>
                <a:cs typeface="Roboto"/>
                <a:sym typeface="Roboto"/>
              </a:rPr>
              <a:t>return</a:t>
            </a:r>
            <a:r>
              <a:rPr lang="en-US" sz="1400" b="0" i="0" u="none" strike="noStrike">
                <a:solidFill>
                  <a:srgbClr val="333333"/>
                </a:solidFill>
                <a:latin typeface="Roboto"/>
                <a:ea typeface="Roboto"/>
                <a:cs typeface="Roboto"/>
                <a:sym typeface="Roboto"/>
              </a:rPr>
              <a:t>list(np.random.rand(1024))</a:t>
            </a:r>
            <a:endParaRPr lang="en-US" sz="1400" b="0" i="0" u="none" strike="noStrike">
              <a:solidFill>
                <a:srgbClr val="333333"/>
              </a:solidFill>
              <a:latin typeface="Roboto"/>
              <a:ea typeface="Roboto"/>
              <a:cs typeface="Roboto"/>
              <a:sym typeface="Roboto"/>
            </a:endParaRPr>
          </a:p>
        </p:txBody>
      </p:sp>
      <p:sp>
        <p:nvSpPr>
          <p:cNvPr id="10" name="AutoShape 10"/>
          <p:cNvSpPr/>
          <p:nvPr/>
        </p:nvSpPr>
        <p:spPr>
          <a:xfrm>
            <a:off x="762000" y="5461000"/>
            <a:ext cx="10668000" cy="762000"/>
          </a:xfrm>
          <a:prstGeom prst="roundRect">
            <a:avLst>
              <a:gd name="adj" fmla="val 16666"/>
            </a:avLst>
          </a:prstGeom>
          <a:solidFill>
            <a:srgbClr val="FFFFFF">
              <a:alpha val="10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651500"/>
            <a:ext cx="381000" cy="381000"/>
          </a:xfrm>
          <a:prstGeom prst="rect">
            <a:avLst/>
          </a:prstGeom>
        </p:spPr>
      </p:pic>
      <p:sp>
        <p:nvSpPr>
          <p:cNvPr id="12" name="AutoShape 12"/>
          <p:cNvSpPr/>
          <p:nvPr/>
        </p:nvSpPr>
        <p:spPr>
          <a:xfrm>
            <a:off x="1524000" y="5588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关键点：通过继承</a:t>
            </a:r>
            <a:r>
              <a:rPr lang="en-US" sz="1800" b="1" i="0" u="none" strike="noStrike">
                <a:solidFill>
                  <a:srgbClr val="0277BD"/>
                </a:solidFill>
                <a:latin typeface="Roboto"/>
                <a:ea typeface="Roboto"/>
                <a:cs typeface="Roboto"/>
                <a:sym typeface="Roboto"/>
              </a:rPr>
              <a:t>Embeddings</a:t>
            </a:r>
            <a:r>
              <a:rPr lang="en-US" sz="1800" b="0" i="0" u="none" strike="noStrike">
                <a:solidFill>
                  <a:srgbClr val="757575"/>
                </a:solidFill>
                <a:latin typeface="Noto Sans SC"/>
                <a:ea typeface="Noto Sans SC"/>
                <a:cs typeface="Noto Sans SC"/>
                <a:sym typeface="Noto Sans SC"/>
              </a:rPr>
              <a:t>抽象基类，确保自定义模型符合 LangChain 标准，从而复用链（Chain）和检索器（Retriever）等组件。</a:t>
            </a:r>
            <a:endParaRPr lang="en-US" sz="11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1778000"/>
            <a:ext cx="10160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77BD"/>
                </a:solidFill>
                <a:latin typeface="Noto Sans SC"/>
                <a:ea typeface="Noto Sans SC"/>
                <a:cs typeface="Noto Sans SC"/>
                <a:sym typeface="Noto Sans SC"/>
              </a:rPr>
              <a:t>2.4 向量数据库</a:t>
            </a:r>
            <a:endParaRPr lang="en-US" sz="1100"/>
          </a:p>
        </p:txBody>
      </p:sp>
      <p:sp>
        <p:nvSpPr>
          <p:cNvPr id="3" name="AutoShape 3"/>
          <p:cNvSpPr/>
          <p:nvPr/>
        </p:nvSpPr>
        <p:spPr>
          <a:xfrm>
            <a:off x="5715000" y="2667000"/>
            <a:ext cx="762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270000" y="3048000"/>
            <a:ext cx="96520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757575"/>
                </a:solidFill>
                <a:latin typeface="Noto Sans SC"/>
                <a:ea typeface="Noto Sans SC"/>
                <a:cs typeface="Noto Sans SC"/>
                <a:sym typeface="Noto Sans SC"/>
              </a:rPr>
              <a:t>向量数据库是一种专门用于存储和检索高维向量的数据库系统。它能够高效地处理大规模向量数据，并支持快速的相似度搜索，是RAG系统中实现高效信息检索的核心组件。</a:t>
            </a:r>
            <a:endParaRPr lang="en-US" sz="11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2.4 向量数据库 - 概述</a:t>
            </a:r>
            <a:endParaRPr lang="en-US" sz="1100"/>
          </a:p>
        </p:txBody>
      </p:sp>
      <p:sp>
        <p:nvSpPr>
          <p:cNvPr id="3" name="AutoShape 3"/>
          <p:cNvSpPr/>
          <p:nvPr/>
        </p:nvSpPr>
        <p:spPr>
          <a:xfrm>
            <a:off x="762000" y="1524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762000" cy="762000"/>
          </a:xfrm>
          <a:prstGeom prst="rect">
            <a:avLst/>
          </a:prstGeom>
        </p:spPr>
      </p:pic>
      <p:sp>
        <p:nvSpPr>
          <p:cNvPr id="5" name="AutoShape 5"/>
          <p:cNvSpPr/>
          <p:nvPr/>
        </p:nvSpPr>
        <p:spPr>
          <a:xfrm>
            <a:off x="1905000" y="1651000"/>
            <a:ext cx="927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核心作用：</a:t>
            </a:r>
            <a:r>
              <a:rPr lang="en-US" sz="2000" b="0" i="0" u="none" strike="noStrike">
                <a:solidFill>
                  <a:srgbClr val="757575"/>
                </a:solidFill>
                <a:latin typeface="Noto Sans SC"/>
                <a:ea typeface="Noto Sans SC"/>
                <a:cs typeface="Noto Sans SC"/>
                <a:sym typeface="Noto Sans SC"/>
              </a:rPr>
              <a:t>存储由文本嵌入生成的向量，并提供高效的相似度检索功能，是连接语义理解与数据存储的桥梁。</a:t>
            </a:r>
            <a:endParaRPr lang="en-US" sz="1100"/>
          </a:p>
        </p:txBody>
      </p:sp>
      <p:sp>
        <p:nvSpPr>
          <p:cNvPr id="6" name="AutoShape 6"/>
          <p:cNvSpPr/>
          <p:nvPr/>
        </p:nvSpPr>
        <p:spPr>
          <a:xfrm>
            <a:off x="762000" y="2921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关键特性</a:t>
            </a:r>
            <a:endParaRPr lang="en-US" sz="1100"/>
          </a:p>
        </p:txBody>
      </p:sp>
      <p:sp>
        <p:nvSpPr>
          <p:cNvPr id="7" name="AutoShape 7"/>
          <p:cNvSpPr/>
          <p:nvPr/>
        </p:nvSpPr>
        <p:spPr>
          <a:xfrm>
            <a:off x="762000" y="3429000"/>
            <a:ext cx="3378200" cy="1397000"/>
          </a:xfrm>
          <a:prstGeom prst="roundRect">
            <a:avLst>
              <a:gd name="adj" fmla="val 9090"/>
            </a:avLst>
          </a:prstGeom>
          <a:solidFill>
            <a:srgbClr val="FFFFFF">
              <a:alpha val="100000"/>
            </a:srgbClr>
          </a:solidFill>
          <a:ln w="25400" cap="flat" cmpd="sng">
            <a:noFill/>
            <a:prstDash val="solid"/>
            <a:round/>
          </a:ln>
          <a:effectLst>
            <a:outerShdw blurRad="101600" dist="38100" dir="5400000" algn="tl" rotWithShape="0">
              <a:srgbClr val="0277BD">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619500"/>
            <a:ext cx="406400" cy="406400"/>
          </a:xfrm>
          <a:prstGeom prst="rect">
            <a:avLst/>
          </a:prstGeom>
        </p:spPr>
      </p:pic>
      <p:sp>
        <p:nvSpPr>
          <p:cNvPr id="9" name="AutoShape 9"/>
          <p:cNvSpPr/>
          <p:nvPr/>
        </p:nvSpPr>
        <p:spPr>
          <a:xfrm>
            <a:off x="1460500" y="3581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高维数据处理</a:t>
            </a:r>
            <a:endParaRPr lang="en-US" sz="1100"/>
          </a:p>
        </p:txBody>
      </p:sp>
      <p:sp>
        <p:nvSpPr>
          <p:cNvPr id="10" name="AutoShape 10"/>
          <p:cNvSpPr/>
          <p:nvPr/>
        </p:nvSpPr>
        <p:spPr>
          <a:xfrm>
            <a:off x="952500" y="4064000"/>
            <a:ext cx="29972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专为处理高维向量数据设计，解决传统数据库难以处理的稀疏数据问题。</a:t>
            </a:r>
            <a:endParaRPr lang="en-US" sz="1100"/>
          </a:p>
        </p:txBody>
      </p:sp>
      <p:sp>
        <p:nvSpPr>
          <p:cNvPr id="11" name="AutoShape 11"/>
          <p:cNvSpPr/>
          <p:nvPr/>
        </p:nvSpPr>
        <p:spPr>
          <a:xfrm>
            <a:off x="4394200" y="3429000"/>
            <a:ext cx="3378200" cy="1397000"/>
          </a:xfrm>
          <a:prstGeom prst="roundRect">
            <a:avLst>
              <a:gd name="adj" fmla="val 9090"/>
            </a:avLst>
          </a:prstGeom>
          <a:solidFill>
            <a:srgbClr val="FFFFFF">
              <a:alpha val="100000"/>
            </a:srgbClr>
          </a:solidFill>
          <a:ln w="25400" cap="flat" cmpd="sng">
            <a:noFill/>
            <a:prstDash val="solid"/>
            <a:round/>
          </a:ln>
          <a:effectLst>
            <a:outerShdw blurRad="101600" dist="38100" dir="5400000" algn="tl" rotWithShape="0">
              <a:srgbClr val="0277BD">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84700" y="3619500"/>
            <a:ext cx="406400" cy="406400"/>
          </a:xfrm>
          <a:prstGeom prst="rect">
            <a:avLst/>
          </a:prstGeom>
        </p:spPr>
      </p:pic>
      <p:sp>
        <p:nvSpPr>
          <p:cNvPr id="13" name="AutoShape 13"/>
          <p:cNvSpPr/>
          <p:nvPr/>
        </p:nvSpPr>
        <p:spPr>
          <a:xfrm>
            <a:off x="5092700" y="3581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高效检索</a:t>
            </a:r>
            <a:endParaRPr lang="en-US" sz="1100"/>
          </a:p>
        </p:txBody>
      </p:sp>
      <p:sp>
        <p:nvSpPr>
          <p:cNvPr id="14" name="AutoShape 14"/>
          <p:cNvSpPr/>
          <p:nvPr/>
        </p:nvSpPr>
        <p:spPr>
          <a:xfrm>
            <a:off x="4584700" y="4064000"/>
            <a:ext cx="29972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支持快速的最近邻搜索（ANN），在海量数据中毫秒级定位相似内容。</a:t>
            </a:r>
            <a:endParaRPr lang="en-US" sz="1100"/>
          </a:p>
        </p:txBody>
      </p:sp>
      <p:sp>
        <p:nvSpPr>
          <p:cNvPr id="15" name="AutoShape 15"/>
          <p:cNvSpPr/>
          <p:nvPr/>
        </p:nvSpPr>
        <p:spPr>
          <a:xfrm>
            <a:off x="8026400" y="3429000"/>
            <a:ext cx="3403600" cy="1397000"/>
          </a:xfrm>
          <a:prstGeom prst="roundRect">
            <a:avLst>
              <a:gd name="adj" fmla="val 9090"/>
            </a:avLst>
          </a:prstGeom>
          <a:solidFill>
            <a:srgbClr val="FFFFFF">
              <a:alpha val="100000"/>
            </a:srgbClr>
          </a:solidFill>
          <a:ln w="25400" cap="flat" cmpd="sng">
            <a:noFill/>
            <a:prstDash val="solid"/>
            <a:round/>
          </a:ln>
          <a:effectLst>
            <a:outerShdw blurRad="101600" dist="38100" dir="5400000" algn="tl" rotWithShape="0">
              <a:srgbClr val="0277BD">
                <a:alpha val="10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16900" y="3619500"/>
            <a:ext cx="406400" cy="406400"/>
          </a:xfrm>
          <a:prstGeom prst="rect">
            <a:avLst/>
          </a:prstGeom>
        </p:spPr>
      </p:pic>
      <p:sp>
        <p:nvSpPr>
          <p:cNvPr id="17" name="AutoShape 17"/>
          <p:cNvSpPr/>
          <p:nvPr/>
        </p:nvSpPr>
        <p:spPr>
          <a:xfrm>
            <a:off x="8724900" y="3581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可扩展性</a:t>
            </a:r>
            <a:endParaRPr lang="en-US" sz="1100"/>
          </a:p>
        </p:txBody>
      </p:sp>
      <p:sp>
        <p:nvSpPr>
          <p:cNvPr id="18" name="AutoShape 18"/>
          <p:cNvSpPr/>
          <p:nvPr/>
        </p:nvSpPr>
        <p:spPr>
          <a:xfrm>
            <a:off x="8216900" y="4064000"/>
            <a:ext cx="30226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能够线性扩展以处理大规模的向量数据集，适应业务增长需求。</a:t>
            </a:r>
            <a:endParaRPr lang="en-US" sz="1100"/>
          </a:p>
        </p:txBody>
      </p:sp>
      <p:sp>
        <p:nvSpPr>
          <p:cNvPr id="19" name="AutoShape 19"/>
          <p:cNvSpPr/>
          <p:nvPr/>
        </p:nvSpPr>
        <p:spPr>
          <a:xfrm>
            <a:off x="762000" y="5080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77BD"/>
                </a:solidFill>
                <a:latin typeface="Noto Sans SC"/>
                <a:ea typeface="Noto Sans SC"/>
                <a:cs typeface="Noto Sans SC"/>
                <a:sym typeface="Noto Sans SC"/>
              </a:rPr>
              <a:t>常见类型</a:t>
            </a:r>
            <a:endParaRPr lang="en-US" sz="1100"/>
          </a:p>
        </p:txBody>
      </p:sp>
      <p:sp>
        <p:nvSpPr>
          <p:cNvPr id="20" name="AutoShape 20"/>
          <p:cNvSpPr/>
          <p:nvPr/>
        </p:nvSpPr>
        <p:spPr>
          <a:xfrm>
            <a:off x="762000" y="5588000"/>
            <a:ext cx="5207000" cy="762000"/>
          </a:xfrm>
          <a:prstGeom prst="roundRect">
            <a:avLst>
              <a:gd name="adj" fmla="val 16666"/>
            </a:avLst>
          </a:prstGeom>
          <a:solidFill>
            <a:srgbClr val="FFFFFF">
              <a:alpha val="100000"/>
            </a:srgbClr>
          </a:solidFill>
          <a:ln w="25400" cap="flat" cmpd="sng">
            <a:noFill/>
            <a:prstDash val="solid"/>
            <a:round/>
          </a:ln>
          <a:effectLst>
            <a:outerShdw blurRad="101600" dist="38100" dir="5400000" algn="tl" rotWithShape="0">
              <a:srgbClr val="0277BD">
                <a:alpha val="10000"/>
              </a:srgbClr>
            </a:outerShdw>
          </a:effectLst>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52500" y="5765800"/>
            <a:ext cx="406400" cy="406400"/>
          </a:xfrm>
          <a:prstGeom prst="rect">
            <a:avLst/>
          </a:prstGeom>
        </p:spPr>
      </p:pic>
      <p:sp>
        <p:nvSpPr>
          <p:cNvPr id="22" name="AutoShape 22"/>
          <p:cNvSpPr/>
          <p:nvPr/>
        </p:nvSpPr>
        <p:spPr>
          <a:xfrm>
            <a:off x="1460500" y="5689600"/>
            <a:ext cx="4318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专用数据库：</a:t>
            </a:r>
            <a:r>
              <a:rPr lang="en-US" sz="1800" b="0" i="0" u="none" strike="noStrike">
                <a:solidFill>
                  <a:srgbClr val="757575"/>
                </a:solidFill>
                <a:latin typeface="Noto Sans SC"/>
                <a:ea typeface="Noto Sans SC"/>
                <a:cs typeface="Noto Sans SC"/>
                <a:sym typeface="Noto Sans SC"/>
              </a:rPr>
              <a:t>Pinecone, Milvus, Chroma, FAISS</a:t>
            </a:r>
            <a:endParaRPr lang="en-US" sz="1100"/>
          </a:p>
        </p:txBody>
      </p:sp>
      <p:sp>
        <p:nvSpPr>
          <p:cNvPr id="23" name="AutoShape 23"/>
          <p:cNvSpPr/>
          <p:nvPr/>
        </p:nvSpPr>
        <p:spPr>
          <a:xfrm>
            <a:off x="6223000" y="5588000"/>
            <a:ext cx="5207000" cy="762000"/>
          </a:xfrm>
          <a:prstGeom prst="roundRect">
            <a:avLst>
              <a:gd name="adj" fmla="val 16666"/>
            </a:avLst>
          </a:prstGeom>
          <a:solidFill>
            <a:srgbClr val="FFFFFF">
              <a:alpha val="100000"/>
            </a:srgbClr>
          </a:solidFill>
          <a:ln w="25400" cap="flat" cmpd="sng">
            <a:noFill/>
            <a:prstDash val="solid"/>
            <a:round/>
          </a:ln>
          <a:effectLst>
            <a:outerShdw blurRad="101600" dist="38100" dir="5400000" algn="tl" rotWithShape="0">
              <a:srgbClr val="0277BD">
                <a:alpha val="10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413500" y="5765800"/>
            <a:ext cx="406400" cy="406400"/>
          </a:xfrm>
          <a:prstGeom prst="rect">
            <a:avLst/>
          </a:prstGeom>
        </p:spPr>
      </p:pic>
      <p:sp>
        <p:nvSpPr>
          <p:cNvPr id="25" name="AutoShape 25"/>
          <p:cNvSpPr/>
          <p:nvPr/>
        </p:nvSpPr>
        <p:spPr>
          <a:xfrm>
            <a:off x="6921500" y="5689600"/>
            <a:ext cx="4318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传统扩展：</a:t>
            </a:r>
            <a:r>
              <a:rPr lang="en-US" sz="1800" b="0" i="0" u="none" strike="noStrike">
                <a:solidFill>
                  <a:srgbClr val="757575"/>
                </a:solidFill>
                <a:latin typeface="Noto Sans SC"/>
                <a:ea typeface="Noto Sans SC"/>
                <a:cs typeface="Noto Sans SC"/>
                <a:sym typeface="Noto Sans SC"/>
              </a:rPr>
              <a:t>PostgreSQL with pgvector 扩展</a:t>
            </a:r>
            <a:endParaRPr lang="en-US" sz="11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4521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2.5 向量检索 - 概述</a:t>
            </a:r>
            <a:endParaRPr lang="en-US" sz="1100"/>
          </a:p>
        </p:txBody>
      </p:sp>
      <p:sp>
        <p:nvSpPr>
          <p:cNvPr id="3" name="AutoShape 3"/>
          <p:cNvSpPr/>
          <p:nvPr/>
        </p:nvSpPr>
        <p:spPr>
          <a:xfrm>
            <a:off x="762000" y="1524000"/>
            <a:ext cx="10668000" cy="1016000"/>
          </a:xfrm>
          <a:prstGeom prst="roundRect">
            <a:avLst>
              <a:gd name="adj" fmla="val 1250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508000" cy="508000"/>
          </a:xfrm>
          <a:prstGeom prst="rect">
            <a:avLst/>
          </a:prstGeom>
        </p:spPr>
      </p:pic>
      <p:sp>
        <p:nvSpPr>
          <p:cNvPr id="5" name="AutoShape 5"/>
          <p:cNvSpPr/>
          <p:nvPr/>
        </p:nvSpPr>
        <p:spPr>
          <a:xfrm>
            <a:off x="1651000" y="16510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核心过程：</a:t>
            </a:r>
            <a:r>
              <a:rPr lang="en-US" sz="2000" b="0" i="0" u="none" strike="noStrike">
                <a:solidFill>
                  <a:srgbClr val="757575"/>
                </a:solidFill>
                <a:latin typeface="Noto Sans SC"/>
                <a:ea typeface="Noto Sans SC"/>
                <a:cs typeface="Noto Sans SC"/>
                <a:sym typeface="Noto Sans SC"/>
              </a:rPr>
              <a:t>向量检索是指根据用户的查询向量，在向量数据库中查找与之最相似的文档向量的过程。</a:t>
            </a:r>
            <a:endParaRPr lang="en-US" sz="1100"/>
          </a:p>
        </p:txBody>
      </p:sp>
      <p:sp>
        <p:nvSpPr>
          <p:cNvPr id="6" name="AutoShape 6"/>
          <p:cNvSpPr/>
          <p:nvPr/>
        </p:nvSpPr>
        <p:spPr>
          <a:xfrm>
            <a:off x="762000" y="2794000"/>
            <a:ext cx="10668000" cy="1524000"/>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75000"/>
            <a:ext cx="508000" cy="508000"/>
          </a:xfrm>
          <a:prstGeom prst="rect">
            <a:avLst/>
          </a:prstGeom>
        </p:spPr>
      </p:pic>
      <p:sp>
        <p:nvSpPr>
          <p:cNvPr id="8" name="AutoShape 8"/>
          <p:cNvSpPr/>
          <p:nvPr/>
        </p:nvSpPr>
        <p:spPr>
          <a:xfrm>
            <a:off x="1651000" y="2921000"/>
            <a:ext cx="9525000" cy="127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相似度计算：</a:t>
            </a:r>
            <a:endParaRPr lang="en-US" sz="1100"/>
          </a:p>
          <a:p>
            <a:pPr marL="228600" indent="-228600" algn="l">
              <a:lnSpc>
                <a:spcPct val="125000"/>
              </a:lnSpc>
              <a:buClr>
                <a:srgbClr val="757575"/>
              </a:buClr>
              <a:buChar char="•"/>
            </a:pPr>
            <a:r>
              <a:rPr lang="en-US" sz="1800" b="1" i="0" u="none" strike="noStrike">
                <a:solidFill>
                  <a:srgbClr val="757575"/>
                </a:solidFill>
                <a:latin typeface="Noto Sans SC"/>
                <a:ea typeface="Noto Sans SC"/>
                <a:cs typeface="Noto Sans SC"/>
                <a:sym typeface="Noto Sans SC"/>
              </a:rPr>
              <a:t>余弦相似度：</a:t>
            </a:r>
            <a:r>
              <a:rPr lang="en-US" sz="1800" b="0" i="0" u="none" strike="noStrike">
                <a:solidFill>
                  <a:srgbClr val="757575"/>
                </a:solidFill>
                <a:latin typeface="Noto Sans SC"/>
                <a:ea typeface="Noto Sans SC"/>
                <a:cs typeface="Noto Sans SC"/>
                <a:sym typeface="Noto Sans SC"/>
              </a:rPr>
              <a:t>衡量夹角余弦值，值越接近1，相似度越高。</a:t>
            </a:r>
            <a:endParaRPr lang="en-US" sz="1800" b="0" i="0" u="none" strike="noStrike">
              <a:solidFill>
                <a:srgbClr val="757575"/>
              </a:solidFill>
              <a:latin typeface="Noto Sans SC"/>
              <a:ea typeface="Noto Sans SC"/>
              <a:cs typeface="Noto Sans SC"/>
              <a:sym typeface="Noto Sans SC"/>
            </a:endParaRPr>
          </a:p>
          <a:p>
            <a:pPr marL="228600" indent="-228600" algn="l">
              <a:lnSpc>
                <a:spcPct val="125000"/>
              </a:lnSpc>
              <a:buClr>
                <a:srgbClr val="757575"/>
              </a:buClr>
              <a:buChar char="•"/>
            </a:pPr>
            <a:r>
              <a:rPr lang="en-US" sz="1800" b="1" i="0" u="none" strike="noStrike">
                <a:solidFill>
                  <a:srgbClr val="757575"/>
                </a:solidFill>
                <a:latin typeface="Noto Sans SC"/>
                <a:ea typeface="Noto Sans SC"/>
                <a:cs typeface="Noto Sans SC"/>
                <a:sym typeface="Noto Sans SC"/>
              </a:rPr>
              <a:t>欧氏距离：</a:t>
            </a:r>
            <a:r>
              <a:rPr lang="en-US" sz="1800" b="0" i="0" u="none" strike="noStrike">
                <a:solidFill>
                  <a:srgbClr val="757575"/>
                </a:solidFill>
                <a:latin typeface="Noto Sans SC"/>
                <a:ea typeface="Noto Sans SC"/>
                <a:cs typeface="Noto Sans SC"/>
                <a:sym typeface="Noto Sans SC"/>
              </a:rPr>
              <a:t>衡量空间直线距离，距离越小，相似度越高。</a:t>
            </a:r>
            <a:endParaRPr lang="en-US" sz="18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762000" y="4572000"/>
            <a:ext cx="10668000" cy="1524000"/>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953000"/>
            <a:ext cx="508000" cy="508000"/>
          </a:xfrm>
          <a:prstGeom prst="rect">
            <a:avLst/>
          </a:prstGeom>
        </p:spPr>
      </p:pic>
      <p:sp>
        <p:nvSpPr>
          <p:cNvPr id="11" name="AutoShape 11"/>
          <p:cNvSpPr/>
          <p:nvPr/>
        </p:nvSpPr>
        <p:spPr>
          <a:xfrm>
            <a:off x="1651000" y="4699000"/>
            <a:ext cx="9525000" cy="127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检索流程：</a:t>
            </a:r>
            <a:endParaRPr lang="en-US" sz="1100"/>
          </a:p>
          <a:p>
            <a:pPr marL="228600" indent="-228600" algn="l">
              <a:lnSpc>
                <a:spcPct val="125000"/>
              </a:lnSpc>
              <a:buClr>
                <a:srgbClr val="757575"/>
              </a:buClr>
              <a:buFont typeface="+mj-lt"/>
              <a:buAutoNum type="arabicPeriod"/>
            </a:pPr>
            <a:r>
              <a:rPr lang="en-US" sz="1800" b="0" i="0" u="none" strike="noStrike">
                <a:solidFill>
                  <a:srgbClr val="757575"/>
                </a:solidFill>
                <a:latin typeface="Noto Sans SC"/>
                <a:ea typeface="Noto Sans SC"/>
                <a:cs typeface="Noto Sans SC"/>
                <a:sym typeface="Noto Sans SC"/>
              </a:rPr>
              <a:t>将用户查询转换为查询向量。</a:t>
            </a:r>
            <a:endParaRPr lang="en-US" sz="1800" b="0" i="0" u="none" strike="noStrike">
              <a:solidFill>
                <a:srgbClr val="757575"/>
              </a:solidFill>
              <a:latin typeface="Noto Sans SC"/>
              <a:ea typeface="Noto Sans SC"/>
              <a:cs typeface="Noto Sans SC"/>
              <a:sym typeface="Noto Sans SC"/>
            </a:endParaRPr>
          </a:p>
          <a:p>
            <a:pPr marL="228600" indent="-228600" algn="l">
              <a:lnSpc>
                <a:spcPct val="125000"/>
              </a:lnSpc>
              <a:buClr>
                <a:srgbClr val="757575"/>
              </a:buClr>
              <a:buFont typeface="+mj-lt"/>
              <a:buAutoNum type="arabicPeriod"/>
            </a:pPr>
            <a:r>
              <a:rPr lang="en-US" sz="1800" b="0" i="0" u="none" strike="noStrike">
                <a:solidFill>
                  <a:srgbClr val="757575"/>
                </a:solidFill>
                <a:latin typeface="Noto Sans SC"/>
                <a:ea typeface="Noto Sans SC"/>
                <a:cs typeface="Noto Sans SC"/>
                <a:sym typeface="Noto Sans SC"/>
              </a:rPr>
              <a:t>在向量数据库中执行相似度搜索。</a:t>
            </a:r>
            <a:endParaRPr lang="en-US" sz="1800" b="0" i="0" u="none" strike="noStrike">
              <a:solidFill>
                <a:srgbClr val="757575"/>
              </a:solidFill>
              <a:latin typeface="Noto Sans SC"/>
              <a:ea typeface="Noto Sans SC"/>
              <a:cs typeface="Noto Sans SC"/>
              <a:sym typeface="Noto Sans SC"/>
            </a:endParaRPr>
          </a:p>
          <a:p>
            <a:pPr marL="228600" indent="-228600" algn="l">
              <a:lnSpc>
                <a:spcPct val="125000"/>
              </a:lnSpc>
              <a:buClr>
                <a:srgbClr val="757575"/>
              </a:buClr>
              <a:buFont typeface="+mj-lt"/>
              <a:buAutoNum type="arabicPeriod"/>
            </a:pPr>
            <a:r>
              <a:rPr lang="en-US" sz="1800" b="0" i="0" u="none" strike="noStrike">
                <a:solidFill>
                  <a:srgbClr val="757575"/>
                </a:solidFill>
                <a:latin typeface="Noto Sans SC"/>
                <a:ea typeface="Noto Sans SC"/>
                <a:cs typeface="Noto Sans SC"/>
                <a:sym typeface="Noto Sans SC"/>
              </a:rPr>
              <a:t>返回相似度最高的Top-N个文档向量及其对应的原始文本。</a:t>
            </a:r>
            <a:endParaRPr lang="en-US" sz="18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6032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2.6 提示词工程 - 概述</a:t>
            </a:r>
            <a:endParaRPr lang="en-US" sz="1100"/>
          </a:p>
        </p:txBody>
      </p:sp>
      <p:sp>
        <p:nvSpPr>
          <p:cNvPr id="3" name="AutoShape 3"/>
          <p:cNvSpPr/>
          <p:nvPr/>
        </p:nvSpPr>
        <p:spPr>
          <a:xfrm>
            <a:off x="762000" y="1651000"/>
            <a:ext cx="3302000" cy="2540000"/>
          </a:xfrm>
          <a:prstGeom prst="roundRect">
            <a:avLst>
              <a:gd name="adj" fmla="val 500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406400" cy="406400"/>
          </a:xfrm>
          <a:prstGeom prst="rect">
            <a:avLst/>
          </a:prstGeom>
        </p:spPr>
      </p:pic>
      <p:sp>
        <p:nvSpPr>
          <p:cNvPr id="5" name="AutoShape 5"/>
          <p:cNvSpPr/>
          <p:nvPr/>
        </p:nvSpPr>
        <p:spPr>
          <a:xfrm>
            <a:off x="1524000" y="1854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核心作用</a:t>
            </a:r>
            <a:endParaRPr lang="en-US" sz="1100"/>
          </a:p>
        </p:txBody>
      </p:sp>
      <p:sp>
        <p:nvSpPr>
          <p:cNvPr id="6" name="AutoShape 6"/>
          <p:cNvSpPr/>
          <p:nvPr/>
        </p:nvSpPr>
        <p:spPr>
          <a:xfrm>
            <a:off x="1016000" y="2413000"/>
            <a:ext cx="2794000" cy="152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设计和优化提示词，引导大语言模型生成准确、有用且符合预期的输出，是人机交互的关键桥梁。</a:t>
            </a:r>
            <a:endParaRPr lang="en-US" sz="1100"/>
          </a:p>
        </p:txBody>
      </p:sp>
      <p:sp>
        <p:nvSpPr>
          <p:cNvPr id="7" name="AutoShape 7"/>
          <p:cNvSpPr/>
          <p:nvPr/>
        </p:nvSpPr>
        <p:spPr>
          <a:xfrm>
            <a:off x="4445000" y="1651000"/>
            <a:ext cx="3302000" cy="2540000"/>
          </a:xfrm>
          <a:prstGeom prst="roundRect">
            <a:avLst>
              <a:gd name="adj" fmla="val 500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905000"/>
            <a:ext cx="406400" cy="406400"/>
          </a:xfrm>
          <a:prstGeom prst="rect">
            <a:avLst/>
          </a:prstGeom>
        </p:spPr>
      </p:pic>
      <p:sp>
        <p:nvSpPr>
          <p:cNvPr id="9" name="AutoShape 9"/>
          <p:cNvSpPr/>
          <p:nvPr/>
        </p:nvSpPr>
        <p:spPr>
          <a:xfrm>
            <a:off x="5207000" y="1854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RAG中的应用</a:t>
            </a:r>
            <a:endParaRPr lang="en-US" sz="1100"/>
          </a:p>
        </p:txBody>
      </p:sp>
      <p:sp>
        <p:nvSpPr>
          <p:cNvPr id="10" name="AutoShape 10"/>
          <p:cNvSpPr/>
          <p:nvPr/>
        </p:nvSpPr>
        <p:spPr>
          <a:xfrm>
            <a:off x="4699000" y="2413000"/>
            <a:ext cx="2794000" cy="152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757575"/>
                </a:solidFill>
                <a:latin typeface="Noto Sans SC"/>
                <a:ea typeface="Noto Sans SC"/>
                <a:cs typeface="Noto Sans SC"/>
                <a:sym typeface="Noto Sans SC"/>
              </a:rPr>
              <a:t>1. 构建提示：</a:t>
            </a:r>
            <a:r>
              <a:rPr lang="en-US" sz="1600" b="0" i="0" u="none" strike="noStrike">
                <a:solidFill>
                  <a:srgbClr val="757575"/>
                </a:solidFill>
                <a:latin typeface="Noto Sans SC"/>
                <a:ea typeface="Noto Sans SC"/>
                <a:cs typeface="Noto Sans SC"/>
                <a:sym typeface="Noto Sans SC"/>
              </a:rPr>
              <a:t>结合检索文档与用户问题。</a:t>
            </a:r>
            <a:endParaRPr lang="en-US" sz="1100"/>
          </a:p>
          <a:p>
            <a:pPr indent="0" algn="l">
              <a:lnSpc>
                <a:spcPct val="108000"/>
              </a:lnSpc>
            </a:pPr>
            <a:r>
              <a:rPr lang="en-US" sz="1600" b="1" i="0" u="none" strike="noStrike">
                <a:solidFill>
                  <a:srgbClr val="757575"/>
                </a:solidFill>
                <a:latin typeface="Noto Sans SC"/>
                <a:ea typeface="Noto Sans SC"/>
                <a:cs typeface="Noto Sans SC"/>
                <a:sym typeface="Noto Sans SC"/>
              </a:rPr>
              <a:t>2. 引导生成：</a:t>
            </a:r>
            <a:r>
              <a:rPr lang="en-US" sz="1600" b="0" i="0" u="none" strike="noStrike">
                <a:solidFill>
                  <a:srgbClr val="757575"/>
                </a:solidFill>
                <a:latin typeface="Noto Sans SC"/>
                <a:ea typeface="Noto Sans SC"/>
                <a:cs typeface="Noto Sans SC"/>
                <a:sym typeface="Noto Sans SC"/>
              </a:rPr>
              <a:t>基于文档回答，避免幻觉。</a:t>
            </a:r>
            <a:endParaRPr lang="en-US" sz="1600" b="0" i="0" u="none" strike="noStrike">
              <a:solidFill>
                <a:srgbClr val="757575"/>
              </a:solidFill>
              <a:latin typeface="Noto Sans SC"/>
              <a:ea typeface="Noto Sans SC"/>
              <a:cs typeface="Noto Sans SC"/>
              <a:sym typeface="Noto Sans SC"/>
            </a:endParaRPr>
          </a:p>
        </p:txBody>
      </p:sp>
      <p:sp>
        <p:nvSpPr>
          <p:cNvPr id="11" name="AutoShape 11"/>
          <p:cNvSpPr/>
          <p:nvPr/>
        </p:nvSpPr>
        <p:spPr>
          <a:xfrm>
            <a:off x="8128000" y="1651000"/>
            <a:ext cx="3302000" cy="2540000"/>
          </a:xfrm>
          <a:prstGeom prst="roundRect">
            <a:avLst>
              <a:gd name="adj" fmla="val 5000"/>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905000"/>
            <a:ext cx="406400" cy="406400"/>
          </a:xfrm>
          <a:prstGeom prst="rect">
            <a:avLst/>
          </a:prstGeom>
        </p:spPr>
      </p:pic>
      <p:sp>
        <p:nvSpPr>
          <p:cNvPr id="13" name="AutoShape 13"/>
          <p:cNvSpPr/>
          <p:nvPr/>
        </p:nvSpPr>
        <p:spPr>
          <a:xfrm>
            <a:off x="8890000" y="1854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关键原则</a:t>
            </a:r>
            <a:endParaRPr lang="en-US" sz="1100"/>
          </a:p>
        </p:txBody>
      </p:sp>
      <p:sp>
        <p:nvSpPr>
          <p:cNvPr id="14" name="AutoShape 14"/>
          <p:cNvSpPr/>
          <p:nvPr/>
        </p:nvSpPr>
        <p:spPr>
          <a:xfrm>
            <a:off x="8382000" y="2413000"/>
            <a:ext cx="2794000" cy="152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遵循清晰、具体、提供上下文、设定角色及使用示例等原则，以最大化模型性能。</a:t>
            </a:r>
            <a:endParaRPr lang="en-US" sz="1100"/>
          </a:p>
        </p:txBody>
      </p:sp>
      <p:sp>
        <p:nvSpPr>
          <p:cNvPr id="15" name="AutoShape 15"/>
          <p:cNvSpPr/>
          <p:nvPr/>
        </p:nvSpPr>
        <p:spPr>
          <a:xfrm>
            <a:off x="762000" y="4572000"/>
            <a:ext cx="10668000" cy="1270000"/>
          </a:xfrm>
          <a:prstGeom prst="roundRect">
            <a:avLst>
              <a:gd name="adj" fmla="val 10000"/>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953000"/>
            <a:ext cx="508000" cy="508000"/>
          </a:xfrm>
          <a:prstGeom prst="rect">
            <a:avLst/>
          </a:prstGeom>
        </p:spPr>
      </p:pic>
      <p:sp>
        <p:nvSpPr>
          <p:cNvPr id="17" name="AutoShape 17"/>
          <p:cNvSpPr/>
          <p:nvPr/>
        </p:nvSpPr>
        <p:spPr>
          <a:xfrm>
            <a:off x="1651000" y="4762500"/>
            <a:ext cx="9525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1" i="0" u="none" strike="noStrike">
                <a:solidFill>
                  <a:srgbClr val="0277BD"/>
                </a:solidFill>
                <a:latin typeface="Noto Sans SC"/>
                <a:ea typeface="Noto Sans SC"/>
                <a:cs typeface="Noto Sans SC"/>
                <a:sym typeface="Noto Sans SC"/>
              </a:rPr>
              <a:t>总结：</a:t>
            </a:r>
            <a:r>
              <a:rPr lang="en-US" sz="1800" b="0" i="0" u="none" strike="noStrike">
                <a:solidFill>
                  <a:srgbClr val="37474F"/>
                </a:solidFill>
                <a:latin typeface="Noto Sans SC"/>
                <a:ea typeface="Noto Sans SC"/>
                <a:cs typeface="Noto Sans SC"/>
                <a:sym typeface="Noto Sans SC"/>
              </a:rPr>
              <a:t>提示词工程是连接用户意图与AI能力的核心环节。在RAG系统中，通过精准构建提示，确保模型基于真实文档生成可靠回答，从而显著提升系统的准确性与可信度。</a:t>
            </a:r>
            <a:endParaRPr lang="en-US" sz="11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033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77BD"/>
                </a:solidFill>
                <a:latin typeface="Noto Sans SC"/>
                <a:ea typeface="Noto Sans SC"/>
                <a:cs typeface="Noto Sans SC"/>
                <a:sym typeface="Noto Sans SC"/>
              </a:rPr>
              <a:t>总结</a:t>
            </a:r>
            <a:endParaRPr lang="en-US" sz="1100"/>
          </a:p>
        </p:txBody>
      </p:sp>
      <p:sp>
        <p:nvSpPr>
          <p:cNvPr id="3" name="AutoShape 3"/>
          <p:cNvSpPr/>
          <p:nvPr/>
        </p:nvSpPr>
        <p:spPr>
          <a:xfrm>
            <a:off x="762000" y="1524000"/>
            <a:ext cx="3302000" cy="1270000"/>
          </a:xfrm>
          <a:prstGeom prst="roundRect">
            <a:avLst>
              <a:gd name="adj" fmla="val 100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714500"/>
            <a:ext cx="406400" cy="406400"/>
          </a:xfrm>
          <a:prstGeom prst="rect">
            <a:avLst/>
          </a:prstGeom>
        </p:spPr>
      </p:pic>
      <p:sp>
        <p:nvSpPr>
          <p:cNvPr id="5" name="AutoShape 5"/>
          <p:cNvSpPr/>
          <p:nvPr/>
        </p:nvSpPr>
        <p:spPr>
          <a:xfrm>
            <a:off x="1460500" y="1676400"/>
            <a:ext cx="2476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文档解析</a:t>
            </a:r>
            <a:endParaRPr lang="en-US" sz="1100"/>
          </a:p>
        </p:txBody>
      </p:sp>
      <p:sp>
        <p:nvSpPr>
          <p:cNvPr id="6" name="AutoShape 6"/>
          <p:cNvSpPr/>
          <p:nvPr/>
        </p:nvSpPr>
        <p:spPr>
          <a:xfrm>
            <a:off x="952500" y="21336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从多源异构数据中提取文本，奠定数据基础。</a:t>
            </a:r>
            <a:endParaRPr lang="en-US" sz="1100"/>
          </a:p>
        </p:txBody>
      </p:sp>
      <p:sp>
        <p:nvSpPr>
          <p:cNvPr id="7" name="AutoShape 7"/>
          <p:cNvSpPr/>
          <p:nvPr/>
        </p:nvSpPr>
        <p:spPr>
          <a:xfrm>
            <a:off x="4445000" y="1524000"/>
            <a:ext cx="3302000" cy="1270000"/>
          </a:xfrm>
          <a:prstGeom prst="roundRect">
            <a:avLst>
              <a:gd name="adj" fmla="val 100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1714500"/>
            <a:ext cx="406400" cy="406400"/>
          </a:xfrm>
          <a:prstGeom prst="rect">
            <a:avLst/>
          </a:prstGeom>
        </p:spPr>
      </p:pic>
      <p:sp>
        <p:nvSpPr>
          <p:cNvPr id="9" name="AutoShape 9"/>
          <p:cNvSpPr/>
          <p:nvPr/>
        </p:nvSpPr>
        <p:spPr>
          <a:xfrm>
            <a:off x="5143500" y="1676400"/>
            <a:ext cx="2476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文档分块</a:t>
            </a:r>
            <a:endParaRPr lang="en-US" sz="1100"/>
          </a:p>
        </p:txBody>
      </p:sp>
      <p:sp>
        <p:nvSpPr>
          <p:cNvPr id="10" name="AutoShape 10"/>
          <p:cNvSpPr/>
          <p:nvPr/>
        </p:nvSpPr>
        <p:spPr>
          <a:xfrm>
            <a:off x="4635500" y="21336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将长文档拆分为语义完整的文本块，优化检索精度。</a:t>
            </a:r>
            <a:endParaRPr lang="en-US" sz="1100"/>
          </a:p>
        </p:txBody>
      </p:sp>
      <p:sp>
        <p:nvSpPr>
          <p:cNvPr id="11" name="AutoShape 11"/>
          <p:cNvSpPr/>
          <p:nvPr/>
        </p:nvSpPr>
        <p:spPr>
          <a:xfrm>
            <a:off x="8128000" y="1524000"/>
            <a:ext cx="3302000" cy="1270000"/>
          </a:xfrm>
          <a:prstGeom prst="roundRect">
            <a:avLst>
              <a:gd name="adj" fmla="val 100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1714500"/>
            <a:ext cx="406400" cy="406400"/>
          </a:xfrm>
          <a:prstGeom prst="rect">
            <a:avLst/>
          </a:prstGeom>
        </p:spPr>
      </p:pic>
      <p:sp>
        <p:nvSpPr>
          <p:cNvPr id="13" name="AutoShape 13"/>
          <p:cNvSpPr/>
          <p:nvPr/>
        </p:nvSpPr>
        <p:spPr>
          <a:xfrm>
            <a:off x="8826500" y="1676400"/>
            <a:ext cx="2476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文本嵌入</a:t>
            </a:r>
            <a:endParaRPr lang="en-US" sz="1100"/>
          </a:p>
        </p:txBody>
      </p:sp>
      <p:sp>
        <p:nvSpPr>
          <p:cNvPr id="14" name="AutoShape 14"/>
          <p:cNvSpPr/>
          <p:nvPr/>
        </p:nvSpPr>
        <p:spPr>
          <a:xfrm>
            <a:off x="8318500" y="21336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将文本转换为数值向量，捕捉深层语义信息。</a:t>
            </a:r>
            <a:endParaRPr lang="en-US" sz="1100"/>
          </a:p>
        </p:txBody>
      </p:sp>
      <p:sp>
        <p:nvSpPr>
          <p:cNvPr id="15" name="AutoShape 15"/>
          <p:cNvSpPr/>
          <p:nvPr/>
        </p:nvSpPr>
        <p:spPr>
          <a:xfrm>
            <a:off x="762000" y="3048000"/>
            <a:ext cx="3302000" cy="1270000"/>
          </a:xfrm>
          <a:prstGeom prst="roundRect">
            <a:avLst>
              <a:gd name="adj" fmla="val 100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3238500"/>
            <a:ext cx="406400" cy="406400"/>
          </a:xfrm>
          <a:prstGeom prst="rect">
            <a:avLst/>
          </a:prstGeom>
        </p:spPr>
      </p:pic>
      <p:sp>
        <p:nvSpPr>
          <p:cNvPr id="17" name="AutoShape 17"/>
          <p:cNvSpPr/>
          <p:nvPr/>
        </p:nvSpPr>
        <p:spPr>
          <a:xfrm>
            <a:off x="1460500" y="3200400"/>
            <a:ext cx="2476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向量数据库</a:t>
            </a:r>
            <a:endParaRPr lang="en-US" sz="1100"/>
          </a:p>
        </p:txBody>
      </p:sp>
      <p:sp>
        <p:nvSpPr>
          <p:cNvPr id="18" name="AutoShape 18"/>
          <p:cNvSpPr/>
          <p:nvPr/>
        </p:nvSpPr>
        <p:spPr>
          <a:xfrm>
            <a:off x="952500" y="36576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高效存储和管理大规模向量数据，支持快速查询。</a:t>
            </a:r>
            <a:endParaRPr lang="en-US" sz="1100"/>
          </a:p>
        </p:txBody>
      </p:sp>
      <p:sp>
        <p:nvSpPr>
          <p:cNvPr id="19" name="AutoShape 19"/>
          <p:cNvSpPr/>
          <p:nvPr/>
        </p:nvSpPr>
        <p:spPr>
          <a:xfrm>
            <a:off x="4445000" y="3048000"/>
            <a:ext cx="3302000" cy="1270000"/>
          </a:xfrm>
          <a:prstGeom prst="roundRect">
            <a:avLst>
              <a:gd name="adj" fmla="val 100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35500" y="3238500"/>
            <a:ext cx="406400" cy="406400"/>
          </a:xfrm>
          <a:prstGeom prst="rect">
            <a:avLst/>
          </a:prstGeom>
        </p:spPr>
      </p:pic>
      <p:sp>
        <p:nvSpPr>
          <p:cNvPr id="21" name="AutoShape 21"/>
          <p:cNvSpPr/>
          <p:nvPr/>
        </p:nvSpPr>
        <p:spPr>
          <a:xfrm>
            <a:off x="5143500" y="3200400"/>
            <a:ext cx="2476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向量检索</a:t>
            </a:r>
            <a:endParaRPr lang="en-US" sz="1100"/>
          </a:p>
        </p:txBody>
      </p:sp>
      <p:sp>
        <p:nvSpPr>
          <p:cNvPr id="22" name="AutoShape 22"/>
          <p:cNvSpPr/>
          <p:nvPr/>
        </p:nvSpPr>
        <p:spPr>
          <a:xfrm>
            <a:off x="4635500" y="36576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快速查找与查询最相关的文档，精准定位知识。</a:t>
            </a:r>
            <a:endParaRPr lang="en-US" sz="1100"/>
          </a:p>
        </p:txBody>
      </p:sp>
      <p:sp>
        <p:nvSpPr>
          <p:cNvPr id="23" name="AutoShape 23"/>
          <p:cNvSpPr/>
          <p:nvPr/>
        </p:nvSpPr>
        <p:spPr>
          <a:xfrm>
            <a:off x="8128000" y="3048000"/>
            <a:ext cx="3302000" cy="1270000"/>
          </a:xfrm>
          <a:prstGeom prst="roundRect">
            <a:avLst>
              <a:gd name="adj" fmla="val 100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18500" y="3238500"/>
            <a:ext cx="406400" cy="406400"/>
          </a:xfrm>
          <a:prstGeom prst="rect">
            <a:avLst/>
          </a:prstGeom>
        </p:spPr>
      </p:pic>
      <p:sp>
        <p:nvSpPr>
          <p:cNvPr id="25" name="AutoShape 25"/>
          <p:cNvSpPr/>
          <p:nvPr/>
        </p:nvSpPr>
        <p:spPr>
          <a:xfrm>
            <a:off x="8826500" y="3200400"/>
            <a:ext cx="2476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提示词工程</a:t>
            </a:r>
            <a:endParaRPr lang="en-US" sz="1100"/>
          </a:p>
        </p:txBody>
      </p:sp>
      <p:sp>
        <p:nvSpPr>
          <p:cNvPr id="26" name="AutoShape 26"/>
          <p:cNvSpPr/>
          <p:nvPr/>
        </p:nvSpPr>
        <p:spPr>
          <a:xfrm>
            <a:off x="8318500" y="36576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构建有效提示，引导模型生成准确、高质量的回答。</a:t>
            </a:r>
            <a:endParaRPr lang="en-US" sz="1100"/>
          </a:p>
        </p:txBody>
      </p:sp>
      <p:sp>
        <p:nvSpPr>
          <p:cNvPr id="27" name="AutoShape 27"/>
          <p:cNvSpPr/>
          <p:nvPr/>
        </p:nvSpPr>
        <p:spPr>
          <a:xfrm>
            <a:off x="762000" y="4826000"/>
            <a:ext cx="10668000" cy="1016000"/>
          </a:xfrm>
          <a:prstGeom prst="roundRect">
            <a:avLst>
              <a:gd name="adj" fmla="val 12500"/>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16000" y="5130800"/>
            <a:ext cx="406400" cy="406400"/>
          </a:xfrm>
          <a:prstGeom prst="rect">
            <a:avLst/>
          </a:prstGeom>
        </p:spPr>
      </p:pic>
      <p:sp>
        <p:nvSpPr>
          <p:cNvPr id="29" name="AutoShape 29"/>
          <p:cNvSpPr/>
          <p:nvPr/>
        </p:nvSpPr>
        <p:spPr>
          <a:xfrm>
            <a:off x="1524000" y="50165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关键要点：</a:t>
            </a:r>
            <a:r>
              <a:rPr lang="en-US" sz="1800" b="0" i="0" u="none" strike="noStrike">
                <a:solidFill>
                  <a:srgbClr val="424242"/>
                </a:solidFill>
                <a:latin typeface="Noto Sans SC"/>
                <a:ea typeface="Noto Sans SC"/>
                <a:cs typeface="Noto Sans SC"/>
                <a:sym typeface="Noto Sans SC"/>
              </a:rPr>
              <a:t>每个模块都至关重要，任何一个环节的优化都可能显著提升RAG系统的整体性能。</a:t>
            </a:r>
            <a:endParaRPr lang="en-US" sz="11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286000" y="1651000"/>
            <a:ext cx="7620000" cy="3048000"/>
          </a:xfrm>
          <a:prstGeom prst="roundRect">
            <a:avLst>
              <a:gd name="adj" fmla="val 4166"/>
            </a:avLst>
          </a:prstGeom>
          <a:solidFill>
            <a:srgbClr val="FFFFFF">
              <a:alpha val="90000"/>
            </a:srgbClr>
          </a:solidFill>
          <a:ln cap="flat" cmpd="sng">
            <a:solidFill>
              <a:srgbClr val="E6CFCF">
                <a:alpha val="90000"/>
              </a:srgbClr>
            </a:solid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sp>
        <p:nvSpPr>
          <p:cNvPr id="3" name="AutoShape 3"/>
          <p:cNvSpPr/>
          <p:nvPr/>
        </p:nvSpPr>
        <p:spPr>
          <a:xfrm>
            <a:off x="2540000" y="2159000"/>
            <a:ext cx="7112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000" b="1" i="0" u="none" strike="noStrike">
                <a:solidFill>
                  <a:srgbClr val="0277BD"/>
                </a:solidFill>
                <a:latin typeface="Noto Sans SC"/>
                <a:ea typeface="Noto Sans SC"/>
                <a:cs typeface="Noto Sans SC"/>
                <a:sym typeface="Noto Sans SC"/>
              </a:rPr>
              <a:t>感谢观看</a:t>
            </a:r>
            <a:endParaRPr lang="en-US" sz="1100"/>
          </a:p>
        </p:txBody>
      </p:sp>
      <p:cxnSp>
        <p:nvCxnSpPr>
          <p:cNvPr id="4" name="Connector 4"/>
          <p:cNvCxnSpPr/>
          <p:nvPr/>
        </p:nvCxnSpPr>
        <p:spPr>
          <a:xfrm rot="-34376">
            <a:off x="5461032" y="3041650"/>
            <a:ext cx="1270000" cy="12700"/>
          </a:xfrm>
          <a:prstGeom prst="line">
            <a:avLst/>
          </a:prstGeom>
          <a:solidFill>
            <a:srgbClr val="DEE0E3">
              <a:alpha val="100000"/>
            </a:srgbClr>
          </a:solidFill>
          <a:ln w="25400" cap="flat" cmpd="sng">
            <a:solidFill>
              <a:srgbClr val="757575">
                <a:alpha val="100000"/>
              </a:srgbClr>
            </a:solidFill>
            <a:prstDash val="solid"/>
            <a:round/>
            <a:headEnd type="none" w="lg" len="lg"/>
            <a:tailEnd type="none" w="lg" len="lg"/>
          </a:ln>
        </p:spPr>
      </p:cxnSp>
      <p:sp>
        <p:nvSpPr>
          <p:cNvPr id="5" name="AutoShape 5"/>
          <p:cNvSpPr/>
          <p:nvPr/>
        </p:nvSpPr>
        <p:spPr>
          <a:xfrm>
            <a:off x="2540000" y="3302000"/>
            <a:ext cx="7112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400" b="0" i="0" u="none" strike="noStrike">
                <a:solidFill>
                  <a:srgbClr val="757575"/>
                </a:solidFill>
                <a:latin typeface="Noto Sans SC"/>
                <a:ea typeface="Noto Sans SC"/>
                <a:cs typeface="Noto Sans SC"/>
                <a:sym typeface="Noto Sans SC"/>
              </a:rPr>
              <a:t>Q&amp;A 互动交流环节</a:t>
            </a:r>
            <a:endParaRPr lang="en-US" sz="1100"/>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892800" y="3937000"/>
            <a:ext cx="406400" cy="406400"/>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15051</Words>
  <Application>WPS 演示</Application>
  <PresentationFormat/>
  <Paragraphs>947</Paragraphs>
  <Slides>50</Slides>
  <Notes>0</Notes>
  <HiddenSlides>0</HiddenSlides>
  <MMClips>0</MMClips>
  <ScaleCrop>false</ScaleCrop>
  <HeadingPairs>
    <vt:vector size="6" baseType="variant">
      <vt:variant>
        <vt:lpstr>已用的字体</vt:lpstr>
      </vt:variant>
      <vt:variant>
        <vt:i4>22</vt:i4>
      </vt:variant>
      <vt:variant>
        <vt:lpstr>主题</vt:lpstr>
      </vt:variant>
      <vt:variant>
        <vt:i4>2</vt:i4>
      </vt:variant>
      <vt:variant>
        <vt:lpstr>幻灯片标题</vt:lpstr>
      </vt:variant>
      <vt:variant>
        <vt:i4>50</vt:i4>
      </vt:variant>
    </vt:vector>
  </HeadingPairs>
  <TitlesOfParts>
    <vt:vector size="74" baseType="lpstr">
      <vt:lpstr>Arial</vt:lpstr>
      <vt:lpstr>宋体</vt:lpstr>
      <vt:lpstr>Wingdings</vt:lpstr>
      <vt:lpstr>Arial</vt:lpstr>
      <vt:lpstr>Noto Sans SC</vt:lpstr>
      <vt:lpstr>Thonburi</vt:lpstr>
      <vt:lpstr>Roboto</vt:lpstr>
      <vt:lpstr>宋体</vt:lpstr>
      <vt:lpstr>汉仪书宋二KW</vt:lpstr>
      <vt:lpstr>微软雅黑</vt:lpstr>
      <vt:lpstr>汉仪旗黑</vt:lpstr>
      <vt:lpstr>Arial Unicode MS</vt:lpstr>
      <vt:lpstr>Roboto Mono</vt:lpstr>
      <vt:lpstr>Source Code Pro</vt:lpstr>
      <vt:lpstr>Consolas</vt:lpstr>
      <vt:lpstr>Consolas</vt:lpstr>
      <vt:lpstr>Noto Sans SC</vt:lpstr>
      <vt:lpstr>Roboto</vt:lpstr>
      <vt:lpstr>Roboto Mono</vt:lpstr>
      <vt:lpstr>Source Code Pro</vt:lpstr>
      <vt:lpstr>苹方-简</vt:lpstr>
      <vt:lpstr>Apple Color Emoji</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Soyoger</cp:lastModifiedBy>
  <cp:revision>1</cp:revision>
  <dcterms:created xsi:type="dcterms:W3CDTF">2026-03-15T02:52:46Z</dcterms:created>
  <dcterms:modified xsi:type="dcterms:W3CDTF">2026-03-15T02:52:46Z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3A881FF2917B17CCFD1EB669FE8DD744_42</vt:lpwstr>
  </property>
  <property fmtid="{D5CDD505-2E9C-101B-9397-08002B2CF9AE}" pid="3" name="KSOProductBuildVer">
    <vt:lpwstr>2052-7.2.1.8947</vt:lpwstr>
  </property>
</Properties>
</file>
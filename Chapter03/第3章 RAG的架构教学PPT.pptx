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media/image10.svg" ContentType="image/svg+xml"/>
  <Override PartName="/ppt/media/image101.svg" ContentType="image/svg+xml"/>
  <Override PartName="/ppt/media/image104.svg" ContentType="image/svg+xml"/>
  <Override PartName="/ppt/media/image106.svg" ContentType="image/svg+xml"/>
  <Override PartName="/ppt/media/image108.svg" ContentType="image/svg+xml"/>
  <Override PartName="/ppt/media/image110.svg" ContentType="image/svg+xml"/>
  <Override PartName="/ppt/media/image112.svg" ContentType="image/svg+xml"/>
  <Override PartName="/ppt/media/image114.svg" ContentType="image/svg+xml"/>
  <Override PartName="/ppt/media/image116.svg" ContentType="image/svg+xml"/>
  <Override PartName="/ppt/media/image118.svg" ContentType="image/svg+xml"/>
  <Override PartName="/ppt/media/image12.svg" ContentType="image/svg+xml"/>
  <Override PartName="/ppt/media/image120.svg" ContentType="image/svg+xml"/>
  <Override PartName="/ppt/media/image122.svg" ContentType="image/svg+xml"/>
  <Override PartName="/ppt/media/image125.svg" ContentType="image/svg+xml"/>
  <Override PartName="/ppt/media/image127.svg" ContentType="image/svg+xml"/>
  <Override PartName="/ppt/media/image129.svg" ContentType="image/svg+xml"/>
  <Override PartName="/ppt/media/image131.svg" ContentType="image/svg+xml"/>
  <Override PartName="/ppt/media/image133.svg" ContentType="image/svg+xml"/>
  <Override PartName="/ppt/media/image136.svg" ContentType="image/svg+xml"/>
  <Override PartName="/ppt/media/image138.svg" ContentType="image/svg+xml"/>
  <Override PartName="/ppt/media/image14.svg" ContentType="image/svg+xml"/>
  <Override PartName="/ppt/media/image140.svg" ContentType="image/svg+xml"/>
  <Override PartName="/ppt/media/image142.svg" ContentType="image/svg+xml"/>
  <Override PartName="/ppt/media/image16.svg" ContentType="image/svg+xml"/>
  <Override PartName="/ppt/media/image19.svg" ContentType="image/svg+xml"/>
  <Override PartName="/ppt/media/image2.svg" ContentType="image/svg+xml"/>
  <Override PartName="/ppt/media/image21.svg" ContentType="image/svg+xml"/>
  <Override PartName="/ppt/media/image24.svg" ContentType="image/svg+xml"/>
  <Override PartName="/ppt/media/image27.svg" ContentType="image/svg+xml"/>
  <Override PartName="/ppt/media/image29.svg" ContentType="image/svg+xml"/>
  <Override PartName="/ppt/media/image31.svg" ContentType="image/svg+xml"/>
  <Override PartName="/ppt/media/image33.svg" ContentType="image/svg+xml"/>
  <Override PartName="/ppt/media/image35.svg" ContentType="image/svg+xml"/>
  <Override PartName="/ppt/media/image37.svg" ContentType="image/svg+xml"/>
  <Override PartName="/ppt/media/image4.svg" ContentType="image/svg+xml"/>
  <Override PartName="/ppt/media/image40.svg" ContentType="image/svg+xml"/>
  <Override PartName="/ppt/media/image42.svg" ContentType="image/svg+xml"/>
  <Override PartName="/ppt/media/image44.svg" ContentType="image/svg+xml"/>
  <Override PartName="/ppt/media/image46.svg" ContentType="image/svg+xml"/>
  <Override PartName="/ppt/media/image48.svg" ContentType="image/svg+xml"/>
  <Override PartName="/ppt/media/image50.svg" ContentType="image/svg+xml"/>
  <Override PartName="/ppt/media/image53.svg" ContentType="image/svg+xml"/>
  <Override PartName="/ppt/media/image55.svg" ContentType="image/svg+xml"/>
  <Override PartName="/ppt/media/image57.svg" ContentType="image/svg+xml"/>
  <Override PartName="/ppt/media/image59.svg" ContentType="image/svg+xml"/>
  <Override PartName="/ppt/media/image6.svg" ContentType="image/svg+xml"/>
  <Override PartName="/ppt/media/image61.svg" ContentType="image/svg+xml"/>
  <Override PartName="/ppt/media/image66.svg" ContentType="image/svg+xml"/>
  <Override PartName="/ppt/media/image68.svg" ContentType="image/svg+xml"/>
  <Override PartName="/ppt/media/image70.svg" ContentType="image/svg+xml"/>
  <Override PartName="/ppt/media/image72.svg" ContentType="image/svg+xml"/>
  <Override PartName="/ppt/media/image75.svg" ContentType="image/svg+xml"/>
  <Override PartName="/ppt/media/image77.svg" ContentType="image/svg+xml"/>
  <Override PartName="/ppt/media/image79.svg" ContentType="image/svg+xml"/>
  <Override PartName="/ppt/media/image8.svg" ContentType="image/svg+xml"/>
  <Override PartName="/ppt/media/image81.svg" ContentType="image/svg+xml"/>
  <Override PartName="/ppt/media/image83.svg" ContentType="image/svg+xml"/>
  <Override PartName="/ppt/media/image85.svg" ContentType="image/svg+xml"/>
  <Override PartName="/ppt/media/image87.svg" ContentType="image/svg+xml"/>
  <Override PartName="/ppt/media/image90.svg" ContentType="image/svg+xml"/>
  <Override PartName="/ppt/media/image93.svg" ContentType="image/svg+xml"/>
  <Override PartName="/ppt/media/image97.svg" ContentType="image/svg+xml"/>
  <Override PartName="/ppt/media/image99.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autoCompressPictures="0">
  <p:sldMasterIdLst>
    <p:sldMasterId id="2147483648" r:id="rId1"/>
    <p:sldMasterId id="2147483660" r:id="rId3"/>
  </p:sldMasterIdLst>
  <p:notesMasterIdLst>
    <p:notesMasterId r:id="rId5"/>
  </p:notesMasterIdLst>
  <p:sldIdLst>
    <p:sldId id="256" r:id="rId4"/>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 id="280" r:id="rId29"/>
    <p:sldId id="281" r:id="rId30"/>
    <p:sldId id="282" r:id="rId31"/>
    <p:sldId id="283" r:id="rId32"/>
    <p:sldId id="284" r:id="rId33"/>
    <p:sldId id="285" r:id="rId34"/>
    <p:sldId id="286" r:id="rId35"/>
    <p:sldId id="287" r:id="rId36"/>
    <p:sldId id="288" r:id="rId37"/>
    <p:sldId id="289" r:id="rId38"/>
    <p:sldId id="290" r:id="rId39"/>
    <p:sldId id="291" r:id="rId40"/>
    <p:sldId id="292" r:id="rId41"/>
    <p:sldId id="293" r:id="rId42"/>
    <p:sldId id="294" r:id="rId43"/>
    <p:sldId id="295" r:id="rId44"/>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defaultTextStyle>
  <p:extLst>
    <p:ext uri="{EFAFB233-063F-42B5-8137-9DF3F51BA10A}">
      <p15:sldGuideLst xmlns:p15="http://schemas.microsoft.com/office/powerpoint/2012/main">
        <p15:guide id="1" orient="horz" pos="1620" userDrawn="1">
          <p15:clr>
            <a:srgbClr val="747775"/>
          </p15:clr>
        </p15:guide>
        <p15:guide id="2" pos="2880" userDrawn="1">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showComments="0">
  <p:normalViewPr>
    <p:restoredLeft sz="15620"/>
    <p:restoredTop sz="94660"/>
  </p:normalViewPr>
  <p:slideViewPr>
    <p:cSldViewPr snapToGrid="0" showGuides="1">
      <p:cViewPr varScale="1">
        <p:scale>
          <a:sx n="100" d="100"/>
          <a:sy n="100" d="100"/>
        </p:scale>
        <p:origin x="0" y="0"/>
      </p:cViewPr>
      <p:guideLst>
        <p:guide orient="horz" pos="1620"/>
        <p:guide pos="2880"/>
      </p:guideLst>
    </p:cSldViewPr>
  </p:slide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5.xml"/><Relationship Id="rId8" Type="http://schemas.openxmlformats.org/officeDocument/2006/relationships/slide" Target="slides/slide4.xml"/><Relationship Id="rId7" Type="http://schemas.openxmlformats.org/officeDocument/2006/relationships/slide" Target="slides/slide3.xml"/><Relationship Id="rId6" Type="http://schemas.openxmlformats.org/officeDocument/2006/relationships/slide" Target="slides/slide2.xml"/><Relationship Id="rId5" Type="http://schemas.openxmlformats.org/officeDocument/2006/relationships/notesMaster" Target="notesMasters/notesMaster1.xml"/><Relationship Id="rId47" Type="http://schemas.openxmlformats.org/officeDocument/2006/relationships/tableStyles" Target="tableStyles.xml"/><Relationship Id="rId46" Type="http://schemas.openxmlformats.org/officeDocument/2006/relationships/viewProps" Target="viewProps.xml"/><Relationship Id="rId45" Type="http://schemas.openxmlformats.org/officeDocument/2006/relationships/presProps" Target="presProps.xml"/><Relationship Id="rId44" Type="http://schemas.openxmlformats.org/officeDocument/2006/relationships/slide" Target="slides/slide40.xml"/><Relationship Id="rId43" Type="http://schemas.openxmlformats.org/officeDocument/2006/relationships/slide" Target="slides/slide39.xml"/><Relationship Id="rId42" Type="http://schemas.openxmlformats.org/officeDocument/2006/relationships/slide" Target="slides/slide38.xml"/><Relationship Id="rId41" Type="http://schemas.openxmlformats.org/officeDocument/2006/relationships/slide" Target="slides/slide37.xml"/><Relationship Id="rId40" Type="http://schemas.openxmlformats.org/officeDocument/2006/relationships/slide" Target="slides/slide36.xml"/><Relationship Id="rId4" Type="http://schemas.openxmlformats.org/officeDocument/2006/relationships/slide" Target="slides/slide1.xml"/><Relationship Id="rId39" Type="http://schemas.openxmlformats.org/officeDocument/2006/relationships/slide" Target="slides/slide35.xml"/><Relationship Id="rId38" Type="http://schemas.openxmlformats.org/officeDocument/2006/relationships/slide" Target="slides/slide34.xml"/><Relationship Id="rId37" Type="http://schemas.openxmlformats.org/officeDocument/2006/relationships/slide" Target="slides/slide33.xml"/><Relationship Id="rId36" Type="http://schemas.openxmlformats.org/officeDocument/2006/relationships/slide" Target="slides/slide32.xml"/><Relationship Id="rId35" Type="http://schemas.openxmlformats.org/officeDocument/2006/relationships/slide" Target="slides/slide31.xml"/><Relationship Id="rId34" Type="http://schemas.openxmlformats.org/officeDocument/2006/relationships/slide" Target="slides/slide30.xml"/><Relationship Id="rId33" Type="http://schemas.openxmlformats.org/officeDocument/2006/relationships/slide" Target="slides/slide29.xml"/><Relationship Id="rId32" Type="http://schemas.openxmlformats.org/officeDocument/2006/relationships/slide" Target="slides/slide28.xml"/><Relationship Id="rId31" Type="http://schemas.openxmlformats.org/officeDocument/2006/relationships/slide" Target="slides/slide27.xml"/><Relationship Id="rId30" Type="http://schemas.openxmlformats.org/officeDocument/2006/relationships/slide" Target="slides/slide26.xml"/><Relationship Id="rId3" Type="http://schemas.openxmlformats.org/officeDocument/2006/relationships/slideMaster" Target="slideMasters/slideMaster2.xml"/><Relationship Id="rId29" Type="http://schemas.openxmlformats.org/officeDocument/2006/relationships/slide" Target="slides/slide25.xml"/><Relationship Id="rId28" Type="http://schemas.openxmlformats.org/officeDocument/2006/relationships/slide" Target="slides/slide24.xml"/><Relationship Id="rId27" Type="http://schemas.openxmlformats.org/officeDocument/2006/relationships/slide" Target="slides/slide23.xml"/><Relationship Id="rId26" Type="http://schemas.openxmlformats.org/officeDocument/2006/relationships/slide" Target="slides/slide22.xml"/><Relationship Id="rId25" Type="http://schemas.openxmlformats.org/officeDocument/2006/relationships/slide" Target="slides/slide21.xml"/><Relationship Id="rId24" Type="http://schemas.openxmlformats.org/officeDocument/2006/relationships/slide" Target="slides/slide20.xml"/><Relationship Id="rId23" Type="http://schemas.openxmlformats.org/officeDocument/2006/relationships/slide" Target="slides/slide19.xml"/><Relationship Id="rId22" Type="http://schemas.openxmlformats.org/officeDocument/2006/relationships/slide" Target="slides/slide18.xml"/><Relationship Id="rId21" Type="http://schemas.openxmlformats.org/officeDocument/2006/relationships/slide" Target="slides/slide17.xml"/><Relationship Id="rId20" Type="http://schemas.openxmlformats.org/officeDocument/2006/relationships/slide" Target="slides/slide16.xml"/><Relationship Id="rId2" Type="http://schemas.openxmlformats.org/officeDocument/2006/relationships/theme" Target="theme/theme1.xml"/><Relationship Id="rId19" Type="http://schemas.openxmlformats.org/officeDocument/2006/relationships/slide" Target="slides/slide15.xml"/><Relationship Id="rId18" Type="http://schemas.openxmlformats.org/officeDocument/2006/relationships/slide" Target="slides/slide14.xml"/><Relationship Id="rId17" Type="http://schemas.openxmlformats.org/officeDocument/2006/relationships/slide" Target="slides/slide13.xml"/><Relationship Id="rId16" Type="http://schemas.openxmlformats.org/officeDocument/2006/relationships/slide" Target="slides/slide12.xml"/><Relationship Id="rId15" Type="http://schemas.openxmlformats.org/officeDocument/2006/relationships/slide" Target="slides/slide11.xml"/><Relationship Id="rId14" Type="http://schemas.openxmlformats.org/officeDocument/2006/relationships/slide" Target="slides/slide10.xml"/><Relationship Id="rId13" Type="http://schemas.openxmlformats.org/officeDocument/2006/relationships/slide" Target="slides/slide9.xml"/><Relationship Id="rId12" Type="http://schemas.openxmlformats.org/officeDocument/2006/relationships/slide" Target="slides/slide8.xml"/><Relationship Id="rId11" Type="http://schemas.openxmlformats.org/officeDocument/2006/relationships/slide" Target="slides/slide7.xml"/><Relationship Id="rId10" Type="http://schemas.openxmlformats.org/officeDocument/2006/relationships/slide" Target="slides/slide6.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fld>
            <a:endParaRPr lang="cs-CZ"/>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大家好，欢迎来到本次课程。今天我们将深入探讨第三章的内容——RAG的架构。RAG，即检索增强生成，是当前人工智能领域非常重要的一个方向，它有效地结合了信息检索和大语言模型生成的优势。在本次课程中，我将以大学教授的专业视角，带领大家系统地学习RAG的不同架构，包括经典RAG、多头RAG和自反思RAG，并通过实战案例帮助大家更好地理解和掌握。希望通过这次学习，大家能对RAG技术有一个全面而深入的认识。</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这是我们本次课程的整体框架。我们将分为三个主要部分进行讲解。首先是经典的检索增强生成，也就是Vanilla RAG，这是理解所有RAG架构的基础。接着，我们会学习针对复杂查询优化的多头RAG。最后，我们将探讨引入了自我反思机制的自反思RAG。每个部分都会包含概述、架构解析和实战案例，希望能帮助大家循序渐进地掌握知识。</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好，现在我们正式进入第一部分——经典检索增强生成，也就是Vanilla RAG。这是RAG技术的基础形态，理解它的工作原理对于我们后续学习更复杂的架构至关重要。</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首先，我们来了解一下经典RAG的基本概念。简单来说，经典RAG的核心思想就是“先找资料，再写答案”。它通过检索步骤，从海量的知识库中找到与用户问题最相关的信息，然后将这些信息作为“参考资料”提供给大语言模型，让模型基于这些资料来生成回答。这样做的好处是，能够有效解决大语言模型自身知识更新不及时、容易产生“幻觉”的问题，大大提高回答的准确性和可靠性。</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接下来我们详细看一下检索阶段。这个阶段的目标很明确，就是找到最相关的信息。为了实现这个目标，我们有几种常用的技术手段。</a:t>
            </a:r>
            <a:endParaRPr lang="en-US" sz="1400" b="0" i="0" u="none" strike="noStrike">
              <a:solidFill>
                <a:srgbClr val="000000"/>
              </a:solidFill>
            </a:endParaRPr>
          </a:p>
          <a:p>
            <a:pPr indent="0" algn="l">
              <a:lnSpc>
                <a:spcPct val="100000"/>
              </a:lnSpc>
            </a:pPr>
            <a:r>
              <a:rPr lang="en-US" sz="1400" b="0" i="0" u="none" strike="noStrike">
                <a:solidFill>
                  <a:srgbClr val="000000"/>
                </a:solidFill>
              </a:rPr>
              <a:t>最传统的是关键词检索，比如大家可能听说过的TF-IDF和BM25算法，它们主要看用户的问题和文档里的词汇重合度。</a:t>
            </a:r>
            <a:endParaRPr lang="en-US" sz="1400" b="0" i="0" u="none" strike="noStrike">
              <a:solidFill>
                <a:srgbClr val="000000"/>
              </a:solidFill>
            </a:endParaRPr>
          </a:p>
          <a:p>
            <a:pPr indent="0" algn="l">
              <a:lnSpc>
                <a:spcPct val="100000"/>
              </a:lnSpc>
            </a:pPr>
            <a:r>
              <a:rPr lang="en-US" sz="1400" b="0" i="0" u="none" strike="noStrike">
                <a:solidFill>
                  <a:srgbClr val="000000"/>
                </a:solidFill>
              </a:rPr>
              <a:t>而现在更主流的是稠密向量检索，它会把文字转换成计算机能理解的向量，通过比较向量的相似性来找到相关内容，这种方法通常效果更好。</a:t>
            </a:r>
            <a:endParaRPr lang="en-US" sz="1400" b="0" i="0" u="none" strike="noStrike">
              <a:solidFill>
                <a:srgbClr val="000000"/>
              </a:solidFill>
            </a:endParaRPr>
          </a:p>
          <a:p>
            <a:pPr indent="0" algn="l">
              <a:lnSpc>
                <a:spcPct val="100000"/>
              </a:lnSpc>
            </a:pPr>
            <a:r>
              <a:rPr lang="en-US" sz="1400" b="0" i="0" u="none" strike="noStrike">
                <a:solidFill>
                  <a:srgbClr val="000000"/>
                </a:solidFill>
              </a:rPr>
              <a:t>当然，也可以把这两种方法结合起来，形成混合检索策略，以达到更好的效果。</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完成了检索，我们就进入了生成阶段。在这个阶段，我们会把检索到的相关信息，也就是“上下文”，和用户的原始问题一起，输入给一个强大的大语言模型，比如GPT或者我们国产的GLM。这个大语言模型就像是一个知识渊博的专家，它会结合这些“参考资料”和问题本身，为我们生成最终的答案。这个阶段的核心就是利用大模型强大的生成能力，把检索到的信息转化为自然、流畅的回答。</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经典RAG已经在很多领域得到了应用，比如我们常见的开放域问答系统、智能对话机器人，以及一些内容生成工具。然而，它也并非完美无缺。它的局限性主要体现在几个方面：首先，它无法获取那些没有公开的内部知识；其次，使用外部知识库可能会带来数据安全和隐私方面的问题；再者，它的回答质量高度依赖于检索结果的好坏；最后，面对一些需要复杂逻辑推理的问题时，它的能力还比较有限。这些局限性也正是后续更高级RAG架构需要解决的问题。</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了解了经典RAG的基本概念后，我们来看一下它的具体架构。这张图展示了经典RAG的完整构建流程。整个过程可以清晰地分为两大块：左边是“离线构建知识库”，这部分工作是在系统上线前完成的，包括数据的抽取、处理、分块、向量化和存储。右边是“在线实时查询”，这部分是用户实际使用时发生的，包括将用户的问题向量化、检索相似文档、构建提示词并最终生成回答。接下来，我们将对这两个部分进行更详细的拆解。</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首先我们来看离线构建知识库的前三个步骤。第一步是数据抽取，就是从各种地方，比如PDF文件、网页或者数据库里，把我们需要的文本内容提取出来。第二步是数据处理，这一步很关键，我们要对提取出来的原始数据进行清洗，去掉没用的信息，统一格式，保证数据的质量。第三步是数据分块，因为一篇文章可能很长，直接处理效率不高，所以我们会把它切成一个个小的文本块，这样后续处理起来会更方便。</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完成了数据的初步处理和分块后，我们进入第四步：词嵌入转换。这一步是将我们处理好的文本块，通过一个嵌入模型，转换成计算机能够理解和计算的向量形式。这个向量就像是文本的一个“数字指纹”，包含了文本的语义信息。</a:t>
            </a:r>
            <a:endParaRPr lang="en-US" sz="1400" b="0" i="0" u="none" strike="noStrike">
              <a:solidFill>
                <a:srgbClr val="000000"/>
              </a:solidFill>
            </a:endParaRPr>
          </a:p>
          <a:p>
            <a:pPr indent="0" algn="l">
              <a:lnSpc>
                <a:spcPct val="100000"/>
              </a:lnSpc>
            </a:pPr>
            <a:r>
              <a:rPr lang="en-US" sz="1400" b="0" i="0" u="none" strike="noStrike">
                <a:solidFill>
                  <a:srgbClr val="000000"/>
                </a:solidFill>
              </a:rPr>
              <a:t>最后一步，就是把这些向量存储到向量数据库里。向量数据库是专门为高效存储和检索向量而设计的，能够快速找到与查询向量最相似的那些向量。</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现在我们来看在线实时查询的流程。当用户提出一个问题时，第一步，我们会把这个问题也转换成一个向量，用的是和之前处理文档时完全一样的嵌入模型，这样才能保证向量空间的一致性。第二步，就是拿着这个查询向量，去我们之前建好的向量数据库里“找亲戚”，通过计算相似度，找出最相似的前K个文档向量，这些对应的文档就是我们为回答这个问题找到的“参考资料”。</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找到了相关的参考资料后，我们就进入第三步：提示词工程。这一步是把用户的问题和我们找到的参考资料组合起来，写成一个清晰的指令，也就是提示词，告诉大模型“请根据这些资料来回答这个问题”。最后一步，就是把这个精心构建的提示词输入给大语言模型，模型就会根据提示词中的信息，为我们生成最终的答案。整个流程下来，就完成了一次完整的RAG查询。</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理论讲完了，接下来我们进入实战环节。为了让大家更直观地理解经典RAG的构建过程，我们将以一个非常实用的应用——ChatPDF为例，手把手地带大家写代码。</a:t>
            </a:r>
            <a:endParaRPr lang="en-US" sz="1400" b="0" i="0" u="none" strike="noStrike">
              <a:solidFill>
                <a:srgbClr val="000000"/>
              </a:solidFill>
            </a:endParaRPr>
          </a:p>
          <a:p>
            <a:pPr indent="0" algn="l">
              <a:lnSpc>
                <a:spcPct val="100000"/>
              </a:lnSpc>
            </a:pPr>
            <a:r>
              <a:rPr lang="en-US" sz="1400" b="0" i="0" u="none" strike="noStrike">
                <a:solidFill>
                  <a:srgbClr val="000000"/>
                </a:solidFill>
              </a:rPr>
              <a:t>我们会使用国内的大模型“通义千问”和一个非常流行的框架“LangChain”来实现。</a:t>
            </a:r>
            <a:endParaRPr lang="en-US" sz="1400" b="0" i="0" u="none" strike="noStrike">
              <a:solidFill>
                <a:srgbClr val="000000"/>
              </a:solidFill>
            </a:endParaRPr>
          </a:p>
          <a:p>
            <a:pPr indent="0" algn="l">
              <a:lnSpc>
                <a:spcPct val="100000"/>
              </a:lnSpc>
            </a:pPr>
            <a:r>
              <a:rPr lang="en-US" sz="1400" b="0" i="0" u="none" strike="noStrike">
                <a:solidFill>
                  <a:srgbClr val="000000"/>
                </a:solidFill>
              </a:rPr>
              <a:t>整个实战分为离线构建知识库和在线实时查询两个部分，接下来我们就从第一部分开始。</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首先是离线构建知识库的第一步：数据抽取。这里我们用一个Python函数`parse_pdf_file`来实现从PDF文件中提取文本。这个函数会打开PDF文件，逐页读取内容，然后把每一页的文本和一些元数据，比如文件名和页码，打包成一个`Document`对象，最后把所有页面的`Document`对象收集起来返回。这样我们就得到了原始的文本数据。</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拿到原始文本后，我们需要进行数据分块。这里我们使用LangChain提供的`CharacterTextSplitter`工具。这个工具可以很方便地将长文本切成小块。我们设置了几个关键参数：用换行符作为分隔符，每个块最多256个字符，并且相邻的块之间有20个字符的重叠，这样可以避免因为分割而丢失上下文信息。运行这个函数后，我们就得到了分块后的文档列表。</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接下来是词嵌入转换。我们需要一个嵌入模型来把文本块转换成向量。这里我们使用的是通义千问提供的嵌入模型，通过`DashScopeEmbeddings`这个类来调用。我们指定了模型的版本是`text-embedding-v3`，当然，使用这个模型需要大家去阿里云申请一个API密钥。这个函数会返回一个嵌入模型的实例，供我们后续使用。</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有了分块的文档和嵌入模型，我们就可以进行向量存储了。这里我们使用的是FAISS这个非常高效的向量数据库。这个函数persist_vec_db会循环处理我们的文档块，将它们转换成向量并添加到FAISS数据库中。处理完所有文档后，它会把整个数据库保存到本地的一个文件里，这样我们下次使用的时候就可以直接加载了，非常方便。</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最后，我们把前面所有的步骤整合起来，在主函数里依次调用这些函数。首先解析我们指定的PDF文件，然后进行分块，接着初始化嵌入模型，最后把处理好的文档存入向量数据库并保存到本地。运行这段代码，我们的离线知识库就构建完成了。大家可以看到，整个流程非常清晰，每一步都有明确的分工。</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完成了离线知识库的构建，我们现在进入在线实时查询阶段。第一步，我们需要获取词嵌入模型，这里要注意，必须使用和离线阶段完全一样的模型，这样才能保证用户的问题和我们的文档是在同一个“语言体系”下进行比较的。所以我们直接复用了之前定义的get_embedding_model函数。</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接下来是相似度检索和提示词工程。我们用similarity_search_with_score这个方法，把用户的问题向量和数据库里的文档向量进行比较，找出最相似的前K个文档。然后，我们需要构建一个提示词。这个提示词模板非常重要，它告诉大模型“你是谁”、“你要做什么”以及“有什么限制”。我们把用户的问题和检索到的上下文信息作为变量，填充到这个模板里，形成最终的提示词。</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有了提示词，我们就可以调用大模型来生成回答了。这个`generate_text`函数就是用来干这个的。我们指定使用通义千问的`qwen-long`模型，并设置一些参数来控制生成的随机性和多样性。然后把我们精心构建的提示词输入进去，模型就会返回最终的回答文本。</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最后，我们把在线查询的步骤也整合到主函数里。首先加载我们之前保存的向量数据库，然后进入一个循环，等待用户输入问题。用户输入问题后，我们进行相似度检索，构建提示词，调用大模型生成回答，并打印出来。直到用户输入“stop”为止。这里展示了一个运行示例，用户问“大模型训练的数据类型有哪些？”，模型根据我们提供的PDF文档内容，给出了准确的回答。这就完成了一个完整的ChatPDF应用的构建。</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好的，经典RAG的内容我们就讲到这里。接下来，我们将学习一种针对复杂查询进行优化的RAG架构——多头检索增强生成，也就是Multi-Head RAG，简称MRAG。它解决了经典RAG在处理某些特定问题时的不足。</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那么，多头RAG要解决什么问题呢？我们来看一个例子。</a:t>
            </a:r>
            <a:endParaRPr lang="en-US" sz="1400" b="0" i="0" u="none" strike="noStrike">
              <a:solidFill>
                <a:srgbClr val="000000"/>
              </a:solidFill>
            </a:endParaRPr>
          </a:p>
          <a:p>
            <a:pPr indent="0" algn="l">
              <a:lnSpc>
                <a:spcPct val="100000"/>
              </a:lnSpc>
            </a:pPr>
            <a:r>
              <a:rPr lang="en-US" sz="1400" b="0" i="0" u="none" strike="noStrike">
                <a:solidFill>
                  <a:srgbClr val="000000"/>
                </a:solidFill>
              </a:rPr>
              <a:t>如果问“亚历山大大帝开了哪辆车？”，要回答这个问题，我们需要两方面的信息：一是关于亚历山大大帝的历史资料，二是关于汽车发明的历史资料。</a:t>
            </a:r>
            <a:endParaRPr lang="en-US" sz="1400" b="0" i="0" u="none" strike="noStrike">
              <a:solidFill>
                <a:srgbClr val="000000"/>
              </a:solidFill>
            </a:endParaRPr>
          </a:p>
          <a:p>
            <a:pPr indent="0" algn="l">
              <a:lnSpc>
                <a:spcPct val="100000"/>
              </a:lnSpc>
            </a:pPr>
            <a:r>
              <a:rPr lang="en-US" sz="1400" b="0" i="0" u="none" strike="noStrike">
                <a:solidFill>
                  <a:srgbClr val="000000"/>
                </a:solidFill>
              </a:rPr>
              <a:t>这两份资料在内容上完全不相关，它们的向量在空间中离得很远。经典RAG的检索方式，很难同时把这两份资料都找出来，这就是它的局限性。</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为了解决这个问题，多头RAG应运而生。它借鉴了Transformer模型中的多头注意力机制。简单来说，就是不再只用一个“检索头”去查找信息，而是用多个“检索头”，每个头专注于捕捉信息的不同方面。这样，即使是像刚才那个例子中的两个完全不相关的文档，也有可能被不同的检索头分别找到，然后把这些信息整合起来，就能得到完整的答案了。</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这张图展示了MRAG的整体管道架构。它主要分为四个部分：A是数据准备，B是查询执行，这两部分都依赖于C——嵌入模型，而所有的嵌入数据都存储在D——向量数据库中。整个流程和经典RAG类似，但核心的区别在于嵌入模型和数据存储方式，这也是我们接下来要重点讲解的。</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这张图清晰地展示了MRAG和标准RAG在嵌入方式上的不同。标准RAG只用一个向量来表示一个文本块，而MRAG则会用多个向量，每个向量对应一个注意力头捕捉到的不同语义信息。这样一来，一个文本块就有了多个“侧面”的表示，能够更全面地反映其内容。</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由于嵌入方式的改变，MRAG的数据存储和检索策略也相应发生了变化。在存储上，MRAG不再是一个单一的向量库，而是包含了多个嵌入空间，每个空间对应一个注意力头的结果。在检索时，它会分三步进行：首先给每个嵌入空间打分，然后在每个空间里分别检索，最后根据分数和检索结果，通过投票的方式选出最相关的文档。这样就综合了多个方面的信息，提高了检索的全面性。</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接下来我们进行MRAG的构建实战。MRAG有官方的开源项目，提供了非常方便的命令行工具。</a:t>
            </a:r>
            <a:endParaRPr lang="en-US" sz="1400" b="0" i="0" u="none" strike="noStrike">
              <a:solidFill>
                <a:srgbClr val="000000"/>
              </a:solidFill>
            </a:endParaRPr>
          </a:p>
          <a:p>
            <a:pPr indent="0" algn="l">
              <a:lnSpc>
                <a:spcPct val="100000"/>
              </a:lnSpc>
            </a:pPr>
            <a:r>
              <a:rPr lang="en-US" sz="1400" b="0" i="0" u="none" strike="noStrike">
                <a:solidFill>
                  <a:srgbClr val="000000"/>
                </a:solidFill>
              </a:rPr>
              <a:t>首先我们需要克隆项目代码，然后从源码安装MRAG包，同时还要安装docker-compose，因为它需要用Docker来启动向量数据库。这些步骤都是为后续的操作做准备。</a:t>
            </a:r>
            <a:endParaRPr lang="en-US" sz="1400" b="0" i="0" u="none" strike="noStrike">
              <a:solidFill>
                <a:srgbClr val="000000"/>
              </a:solidFill>
            </a:endParaRPr>
          </a:p>
          <a:p>
            <a:pPr indent="0" algn="l">
              <a:lnSpc>
                <a:spcPct val="100000"/>
              </a:lnSpc>
            </a:pPr>
            <a:r>
              <a:rPr lang="en-US" sz="1400" b="0" i="0" u="none" strike="noStrike">
                <a:solidFill>
                  <a:srgbClr val="000000"/>
                </a:solidFill>
              </a:rPr>
              <a:t>请注意，这个过程需要您的环境中已经安装了Python 3.9或更高版本。</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环境准备好之后，我们就可以生成测试用的数据和嵌入向量了。</a:t>
            </a:r>
            <a:endParaRPr lang="en-US" sz="1400" b="0" i="0" u="none" strike="noStrike">
              <a:solidFill>
                <a:srgbClr val="000000"/>
              </a:solidFill>
            </a:endParaRPr>
          </a:p>
          <a:p>
            <a:pPr indent="0" algn="l">
              <a:lnSpc>
                <a:spcPct val="100000"/>
              </a:lnSpc>
            </a:pPr>
            <a:r>
              <a:rPr lang="en-US" sz="1400" b="0" i="0" u="none" strike="noStrike">
                <a:solidFill>
                  <a:srgbClr val="000000"/>
                </a:solidFill>
              </a:rPr>
              <a:t>首先用 datagen 命令生成一些合成的数据集和查询，这是我们测试的基础。</a:t>
            </a:r>
            <a:endParaRPr lang="en-US" sz="1400" b="0" i="0" u="none" strike="noStrike">
              <a:solidFill>
                <a:srgbClr val="000000"/>
              </a:solidFill>
            </a:endParaRPr>
          </a:p>
          <a:p>
            <a:pPr indent="0" algn="l">
              <a:lnSpc>
                <a:spcPct val="100000"/>
              </a:lnSpc>
            </a:pPr>
            <a:r>
              <a:rPr lang="en-US" sz="1400" b="0" i="0" u="none" strike="noStrike">
                <a:solidFill>
                  <a:srgbClr val="000000"/>
                </a:solidFill>
              </a:rPr>
              <a:t>然后，我们需要设置好 OpenAI 的 API 密钥，因为生成嵌入向量需要调用他们的模型服务。</a:t>
            </a:r>
            <a:endParaRPr lang="en-US" sz="1400" b="0" i="0" u="none" strike="noStrike">
              <a:solidFill>
                <a:srgbClr val="000000"/>
              </a:solidFill>
            </a:endParaRPr>
          </a:p>
          <a:p>
            <a:pPr indent="0" algn="l">
              <a:lnSpc>
                <a:spcPct val="100000"/>
              </a:lnSpc>
            </a:pPr>
            <a:r>
              <a:rPr lang="en-US" sz="1400" b="0" i="0" u="none" strike="noStrike">
                <a:solidFill>
                  <a:srgbClr val="000000"/>
                </a:solidFill>
              </a:rPr>
              <a:t>最后，运行 embed 命令。这个命令会利用 Salesforce 的 SFR-Embedding-Mistral 模型，为我们的数据集和查询生成对应的多方面嵌入向量，也就是 MRAG 架构所需要的关键数据形式。</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有了嵌入向量，我们就可以启动向量数据库并导入数据了。使用`db start`命令启动数据库，然后用`db import`命令把之前生成的嵌入数据导入进去。接下来，我们就可以用`evaluate`命令来运行评估，看看MRAG相比其他策略表现如何。最后，用`plot`命令生成一些图表，更直观地展示评估结果。通过这些步骤，我们就能完成一次完整的MRAG性能验证。</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总结一下，MRAG的核心优势在于它能够更好地整合多方面的信息，特别适合处理那些复杂的、需要多维度知识的查询。因此，它在复杂的用户交互、跨学科的信息查询以及需要综合多方数据的商业智能分析等场景中，都能发挥出很好的效果，为大模型的应用开辟了更广阔的空间。</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接下来，我们进入最后一个部分，学习一种更智能的RAG架构——自反思检索增强生成，也就是Self-RAG。它引入了一个非常有趣的机制，让模型能够像人一样进行自我反思和评估。</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那么，Self-RAG要解决什么问题呢？我们知道，经典RAG会把检索到的前K个文档都喂给大模型，但是它不会去判断这些文档是不是真的有用，是不是准确。如果检索结果里混进了一些错误或者无关的信息，大模型就可能被这些“噪音”带偏，生成出错误的回答。这就是经典RAG在信息质量控制方面的一个短板。</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为了解决这个问题，Self-RAG引入了自我反思的机制。它不再是简单地把所有检索结果都用起来，而是让模型自己学会判断：这个信息有用吗？我该不该相信它？</a:t>
            </a:r>
            <a:endParaRPr lang="en-US" sz="1400" b="0" i="0" u="none" strike="noStrike">
              <a:solidFill>
                <a:srgbClr val="000000"/>
              </a:solidFill>
            </a:endParaRPr>
          </a:p>
          <a:p>
            <a:pPr indent="0" algn="l">
              <a:lnSpc>
                <a:spcPct val="100000"/>
              </a:lnSpc>
            </a:pPr>
            <a:r>
              <a:rPr lang="en-US" sz="1400" b="0" i="0" u="none" strike="noStrike">
                <a:solidFill>
                  <a:srgbClr val="000000"/>
                </a:solidFill>
              </a:rPr>
              <a:t>模型在生成回答的过程中，会通过一些特殊的标记来进行自我对话和评估，决定哪些信息该用，哪些信息该忽略。这样就大大提高了生成内容的质量和可靠性。</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Self-RAG的核心创新主要体现在这几个方面。首先，它把检索和生成这两个步骤深度融合在了一起，检索不再是一个独立的环节。其次，模型可以动态地决定什么时候需要检索，以及检索什么内容，非常灵活。最重要的是，它内置了信息评估机制，能够自己判断信息的好坏。这些创新使得Self-RAG在处理复杂任务时表现得更加出色，也更不容易产生“幻觉”。</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这张表格清晰地对比了Self-RAG和传统RAG的区别。可以看到，在检索策略、信息过滤、灵活性等多个方面，Self-RAG都展现出了明显的优势。它不再是一个死板的流程，而是变得更加智能和灵活，能够更好地应对各种复杂情况，生成更加可靠的回答。</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好了，第三章的内容就全部讲完了。我们一起回顾了三种主流的RAG架构：经典RAG是基础，多头RAG解决了复杂查询的问题，而Self-RAG则让模型变得更加智能，具备了自我反思的能力。可以看到，RAG技术一直在不断进化，从简单地整合信息，到现在能够自主判断和决策，未来还有很大的发展空间。</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最后，我给大家留几个思考题。希望通过这些问题，大家能够进一步思考和消化今天所学的内容。比如，不同的RAG架构各有什么优缺点，在实际应用中该如何选择？Self-RAG的反思机制具体是怎么实现的？构建一个RAG系统还需要考虑哪些实际问题？大家可以课后好好思考一下。</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本次课程到此结束，感谢大家的聆听！如果大家有任何问题，欢迎随时交流。</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matchingName="标题幻灯片">
  <p:cSld name="TITLE">
    <p:spTree>
      <p:nvGrpSpPr>
        <p:cNvPr id="11" name="Shape 11"/>
        <p:cNvGrpSpPr/>
        <p:nvPr/>
      </p:nvGrpSpPr>
      <p:grpSpPr>
        <a:xfrm>
          <a:off x="0" y="0"/>
          <a:ext cx="0" cy="0"/>
          <a:chOff x="0" y="0"/>
          <a:chExt cx="0" cy="0"/>
        </a:xfrm>
      </p:grpSpPr>
      <p:sp>
        <p:nvSpPr>
          <p:cNvPr id="12" name="Shape 30"/>
          <p:cNvSpPr txBox="1"/>
          <p:nvPr>
            <p:ph type="ctrTitle"/>
          </p:nvPr>
        </p:nvSpPr>
        <p:spPr>
          <a:xfrm>
            <a:off x="1143000" y="841772"/>
            <a:ext cx="6858000" cy="1790700"/>
          </a:xfrm>
          <a:prstGeom prst="rect">
            <a:avLst/>
          </a:prstGeom>
          <a:noFill/>
          <a:ln>
            <a:noFill/>
          </a:ln>
        </p:spPr>
        <p:txBody>
          <a:bodyPr spcFirstLastPara="1" wrap="square" lIns="68575" tIns="34275" rIns="68575" bIns="34275" anchor="b" anchorCtr="0">
            <a:normAutofit/>
          </a:bodyPr>
          <a:lstStyle>
            <a:lvl1pPr lvl="0" algn="ctr">
              <a:lnSpc>
                <a:spcPct val="90000"/>
              </a:lnSpc>
              <a:spcBef>
                <a:spcPts val="0"/>
              </a:spcBef>
              <a:spcAft>
                <a:spcPts val="0"/>
              </a:spcAft>
              <a:buClr>
                <a:schemeClr val="dk1"/>
              </a:buClr>
              <a:buSzPts val="4500"/>
              <a:buFont typeface="Arial" panose="020B0604020202090204"/>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3" name="Shape 31"/>
          <p:cNvSpPr txBox="1"/>
          <p:nvPr>
            <p:ph type="subTitle" idx="1"/>
          </p:nvPr>
        </p:nvSpPr>
        <p:spPr>
          <a:xfrm>
            <a:off x="1143000" y="2701528"/>
            <a:ext cx="6858000" cy="1241821"/>
          </a:xfrm>
          <a:prstGeom prst="rect">
            <a:avLst/>
          </a:prstGeom>
          <a:noFill/>
          <a:ln>
            <a:noFill/>
          </a:ln>
        </p:spPr>
        <p:txBody>
          <a:bodyPr spcFirstLastPara="1" wrap="square" lIns="68575" tIns="34275" rIns="68575" bIns="34275" anchor="t" anchorCtr="0">
            <a:normAutofit/>
          </a:bodyPr>
          <a:lstStyle>
            <a:lvl1pPr lvl="0" algn="ctr">
              <a:lnSpc>
                <a:spcPct val="90000"/>
              </a:lnSpc>
              <a:spcBef>
                <a:spcPts val="800"/>
              </a:spcBef>
              <a:spcAft>
                <a:spcPts val="0"/>
              </a:spcAft>
              <a:buClr>
                <a:schemeClr val="dk1"/>
              </a:buClr>
              <a:buSzPts val="1800"/>
              <a:buNone/>
              <a:defRPr sz="1800"/>
            </a:lvl1pPr>
            <a:lvl2pPr lvl="1" algn="ctr">
              <a:lnSpc>
                <a:spcPct val="90000"/>
              </a:lnSpc>
              <a:spcBef>
                <a:spcPts val="400"/>
              </a:spcBef>
              <a:spcAft>
                <a:spcPts val="0"/>
              </a:spcAft>
              <a:buClr>
                <a:schemeClr val="dk1"/>
              </a:buClr>
              <a:buSzPts val="1500"/>
              <a:buNone/>
              <a:defRPr sz="1500"/>
            </a:lvl2pPr>
            <a:lvl3pPr lvl="2" algn="ctr">
              <a:lnSpc>
                <a:spcPct val="90000"/>
              </a:lnSpc>
              <a:spcBef>
                <a:spcPts val="400"/>
              </a:spcBef>
              <a:spcAft>
                <a:spcPts val="0"/>
              </a:spcAft>
              <a:buClr>
                <a:schemeClr val="dk1"/>
              </a:buClr>
              <a:buSzPts val="1400"/>
              <a:buNone/>
              <a:defRPr sz="1400"/>
            </a:lvl3pPr>
            <a:lvl4pPr lvl="3" algn="ctr">
              <a:lnSpc>
                <a:spcPct val="90000"/>
              </a:lnSpc>
              <a:spcBef>
                <a:spcPts val="400"/>
              </a:spcBef>
              <a:spcAft>
                <a:spcPts val="0"/>
              </a:spcAft>
              <a:buClr>
                <a:schemeClr val="dk1"/>
              </a:buClr>
              <a:buSzPts val="1200"/>
              <a:buNone/>
              <a:defRPr sz="1200"/>
            </a:lvl4pPr>
            <a:lvl5pPr lvl="4" algn="ctr">
              <a:lnSpc>
                <a:spcPct val="90000"/>
              </a:lnSpc>
              <a:spcBef>
                <a:spcPts val="400"/>
              </a:spcBef>
              <a:spcAft>
                <a:spcPts val="0"/>
              </a:spcAft>
              <a:buClr>
                <a:schemeClr val="dk1"/>
              </a:buClr>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p:txBody>
      </p:sp>
      <p:sp>
        <p:nvSpPr>
          <p:cNvPr id="14" name="Shape 32"/>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5" name="Shape 33"/>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6" name="Shape 34"/>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matchingName="标题和内容">
  <p:cSld name="OBJECT">
    <p:spTree>
      <p:nvGrpSpPr>
        <p:cNvPr id="17" name="Shape 17"/>
        <p:cNvGrpSpPr/>
        <p:nvPr/>
      </p:nvGrpSpPr>
      <p:grpSpPr>
        <a:xfrm>
          <a:off x="0" y="0"/>
          <a:ext cx="0" cy="0"/>
          <a:chOff x="0" y="0"/>
          <a:chExt cx="0" cy="0"/>
        </a:xfrm>
      </p:grpSpPr>
      <p:sp>
        <p:nvSpPr>
          <p:cNvPr id="18" name="Shape 54"/>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9" name="Shape 55"/>
          <p:cNvSpPr txBox="1"/>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20" name="Shape 56"/>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1" name="Shape 57"/>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2" name="Shape 58"/>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matchingName="节标题">
  <p:cSld name="SECTION_HEADER">
    <p:spTree>
      <p:nvGrpSpPr>
        <p:cNvPr id="23" name="Shape 23"/>
        <p:cNvGrpSpPr/>
        <p:nvPr/>
      </p:nvGrpSpPr>
      <p:grpSpPr>
        <a:xfrm>
          <a:off x="0" y="0"/>
          <a:ext cx="0" cy="0"/>
          <a:chOff x="0" y="0"/>
          <a:chExt cx="0" cy="0"/>
        </a:xfrm>
      </p:grpSpPr>
      <p:sp>
        <p:nvSpPr>
          <p:cNvPr id="24" name="Shape 59"/>
          <p:cNvSpPr txBox="1"/>
          <p:nvPr>
            <p:ph type="title"/>
          </p:nvPr>
        </p:nvSpPr>
        <p:spPr>
          <a:xfrm>
            <a:off x="623888" y="1282304"/>
            <a:ext cx="7886700" cy="2139553"/>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4500"/>
              <a:buFont typeface="Arial" panose="020B0604020202090204"/>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25" name="Shape 60"/>
          <p:cNvSpPr txBox="1"/>
          <p:nvPr>
            <p:ph type="body" idx="1"/>
          </p:nvPr>
        </p:nvSpPr>
        <p:spPr>
          <a:xfrm>
            <a:off x="623888" y="3442097"/>
            <a:ext cx="7886700" cy="1125140"/>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rgbClr val="888888"/>
              </a:buClr>
              <a:buSzPts val="1800"/>
              <a:buNone/>
              <a:defRPr sz="1800">
                <a:solidFill>
                  <a:srgbClr val="888888"/>
                </a:solidFill>
              </a:defRPr>
            </a:lvl1pPr>
            <a:lvl2pPr marL="914400" lvl="1" indent="-228600" algn="l">
              <a:lnSpc>
                <a:spcPct val="90000"/>
              </a:lnSpc>
              <a:spcBef>
                <a:spcPts val="400"/>
              </a:spcBef>
              <a:spcAft>
                <a:spcPts val="0"/>
              </a:spcAft>
              <a:buClr>
                <a:srgbClr val="888888"/>
              </a:buClr>
              <a:buSzPts val="1500"/>
              <a:buNone/>
              <a:defRPr sz="1500">
                <a:solidFill>
                  <a:srgbClr val="888888"/>
                </a:solidFill>
              </a:defRPr>
            </a:lvl2pPr>
            <a:lvl3pPr marL="1371600" lvl="2" indent="-228600" algn="l">
              <a:lnSpc>
                <a:spcPct val="90000"/>
              </a:lnSpc>
              <a:spcBef>
                <a:spcPts val="400"/>
              </a:spcBef>
              <a:spcAft>
                <a:spcPts val="0"/>
              </a:spcAft>
              <a:buClr>
                <a:srgbClr val="888888"/>
              </a:buClr>
              <a:buSzPts val="1400"/>
              <a:buNone/>
              <a:defRPr sz="1400">
                <a:solidFill>
                  <a:srgbClr val="888888"/>
                </a:solidFill>
              </a:defRPr>
            </a:lvl3pPr>
            <a:lvl4pPr marL="1828800" lvl="3" indent="-228600" algn="l">
              <a:lnSpc>
                <a:spcPct val="90000"/>
              </a:lnSpc>
              <a:spcBef>
                <a:spcPts val="400"/>
              </a:spcBef>
              <a:spcAft>
                <a:spcPts val="0"/>
              </a:spcAft>
              <a:buClr>
                <a:srgbClr val="888888"/>
              </a:buClr>
              <a:buSzPts val="1200"/>
              <a:buNone/>
              <a:defRPr sz="1200">
                <a:solidFill>
                  <a:srgbClr val="888888"/>
                </a:solidFill>
              </a:defRPr>
            </a:lvl4pPr>
            <a:lvl5pPr marL="2286000" lvl="4" indent="-228600" algn="l">
              <a:lnSpc>
                <a:spcPct val="90000"/>
              </a:lnSpc>
              <a:spcBef>
                <a:spcPts val="400"/>
              </a:spcBef>
              <a:spcAft>
                <a:spcPts val="0"/>
              </a:spcAft>
              <a:buClr>
                <a:srgbClr val="888888"/>
              </a:buClr>
              <a:buSzPts val="1200"/>
              <a:buNone/>
              <a:defRPr sz="1200">
                <a:solidFill>
                  <a:srgbClr val="888888"/>
                </a:solidFill>
              </a:defRPr>
            </a:lvl5pPr>
            <a:lvl6pPr marL="2743200" lvl="5" indent="-228600" algn="l">
              <a:lnSpc>
                <a:spcPct val="90000"/>
              </a:lnSpc>
              <a:spcBef>
                <a:spcPts val="400"/>
              </a:spcBef>
              <a:spcAft>
                <a:spcPts val="0"/>
              </a:spcAft>
              <a:buClr>
                <a:srgbClr val="888888"/>
              </a:buClr>
              <a:buSzPts val="1200"/>
              <a:buNone/>
              <a:defRPr sz="1200">
                <a:solidFill>
                  <a:srgbClr val="888888"/>
                </a:solidFill>
              </a:defRPr>
            </a:lvl6pPr>
            <a:lvl7pPr marL="3200400" lvl="6" indent="-228600" algn="l">
              <a:lnSpc>
                <a:spcPct val="90000"/>
              </a:lnSpc>
              <a:spcBef>
                <a:spcPts val="400"/>
              </a:spcBef>
              <a:spcAft>
                <a:spcPts val="0"/>
              </a:spcAft>
              <a:buClr>
                <a:srgbClr val="888888"/>
              </a:buClr>
              <a:buSzPts val="1200"/>
              <a:buNone/>
              <a:defRPr sz="1200">
                <a:solidFill>
                  <a:srgbClr val="888888"/>
                </a:solidFill>
              </a:defRPr>
            </a:lvl7pPr>
            <a:lvl8pPr marL="3657600" lvl="7" indent="-228600" algn="l">
              <a:lnSpc>
                <a:spcPct val="90000"/>
              </a:lnSpc>
              <a:spcBef>
                <a:spcPts val="400"/>
              </a:spcBef>
              <a:spcAft>
                <a:spcPts val="0"/>
              </a:spcAft>
              <a:buClr>
                <a:srgbClr val="888888"/>
              </a:buClr>
              <a:buSzPts val="1200"/>
              <a:buNone/>
              <a:defRPr sz="1200">
                <a:solidFill>
                  <a:srgbClr val="888888"/>
                </a:solidFill>
              </a:defRPr>
            </a:lvl8pPr>
            <a:lvl9pPr marL="4114800" lvl="8" indent="-228600" algn="l">
              <a:lnSpc>
                <a:spcPct val="90000"/>
              </a:lnSpc>
              <a:spcBef>
                <a:spcPts val="400"/>
              </a:spcBef>
              <a:spcAft>
                <a:spcPts val="0"/>
              </a:spcAft>
              <a:buClr>
                <a:srgbClr val="888888"/>
              </a:buClr>
              <a:buSzPts val="1200"/>
              <a:buNone/>
              <a:defRPr sz="1200">
                <a:solidFill>
                  <a:srgbClr val="888888"/>
                </a:solidFill>
              </a:defRPr>
            </a:lvl9pPr>
          </a:lstStyle>
          <a:p/>
        </p:txBody>
      </p:sp>
      <p:sp>
        <p:nvSpPr>
          <p:cNvPr id="26" name="Shape 61"/>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7" name="Shape 62"/>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8" name="Shape 63"/>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matchingName="两栏内容">
  <p:cSld name="TWO_OBJECTS">
    <p:spTree>
      <p:nvGrpSpPr>
        <p:cNvPr id="29" name="Shape 29"/>
        <p:cNvGrpSpPr/>
        <p:nvPr/>
      </p:nvGrpSpPr>
      <p:grpSpPr>
        <a:xfrm>
          <a:off x="0" y="0"/>
          <a:ext cx="0" cy="0"/>
          <a:chOff x="0" y="0"/>
          <a:chExt cx="0" cy="0"/>
        </a:xfrm>
      </p:grpSpPr>
      <p:sp>
        <p:nvSpPr>
          <p:cNvPr id="30" name="Shape 9"/>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1" name="Shape 10"/>
          <p:cNvSpPr txBox="1"/>
          <p:nvPr>
            <p:ph type="body" idx="1"/>
          </p:nvPr>
        </p:nvSpPr>
        <p:spPr>
          <a:xfrm>
            <a:off x="6286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32" name="Shape 11"/>
          <p:cNvSpPr txBox="1"/>
          <p:nvPr>
            <p:ph type="body" idx="2"/>
          </p:nvPr>
        </p:nvSpPr>
        <p:spPr>
          <a:xfrm>
            <a:off x="46291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33" name="Shape 12"/>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4" name="Shape 13"/>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5" name="Shape 14"/>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matchingName="比较">
  <p:cSld name="TWO_OBJECTS_WITH_TEXT">
    <p:spTree>
      <p:nvGrpSpPr>
        <p:cNvPr id="36" name="Shape 36"/>
        <p:cNvGrpSpPr/>
        <p:nvPr/>
      </p:nvGrpSpPr>
      <p:grpSpPr>
        <a:xfrm>
          <a:off x="0" y="0"/>
          <a:ext cx="0" cy="0"/>
          <a:chOff x="0" y="0"/>
          <a:chExt cx="0" cy="0"/>
        </a:xfrm>
      </p:grpSpPr>
      <p:sp>
        <p:nvSpPr>
          <p:cNvPr id="37" name="Shape 35"/>
          <p:cNvSpPr txBox="1"/>
          <p:nvPr>
            <p:ph type="title"/>
          </p:nvPr>
        </p:nvSpPr>
        <p:spPr>
          <a:xfrm>
            <a:off x="629841"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8" name="Shape 36"/>
          <p:cNvSpPr txBox="1"/>
          <p:nvPr>
            <p:ph type="body" idx="1"/>
          </p:nvPr>
        </p:nvSpPr>
        <p:spPr>
          <a:xfrm>
            <a:off x="629841" y="1260872"/>
            <a:ext cx="3868340"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p:txBody>
      </p:sp>
      <p:sp>
        <p:nvSpPr>
          <p:cNvPr id="39" name="Shape 37"/>
          <p:cNvSpPr txBox="1"/>
          <p:nvPr>
            <p:ph type="body" idx="2"/>
          </p:nvPr>
        </p:nvSpPr>
        <p:spPr>
          <a:xfrm>
            <a:off x="629841" y="1878806"/>
            <a:ext cx="3868340"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40" name="Shape 38"/>
          <p:cNvSpPr txBox="1"/>
          <p:nvPr>
            <p:ph type="body" idx="3"/>
          </p:nvPr>
        </p:nvSpPr>
        <p:spPr>
          <a:xfrm>
            <a:off x="4629150" y="1260872"/>
            <a:ext cx="3887391"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p:txBody>
      </p:sp>
      <p:sp>
        <p:nvSpPr>
          <p:cNvPr id="41" name="Shape 39"/>
          <p:cNvSpPr txBox="1"/>
          <p:nvPr>
            <p:ph type="body" idx="4"/>
          </p:nvPr>
        </p:nvSpPr>
        <p:spPr>
          <a:xfrm>
            <a:off x="4629150" y="1878806"/>
            <a:ext cx="3887391"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42" name="Shape 40"/>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3" name="Shape 41"/>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4" name="Shape 42"/>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matchingName="仅标题">
  <p:cSld name="TITLE_ONLY">
    <p:spTree>
      <p:nvGrpSpPr>
        <p:cNvPr id="45" name="Shape 45"/>
        <p:cNvGrpSpPr/>
        <p:nvPr/>
      </p:nvGrpSpPr>
      <p:grpSpPr>
        <a:xfrm>
          <a:off x="0" y="0"/>
          <a:ext cx="0" cy="0"/>
          <a:chOff x="0" y="0"/>
          <a:chExt cx="0" cy="0"/>
        </a:xfrm>
      </p:grpSpPr>
      <p:sp>
        <p:nvSpPr>
          <p:cNvPr id="46" name="Shape 20"/>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47" name="Shape 21"/>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8" name="Shape 22"/>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9" name="Shape 23"/>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matchingName="空白">
  <p:cSld name="BLANK">
    <p:spTree>
      <p:nvGrpSpPr>
        <p:cNvPr id="50" name="Shape 50"/>
        <p:cNvGrpSpPr/>
        <p:nvPr/>
      </p:nvGrpSpPr>
      <p:grpSpPr>
        <a:xfrm>
          <a:off x="0" y="0"/>
          <a:ext cx="0" cy="0"/>
          <a:chOff x="0" y="0"/>
          <a:chExt cx="0" cy="0"/>
        </a:xfrm>
      </p:grpSpPr>
      <p:sp>
        <p:nvSpPr>
          <p:cNvPr id="51" name="Shape 6"/>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2" name="Shape 7"/>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3" name="Shape 8"/>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matchingName="内容与标题">
  <p:cSld name="OBJECT_WITH_CAPTION_TEXT">
    <p:spTree>
      <p:nvGrpSpPr>
        <p:cNvPr id="54" name="Shape 54"/>
        <p:cNvGrpSpPr/>
        <p:nvPr/>
      </p:nvGrpSpPr>
      <p:grpSpPr>
        <a:xfrm>
          <a:off x="0" y="0"/>
          <a:ext cx="0" cy="0"/>
          <a:chOff x="0" y="0"/>
          <a:chExt cx="0" cy="0"/>
        </a:xfrm>
      </p:grpSpPr>
      <p:sp>
        <p:nvSpPr>
          <p:cNvPr id="55" name="Shape 43"/>
          <p:cNvSpPr txBox="1"/>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panose="020B0604020202090204"/>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56" name="Shape 44"/>
          <p:cNvSpPr txBox="1"/>
          <p:nvPr>
            <p:ph type="body" idx="1"/>
          </p:nvPr>
        </p:nvSpPr>
        <p:spPr>
          <a:xfrm>
            <a:off x="3887391" y="740569"/>
            <a:ext cx="4629150" cy="3655219"/>
          </a:xfrm>
          <a:prstGeom prst="rect">
            <a:avLst/>
          </a:prstGeom>
          <a:noFill/>
          <a:ln>
            <a:noFill/>
          </a:ln>
        </p:spPr>
        <p:txBody>
          <a:bodyPr spcFirstLastPara="1" wrap="square" lIns="68575" tIns="34275" rIns="68575" bIns="34275" anchor="t" anchorCtr="0">
            <a:normAutofit/>
          </a:bodyPr>
          <a:lstStyle>
            <a:lvl1pPr marL="457200" lvl="0" indent="-381000" algn="l">
              <a:lnSpc>
                <a:spcPct val="90000"/>
              </a:lnSpc>
              <a:spcBef>
                <a:spcPts val="800"/>
              </a:spcBef>
              <a:spcAft>
                <a:spcPts val="0"/>
              </a:spcAft>
              <a:buClr>
                <a:schemeClr val="dk1"/>
              </a:buClr>
              <a:buSzPts val="2400"/>
              <a:buChar char="•"/>
              <a:defRPr sz="2400"/>
            </a:lvl1pPr>
            <a:lvl2pPr marL="914400" lvl="1" indent="-361950" algn="l">
              <a:lnSpc>
                <a:spcPct val="90000"/>
              </a:lnSpc>
              <a:spcBef>
                <a:spcPts val="400"/>
              </a:spcBef>
              <a:spcAft>
                <a:spcPts val="0"/>
              </a:spcAft>
              <a:buClr>
                <a:schemeClr val="dk1"/>
              </a:buClr>
              <a:buSzPts val="2100"/>
              <a:buChar char="•"/>
              <a:defRPr sz="2100"/>
            </a:lvl2pPr>
            <a:lvl3pPr marL="1371600" lvl="2" indent="-342900" algn="l">
              <a:lnSpc>
                <a:spcPct val="90000"/>
              </a:lnSpc>
              <a:spcBef>
                <a:spcPts val="400"/>
              </a:spcBef>
              <a:spcAft>
                <a:spcPts val="0"/>
              </a:spcAft>
              <a:buClr>
                <a:schemeClr val="dk1"/>
              </a:buClr>
              <a:buSzPts val="1800"/>
              <a:buChar char="•"/>
              <a:defRPr sz="1800"/>
            </a:lvl3pPr>
            <a:lvl4pPr marL="1828800" lvl="3" indent="-323850" algn="l">
              <a:lnSpc>
                <a:spcPct val="90000"/>
              </a:lnSpc>
              <a:spcBef>
                <a:spcPts val="400"/>
              </a:spcBef>
              <a:spcAft>
                <a:spcPts val="0"/>
              </a:spcAft>
              <a:buClr>
                <a:schemeClr val="dk1"/>
              </a:buClr>
              <a:buSzPts val="1500"/>
              <a:buChar char="•"/>
              <a:defRPr sz="1500"/>
            </a:lvl4pPr>
            <a:lvl5pPr marL="2286000" lvl="4" indent="-323850" algn="l">
              <a:lnSpc>
                <a:spcPct val="90000"/>
              </a:lnSpc>
              <a:spcBef>
                <a:spcPts val="400"/>
              </a:spcBef>
              <a:spcAft>
                <a:spcPts val="0"/>
              </a:spcAft>
              <a:buClr>
                <a:schemeClr val="dk1"/>
              </a:buClr>
              <a:buSzPts val="1500"/>
              <a:buChar char="•"/>
              <a:defRPr sz="1500"/>
            </a:lvl5pPr>
            <a:lvl6pPr marL="2743200" lvl="5" indent="-323850" algn="l">
              <a:lnSpc>
                <a:spcPct val="90000"/>
              </a:lnSpc>
              <a:spcBef>
                <a:spcPts val="400"/>
              </a:spcBef>
              <a:spcAft>
                <a:spcPts val="0"/>
              </a:spcAft>
              <a:buClr>
                <a:schemeClr val="dk1"/>
              </a:buClr>
              <a:buSzPts val="1500"/>
              <a:buChar char="•"/>
              <a:defRPr sz="1500"/>
            </a:lvl6pPr>
            <a:lvl7pPr marL="3200400" lvl="6" indent="-323850" algn="l">
              <a:lnSpc>
                <a:spcPct val="90000"/>
              </a:lnSpc>
              <a:spcBef>
                <a:spcPts val="400"/>
              </a:spcBef>
              <a:spcAft>
                <a:spcPts val="0"/>
              </a:spcAft>
              <a:buClr>
                <a:schemeClr val="dk1"/>
              </a:buClr>
              <a:buSzPts val="1500"/>
              <a:buChar char="•"/>
              <a:defRPr sz="1500"/>
            </a:lvl7pPr>
            <a:lvl8pPr marL="3657600" lvl="7" indent="-323850" algn="l">
              <a:lnSpc>
                <a:spcPct val="90000"/>
              </a:lnSpc>
              <a:spcBef>
                <a:spcPts val="400"/>
              </a:spcBef>
              <a:spcAft>
                <a:spcPts val="0"/>
              </a:spcAft>
              <a:buClr>
                <a:schemeClr val="dk1"/>
              </a:buClr>
              <a:buSzPts val="1500"/>
              <a:buChar char="•"/>
              <a:defRPr sz="1500"/>
            </a:lvl8pPr>
            <a:lvl9pPr marL="4114800" lvl="8" indent="-323850" algn="l">
              <a:lnSpc>
                <a:spcPct val="90000"/>
              </a:lnSpc>
              <a:spcBef>
                <a:spcPts val="400"/>
              </a:spcBef>
              <a:spcAft>
                <a:spcPts val="0"/>
              </a:spcAft>
              <a:buClr>
                <a:schemeClr val="dk1"/>
              </a:buClr>
              <a:buSzPts val="1500"/>
              <a:buChar char="•"/>
              <a:defRPr sz="1500"/>
            </a:lvl9pPr>
          </a:lstStyle>
          <a:p/>
        </p:txBody>
      </p:sp>
      <p:sp>
        <p:nvSpPr>
          <p:cNvPr id="57" name="Shape 45"/>
          <p:cNvSpPr txBox="1"/>
          <p:nvPr>
            <p:ph type="body" idx="2"/>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p:txBody>
      </p:sp>
      <p:sp>
        <p:nvSpPr>
          <p:cNvPr id="58" name="Shape 46"/>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9" name="Shape 47"/>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0" name="Shape 48"/>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matchingName="图片与标题">
  <p:cSld name="PICTURE_WITH_CAPTION_TEXT">
    <p:spTree>
      <p:nvGrpSpPr>
        <p:cNvPr id="61" name="Shape 61"/>
        <p:cNvGrpSpPr/>
        <p:nvPr/>
      </p:nvGrpSpPr>
      <p:grpSpPr>
        <a:xfrm>
          <a:off x="0" y="0"/>
          <a:ext cx="0" cy="0"/>
          <a:chOff x="0" y="0"/>
          <a:chExt cx="0" cy="0"/>
        </a:xfrm>
      </p:grpSpPr>
      <p:sp>
        <p:nvSpPr>
          <p:cNvPr id="62" name="Shape 24"/>
          <p:cNvSpPr txBox="1"/>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panose="020B0604020202090204"/>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63" name="Shape 25"/>
          <p:cNvSpPr/>
          <p:nvPr>
            <p:ph type="pic" idx="2"/>
          </p:nvPr>
        </p:nvSpPr>
        <p:spPr>
          <a:xfrm>
            <a:off x="3887391" y="740569"/>
            <a:ext cx="4629150" cy="3655219"/>
          </a:xfrm>
          <a:prstGeom prst="rect">
            <a:avLst/>
          </a:prstGeom>
          <a:noFill/>
          <a:ln>
            <a:noFill/>
          </a:ln>
        </p:spPr>
      </p:sp>
      <p:sp>
        <p:nvSpPr>
          <p:cNvPr id="64" name="Shape 26"/>
          <p:cNvSpPr txBox="1"/>
          <p:nvPr>
            <p:ph type="body" idx="1"/>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p:txBody>
      </p:sp>
      <p:sp>
        <p:nvSpPr>
          <p:cNvPr id="65" name="Shape 27"/>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6" name="Shape 28"/>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7" name="Shape 29"/>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matchingName="标题和竖排文字">
  <p:cSld name="VERTICAL_TEXT">
    <p:spTree>
      <p:nvGrpSpPr>
        <p:cNvPr id="68" name="Shape 68"/>
        <p:cNvGrpSpPr/>
        <p:nvPr/>
      </p:nvGrpSpPr>
      <p:grpSpPr>
        <a:xfrm>
          <a:off x="0" y="0"/>
          <a:ext cx="0" cy="0"/>
          <a:chOff x="0" y="0"/>
          <a:chExt cx="0" cy="0"/>
        </a:xfrm>
      </p:grpSpPr>
      <p:sp>
        <p:nvSpPr>
          <p:cNvPr id="69" name="Shape 49"/>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0" name="Shape 50"/>
          <p:cNvSpPr txBox="1"/>
          <p:nvPr>
            <p:ph type="body" idx="1"/>
          </p:nvPr>
        </p:nvSpPr>
        <p:spPr>
          <a:xfrm rot="5400000">
            <a:off x="2940248" y="-942379"/>
            <a:ext cx="3263504" cy="7886700"/>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71" name="Shape 51"/>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2" name="Shape 52"/>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3" name="Shape 53"/>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matchingName="竖排标题与文本">
  <p:cSld name="VERTICAL_TITLE_AND_VERTICAL_TEXT">
    <p:spTree>
      <p:nvGrpSpPr>
        <p:cNvPr id="74" name="Shape 74"/>
        <p:cNvGrpSpPr/>
        <p:nvPr/>
      </p:nvGrpSpPr>
      <p:grpSpPr>
        <a:xfrm>
          <a:off x="0" y="0"/>
          <a:ext cx="0" cy="0"/>
          <a:chOff x="0" y="0"/>
          <a:chExt cx="0" cy="0"/>
        </a:xfrm>
      </p:grpSpPr>
      <p:sp>
        <p:nvSpPr>
          <p:cNvPr id="75" name="Shape 15"/>
          <p:cNvSpPr txBox="1"/>
          <p:nvPr>
            <p:ph type="title"/>
          </p:nvPr>
        </p:nvSpPr>
        <p:spPr>
          <a:xfrm rot="5400000">
            <a:off x="5350073" y="1467445"/>
            <a:ext cx="4358879" cy="1971675"/>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6" name="Shape 16"/>
          <p:cNvSpPr txBox="1"/>
          <p:nvPr>
            <p:ph type="body" idx="1"/>
          </p:nvPr>
        </p:nvSpPr>
        <p:spPr>
          <a:xfrm rot="5400000">
            <a:off x="1349573" y="-447080"/>
            <a:ext cx="4358879" cy="5800725"/>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77" name="Shape 17"/>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8" name="Shape 18"/>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9" name="Shape 19"/>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5" name="Shape 5"/>
        <p:cNvGrpSpPr/>
        <p:nvPr/>
      </p:nvGrpSpPr>
      <p:grpSpPr>
        <a:xfrm>
          <a:off x="0" y="0"/>
          <a:ext cx="0" cy="0"/>
          <a:chOff x="0" y="0"/>
          <a:chExt cx="0" cy="0"/>
        </a:xfrm>
      </p:grpSpPr>
      <p:sp>
        <p:nvSpPr>
          <p:cNvPr id="6" name="Shape 1"/>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marR="0" lvl="0" algn="l" rtl="0">
              <a:lnSpc>
                <a:spcPct val="90000"/>
              </a:lnSpc>
              <a:spcBef>
                <a:spcPts val="0"/>
              </a:spcBef>
              <a:spcAft>
                <a:spcPts val="0"/>
              </a:spcAft>
              <a:buClr>
                <a:schemeClr val="dk1"/>
              </a:buClr>
              <a:buSzPts val="3300"/>
              <a:buFont typeface="Arial" panose="020B0604020202090204"/>
              <a:buNone/>
              <a:defRPr sz="3300" b="0" i="0" u="none" strike="noStrike" cap="none">
                <a:solidFill>
                  <a:schemeClr val="dk1"/>
                </a:solidFill>
                <a:latin typeface="Arial" panose="020B0604020202090204"/>
                <a:ea typeface="Arial" panose="020B0604020202090204"/>
                <a:cs typeface="Arial" panose="020B0604020202090204"/>
                <a:sym typeface="Arial" panose="020B0604020202090204"/>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p:txBody>
      </p:sp>
      <p:sp>
        <p:nvSpPr>
          <p:cNvPr id="7" name="Shape 2"/>
          <p:cNvSpPr txBox="1"/>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marR="0" lvl="0" indent="-361950" algn="l" rtl="0">
              <a:lnSpc>
                <a:spcPct val="90000"/>
              </a:lnSpc>
              <a:spcBef>
                <a:spcPts val="800"/>
              </a:spcBef>
              <a:spcAft>
                <a:spcPts val="0"/>
              </a:spcAft>
              <a:buClr>
                <a:schemeClr val="dk1"/>
              </a:buClr>
              <a:buSzPts val="2100"/>
              <a:buFont typeface="Arial" panose="020B0604020202090204"/>
              <a:buChar char="•"/>
              <a:defRPr sz="2100" b="0" i="0" u="none" strike="noStrike" cap="none">
                <a:solidFill>
                  <a:schemeClr val="dk1"/>
                </a:solidFill>
                <a:latin typeface="Arial" panose="020B0604020202090204"/>
                <a:ea typeface="Arial" panose="020B0604020202090204"/>
                <a:cs typeface="Arial" panose="020B0604020202090204"/>
                <a:sym typeface="Arial" panose="020B0604020202090204"/>
              </a:defRPr>
            </a:lvl1pPr>
            <a:lvl2pPr marL="914400" marR="0" lvl="1" indent="-342900" algn="l" rtl="0">
              <a:lnSpc>
                <a:spcPct val="90000"/>
              </a:lnSpc>
              <a:spcBef>
                <a:spcPts val="400"/>
              </a:spcBef>
              <a:spcAft>
                <a:spcPts val="0"/>
              </a:spcAft>
              <a:buClr>
                <a:schemeClr val="dk1"/>
              </a:buClr>
              <a:buSzPts val="1800"/>
              <a:buFont typeface="Arial" panose="020B0604020202090204"/>
              <a:buChar char="•"/>
              <a:defRPr sz="1800" b="0" i="0" u="none" strike="noStrike" cap="none">
                <a:solidFill>
                  <a:schemeClr val="dk1"/>
                </a:solidFill>
                <a:latin typeface="Arial" panose="020B0604020202090204"/>
                <a:ea typeface="Arial" panose="020B0604020202090204"/>
                <a:cs typeface="Arial" panose="020B0604020202090204"/>
                <a:sym typeface="Arial" panose="020B0604020202090204"/>
              </a:defRPr>
            </a:lvl2pPr>
            <a:lvl3pPr marL="1371600" marR="0" lvl="2" indent="-323850" algn="l" rtl="0">
              <a:lnSpc>
                <a:spcPct val="90000"/>
              </a:lnSpc>
              <a:spcBef>
                <a:spcPts val="400"/>
              </a:spcBef>
              <a:spcAft>
                <a:spcPts val="0"/>
              </a:spcAft>
              <a:buClr>
                <a:schemeClr val="dk1"/>
              </a:buClr>
              <a:buSzPts val="1500"/>
              <a:buFont typeface="Arial" panose="020B0604020202090204"/>
              <a:buChar char="•"/>
              <a:defRPr sz="1500" b="0" i="0" u="none" strike="noStrike" cap="none">
                <a:solidFill>
                  <a:schemeClr val="dk1"/>
                </a:solidFill>
                <a:latin typeface="Arial" panose="020B0604020202090204"/>
                <a:ea typeface="Arial" panose="020B0604020202090204"/>
                <a:cs typeface="Arial" panose="020B0604020202090204"/>
                <a:sym typeface="Arial" panose="020B0604020202090204"/>
              </a:defRPr>
            </a:lvl3pPr>
            <a:lvl4pPr marL="1828800" marR="0" lvl="3" indent="-317500" algn="l" rtl="0">
              <a:lnSpc>
                <a:spcPct val="90000"/>
              </a:lnSpc>
              <a:spcBef>
                <a:spcPts val="400"/>
              </a:spcBef>
              <a:spcAft>
                <a:spcPts val="0"/>
              </a:spcAft>
              <a:buClr>
                <a:schemeClr val="dk1"/>
              </a:buClr>
              <a:buSzPts val="1400"/>
              <a:buFont typeface="Arial" panose="020B0604020202090204"/>
              <a:buChar char="•"/>
              <a:defRPr sz="1400" b="0" i="0" u="none" strike="noStrike" cap="none">
                <a:solidFill>
                  <a:schemeClr val="dk1"/>
                </a:solidFill>
                <a:latin typeface="Arial" panose="020B0604020202090204"/>
                <a:ea typeface="Arial" panose="020B0604020202090204"/>
                <a:cs typeface="Arial" panose="020B0604020202090204"/>
                <a:sym typeface="Arial" panose="020B0604020202090204"/>
              </a:defRPr>
            </a:lvl4pPr>
            <a:lvl5pPr marL="2286000" marR="0" lvl="4" indent="-317500" algn="l" rtl="0">
              <a:lnSpc>
                <a:spcPct val="90000"/>
              </a:lnSpc>
              <a:spcBef>
                <a:spcPts val="400"/>
              </a:spcBef>
              <a:spcAft>
                <a:spcPts val="0"/>
              </a:spcAft>
              <a:buClr>
                <a:schemeClr val="dk1"/>
              </a:buClr>
              <a:buSzPts val="1400"/>
              <a:buFont typeface="Arial" panose="020B0604020202090204"/>
              <a:buChar char="•"/>
              <a:defRPr sz="1400" b="0" i="0" u="none" strike="noStrike" cap="none">
                <a:solidFill>
                  <a:schemeClr val="dk1"/>
                </a:solidFill>
                <a:latin typeface="Arial" panose="020B0604020202090204"/>
                <a:ea typeface="Arial" panose="020B0604020202090204"/>
                <a:cs typeface="Arial" panose="020B0604020202090204"/>
                <a:sym typeface="Arial" panose="020B0604020202090204"/>
              </a:defRPr>
            </a:lvl5pPr>
            <a:lvl6pPr marL="2743200" marR="0" lvl="5" indent="-317500" algn="l" rtl="0">
              <a:lnSpc>
                <a:spcPct val="90000"/>
              </a:lnSpc>
              <a:spcBef>
                <a:spcPts val="400"/>
              </a:spcBef>
              <a:spcAft>
                <a:spcPts val="0"/>
              </a:spcAft>
              <a:buClr>
                <a:schemeClr val="dk1"/>
              </a:buClr>
              <a:buSzPts val="1400"/>
              <a:buFont typeface="Arial" panose="020B0604020202090204"/>
              <a:buChar char="•"/>
              <a:defRPr sz="1400" b="0" i="0" u="none" strike="noStrike" cap="none">
                <a:solidFill>
                  <a:schemeClr val="dk1"/>
                </a:solidFill>
                <a:latin typeface="Arial" panose="020B0604020202090204"/>
                <a:ea typeface="Arial" panose="020B0604020202090204"/>
                <a:cs typeface="Arial" panose="020B0604020202090204"/>
                <a:sym typeface="Arial" panose="020B0604020202090204"/>
              </a:defRPr>
            </a:lvl6pPr>
            <a:lvl7pPr marL="3200400" marR="0" lvl="6" indent="-317500" algn="l" rtl="0">
              <a:lnSpc>
                <a:spcPct val="90000"/>
              </a:lnSpc>
              <a:spcBef>
                <a:spcPts val="400"/>
              </a:spcBef>
              <a:spcAft>
                <a:spcPts val="0"/>
              </a:spcAft>
              <a:buClr>
                <a:schemeClr val="dk1"/>
              </a:buClr>
              <a:buSzPts val="1400"/>
              <a:buFont typeface="Arial" panose="020B0604020202090204"/>
              <a:buChar char="•"/>
              <a:defRPr sz="1400" b="0" i="0" u="none" strike="noStrike" cap="none">
                <a:solidFill>
                  <a:schemeClr val="dk1"/>
                </a:solidFill>
                <a:latin typeface="Arial" panose="020B0604020202090204"/>
                <a:ea typeface="Arial" panose="020B0604020202090204"/>
                <a:cs typeface="Arial" panose="020B0604020202090204"/>
                <a:sym typeface="Arial" panose="020B0604020202090204"/>
              </a:defRPr>
            </a:lvl7pPr>
            <a:lvl8pPr marL="3657600" marR="0" lvl="7" indent="-317500" algn="l" rtl="0">
              <a:lnSpc>
                <a:spcPct val="90000"/>
              </a:lnSpc>
              <a:spcBef>
                <a:spcPts val="400"/>
              </a:spcBef>
              <a:spcAft>
                <a:spcPts val="0"/>
              </a:spcAft>
              <a:buClr>
                <a:schemeClr val="dk1"/>
              </a:buClr>
              <a:buSzPts val="1400"/>
              <a:buFont typeface="Arial" panose="020B0604020202090204"/>
              <a:buChar char="•"/>
              <a:defRPr sz="1400" b="0" i="0" u="none" strike="noStrike" cap="none">
                <a:solidFill>
                  <a:schemeClr val="dk1"/>
                </a:solidFill>
                <a:latin typeface="Arial" panose="020B0604020202090204"/>
                <a:ea typeface="Arial" panose="020B0604020202090204"/>
                <a:cs typeface="Arial" panose="020B0604020202090204"/>
                <a:sym typeface="Arial" panose="020B0604020202090204"/>
              </a:defRPr>
            </a:lvl8pPr>
            <a:lvl9pPr marL="4114800" marR="0" lvl="8" indent="-317500" algn="l" rtl="0">
              <a:lnSpc>
                <a:spcPct val="90000"/>
              </a:lnSpc>
              <a:spcBef>
                <a:spcPts val="400"/>
              </a:spcBef>
              <a:spcAft>
                <a:spcPts val="0"/>
              </a:spcAft>
              <a:buClr>
                <a:schemeClr val="dk1"/>
              </a:buClr>
              <a:buSzPts val="1400"/>
              <a:buFont typeface="Arial" panose="020B0604020202090204"/>
              <a:buChar char="•"/>
              <a:defRPr sz="1400" b="0" i="0" u="none" strike="noStrike" cap="none">
                <a:solidFill>
                  <a:schemeClr val="dk1"/>
                </a:solidFill>
                <a:latin typeface="Arial" panose="020B0604020202090204"/>
                <a:ea typeface="Arial" panose="020B0604020202090204"/>
                <a:cs typeface="Arial" panose="020B0604020202090204"/>
                <a:sym typeface="Arial" panose="020B0604020202090204"/>
              </a:defRPr>
            </a:lvl9pPr>
          </a:lstStyle>
          <a:p/>
        </p:txBody>
      </p:sp>
      <p:sp>
        <p:nvSpPr>
          <p:cNvPr id="8" name="Shape 3"/>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marR="0" lvl="0" algn="l" rtl="0">
              <a:spcBef>
                <a:spcPts val="0"/>
              </a:spcBef>
              <a:spcAft>
                <a:spcPts val="0"/>
              </a:spcAft>
              <a:buSzPts val="1100"/>
              <a:buNone/>
              <a:defRPr sz="900" b="0" i="0" u="none" strike="noStrike" cap="none">
                <a:solidFill>
                  <a:srgbClr val="888888"/>
                </a:solidFill>
                <a:latin typeface="Arial" panose="020B0604020202090204"/>
                <a:ea typeface="Arial" panose="020B0604020202090204"/>
                <a:cs typeface="Arial" panose="020B0604020202090204"/>
                <a:sym typeface="Arial" panose="020B0604020202090204"/>
              </a:defRPr>
            </a:lvl1pPr>
            <a:lvl2pPr marR="0" lvl="1" algn="l" rtl="0">
              <a:spcBef>
                <a:spcPts val="0"/>
              </a:spcBef>
              <a:spcAft>
                <a:spcPts val="0"/>
              </a:spcAft>
              <a:buSzPts val="1100"/>
              <a:buNone/>
              <a:defRPr sz="1400" b="0" i="0" u="none" strike="noStrike" cap="none">
                <a:solidFill>
                  <a:schemeClr val="dk1"/>
                </a:solidFill>
                <a:latin typeface="Arial" panose="020B0604020202090204"/>
                <a:ea typeface="Arial" panose="020B0604020202090204"/>
                <a:cs typeface="Arial" panose="020B0604020202090204"/>
                <a:sym typeface="Arial" panose="020B0604020202090204"/>
              </a:defRPr>
            </a:lvl2pPr>
            <a:lvl3pPr marR="0" lvl="2" algn="l" rtl="0">
              <a:spcBef>
                <a:spcPts val="0"/>
              </a:spcBef>
              <a:spcAft>
                <a:spcPts val="0"/>
              </a:spcAft>
              <a:buSzPts val="1100"/>
              <a:buNone/>
              <a:defRPr sz="1400" b="0" i="0" u="none" strike="noStrike" cap="none">
                <a:solidFill>
                  <a:schemeClr val="dk1"/>
                </a:solidFill>
                <a:latin typeface="Arial" panose="020B0604020202090204"/>
                <a:ea typeface="Arial" panose="020B0604020202090204"/>
                <a:cs typeface="Arial" panose="020B0604020202090204"/>
                <a:sym typeface="Arial" panose="020B0604020202090204"/>
              </a:defRPr>
            </a:lvl3pPr>
            <a:lvl4pPr marR="0" lvl="3" algn="l" rtl="0">
              <a:spcBef>
                <a:spcPts val="0"/>
              </a:spcBef>
              <a:spcAft>
                <a:spcPts val="0"/>
              </a:spcAft>
              <a:buSzPts val="1100"/>
              <a:buNone/>
              <a:defRPr sz="1400" b="0" i="0" u="none" strike="noStrike" cap="none">
                <a:solidFill>
                  <a:schemeClr val="dk1"/>
                </a:solidFill>
                <a:latin typeface="Arial" panose="020B0604020202090204"/>
                <a:ea typeface="Arial" panose="020B0604020202090204"/>
                <a:cs typeface="Arial" panose="020B0604020202090204"/>
                <a:sym typeface="Arial" panose="020B0604020202090204"/>
              </a:defRPr>
            </a:lvl4pPr>
            <a:lvl5pPr marR="0" lvl="4" algn="l" rtl="0">
              <a:spcBef>
                <a:spcPts val="0"/>
              </a:spcBef>
              <a:spcAft>
                <a:spcPts val="0"/>
              </a:spcAft>
              <a:buSzPts val="1100"/>
              <a:buNone/>
              <a:defRPr sz="1400" b="0" i="0" u="none" strike="noStrike" cap="none">
                <a:solidFill>
                  <a:schemeClr val="dk1"/>
                </a:solidFill>
                <a:latin typeface="Arial" panose="020B0604020202090204"/>
                <a:ea typeface="Arial" panose="020B0604020202090204"/>
                <a:cs typeface="Arial" panose="020B0604020202090204"/>
                <a:sym typeface="Arial" panose="020B0604020202090204"/>
              </a:defRPr>
            </a:lvl5pPr>
            <a:lvl6pPr marR="0" lvl="5" algn="l" rtl="0">
              <a:spcBef>
                <a:spcPts val="0"/>
              </a:spcBef>
              <a:spcAft>
                <a:spcPts val="0"/>
              </a:spcAft>
              <a:buSzPts val="1100"/>
              <a:buNone/>
              <a:defRPr sz="1400" b="0" i="0" u="none" strike="noStrike" cap="none">
                <a:solidFill>
                  <a:schemeClr val="dk1"/>
                </a:solidFill>
                <a:latin typeface="Arial" panose="020B0604020202090204"/>
                <a:ea typeface="Arial" panose="020B0604020202090204"/>
                <a:cs typeface="Arial" panose="020B0604020202090204"/>
                <a:sym typeface="Arial" panose="020B0604020202090204"/>
              </a:defRPr>
            </a:lvl6pPr>
            <a:lvl7pPr marR="0" lvl="6" algn="l" rtl="0">
              <a:spcBef>
                <a:spcPts val="0"/>
              </a:spcBef>
              <a:spcAft>
                <a:spcPts val="0"/>
              </a:spcAft>
              <a:buSzPts val="1100"/>
              <a:buNone/>
              <a:defRPr sz="1400" b="0" i="0" u="none" strike="noStrike" cap="none">
                <a:solidFill>
                  <a:schemeClr val="dk1"/>
                </a:solidFill>
                <a:latin typeface="Arial" panose="020B0604020202090204"/>
                <a:ea typeface="Arial" panose="020B0604020202090204"/>
                <a:cs typeface="Arial" panose="020B0604020202090204"/>
                <a:sym typeface="Arial" panose="020B0604020202090204"/>
              </a:defRPr>
            </a:lvl7pPr>
            <a:lvl8pPr marR="0" lvl="7" algn="l" rtl="0">
              <a:spcBef>
                <a:spcPts val="0"/>
              </a:spcBef>
              <a:spcAft>
                <a:spcPts val="0"/>
              </a:spcAft>
              <a:buSzPts val="1100"/>
              <a:buNone/>
              <a:defRPr sz="1400" b="0" i="0" u="none" strike="noStrike" cap="none">
                <a:solidFill>
                  <a:schemeClr val="dk1"/>
                </a:solidFill>
                <a:latin typeface="Arial" panose="020B0604020202090204"/>
                <a:ea typeface="Arial" panose="020B0604020202090204"/>
                <a:cs typeface="Arial" panose="020B0604020202090204"/>
                <a:sym typeface="Arial" panose="020B0604020202090204"/>
              </a:defRPr>
            </a:lvl8pPr>
            <a:lvl9pPr marR="0" lvl="8" algn="l" rtl="0">
              <a:spcBef>
                <a:spcPts val="0"/>
              </a:spcBef>
              <a:spcAft>
                <a:spcPts val="0"/>
              </a:spcAft>
              <a:buSzPts val="1100"/>
              <a:buNone/>
              <a:defRPr sz="1400" b="0" i="0" u="none" strike="noStrike" cap="none">
                <a:solidFill>
                  <a:schemeClr val="dk1"/>
                </a:solidFill>
                <a:latin typeface="Arial" panose="020B0604020202090204"/>
                <a:ea typeface="Arial" panose="020B0604020202090204"/>
                <a:cs typeface="Arial" panose="020B0604020202090204"/>
                <a:sym typeface="Arial" panose="020B0604020202090204"/>
              </a:defRPr>
            </a:lvl9pPr>
          </a:lstStyle>
          <a:p/>
        </p:txBody>
      </p:sp>
      <p:sp>
        <p:nvSpPr>
          <p:cNvPr id="9" name="Shape 4"/>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marR="0" lvl="0" algn="ctr" rtl="0">
              <a:spcBef>
                <a:spcPts val="0"/>
              </a:spcBef>
              <a:spcAft>
                <a:spcPts val="0"/>
              </a:spcAft>
              <a:buSzPts val="1100"/>
              <a:buNone/>
              <a:defRPr sz="900" b="0" i="0" u="none" strike="noStrike" cap="none">
                <a:solidFill>
                  <a:srgbClr val="888888"/>
                </a:solidFill>
                <a:latin typeface="Arial" panose="020B0604020202090204"/>
                <a:ea typeface="Arial" panose="020B0604020202090204"/>
                <a:cs typeface="Arial" panose="020B0604020202090204"/>
                <a:sym typeface="Arial" panose="020B0604020202090204"/>
              </a:defRPr>
            </a:lvl1pPr>
            <a:lvl2pPr marR="0" lvl="1" algn="l" rtl="0">
              <a:spcBef>
                <a:spcPts val="0"/>
              </a:spcBef>
              <a:spcAft>
                <a:spcPts val="0"/>
              </a:spcAft>
              <a:buSzPts val="1100"/>
              <a:buNone/>
              <a:defRPr sz="1400" b="0" i="0" u="none" strike="noStrike" cap="none">
                <a:solidFill>
                  <a:schemeClr val="dk1"/>
                </a:solidFill>
                <a:latin typeface="Arial" panose="020B0604020202090204"/>
                <a:ea typeface="Arial" panose="020B0604020202090204"/>
                <a:cs typeface="Arial" panose="020B0604020202090204"/>
                <a:sym typeface="Arial" panose="020B0604020202090204"/>
              </a:defRPr>
            </a:lvl2pPr>
            <a:lvl3pPr marR="0" lvl="2" algn="l" rtl="0">
              <a:spcBef>
                <a:spcPts val="0"/>
              </a:spcBef>
              <a:spcAft>
                <a:spcPts val="0"/>
              </a:spcAft>
              <a:buSzPts val="1100"/>
              <a:buNone/>
              <a:defRPr sz="1400" b="0" i="0" u="none" strike="noStrike" cap="none">
                <a:solidFill>
                  <a:schemeClr val="dk1"/>
                </a:solidFill>
                <a:latin typeface="Arial" panose="020B0604020202090204"/>
                <a:ea typeface="Arial" panose="020B0604020202090204"/>
                <a:cs typeface="Arial" panose="020B0604020202090204"/>
                <a:sym typeface="Arial" panose="020B0604020202090204"/>
              </a:defRPr>
            </a:lvl3pPr>
            <a:lvl4pPr marR="0" lvl="3" algn="l" rtl="0">
              <a:spcBef>
                <a:spcPts val="0"/>
              </a:spcBef>
              <a:spcAft>
                <a:spcPts val="0"/>
              </a:spcAft>
              <a:buSzPts val="1100"/>
              <a:buNone/>
              <a:defRPr sz="1400" b="0" i="0" u="none" strike="noStrike" cap="none">
                <a:solidFill>
                  <a:schemeClr val="dk1"/>
                </a:solidFill>
                <a:latin typeface="Arial" panose="020B0604020202090204"/>
                <a:ea typeface="Arial" panose="020B0604020202090204"/>
                <a:cs typeface="Arial" panose="020B0604020202090204"/>
                <a:sym typeface="Arial" panose="020B0604020202090204"/>
              </a:defRPr>
            </a:lvl4pPr>
            <a:lvl5pPr marR="0" lvl="4" algn="l" rtl="0">
              <a:spcBef>
                <a:spcPts val="0"/>
              </a:spcBef>
              <a:spcAft>
                <a:spcPts val="0"/>
              </a:spcAft>
              <a:buSzPts val="1100"/>
              <a:buNone/>
              <a:defRPr sz="1400" b="0" i="0" u="none" strike="noStrike" cap="none">
                <a:solidFill>
                  <a:schemeClr val="dk1"/>
                </a:solidFill>
                <a:latin typeface="Arial" panose="020B0604020202090204"/>
                <a:ea typeface="Arial" panose="020B0604020202090204"/>
                <a:cs typeface="Arial" panose="020B0604020202090204"/>
                <a:sym typeface="Arial" panose="020B0604020202090204"/>
              </a:defRPr>
            </a:lvl5pPr>
            <a:lvl6pPr marR="0" lvl="5" algn="l" rtl="0">
              <a:spcBef>
                <a:spcPts val="0"/>
              </a:spcBef>
              <a:spcAft>
                <a:spcPts val="0"/>
              </a:spcAft>
              <a:buSzPts val="1100"/>
              <a:buNone/>
              <a:defRPr sz="1400" b="0" i="0" u="none" strike="noStrike" cap="none">
                <a:solidFill>
                  <a:schemeClr val="dk1"/>
                </a:solidFill>
                <a:latin typeface="Arial" panose="020B0604020202090204"/>
                <a:ea typeface="Arial" panose="020B0604020202090204"/>
                <a:cs typeface="Arial" panose="020B0604020202090204"/>
                <a:sym typeface="Arial" panose="020B0604020202090204"/>
              </a:defRPr>
            </a:lvl6pPr>
            <a:lvl7pPr marR="0" lvl="6" algn="l" rtl="0">
              <a:spcBef>
                <a:spcPts val="0"/>
              </a:spcBef>
              <a:spcAft>
                <a:spcPts val="0"/>
              </a:spcAft>
              <a:buSzPts val="1100"/>
              <a:buNone/>
              <a:defRPr sz="1400" b="0" i="0" u="none" strike="noStrike" cap="none">
                <a:solidFill>
                  <a:schemeClr val="dk1"/>
                </a:solidFill>
                <a:latin typeface="Arial" panose="020B0604020202090204"/>
                <a:ea typeface="Arial" panose="020B0604020202090204"/>
                <a:cs typeface="Arial" panose="020B0604020202090204"/>
                <a:sym typeface="Arial" panose="020B0604020202090204"/>
              </a:defRPr>
            </a:lvl7pPr>
            <a:lvl8pPr marR="0" lvl="7" algn="l" rtl="0">
              <a:spcBef>
                <a:spcPts val="0"/>
              </a:spcBef>
              <a:spcAft>
                <a:spcPts val="0"/>
              </a:spcAft>
              <a:buSzPts val="1100"/>
              <a:buNone/>
              <a:defRPr sz="1400" b="0" i="0" u="none" strike="noStrike" cap="none">
                <a:solidFill>
                  <a:schemeClr val="dk1"/>
                </a:solidFill>
                <a:latin typeface="Arial" panose="020B0604020202090204"/>
                <a:ea typeface="Arial" panose="020B0604020202090204"/>
                <a:cs typeface="Arial" panose="020B0604020202090204"/>
                <a:sym typeface="Arial" panose="020B0604020202090204"/>
              </a:defRPr>
            </a:lvl8pPr>
            <a:lvl9pPr marR="0" lvl="8" algn="l" rtl="0">
              <a:spcBef>
                <a:spcPts val="0"/>
              </a:spcBef>
              <a:spcAft>
                <a:spcPts val="0"/>
              </a:spcAft>
              <a:buSzPts val="1100"/>
              <a:buNone/>
              <a:defRPr sz="1400" b="0" i="0" u="none" strike="noStrike" cap="none">
                <a:solidFill>
                  <a:schemeClr val="dk1"/>
                </a:solidFill>
                <a:latin typeface="Arial" panose="020B0604020202090204"/>
                <a:ea typeface="Arial" panose="020B0604020202090204"/>
                <a:cs typeface="Arial" panose="020B0604020202090204"/>
                <a:sym typeface="Arial" panose="020B0604020202090204"/>
              </a:defRPr>
            </a:lvl9pPr>
          </a:lstStyle>
          <a:p/>
        </p:txBody>
      </p:sp>
      <p:sp>
        <p:nvSpPr>
          <p:cNvPr id="10" name="Shape 5"/>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marR="0" lvl="0" indent="0" algn="r" rtl="0">
              <a:spcBef>
                <a:spcPts val="0"/>
              </a:spcBef>
              <a:buNone/>
              <a:defRPr sz="900" b="0" i="0" u="none" strike="noStrike" cap="none">
                <a:solidFill>
                  <a:srgbClr val="888888"/>
                </a:solidFill>
                <a:latin typeface="Arial" panose="020B0604020202090204"/>
                <a:ea typeface="Arial" panose="020B0604020202090204"/>
                <a:cs typeface="Arial" panose="020B0604020202090204"/>
                <a:sym typeface="Arial" panose="020B0604020202090204"/>
              </a:defRPr>
            </a:lvl1pPr>
            <a:lvl2pPr marL="0" marR="0" lvl="1" indent="0" algn="r" rtl="0">
              <a:spcBef>
                <a:spcPts val="0"/>
              </a:spcBef>
              <a:buNone/>
              <a:defRPr sz="900" b="0" i="0" u="none" strike="noStrike" cap="none">
                <a:solidFill>
                  <a:srgbClr val="888888"/>
                </a:solidFill>
                <a:latin typeface="Arial" panose="020B0604020202090204"/>
                <a:ea typeface="Arial" panose="020B0604020202090204"/>
                <a:cs typeface="Arial" panose="020B0604020202090204"/>
                <a:sym typeface="Arial" panose="020B0604020202090204"/>
              </a:defRPr>
            </a:lvl2pPr>
            <a:lvl3pPr marL="0" marR="0" lvl="2" indent="0" algn="r" rtl="0">
              <a:spcBef>
                <a:spcPts val="0"/>
              </a:spcBef>
              <a:buNone/>
              <a:defRPr sz="900" b="0" i="0" u="none" strike="noStrike" cap="none">
                <a:solidFill>
                  <a:srgbClr val="888888"/>
                </a:solidFill>
                <a:latin typeface="Arial" panose="020B0604020202090204"/>
                <a:ea typeface="Arial" panose="020B0604020202090204"/>
                <a:cs typeface="Arial" panose="020B0604020202090204"/>
                <a:sym typeface="Arial" panose="020B0604020202090204"/>
              </a:defRPr>
            </a:lvl3pPr>
            <a:lvl4pPr marL="0" marR="0" lvl="3" indent="0" algn="r" rtl="0">
              <a:spcBef>
                <a:spcPts val="0"/>
              </a:spcBef>
              <a:buNone/>
              <a:defRPr sz="900" b="0" i="0" u="none" strike="noStrike" cap="none">
                <a:solidFill>
                  <a:srgbClr val="888888"/>
                </a:solidFill>
                <a:latin typeface="Arial" panose="020B0604020202090204"/>
                <a:ea typeface="Arial" panose="020B0604020202090204"/>
                <a:cs typeface="Arial" panose="020B0604020202090204"/>
                <a:sym typeface="Arial" panose="020B0604020202090204"/>
              </a:defRPr>
            </a:lvl4pPr>
            <a:lvl5pPr marL="0" marR="0" lvl="4" indent="0" algn="r" rtl="0">
              <a:spcBef>
                <a:spcPts val="0"/>
              </a:spcBef>
              <a:buNone/>
              <a:defRPr sz="900" b="0" i="0" u="none" strike="noStrike" cap="none">
                <a:solidFill>
                  <a:srgbClr val="888888"/>
                </a:solidFill>
                <a:latin typeface="Arial" panose="020B0604020202090204"/>
                <a:ea typeface="Arial" panose="020B0604020202090204"/>
                <a:cs typeface="Arial" panose="020B0604020202090204"/>
                <a:sym typeface="Arial" panose="020B0604020202090204"/>
              </a:defRPr>
            </a:lvl5pPr>
            <a:lvl6pPr marL="0" marR="0" lvl="5" indent="0" algn="r" rtl="0">
              <a:spcBef>
                <a:spcPts val="0"/>
              </a:spcBef>
              <a:buNone/>
              <a:defRPr sz="900" b="0" i="0" u="none" strike="noStrike" cap="none">
                <a:solidFill>
                  <a:srgbClr val="888888"/>
                </a:solidFill>
                <a:latin typeface="Arial" panose="020B0604020202090204"/>
                <a:ea typeface="Arial" panose="020B0604020202090204"/>
                <a:cs typeface="Arial" panose="020B0604020202090204"/>
                <a:sym typeface="Arial" panose="020B0604020202090204"/>
              </a:defRPr>
            </a:lvl6pPr>
            <a:lvl7pPr marL="0" marR="0" lvl="6" indent="0" algn="r" rtl="0">
              <a:spcBef>
                <a:spcPts val="0"/>
              </a:spcBef>
              <a:buNone/>
              <a:defRPr sz="900" b="0" i="0" u="none" strike="noStrike" cap="none">
                <a:solidFill>
                  <a:srgbClr val="888888"/>
                </a:solidFill>
                <a:latin typeface="Arial" panose="020B0604020202090204"/>
                <a:ea typeface="Arial" panose="020B0604020202090204"/>
                <a:cs typeface="Arial" panose="020B0604020202090204"/>
                <a:sym typeface="Arial" panose="020B0604020202090204"/>
              </a:defRPr>
            </a:lvl7pPr>
            <a:lvl8pPr marL="0" marR="0" lvl="7" indent="0" algn="r" rtl="0">
              <a:spcBef>
                <a:spcPts val="0"/>
              </a:spcBef>
              <a:buNone/>
              <a:defRPr sz="900" b="0" i="0" u="none" strike="noStrike" cap="none">
                <a:solidFill>
                  <a:srgbClr val="888888"/>
                </a:solidFill>
                <a:latin typeface="Arial" panose="020B0604020202090204"/>
                <a:ea typeface="Arial" panose="020B0604020202090204"/>
                <a:cs typeface="Arial" panose="020B0604020202090204"/>
                <a:sym typeface="Arial" panose="020B0604020202090204"/>
              </a:defRPr>
            </a:lvl8pPr>
            <a:lvl9pPr marL="0" marR="0" lvl="8" indent="0" algn="r" rtl="0">
              <a:spcBef>
                <a:spcPts val="0"/>
              </a:spcBef>
              <a:buNone/>
              <a:defRPr sz="900" b="0" i="0" u="none" strike="noStrike" cap="none">
                <a:solidFill>
                  <a:srgbClr val="888888"/>
                </a:solidFill>
                <a:latin typeface="Arial" panose="020B0604020202090204"/>
                <a:ea typeface="Arial" panose="020B0604020202090204"/>
                <a:cs typeface="Arial" panose="020B0604020202090204"/>
                <a:sym typeface="Arial" panose="020B0604020202090204"/>
              </a:defRPr>
            </a:lvl9pPr>
          </a:lstStyle>
          <a:p>
            <a:pPr marL="0" lvl="0" indent="0" algn="r" rtl="0">
              <a:spcBef>
                <a:spcPts val="0"/>
              </a:spcBef>
              <a:spcAft>
                <a:spcPts val="0"/>
              </a:spcAft>
              <a:buNone/>
            </a:pPr>
            <a:fld id="{00000000-1234-1234-1234-123412341234}" type="slidenum">
              <a:rPr lang="zh-CN"/>
            </a:fld>
            <a:endParaRPr lang="zh-CN"/>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5"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61"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8" Type="http://schemas.openxmlformats.org/officeDocument/2006/relationships/notesSlide" Target="../notesSlides/notesSlide2.xml"/><Relationship Id="rId7" Type="http://schemas.openxmlformats.org/officeDocument/2006/relationships/slideLayout" Target="../slideLayouts/slideLayout12.xml"/><Relationship Id="rId6" Type="http://schemas.openxmlformats.org/officeDocument/2006/relationships/image" Target="../media/image6.svg"/><Relationship Id="rId5" Type="http://schemas.openxmlformats.org/officeDocument/2006/relationships/image" Target="../media/image5.png"/><Relationship Id="rId4" Type="http://schemas.openxmlformats.org/officeDocument/2006/relationships/image" Target="../media/image4.svg"/><Relationship Id="rId3" Type="http://schemas.openxmlformats.org/officeDocument/2006/relationships/image" Target="../media/image3.png"/><Relationship Id="rId2" Type="http://schemas.openxmlformats.org/officeDocument/2006/relationships/image" Target="../media/image2.svg"/><Relationship Id="rId1" Type="http://schemas.openxmlformats.org/officeDocument/2006/relationships/image" Target="../media/image1.png"/></Relationships>
</file>

<file path=ppt/slides/_rels/slide3.xml.rels><?xml version="1.0" encoding="UTF-8" standalone="yes"?>
<Relationships xmlns="http://schemas.openxmlformats.org/package/2006/relationships"><Relationship Id="rId4" Type="http://schemas.openxmlformats.org/officeDocument/2006/relationships/notesSlide" Target="../notesSlides/notesSlide3.xml"/><Relationship Id="rId3" Type="http://schemas.openxmlformats.org/officeDocument/2006/relationships/slideLayout" Target="../slideLayouts/slideLayout12.xml"/><Relationship Id="rId2" Type="http://schemas.openxmlformats.org/officeDocument/2006/relationships/image" Target="../media/image8.svg"/><Relationship Id="rId1" Type="http://schemas.openxmlformats.org/officeDocument/2006/relationships/image" Target="../media/image7.png"/></Relationships>
</file>

<file path=ppt/slides/_rels/slide4.xml.rels><?xml version="1.0" encoding="UTF-8" standalone="yes"?>
<Relationships xmlns="http://schemas.openxmlformats.org/package/2006/relationships"><Relationship Id="rId8" Type="http://schemas.openxmlformats.org/officeDocument/2006/relationships/notesSlide" Target="../notesSlides/notesSlide4.xml"/><Relationship Id="rId7" Type="http://schemas.openxmlformats.org/officeDocument/2006/relationships/slideLayout" Target="../slideLayouts/slideLayout12.xml"/><Relationship Id="rId6" Type="http://schemas.openxmlformats.org/officeDocument/2006/relationships/image" Target="../media/image14.svg"/><Relationship Id="rId5" Type="http://schemas.openxmlformats.org/officeDocument/2006/relationships/image" Target="../media/image13.png"/><Relationship Id="rId4" Type="http://schemas.openxmlformats.org/officeDocument/2006/relationships/image" Target="../media/image12.svg"/><Relationship Id="rId3" Type="http://schemas.openxmlformats.org/officeDocument/2006/relationships/image" Target="../media/image11.png"/><Relationship Id="rId2" Type="http://schemas.openxmlformats.org/officeDocument/2006/relationships/image" Target="../media/image10.svg"/><Relationship Id="rId1" Type="http://schemas.openxmlformats.org/officeDocument/2006/relationships/image" Target="../media/image9.png"/></Relationships>
</file>

<file path=ppt/slides/_rels/slide5.xml.rels><?xml version="1.0" encoding="UTF-8" standalone="yes"?>
<Relationships xmlns="http://schemas.openxmlformats.org/package/2006/relationships"><Relationship Id="rId9" Type="http://schemas.openxmlformats.org/officeDocument/2006/relationships/slideLayout" Target="../slideLayouts/slideLayout12.xml"/><Relationship Id="rId8" Type="http://schemas.openxmlformats.org/officeDocument/2006/relationships/image" Target="../media/image21.svg"/><Relationship Id="rId7" Type="http://schemas.openxmlformats.org/officeDocument/2006/relationships/image" Target="../media/image20.png"/><Relationship Id="rId6" Type="http://schemas.openxmlformats.org/officeDocument/2006/relationships/image" Target="../media/image19.svg"/><Relationship Id="rId5" Type="http://schemas.openxmlformats.org/officeDocument/2006/relationships/image" Target="../media/image18.png"/><Relationship Id="rId4" Type="http://schemas.openxmlformats.org/officeDocument/2006/relationships/image" Target="../media/image10.svg"/><Relationship Id="rId3" Type="http://schemas.openxmlformats.org/officeDocument/2006/relationships/image" Target="../media/image17.png"/><Relationship Id="rId2" Type="http://schemas.openxmlformats.org/officeDocument/2006/relationships/image" Target="../media/image16.svg"/><Relationship Id="rId10" Type="http://schemas.openxmlformats.org/officeDocument/2006/relationships/notesSlide" Target="../notesSlides/notesSlide5.xml"/><Relationship Id="rId1" Type="http://schemas.openxmlformats.org/officeDocument/2006/relationships/image" Target="../media/image15.png"/></Relationships>
</file>

<file path=ppt/slides/_rels/slide6.xml.rels><?xml version="1.0" encoding="UTF-8" standalone="yes"?>
<Relationships xmlns="http://schemas.openxmlformats.org/package/2006/relationships"><Relationship Id="rId8" Type="http://schemas.openxmlformats.org/officeDocument/2006/relationships/notesSlide" Target="../notesSlides/notesSlide6.xml"/><Relationship Id="rId7" Type="http://schemas.openxmlformats.org/officeDocument/2006/relationships/slideLayout" Target="../slideLayouts/slideLayout12.xml"/><Relationship Id="rId6" Type="http://schemas.openxmlformats.org/officeDocument/2006/relationships/image" Target="../media/image24.svg"/><Relationship Id="rId5" Type="http://schemas.openxmlformats.org/officeDocument/2006/relationships/image" Target="../media/image23.png"/><Relationship Id="rId4" Type="http://schemas.openxmlformats.org/officeDocument/2006/relationships/image" Target="../media/image12.svg"/><Relationship Id="rId3" Type="http://schemas.openxmlformats.org/officeDocument/2006/relationships/image" Target="../media/image11.png"/><Relationship Id="rId2" Type="http://schemas.openxmlformats.org/officeDocument/2006/relationships/image" Target="../media/image19.svg"/><Relationship Id="rId1" Type="http://schemas.openxmlformats.org/officeDocument/2006/relationships/image" Target="../media/image22.png"/></Relationships>
</file>

<file path=ppt/slides/_rels/slide7.xml.rels><?xml version="1.0" encoding="UTF-8" standalone="yes"?>
<Relationships xmlns="http://schemas.openxmlformats.org/package/2006/relationships"><Relationship Id="rId9" Type="http://schemas.openxmlformats.org/officeDocument/2006/relationships/image" Target="../media/image32.png"/><Relationship Id="rId8" Type="http://schemas.openxmlformats.org/officeDocument/2006/relationships/image" Target="../media/image31.svg"/><Relationship Id="rId7" Type="http://schemas.openxmlformats.org/officeDocument/2006/relationships/image" Target="../media/image30.png"/><Relationship Id="rId6" Type="http://schemas.openxmlformats.org/officeDocument/2006/relationships/image" Target="../media/image29.svg"/><Relationship Id="rId5" Type="http://schemas.openxmlformats.org/officeDocument/2006/relationships/image" Target="../media/image28.png"/><Relationship Id="rId4" Type="http://schemas.openxmlformats.org/officeDocument/2006/relationships/image" Target="../media/image27.svg"/><Relationship Id="rId3" Type="http://schemas.openxmlformats.org/officeDocument/2006/relationships/image" Target="../media/image26.png"/><Relationship Id="rId2" Type="http://schemas.openxmlformats.org/officeDocument/2006/relationships/image" Target="../media/image8.svg"/><Relationship Id="rId16" Type="http://schemas.openxmlformats.org/officeDocument/2006/relationships/notesSlide" Target="../notesSlides/notesSlide7.xml"/><Relationship Id="rId15" Type="http://schemas.openxmlformats.org/officeDocument/2006/relationships/slideLayout" Target="../slideLayouts/slideLayout12.xml"/><Relationship Id="rId14" Type="http://schemas.openxmlformats.org/officeDocument/2006/relationships/image" Target="../media/image37.svg"/><Relationship Id="rId13" Type="http://schemas.openxmlformats.org/officeDocument/2006/relationships/image" Target="../media/image36.png"/><Relationship Id="rId12" Type="http://schemas.openxmlformats.org/officeDocument/2006/relationships/image" Target="../media/image35.svg"/><Relationship Id="rId11" Type="http://schemas.openxmlformats.org/officeDocument/2006/relationships/image" Target="../media/image34.png"/><Relationship Id="rId10" Type="http://schemas.openxmlformats.org/officeDocument/2006/relationships/image" Target="../media/image33.svg"/><Relationship Id="rId1" Type="http://schemas.openxmlformats.org/officeDocument/2006/relationships/image" Target="../media/image25.png"/></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12.xml"/><Relationship Id="rId1" Type="http://schemas.openxmlformats.org/officeDocument/2006/relationships/image" Target="../media/image38.png"/></Relationships>
</file>

<file path=ppt/slides/_rels/slide9.xml.rels><?xml version="1.0" encoding="UTF-8" standalone="yes"?>
<Relationships xmlns="http://schemas.openxmlformats.org/package/2006/relationships"><Relationship Id="rId8" Type="http://schemas.openxmlformats.org/officeDocument/2006/relationships/notesSlide" Target="../notesSlides/notesSlide9.xml"/><Relationship Id="rId7" Type="http://schemas.openxmlformats.org/officeDocument/2006/relationships/slideLayout" Target="../slideLayouts/slideLayout12.xml"/><Relationship Id="rId6" Type="http://schemas.openxmlformats.org/officeDocument/2006/relationships/image" Target="../media/image44.svg"/><Relationship Id="rId5" Type="http://schemas.openxmlformats.org/officeDocument/2006/relationships/image" Target="../media/image43.png"/><Relationship Id="rId4" Type="http://schemas.openxmlformats.org/officeDocument/2006/relationships/image" Target="../media/image42.svg"/><Relationship Id="rId3" Type="http://schemas.openxmlformats.org/officeDocument/2006/relationships/image" Target="../media/image41.png"/><Relationship Id="rId2" Type="http://schemas.openxmlformats.org/officeDocument/2006/relationships/image" Target="../media/image40.svg"/><Relationship Id="rId1" Type="http://schemas.openxmlformats.org/officeDocument/2006/relationships/image" Target="../media/image39.png"/></Relationships>
</file>

<file path=ppt/slides/_rels/slide10.xml.rels><?xml version="1.0" encoding="UTF-8" standalone="yes"?>
<Relationships xmlns="http://schemas.openxmlformats.org/package/2006/relationships"><Relationship Id="rId6" Type="http://schemas.openxmlformats.org/officeDocument/2006/relationships/notesSlide" Target="../notesSlides/notesSlide10.xml"/><Relationship Id="rId5" Type="http://schemas.openxmlformats.org/officeDocument/2006/relationships/slideLayout" Target="../slideLayouts/slideLayout12.xml"/><Relationship Id="rId4" Type="http://schemas.openxmlformats.org/officeDocument/2006/relationships/image" Target="../media/image48.svg"/><Relationship Id="rId3" Type="http://schemas.openxmlformats.org/officeDocument/2006/relationships/image" Target="../media/image47.png"/><Relationship Id="rId2" Type="http://schemas.openxmlformats.org/officeDocument/2006/relationships/image" Target="../media/image46.svg"/><Relationship Id="rId1" Type="http://schemas.openxmlformats.org/officeDocument/2006/relationships/image" Target="../media/image45.png"/></Relationships>
</file>

<file path=ppt/slides/_rels/slide11.xml.rels><?xml version="1.0" encoding="UTF-8" standalone="yes"?>
<Relationships xmlns="http://schemas.openxmlformats.org/package/2006/relationships"><Relationship Id="rId6" Type="http://schemas.openxmlformats.org/officeDocument/2006/relationships/notesSlide" Target="../notesSlides/notesSlide11.xml"/><Relationship Id="rId5" Type="http://schemas.openxmlformats.org/officeDocument/2006/relationships/slideLayout" Target="../slideLayouts/slideLayout12.xml"/><Relationship Id="rId4" Type="http://schemas.openxmlformats.org/officeDocument/2006/relationships/image" Target="../media/image10.svg"/><Relationship Id="rId3" Type="http://schemas.openxmlformats.org/officeDocument/2006/relationships/image" Target="../media/image17.png"/><Relationship Id="rId2" Type="http://schemas.openxmlformats.org/officeDocument/2006/relationships/image" Target="../media/image50.svg"/><Relationship Id="rId1" Type="http://schemas.openxmlformats.org/officeDocument/2006/relationships/image" Target="../media/image49.png"/></Relationships>
</file>

<file path=ppt/slides/_rels/slide12.xml.rels><?xml version="1.0" encoding="UTF-8" standalone="yes"?>
<Relationships xmlns="http://schemas.openxmlformats.org/package/2006/relationships"><Relationship Id="rId6" Type="http://schemas.openxmlformats.org/officeDocument/2006/relationships/notesSlide" Target="../notesSlides/notesSlide12.xml"/><Relationship Id="rId5" Type="http://schemas.openxmlformats.org/officeDocument/2006/relationships/slideLayout" Target="../slideLayouts/slideLayout12.xml"/><Relationship Id="rId4" Type="http://schemas.openxmlformats.org/officeDocument/2006/relationships/image" Target="../media/image12.svg"/><Relationship Id="rId3" Type="http://schemas.openxmlformats.org/officeDocument/2006/relationships/image" Target="../media/image11.png"/><Relationship Id="rId2" Type="http://schemas.openxmlformats.org/officeDocument/2006/relationships/image" Target="../media/image29.svg"/><Relationship Id="rId1" Type="http://schemas.openxmlformats.org/officeDocument/2006/relationships/image" Target="../media/image51.png"/></Relationships>
</file>

<file path=ppt/slides/_rels/slide13.xml.rels><?xml version="1.0" encoding="UTF-8" standalone="yes"?>
<Relationships xmlns="http://schemas.openxmlformats.org/package/2006/relationships"><Relationship Id="rId8" Type="http://schemas.openxmlformats.org/officeDocument/2006/relationships/notesSlide" Target="../notesSlides/notesSlide13.xml"/><Relationship Id="rId7" Type="http://schemas.openxmlformats.org/officeDocument/2006/relationships/slideLayout" Target="../slideLayouts/slideLayout12.xml"/><Relationship Id="rId6" Type="http://schemas.openxmlformats.org/officeDocument/2006/relationships/image" Target="../media/image55.svg"/><Relationship Id="rId5" Type="http://schemas.openxmlformats.org/officeDocument/2006/relationships/image" Target="../media/image54.png"/><Relationship Id="rId4" Type="http://schemas.openxmlformats.org/officeDocument/2006/relationships/image" Target="../media/image12.svg"/><Relationship Id="rId3" Type="http://schemas.openxmlformats.org/officeDocument/2006/relationships/image" Target="../media/image11.png"/><Relationship Id="rId2" Type="http://schemas.openxmlformats.org/officeDocument/2006/relationships/image" Target="../media/image53.svg"/><Relationship Id="rId1" Type="http://schemas.openxmlformats.org/officeDocument/2006/relationships/image" Target="../media/image52.png"/></Relationships>
</file>

<file path=ppt/slides/_rels/slide14.xml.rels><?xml version="1.0" encoding="UTF-8" standalone="yes"?>
<Relationships xmlns="http://schemas.openxmlformats.org/package/2006/relationships"><Relationship Id="rId4" Type="http://schemas.openxmlformats.org/officeDocument/2006/relationships/notesSlide" Target="../notesSlides/notesSlide14.xml"/><Relationship Id="rId3" Type="http://schemas.openxmlformats.org/officeDocument/2006/relationships/slideLayout" Target="../slideLayouts/slideLayout12.xml"/><Relationship Id="rId2" Type="http://schemas.openxmlformats.org/officeDocument/2006/relationships/image" Target="../media/image57.svg"/><Relationship Id="rId1" Type="http://schemas.openxmlformats.org/officeDocument/2006/relationships/image" Target="../media/image56.png"/></Relationships>
</file>

<file path=ppt/slides/_rels/slide15.xml.rels><?xml version="1.0" encoding="UTF-8" standalone="yes"?>
<Relationships xmlns="http://schemas.openxmlformats.org/package/2006/relationships"><Relationship Id="rId8" Type="http://schemas.openxmlformats.org/officeDocument/2006/relationships/notesSlide" Target="../notesSlides/notesSlide15.xml"/><Relationship Id="rId7" Type="http://schemas.openxmlformats.org/officeDocument/2006/relationships/slideLayout" Target="../slideLayouts/slideLayout12.xml"/><Relationship Id="rId6" Type="http://schemas.openxmlformats.org/officeDocument/2006/relationships/image" Target="../media/image21.svg"/><Relationship Id="rId5" Type="http://schemas.openxmlformats.org/officeDocument/2006/relationships/image" Target="../media/image62.png"/><Relationship Id="rId4" Type="http://schemas.openxmlformats.org/officeDocument/2006/relationships/image" Target="../media/image61.svg"/><Relationship Id="rId3" Type="http://schemas.openxmlformats.org/officeDocument/2006/relationships/image" Target="../media/image60.png"/><Relationship Id="rId2" Type="http://schemas.openxmlformats.org/officeDocument/2006/relationships/image" Target="../media/image59.svg"/><Relationship Id="rId1" Type="http://schemas.openxmlformats.org/officeDocument/2006/relationships/image" Target="../media/image58.png"/></Relationships>
</file>

<file path=ppt/slides/_rels/slide16.xml.rels><?xml version="1.0" encoding="UTF-8" standalone="yes"?>
<Relationships xmlns="http://schemas.openxmlformats.org/package/2006/relationships"><Relationship Id="rId4" Type="http://schemas.openxmlformats.org/officeDocument/2006/relationships/notesSlide" Target="../notesSlides/notesSlide16.xml"/><Relationship Id="rId3" Type="http://schemas.openxmlformats.org/officeDocument/2006/relationships/slideLayout" Target="../slideLayouts/slideLayout12.xml"/><Relationship Id="rId2" Type="http://schemas.openxmlformats.org/officeDocument/2006/relationships/image" Target="../media/image12.svg"/><Relationship Id="rId1" Type="http://schemas.openxmlformats.org/officeDocument/2006/relationships/image" Target="../media/image11.png"/></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9" Type="http://schemas.openxmlformats.org/officeDocument/2006/relationships/image" Target="../media/image67.png"/><Relationship Id="rId8" Type="http://schemas.openxmlformats.org/officeDocument/2006/relationships/image" Target="../media/image66.svg"/><Relationship Id="rId7" Type="http://schemas.openxmlformats.org/officeDocument/2006/relationships/image" Target="../media/image65.png"/><Relationship Id="rId6" Type="http://schemas.openxmlformats.org/officeDocument/2006/relationships/image" Target="../media/image6.svg"/><Relationship Id="rId5" Type="http://schemas.openxmlformats.org/officeDocument/2006/relationships/image" Target="../media/image64.png"/><Relationship Id="rId4" Type="http://schemas.openxmlformats.org/officeDocument/2006/relationships/image" Target="../media/image44.svg"/><Relationship Id="rId3" Type="http://schemas.openxmlformats.org/officeDocument/2006/relationships/image" Target="../media/image63.png"/><Relationship Id="rId2" Type="http://schemas.openxmlformats.org/officeDocument/2006/relationships/image" Target="../media/image53.svg"/><Relationship Id="rId12" Type="http://schemas.openxmlformats.org/officeDocument/2006/relationships/notesSlide" Target="../notesSlides/notesSlide18.xml"/><Relationship Id="rId11" Type="http://schemas.openxmlformats.org/officeDocument/2006/relationships/slideLayout" Target="../slideLayouts/slideLayout12.xml"/><Relationship Id="rId10" Type="http://schemas.openxmlformats.org/officeDocument/2006/relationships/image" Target="../media/image68.svg"/><Relationship Id="rId1" Type="http://schemas.openxmlformats.org/officeDocument/2006/relationships/image" Target="../media/image52.png"/></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8" Type="http://schemas.openxmlformats.org/officeDocument/2006/relationships/notesSlide" Target="../notesSlides/notesSlide20.xml"/><Relationship Id="rId7" Type="http://schemas.openxmlformats.org/officeDocument/2006/relationships/slideLayout" Target="../slideLayouts/slideLayout12.xml"/><Relationship Id="rId6" Type="http://schemas.openxmlformats.org/officeDocument/2006/relationships/image" Target="../media/image14.svg"/><Relationship Id="rId5" Type="http://schemas.openxmlformats.org/officeDocument/2006/relationships/image" Target="../media/image73.png"/><Relationship Id="rId4" Type="http://schemas.openxmlformats.org/officeDocument/2006/relationships/image" Target="../media/image72.svg"/><Relationship Id="rId3" Type="http://schemas.openxmlformats.org/officeDocument/2006/relationships/image" Target="../media/image71.png"/><Relationship Id="rId2" Type="http://schemas.openxmlformats.org/officeDocument/2006/relationships/image" Target="../media/image70.svg"/><Relationship Id="rId1" Type="http://schemas.openxmlformats.org/officeDocument/2006/relationships/image" Target="../media/image69.png"/></Relationships>
</file>

<file path=ppt/slides/_rels/slide21.xml.rels><?xml version="1.0" encoding="UTF-8" standalone="yes"?>
<Relationships xmlns="http://schemas.openxmlformats.org/package/2006/relationships"><Relationship Id="rId4" Type="http://schemas.openxmlformats.org/officeDocument/2006/relationships/notesSlide" Target="../notesSlides/notesSlide21.xml"/><Relationship Id="rId3" Type="http://schemas.openxmlformats.org/officeDocument/2006/relationships/slideLayout" Target="../slideLayouts/slideLayout12.xml"/><Relationship Id="rId2" Type="http://schemas.openxmlformats.org/officeDocument/2006/relationships/image" Target="../media/image75.svg"/><Relationship Id="rId1" Type="http://schemas.openxmlformats.org/officeDocument/2006/relationships/image" Target="../media/image74.png"/></Relationships>
</file>

<file path=ppt/slides/_rels/slide22.xml.rels><?xml version="1.0" encoding="UTF-8" standalone="yes"?>
<Relationships xmlns="http://schemas.openxmlformats.org/package/2006/relationships"><Relationship Id="rId6" Type="http://schemas.openxmlformats.org/officeDocument/2006/relationships/notesSlide" Target="../notesSlides/notesSlide22.xml"/><Relationship Id="rId5" Type="http://schemas.openxmlformats.org/officeDocument/2006/relationships/slideLayout" Target="../slideLayouts/slideLayout12.xml"/><Relationship Id="rId4" Type="http://schemas.openxmlformats.org/officeDocument/2006/relationships/image" Target="../media/image79.svg"/><Relationship Id="rId3" Type="http://schemas.openxmlformats.org/officeDocument/2006/relationships/image" Target="../media/image78.png"/><Relationship Id="rId2" Type="http://schemas.openxmlformats.org/officeDocument/2006/relationships/image" Target="../media/image77.svg"/><Relationship Id="rId1" Type="http://schemas.openxmlformats.org/officeDocument/2006/relationships/image" Target="../media/image76.png"/></Relationships>
</file>

<file path=ppt/slides/_rels/slide23.xml.rels><?xml version="1.0" encoding="UTF-8" standalone="yes"?>
<Relationships xmlns="http://schemas.openxmlformats.org/package/2006/relationships"><Relationship Id="rId4" Type="http://schemas.openxmlformats.org/officeDocument/2006/relationships/notesSlide" Target="../notesSlides/notesSlide23.xml"/><Relationship Id="rId3" Type="http://schemas.openxmlformats.org/officeDocument/2006/relationships/slideLayout" Target="../slideLayouts/slideLayout12.xml"/><Relationship Id="rId2" Type="http://schemas.openxmlformats.org/officeDocument/2006/relationships/image" Target="../media/image81.svg"/><Relationship Id="rId1" Type="http://schemas.openxmlformats.org/officeDocument/2006/relationships/image" Target="../media/image80.png"/></Relationships>
</file>

<file path=ppt/slides/_rels/slide24.xml.rels><?xml version="1.0" encoding="UTF-8" standalone="yes"?>
<Relationships xmlns="http://schemas.openxmlformats.org/package/2006/relationships"><Relationship Id="rId9" Type="http://schemas.openxmlformats.org/officeDocument/2006/relationships/slideLayout" Target="../slideLayouts/slideLayout12.xml"/><Relationship Id="rId8" Type="http://schemas.openxmlformats.org/officeDocument/2006/relationships/image" Target="../media/image87.svg"/><Relationship Id="rId7" Type="http://schemas.openxmlformats.org/officeDocument/2006/relationships/image" Target="../media/image86.png"/><Relationship Id="rId6" Type="http://schemas.openxmlformats.org/officeDocument/2006/relationships/image" Target="../media/image85.svg"/><Relationship Id="rId5" Type="http://schemas.openxmlformats.org/officeDocument/2006/relationships/image" Target="../media/image84.png"/><Relationship Id="rId4" Type="http://schemas.openxmlformats.org/officeDocument/2006/relationships/image" Target="../media/image8.svg"/><Relationship Id="rId3" Type="http://schemas.openxmlformats.org/officeDocument/2006/relationships/image" Target="../media/image25.png"/><Relationship Id="rId2" Type="http://schemas.openxmlformats.org/officeDocument/2006/relationships/image" Target="../media/image83.svg"/><Relationship Id="rId10" Type="http://schemas.openxmlformats.org/officeDocument/2006/relationships/notesSlide" Target="../notesSlides/notesSlide24.xml"/><Relationship Id="rId1" Type="http://schemas.openxmlformats.org/officeDocument/2006/relationships/image" Target="../media/image82.png"/></Relationships>
</file>

<file path=ppt/slides/_rels/slide25.xml.rels><?xml version="1.0" encoding="UTF-8" standalone="yes"?>
<Relationships xmlns="http://schemas.openxmlformats.org/package/2006/relationships"><Relationship Id="rId8" Type="http://schemas.openxmlformats.org/officeDocument/2006/relationships/notesSlide" Target="../notesSlides/notesSlide25.xml"/><Relationship Id="rId7" Type="http://schemas.openxmlformats.org/officeDocument/2006/relationships/slideLayout" Target="../slideLayouts/slideLayout12.xml"/><Relationship Id="rId6" Type="http://schemas.openxmlformats.org/officeDocument/2006/relationships/image" Target="../media/image90.svg"/><Relationship Id="rId5" Type="http://schemas.openxmlformats.org/officeDocument/2006/relationships/image" Target="../media/image89.png"/><Relationship Id="rId4" Type="http://schemas.openxmlformats.org/officeDocument/2006/relationships/image" Target="../media/image4.svg"/><Relationship Id="rId3" Type="http://schemas.openxmlformats.org/officeDocument/2006/relationships/image" Target="../media/image88.png"/><Relationship Id="rId2" Type="http://schemas.openxmlformats.org/officeDocument/2006/relationships/image" Target="../media/image6.svg"/><Relationship Id="rId1" Type="http://schemas.openxmlformats.org/officeDocument/2006/relationships/image" Target="../media/image64.png"/></Relationships>
</file>

<file path=ppt/slides/_rels/slide26.xml.rels><?xml version="1.0" encoding="UTF-8" standalone="yes"?>
<Relationships xmlns="http://schemas.openxmlformats.org/package/2006/relationships"><Relationship Id="rId9" Type="http://schemas.openxmlformats.org/officeDocument/2006/relationships/image" Target="../media/image48.svg"/><Relationship Id="rId8" Type="http://schemas.openxmlformats.org/officeDocument/2006/relationships/image" Target="../media/image94.png"/><Relationship Id="rId7" Type="http://schemas.openxmlformats.org/officeDocument/2006/relationships/image" Target="../media/image6.svg"/><Relationship Id="rId6" Type="http://schemas.openxmlformats.org/officeDocument/2006/relationships/image" Target="../media/image64.png"/><Relationship Id="rId5" Type="http://schemas.openxmlformats.org/officeDocument/2006/relationships/image" Target="../media/image10.svg"/><Relationship Id="rId4" Type="http://schemas.openxmlformats.org/officeDocument/2006/relationships/image" Target="../media/image17.png"/><Relationship Id="rId3" Type="http://schemas.openxmlformats.org/officeDocument/2006/relationships/image" Target="../media/image93.svg"/><Relationship Id="rId2" Type="http://schemas.openxmlformats.org/officeDocument/2006/relationships/image" Target="../media/image92.png"/><Relationship Id="rId11" Type="http://schemas.openxmlformats.org/officeDocument/2006/relationships/notesSlide" Target="../notesSlides/notesSlide26.xml"/><Relationship Id="rId10" Type="http://schemas.openxmlformats.org/officeDocument/2006/relationships/slideLayout" Target="../slideLayouts/slideLayout12.xml"/><Relationship Id="rId1" Type="http://schemas.openxmlformats.org/officeDocument/2006/relationships/image" Target="../media/image91.png"/></Relationships>
</file>

<file path=ppt/slides/_rels/slide27.xml.rels><?xml version="1.0" encoding="UTF-8" standalone="yes"?>
<Relationships xmlns="http://schemas.openxmlformats.org/package/2006/relationships"><Relationship Id="rId9" Type="http://schemas.openxmlformats.org/officeDocument/2006/relationships/notesSlide" Target="../notesSlides/notesSlide27.xml"/><Relationship Id="rId8" Type="http://schemas.openxmlformats.org/officeDocument/2006/relationships/slideLayout" Target="../slideLayouts/slideLayout12.xml"/><Relationship Id="rId7" Type="http://schemas.openxmlformats.org/officeDocument/2006/relationships/image" Target="../media/image14.svg"/><Relationship Id="rId6" Type="http://schemas.openxmlformats.org/officeDocument/2006/relationships/image" Target="../media/image73.png"/><Relationship Id="rId5" Type="http://schemas.openxmlformats.org/officeDocument/2006/relationships/image" Target="../media/image81.svg"/><Relationship Id="rId4" Type="http://schemas.openxmlformats.org/officeDocument/2006/relationships/image" Target="../media/image80.png"/><Relationship Id="rId3" Type="http://schemas.openxmlformats.org/officeDocument/2006/relationships/image" Target="../media/image97.svg"/><Relationship Id="rId2" Type="http://schemas.openxmlformats.org/officeDocument/2006/relationships/image" Target="../media/image96.png"/><Relationship Id="rId1" Type="http://schemas.openxmlformats.org/officeDocument/2006/relationships/image" Target="../media/image95.png"/></Relationships>
</file>

<file path=ppt/slides/_rels/slide28.xml.rels><?xml version="1.0" encoding="UTF-8" standalone="yes"?>
<Relationships xmlns="http://schemas.openxmlformats.org/package/2006/relationships"><Relationship Id="rId9" Type="http://schemas.openxmlformats.org/officeDocument/2006/relationships/image" Target="../media/image102.png"/><Relationship Id="rId8" Type="http://schemas.openxmlformats.org/officeDocument/2006/relationships/image" Target="../media/image101.svg"/><Relationship Id="rId7" Type="http://schemas.openxmlformats.org/officeDocument/2006/relationships/image" Target="../media/image100.png"/><Relationship Id="rId6" Type="http://schemas.openxmlformats.org/officeDocument/2006/relationships/image" Target="../media/image99.svg"/><Relationship Id="rId5" Type="http://schemas.openxmlformats.org/officeDocument/2006/relationships/image" Target="../media/image98.png"/><Relationship Id="rId4" Type="http://schemas.openxmlformats.org/officeDocument/2006/relationships/image" Target="../media/image10.svg"/><Relationship Id="rId3" Type="http://schemas.openxmlformats.org/officeDocument/2006/relationships/image" Target="../media/image17.png"/><Relationship Id="rId2" Type="http://schemas.openxmlformats.org/officeDocument/2006/relationships/image" Target="../media/image48.svg"/><Relationship Id="rId12" Type="http://schemas.openxmlformats.org/officeDocument/2006/relationships/notesSlide" Target="../notesSlides/notesSlide28.xml"/><Relationship Id="rId11" Type="http://schemas.openxmlformats.org/officeDocument/2006/relationships/slideLayout" Target="../slideLayouts/slideLayout12.xml"/><Relationship Id="rId10" Type="http://schemas.openxmlformats.org/officeDocument/2006/relationships/image" Target="../media/image24.svg"/><Relationship Id="rId1" Type="http://schemas.openxmlformats.org/officeDocument/2006/relationships/image" Target="../media/image94.png"/></Relationships>
</file>

<file path=ppt/slides/_rels/slide29.xml.rels><?xml version="1.0" encoding="UTF-8" standalone="yes"?>
<Relationships xmlns="http://schemas.openxmlformats.org/package/2006/relationships"><Relationship Id="rId9" Type="http://schemas.openxmlformats.org/officeDocument/2006/relationships/slideLayout" Target="../slideLayouts/slideLayout12.xml"/><Relationship Id="rId8" Type="http://schemas.openxmlformats.org/officeDocument/2006/relationships/image" Target="../media/image14.svg"/><Relationship Id="rId7" Type="http://schemas.openxmlformats.org/officeDocument/2006/relationships/image" Target="../media/image73.png"/><Relationship Id="rId6" Type="http://schemas.openxmlformats.org/officeDocument/2006/relationships/image" Target="../media/image106.svg"/><Relationship Id="rId5" Type="http://schemas.openxmlformats.org/officeDocument/2006/relationships/image" Target="../media/image105.png"/><Relationship Id="rId4" Type="http://schemas.openxmlformats.org/officeDocument/2006/relationships/image" Target="../media/image12.svg"/><Relationship Id="rId3" Type="http://schemas.openxmlformats.org/officeDocument/2006/relationships/image" Target="../media/image11.png"/><Relationship Id="rId2" Type="http://schemas.openxmlformats.org/officeDocument/2006/relationships/image" Target="../media/image104.svg"/><Relationship Id="rId10" Type="http://schemas.openxmlformats.org/officeDocument/2006/relationships/notesSlide" Target="../notesSlides/notesSlide29.xml"/><Relationship Id="rId1" Type="http://schemas.openxmlformats.org/officeDocument/2006/relationships/image" Target="../media/image103.png"/></Relationships>
</file>

<file path=ppt/slides/_rels/slide30.xml.rels><?xml version="1.0" encoding="UTF-8" standalone="yes"?>
<Relationships xmlns="http://schemas.openxmlformats.org/package/2006/relationships"><Relationship Id="rId9" Type="http://schemas.openxmlformats.org/officeDocument/2006/relationships/slideLayout" Target="../slideLayouts/slideLayout12.xml"/><Relationship Id="rId8" Type="http://schemas.openxmlformats.org/officeDocument/2006/relationships/image" Target="../media/image14.svg"/><Relationship Id="rId7" Type="http://schemas.openxmlformats.org/officeDocument/2006/relationships/image" Target="../media/image73.png"/><Relationship Id="rId6" Type="http://schemas.openxmlformats.org/officeDocument/2006/relationships/image" Target="../media/image19.svg"/><Relationship Id="rId5" Type="http://schemas.openxmlformats.org/officeDocument/2006/relationships/image" Target="../media/image22.png"/><Relationship Id="rId4" Type="http://schemas.openxmlformats.org/officeDocument/2006/relationships/image" Target="../media/image108.svg"/><Relationship Id="rId3" Type="http://schemas.openxmlformats.org/officeDocument/2006/relationships/image" Target="../media/image107.png"/><Relationship Id="rId2" Type="http://schemas.openxmlformats.org/officeDocument/2006/relationships/image" Target="../media/image48.svg"/><Relationship Id="rId10" Type="http://schemas.openxmlformats.org/officeDocument/2006/relationships/notesSlide" Target="../notesSlides/notesSlide30.xml"/><Relationship Id="rId1" Type="http://schemas.openxmlformats.org/officeDocument/2006/relationships/image" Target="../media/image94.png"/></Relationships>
</file>

<file path=ppt/slides/_rels/slide31.xml.rels><?xml version="1.0" encoding="UTF-8" standalone="yes"?>
<Relationships xmlns="http://schemas.openxmlformats.org/package/2006/relationships"><Relationship Id="rId9" Type="http://schemas.openxmlformats.org/officeDocument/2006/relationships/slideLayout" Target="../slideLayouts/slideLayout12.xml"/><Relationship Id="rId8" Type="http://schemas.openxmlformats.org/officeDocument/2006/relationships/image" Target="../media/image114.svg"/><Relationship Id="rId7" Type="http://schemas.openxmlformats.org/officeDocument/2006/relationships/image" Target="../media/image113.png"/><Relationship Id="rId6" Type="http://schemas.openxmlformats.org/officeDocument/2006/relationships/image" Target="../media/image90.svg"/><Relationship Id="rId5" Type="http://schemas.openxmlformats.org/officeDocument/2006/relationships/image" Target="../media/image89.png"/><Relationship Id="rId4" Type="http://schemas.openxmlformats.org/officeDocument/2006/relationships/image" Target="../media/image112.svg"/><Relationship Id="rId3" Type="http://schemas.openxmlformats.org/officeDocument/2006/relationships/image" Target="../media/image111.png"/><Relationship Id="rId2" Type="http://schemas.openxmlformats.org/officeDocument/2006/relationships/image" Target="../media/image110.svg"/><Relationship Id="rId10" Type="http://schemas.openxmlformats.org/officeDocument/2006/relationships/notesSlide" Target="../notesSlides/notesSlide31.xml"/><Relationship Id="rId1" Type="http://schemas.openxmlformats.org/officeDocument/2006/relationships/image" Target="../media/image109.png"/></Relationships>
</file>

<file path=ppt/slides/_rels/slide32.xml.rels><?xml version="1.0" encoding="UTF-8" standalone="yes"?>
<Relationships xmlns="http://schemas.openxmlformats.org/package/2006/relationships"><Relationship Id="rId9" Type="http://schemas.openxmlformats.org/officeDocument/2006/relationships/image" Target="../media/image25.png"/><Relationship Id="rId8" Type="http://schemas.openxmlformats.org/officeDocument/2006/relationships/image" Target="../media/image116.svg"/><Relationship Id="rId7" Type="http://schemas.openxmlformats.org/officeDocument/2006/relationships/image" Target="../media/image115.png"/><Relationship Id="rId6" Type="http://schemas.openxmlformats.org/officeDocument/2006/relationships/image" Target="../media/image12.svg"/><Relationship Id="rId5" Type="http://schemas.openxmlformats.org/officeDocument/2006/relationships/image" Target="../media/image11.png"/><Relationship Id="rId4" Type="http://schemas.openxmlformats.org/officeDocument/2006/relationships/image" Target="../media/image97.svg"/><Relationship Id="rId3" Type="http://schemas.openxmlformats.org/officeDocument/2006/relationships/image" Target="../media/image96.png"/><Relationship Id="rId2" Type="http://schemas.openxmlformats.org/officeDocument/2006/relationships/image" Target="../media/image19.svg"/><Relationship Id="rId14" Type="http://schemas.openxmlformats.org/officeDocument/2006/relationships/notesSlide" Target="../notesSlides/notesSlide32.xml"/><Relationship Id="rId13" Type="http://schemas.openxmlformats.org/officeDocument/2006/relationships/slideLayout" Target="../slideLayouts/slideLayout12.xml"/><Relationship Id="rId12" Type="http://schemas.openxmlformats.org/officeDocument/2006/relationships/image" Target="../media/image118.svg"/><Relationship Id="rId11" Type="http://schemas.openxmlformats.org/officeDocument/2006/relationships/image" Target="../media/image117.png"/><Relationship Id="rId10" Type="http://schemas.openxmlformats.org/officeDocument/2006/relationships/image" Target="../media/image8.svg"/><Relationship Id="rId1" Type="http://schemas.openxmlformats.org/officeDocument/2006/relationships/image" Target="../media/image22.png"/></Relationships>
</file>

<file path=ppt/slides/_rels/slide33.xml.rels><?xml version="1.0" encoding="UTF-8" standalone="yes"?>
<Relationships xmlns="http://schemas.openxmlformats.org/package/2006/relationships"><Relationship Id="rId4" Type="http://schemas.openxmlformats.org/officeDocument/2006/relationships/notesSlide" Target="../notesSlides/notesSlide33.xml"/><Relationship Id="rId3" Type="http://schemas.openxmlformats.org/officeDocument/2006/relationships/slideLayout" Target="../slideLayouts/slideLayout12.xml"/><Relationship Id="rId2" Type="http://schemas.openxmlformats.org/officeDocument/2006/relationships/image" Target="../media/image6.svg"/><Relationship Id="rId1" Type="http://schemas.openxmlformats.org/officeDocument/2006/relationships/image" Target="../media/image64.png"/></Relationships>
</file>

<file path=ppt/slides/_rels/slide34.xml.rels><?xml version="1.0" encoding="UTF-8" standalone="yes"?>
<Relationships xmlns="http://schemas.openxmlformats.org/package/2006/relationships"><Relationship Id="rId8" Type="http://schemas.openxmlformats.org/officeDocument/2006/relationships/notesSlide" Target="../notesSlides/notesSlide34.xml"/><Relationship Id="rId7" Type="http://schemas.openxmlformats.org/officeDocument/2006/relationships/slideLayout" Target="../slideLayouts/slideLayout12.xml"/><Relationship Id="rId6" Type="http://schemas.openxmlformats.org/officeDocument/2006/relationships/image" Target="../media/image122.svg"/><Relationship Id="rId5" Type="http://schemas.openxmlformats.org/officeDocument/2006/relationships/image" Target="../media/image121.png"/><Relationship Id="rId4" Type="http://schemas.openxmlformats.org/officeDocument/2006/relationships/image" Target="../media/image120.svg"/><Relationship Id="rId3" Type="http://schemas.openxmlformats.org/officeDocument/2006/relationships/image" Target="../media/image119.png"/><Relationship Id="rId2" Type="http://schemas.openxmlformats.org/officeDocument/2006/relationships/image" Target="../media/image10.svg"/><Relationship Id="rId1" Type="http://schemas.openxmlformats.org/officeDocument/2006/relationships/image" Target="../media/image17.png"/></Relationships>
</file>

<file path=ppt/slides/_rels/slide35.xml.rels><?xml version="1.0" encoding="UTF-8" standalone="yes"?>
<Relationships xmlns="http://schemas.openxmlformats.org/package/2006/relationships"><Relationship Id="rId8" Type="http://schemas.openxmlformats.org/officeDocument/2006/relationships/notesSlide" Target="../notesSlides/notesSlide35.xml"/><Relationship Id="rId7" Type="http://schemas.openxmlformats.org/officeDocument/2006/relationships/slideLayout" Target="../slideLayouts/slideLayout12.xml"/><Relationship Id="rId6" Type="http://schemas.openxmlformats.org/officeDocument/2006/relationships/image" Target="../media/image125.svg"/><Relationship Id="rId5" Type="http://schemas.openxmlformats.org/officeDocument/2006/relationships/image" Target="../media/image124.png"/><Relationship Id="rId4" Type="http://schemas.openxmlformats.org/officeDocument/2006/relationships/image" Target="../media/image40.svg"/><Relationship Id="rId3" Type="http://schemas.openxmlformats.org/officeDocument/2006/relationships/image" Target="../media/image123.png"/><Relationship Id="rId2" Type="http://schemas.openxmlformats.org/officeDocument/2006/relationships/image" Target="../media/image6.svg"/><Relationship Id="rId1" Type="http://schemas.openxmlformats.org/officeDocument/2006/relationships/image" Target="../media/image64.png"/></Relationships>
</file>

<file path=ppt/slides/_rels/slide36.xml.rels><?xml version="1.0" encoding="UTF-8" standalone="yes"?>
<Relationships xmlns="http://schemas.openxmlformats.org/package/2006/relationships"><Relationship Id="rId9" Type="http://schemas.openxmlformats.org/officeDocument/2006/relationships/slideLayout" Target="../slideLayouts/slideLayout12.xml"/><Relationship Id="rId8" Type="http://schemas.openxmlformats.org/officeDocument/2006/relationships/image" Target="../media/image133.svg"/><Relationship Id="rId7" Type="http://schemas.openxmlformats.org/officeDocument/2006/relationships/image" Target="../media/image132.png"/><Relationship Id="rId6" Type="http://schemas.openxmlformats.org/officeDocument/2006/relationships/image" Target="../media/image131.svg"/><Relationship Id="rId5" Type="http://schemas.openxmlformats.org/officeDocument/2006/relationships/image" Target="../media/image130.png"/><Relationship Id="rId4" Type="http://schemas.openxmlformats.org/officeDocument/2006/relationships/image" Target="../media/image129.svg"/><Relationship Id="rId3" Type="http://schemas.openxmlformats.org/officeDocument/2006/relationships/image" Target="../media/image128.png"/><Relationship Id="rId2" Type="http://schemas.openxmlformats.org/officeDocument/2006/relationships/image" Target="../media/image127.svg"/><Relationship Id="rId10" Type="http://schemas.openxmlformats.org/officeDocument/2006/relationships/notesSlide" Target="../notesSlides/notesSlide36.xml"/><Relationship Id="rId1" Type="http://schemas.openxmlformats.org/officeDocument/2006/relationships/image" Target="../media/image126.png"/></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2.xml"/></Relationships>
</file>

<file path=ppt/slides/_rels/slide38.xml.rels><?xml version="1.0" encoding="UTF-8" standalone="yes"?>
<Relationships xmlns="http://schemas.openxmlformats.org/package/2006/relationships"><Relationship Id="rId9" Type="http://schemas.openxmlformats.org/officeDocument/2006/relationships/slideLayout" Target="../slideLayouts/slideLayout12.xml"/><Relationship Id="rId8" Type="http://schemas.openxmlformats.org/officeDocument/2006/relationships/image" Target="../media/image136.svg"/><Relationship Id="rId7" Type="http://schemas.openxmlformats.org/officeDocument/2006/relationships/image" Target="../media/image135.png"/><Relationship Id="rId6" Type="http://schemas.openxmlformats.org/officeDocument/2006/relationships/image" Target="../media/image6.svg"/><Relationship Id="rId5" Type="http://schemas.openxmlformats.org/officeDocument/2006/relationships/image" Target="../media/image64.png"/><Relationship Id="rId4" Type="http://schemas.openxmlformats.org/officeDocument/2006/relationships/image" Target="../media/image4.svg"/><Relationship Id="rId3" Type="http://schemas.openxmlformats.org/officeDocument/2006/relationships/image" Target="../media/image88.png"/><Relationship Id="rId2" Type="http://schemas.openxmlformats.org/officeDocument/2006/relationships/image" Target="../media/image2.svg"/><Relationship Id="rId10" Type="http://schemas.openxmlformats.org/officeDocument/2006/relationships/notesSlide" Target="../notesSlides/notesSlide38.xml"/><Relationship Id="rId1" Type="http://schemas.openxmlformats.org/officeDocument/2006/relationships/image" Target="../media/image134.png"/></Relationships>
</file>

<file path=ppt/slides/_rels/slide39.xml.rels><?xml version="1.0" encoding="UTF-8" standalone="yes"?>
<Relationships xmlns="http://schemas.openxmlformats.org/package/2006/relationships"><Relationship Id="rId8" Type="http://schemas.openxmlformats.org/officeDocument/2006/relationships/notesSlide" Target="../notesSlides/notesSlide39.xml"/><Relationship Id="rId7" Type="http://schemas.openxmlformats.org/officeDocument/2006/relationships/slideLayout" Target="../slideLayouts/slideLayout12.xml"/><Relationship Id="rId6" Type="http://schemas.openxmlformats.org/officeDocument/2006/relationships/image" Target="../media/image140.svg"/><Relationship Id="rId5" Type="http://schemas.openxmlformats.org/officeDocument/2006/relationships/image" Target="../media/image139.png"/><Relationship Id="rId4" Type="http://schemas.openxmlformats.org/officeDocument/2006/relationships/image" Target="../media/image138.svg"/><Relationship Id="rId3" Type="http://schemas.openxmlformats.org/officeDocument/2006/relationships/image" Target="../media/image137.png"/><Relationship Id="rId2" Type="http://schemas.openxmlformats.org/officeDocument/2006/relationships/image" Target="../media/image4.svg"/><Relationship Id="rId1" Type="http://schemas.openxmlformats.org/officeDocument/2006/relationships/image" Target="../media/image88.png"/></Relationships>
</file>

<file path=ppt/slides/_rels/slide40.xml.rels><?xml version="1.0" encoding="UTF-8" standalone="yes"?>
<Relationships xmlns="http://schemas.openxmlformats.org/package/2006/relationships"><Relationship Id="rId4" Type="http://schemas.openxmlformats.org/officeDocument/2006/relationships/notesSlide" Target="../notesSlides/notesSlide40.xml"/><Relationship Id="rId3" Type="http://schemas.openxmlformats.org/officeDocument/2006/relationships/slideLayout" Target="../slideLayouts/slideLayout12.xml"/><Relationship Id="rId2" Type="http://schemas.openxmlformats.org/officeDocument/2006/relationships/image" Target="../media/image142.svg"/><Relationship Id="rId1" Type="http://schemas.openxmlformats.org/officeDocument/2006/relationships/image" Target="../media/image141.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E0F7FA">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0" y="0"/>
            <a:ext cx="12192000" cy="152400"/>
          </a:xfrm>
          <a:prstGeom prst="roundRect">
            <a:avLst>
              <a:gd name="adj" fmla="val 0"/>
            </a:avLst>
          </a:prstGeom>
          <a:solidFill>
            <a:srgbClr val="0288D1">
              <a:alpha val="100000"/>
            </a:srgbClr>
          </a:solidFill>
          <a:ln w="25400" cap="flat" cmpd="sng">
            <a:noFill/>
            <a:prstDash val="solid"/>
            <a:round/>
          </a:ln>
        </p:spPr>
        <p:txBody>
          <a:bodyPr vert="horz" wrap="square" lIns="63500" tIns="63500" rIns="63500" bIns="63500" rtlCol="0" anchor="ctr"/>
          <a:lstStyle/>
          <a:p>
            <a:pPr algn="ctr">
              <a:defRPr/>
            </a:pPr>
          </a:p>
        </p:txBody>
      </p:sp>
      <p:sp>
        <p:nvSpPr>
          <p:cNvPr id="4" name="AutoShape 4"/>
          <p:cNvSpPr/>
          <p:nvPr/>
        </p:nvSpPr>
        <p:spPr>
          <a:xfrm>
            <a:off x="3581400" y="2286000"/>
            <a:ext cx="5029200" cy="762000"/>
          </a:xfrm>
          <a:prstGeom prst="rect">
            <a:avLst/>
          </a:prstGeom>
          <a:noFill/>
          <a:ln w="12700" cap="flat" cmpd="sng">
            <a:noFill/>
            <a:prstDash val="solid"/>
            <a:round/>
          </a:ln>
        </p:spPr>
        <p:txBody>
          <a:bodyPr vert="horz" wrap="none" lIns="0" tIns="0" rIns="0" bIns="0" rtlCol="0" anchor="ctr" anchorCtr="0"/>
          <a:lstStyle/>
          <a:p>
            <a:pPr indent="0" algn="ctr">
              <a:lnSpc>
                <a:spcPct val="125000"/>
              </a:lnSpc>
              <a:defRPr/>
            </a:pPr>
            <a:r>
              <a:rPr lang="en-US" sz="4000" b="1" i="0" u="none" strike="noStrike">
                <a:solidFill>
                  <a:srgbClr val="0288D1"/>
                </a:solidFill>
                <a:latin typeface="Noto Sans SC"/>
                <a:ea typeface="Noto Sans SC"/>
                <a:cs typeface="Noto Sans SC"/>
                <a:sym typeface="Noto Sans SC"/>
              </a:rPr>
              <a:t>第3章 RAG的架构</a:t>
            </a:r>
            <a:endParaRPr lang="en-US" sz="1100"/>
          </a:p>
        </p:txBody>
      </p:sp>
      <p:sp>
        <p:nvSpPr>
          <p:cNvPr id="5" name="AutoShape 5"/>
          <p:cNvSpPr/>
          <p:nvPr/>
        </p:nvSpPr>
        <p:spPr>
          <a:xfrm>
            <a:off x="4787900" y="3175000"/>
            <a:ext cx="2616200" cy="508000"/>
          </a:xfrm>
          <a:prstGeom prst="rect">
            <a:avLst/>
          </a:prstGeom>
          <a:noFill/>
          <a:ln w="12700" cap="flat" cmpd="sng">
            <a:noFill/>
            <a:prstDash val="solid"/>
            <a:round/>
          </a:ln>
        </p:spPr>
        <p:txBody>
          <a:bodyPr vert="horz" wrap="none" lIns="0" tIns="0" rIns="0" bIns="0" rtlCol="0" anchor="ctr" anchorCtr="0"/>
          <a:lstStyle/>
          <a:p>
            <a:pPr indent="0" algn="ctr">
              <a:lnSpc>
                <a:spcPct val="125000"/>
              </a:lnSpc>
              <a:defRPr/>
            </a:pPr>
            <a:r>
              <a:rPr lang="en-US" sz="2400" b="0" i="0" u="none" strike="noStrike">
                <a:solidFill>
                  <a:srgbClr val="757575"/>
                </a:solidFill>
                <a:latin typeface="Noto Sans SC"/>
                <a:ea typeface="Noto Sans SC"/>
                <a:cs typeface="Noto Sans SC"/>
                <a:sym typeface="Noto Sans SC"/>
              </a:rPr>
              <a:t>教学课件</a:t>
            </a:r>
            <a:endParaRPr lang="en-US" sz="1100"/>
          </a:p>
        </p:txBody>
      </p:sp>
      <p:cxnSp>
        <p:nvCxnSpPr>
          <p:cNvPr id="6" name="Connector 6"/>
          <p:cNvCxnSpPr/>
          <p:nvPr/>
        </p:nvCxnSpPr>
        <p:spPr>
          <a:xfrm rot="-34376">
            <a:off x="5461032" y="4057650"/>
            <a:ext cx="1270000" cy="12700"/>
          </a:xfrm>
          <a:prstGeom prst="straightConnector1">
            <a:avLst/>
          </a:prstGeom>
          <a:solidFill>
            <a:srgbClr val="DEE0E3">
              <a:alpha val="100000"/>
            </a:srgbClr>
          </a:solidFill>
          <a:ln w="25400" cap="flat" cmpd="sng">
            <a:solidFill>
              <a:srgbClr val="0288D1">
                <a:alpha val="100000"/>
              </a:srgbClr>
            </a:solidFill>
            <a:prstDash val="solid"/>
            <a:round/>
            <a:headEnd type="none" w="lg" len="lg"/>
            <a:tailEnd type="none" w="lg" len="lg"/>
          </a:ln>
        </p:spPr>
      </p:cxnSp>
      <p:sp>
        <p:nvSpPr>
          <p:cNvPr id="7" name="AutoShape 7"/>
          <p:cNvSpPr/>
          <p:nvPr/>
        </p:nvSpPr>
        <p:spPr>
          <a:xfrm>
            <a:off x="4826000" y="4445000"/>
            <a:ext cx="2540000" cy="508000"/>
          </a:xfrm>
          <a:prstGeom prst="roundRect">
            <a:avLst>
              <a:gd name="adj" fmla="val 50000"/>
            </a:avLst>
          </a:prstGeom>
          <a:solidFill>
            <a:srgbClr val="0288D1">
              <a:alpha val="10000"/>
            </a:srgbClr>
          </a:solidFill>
          <a:ln w="25400" cap="flat" cmpd="sng">
            <a:noFill/>
            <a:prstDash val="solid"/>
            <a:round/>
          </a:ln>
        </p:spPr>
        <p:txBody>
          <a:bodyPr vert="horz" wrap="square" lIns="0" tIns="0" rIns="0" bIns="0" rtlCol="0" anchor="ctr" anchorCtr="0"/>
          <a:lstStyle/>
          <a:p>
            <a:pPr indent="0" algn="ctr">
              <a:lnSpc>
                <a:spcPct val="125000"/>
              </a:lnSpc>
              <a:defRPr/>
            </a:pPr>
            <a:r>
              <a:rPr lang="en-US" sz="1600" b="0" i="0" u="none" strike="noStrike">
                <a:solidFill>
                  <a:srgbClr val="0288D1"/>
                </a:solidFill>
                <a:latin typeface="Noto Sans SC"/>
                <a:ea typeface="Noto Sans SC"/>
                <a:cs typeface="Noto Sans SC"/>
                <a:sym typeface="Noto Sans SC"/>
              </a:rPr>
              <a:t>大学教授视角</a:t>
            </a:r>
            <a:endParaRPr lang="en-US" sz="1100"/>
          </a:p>
        </p:txBody>
      </p:sp>
      <p:sp>
        <p:nvSpPr>
          <p:cNvPr id="8" name="AutoShape 8"/>
          <p:cNvSpPr/>
          <p:nvPr/>
        </p:nvSpPr>
        <p:spPr>
          <a:xfrm>
            <a:off x="0" y="6223000"/>
            <a:ext cx="12192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200" b="0" i="0" u="none" strike="noStrike">
                <a:solidFill>
                  <a:srgbClr val="757575">
                    <a:alpha val="60000"/>
                  </a:srgbClr>
                </a:solidFill>
                <a:latin typeface="Noto Sans SC"/>
                <a:ea typeface="Noto Sans SC"/>
                <a:cs typeface="Noto Sans SC"/>
                <a:sym typeface="Noto Sans SC"/>
              </a:rPr>
              <a:t>Advanced AI Architecture Course Series</a:t>
            </a:r>
            <a:endParaRPr lang="en-US" sz="110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E0F7FA">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635000"/>
            <a:ext cx="894080" cy="508000"/>
          </a:xfrm>
          <a:prstGeom prst="rect">
            <a:avLst/>
          </a:prstGeom>
          <a:noFill/>
          <a:ln w="12700" cap="flat" cmpd="sng">
            <a:noFill/>
            <a:prstDash val="solid"/>
            <a:round/>
          </a:ln>
        </p:spPr>
        <p:txBody>
          <a:bodyPr vert="horz" wrap="none" lIns="0" tIns="0" rIns="0" bIns="0" rtlCol="0" anchor="ctr" anchorCtr="0"/>
          <a:lstStyle/>
          <a:p>
            <a:pPr indent="0" algn="l">
              <a:lnSpc>
                <a:spcPct val="125000"/>
              </a:lnSpc>
              <a:defRPr/>
            </a:pPr>
            <a:r>
              <a:rPr lang="en-US" sz="3200" b="1" i="0" u="none" strike="noStrike">
                <a:solidFill>
                  <a:srgbClr val="0288D1"/>
                </a:solidFill>
                <a:latin typeface="Noto Sans SC"/>
                <a:ea typeface="Noto Sans SC"/>
                <a:cs typeface="Noto Sans SC"/>
                <a:sym typeface="Noto Sans SC"/>
              </a:rPr>
              <a:t>目录</a:t>
            </a:r>
            <a:endParaRPr lang="en-US" sz="1100"/>
          </a:p>
        </p:txBody>
      </p:sp>
      <p:sp>
        <p:nvSpPr>
          <p:cNvPr id="3" name="AutoShape 3"/>
          <p:cNvSpPr/>
          <p:nvPr/>
        </p:nvSpPr>
        <p:spPr>
          <a:xfrm>
            <a:off x="762000" y="1206500"/>
            <a:ext cx="508000" cy="50800"/>
          </a:xfrm>
          <a:prstGeom prst="roundRect">
            <a:avLst>
              <a:gd name="adj" fmla="val 0"/>
            </a:avLst>
          </a:prstGeom>
          <a:solidFill>
            <a:srgbClr val="0288D1">
              <a:alpha val="100000"/>
            </a:srgbClr>
          </a:solidFill>
          <a:ln w="25400" cap="flat" cmpd="sng">
            <a:noFill/>
            <a:prstDash val="solid"/>
            <a:round/>
          </a:ln>
        </p:spPr>
        <p:txBody>
          <a:bodyPr vert="horz" wrap="square" lIns="63500" tIns="63500" rIns="63500" bIns="63500" rtlCol="0" anchor="ctr"/>
          <a:lstStyle/>
          <a:p>
            <a:pPr algn="ctr">
              <a:defRPr/>
            </a:pPr>
          </a:p>
        </p:txBody>
      </p:sp>
      <p:sp>
        <p:nvSpPr>
          <p:cNvPr id="4" name="AutoShape 4"/>
          <p:cNvSpPr/>
          <p:nvPr/>
        </p:nvSpPr>
        <p:spPr>
          <a:xfrm>
            <a:off x="762000" y="1651000"/>
            <a:ext cx="3302000" cy="3556000"/>
          </a:xfrm>
          <a:prstGeom prst="roundRect">
            <a:avLst>
              <a:gd name="adj" fmla="val 3846"/>
            </a:avLst>
          </a:prstGeom>
          <a:solidFill>
            <a:srgbClr val="FFFFFF">
              <a:alpha val="100000"/>
            </a:srgbClr>
          </a:solidFill>
          <a:ln w="25400" cap="flat" cmpd="sng">
            <a:noFill/>
            <a:prstDash val="solid"/>
            <a:round/>
          </a:ln>
          <a:effectLst>
            <a:outerShdw blurRad="127000" dist="50800" dir="5400000" algn="tl" rotWithShape="0">
              <a:srgbClr val="0288D1">
                <a:alpha val="15000"/>
              </a:srgbClr>
            </a:outerShdw>
          </a:effectLst>
        </p:spPr>
        <p:txBody>
          <a:bodyPr vert="horz" wrap="square" lIns="63500" tIns="63500" rIns="63500" bIns="63500" rtlCol="0" anchor="ctr"/>
          <a:lstStyle/>
          <a:p>
            <a:pPr algn="ctr">
              <a:defRPr/>
            </a:pPr>
          </a:p>
        </p:txBody>
      </p:sp>
      <p:pic>
        <p:nvPicPr>
          <p:cNvPr id="5" name="Picture 5"/>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016000" y="1905000"/>
            <a:ext cx="406400" cy="406400"/>
          </a:xfrm>
          <a:prstGeom prst="rect">
            <a:avLst/>
          </a:prstGeom>
        </p:spPr>
      </p:pic>
      <p:sp>
        <p:nvSpPr>
          <p:cNvPr id="6" name="AutoShape 6"/>
          <p:cNvSpPr/>
          <p:nvPr/>
        </p:nvSpPr>
        <p:spPr>
          <a:xfrm>
            <a:off x="1524000" y="1854200"/>
            <a:ext cx="2286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0288D1"/>
                </a:solidFill>
                <a:latin typeface="Noto Sans SC"/>
                <a:ea typeface="Noto Sans SC"/>
                <a:cs typeface="Noto Sans SC"/>
                <a:sym typeface="Noto Sans SC"/>
              </a:rPr>
              <a:t>经典检索增强生成</a:t>
            </a:r>
            <a:endParaRPr lang="en-US" sz="1100"/>
          </a:p>
        </p:txBody>
      </p:sp>
      <p:sp>
        <p:nvSpPr>
          <p:cNvPr id="7" name="AutoShape 7"/>
          <p:cNvSpPr/>
          <p:nvPr/>
        </p:nvSpPr>
        <p:spPr>
          <a:xfrm>
            <a:off x="1016000" y="2349500"/>
            <a:ext cx="2794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0" i="0" u="none" strike="noStrike">
                <a:solidFill>
                  <a:srgbClr val="757575"/>
                </a:solidFill>
                <a:latin typeface="Noto Sans SC"/>
                <a:ea typeface="Noto Sans SC"/>
                <a:cs typeface="Noto Sans SC"/>
                <a:sym typeface="Noto Sans SC"/>
              </a:rPr>
              <a:t>Vanilla RAG</a:t>
            </a:r>
            <a:endParaRPr lang="en-US" sz="1100"/>
          </a:p>
        </p:txBody>
      </p:sp>
      <p:sp>
        <p:nvSpPr>
          <p:cNvPr id="8" name="AutoShape 8"/>
          <p:cNvSpPr/>
          <p:nvPr/>
        </p:nvSpPr>
        <p:spPr>
          <a:xfrm>
            <a:off x="1016000" y="2794000"/>
            <a:ext cx="2794000" cy="1905000"/>
          </a:xfrm>
          <a:prstGeom prst="rect">
            <a:avLst/>
          </a:prstGeom>
          <a:noFill/>
          <a:ln w="12700" cap="flat" cmpd="sng">
            <a:noFill/>
            <a:prstDash val="solid"/>
            <a:round/>
          </a:ln>
        </p:spPr>
        <p:txBody>
          <a:bodyPr vert="horz" wrap="square" lIns="0" tIns="0" rIns="0" bIns="0" rtlCol="0" anchor="ctr" anchorCtr="0"/>
          <a:lstStyle/>
          <a:p>
            <a:pPr marL="203200" indent="-203200" algn="l">
              <a:lnSpc>
                <a:spcPct val="125000"/>
              </a:lnSpc>
              <a:buClr>
                <a:srgbClr val="424242"/>
              </a:buClr>
              <a:buChar char="•"/>
              <a:defRPr/>
            </a:pPr>
            <a:r>
              <a:rPr lang="en-US" sz="1600" b="0" i="0" u="none" strike="noStrike">
                <a:solidFill>
                  <a:srgbClr val="424242"/>
                </a:solidFill>
                <a:latin typeface="Noto Sans SC"/>
                <a:ea typeface="Noto Sans SC"/>
                <a:cs typeface="Noto Sans SC"/>
                <a:sym typeface="Noto Sans SC"/>
              </a:rPr>
              <a:t>经典RAG的概述</a:t>
            </a:r>
            <a:endParaRPr lang="en-US" sz="1100"/>
          </a:p>
          <a:p>
            <a:pPr marL="203200" indent="-203200" algn="l">
              <a:lnSpc>
                <a:spcPct val="125000"/>
              </a:lnSpc>
              <a:buClr>
                <a:srgbClr val="424242"/>
              </a:buClr>
              <a:buChar char="•"/>
            </a:pPr>
            <a:r>
              <a:rPr lang="en-US" sz="1600" b="0" i="0" u="none" strike="noStrike">
                <a:solidFill>
                  <a:srgbClr val="424242"/>
                </a:solidFill>
                <a:latin typeface="Noto Sans SC"/>
                <a:ea typeface="Noto Sans SC"/>
                <a:cs typeface="Noto Sans SC"/>
                <a:sym typeface="Noto Sans SC"/>
              </a:rPr>
              <a:t>经典RAG的架构</a:t>
            </a:r>
            <a:endParaRPr lang="en-US" sz="1600" b="0" i="0" u="none" strike="noStrike">
              <a:solidFill>
                <a:srgbClr val="424242"/>
              </a:solidFill>
              <a:latin typeface="Noto Sans SC"/>
              <a:ea typeface="Noto Sans SC"/>
              <a:cs typeface="Noto Sans SC"/>
              <a:sym typeface="Noto Sans SC"/>
            </a:endParaRPr>
          </a:p>
          <a:p>
            <a:pPr marL="203200" indent="-203200" algn="l">
              <a:lnSpc>
                <a:spcPct val="125000"/>
              </a:lnSpc>
              <a:buClr>
                <a:srgbClr val="424242"/>
              </a:buClr>
              <a:buChar char="•"/>
            </a:pPr>
            <a:r>
              <a:rPr lang="en-US" sz="1600" b="0" i="0" u="none" strike="noStrike">
                <a:solidFill>
                  <a:srgbClr val="424242"/>
                </a:solidFill>
                <a:latin typeface="Noto Sans SC"/>
                <a:ea typeface="Noto Sans SC"/>
                <a:cs typeface="Noto Sans SC"/>
                <a:sym typeface="Noto Sans SC"/>
              </a:rPr>
              <a:t>经典RAG构建实战</a:t>
            </a:r>
            <a:endParaRPr lang="en-US" sz="1600" b="0" i="0" u="none" strike="noStrike">
              <a:solidFill>
                <a:srgbClr val="424242"/>
              </a:solidFill>
              <a:latin typeface="Noto Sans SC"/>
              <a:ea typeface="Noto Sans SC"/>
              <a:cs typeface="Noto Sans SC"/>
              <a:sym typeface="Noto Sans SC"/>
            </a:endParaRPr>
          </a:p>
        </p:txBody>
      </p:sp>
      <p:sp>
        <p:nvSpPr>
          <p:cNvPr id="9" name="AutoShape 9"/>
          <p:cNvSpPr/>
          <p:nvPr/>
        </p:nvSpPr>
        <p:spPr>
          <a:xfrm>
            <a:off x="4445000" y="1651000"/>
            <a:ext cx="3302000" cy="3556000"/>
          </a:xfrm>
          <a:prstGeom prst="roundRect">
            <a:avLst>
              <a:gd name="adj" fmla="val 3846"/>
            </a:avLst>
          </a:prstGeom>
          <a:solidFill>
            <a:srgbClr val="FFFFFF">
              <a:alpha val="100000"/>
            </a:srgbClr>
          </a:solidFill>
          <a:ln w="25400" cap="flat" cmpd="sng">
            <a:noFill/>
            <a:prstDash val="solid"/>
            <a:round/>
          </a:ln>
          <a:effectLst>
            <a:outerShdw blurRad="127000" dist="50800" dir="5400000" algn="tl" rotWithShape="0">
              <a:srgbClr val="0288D1">
                <a:alpha val="15000"/>
              </a:srgbClr>
            </a:outerShdw>
          </a:effectLst>
        </p:spPr>
        <p:txBody>
          <a:bodyPr vert="horz" wrap="square" lIns="63500" tIns="63500" rIns="63500" bIns="63500" rtlCol="0" anchor="ctr"/>
          <a:lstStyle/>
          <a:p>
            <a:pPr algn="ctr">
              <a:defRPr/>
            </a:pPr>
          </a:p>
        </p:txBody>
      </p:sp>
      <p:pic>
        <p:nvPicPr>
          <p:cNvPr id="10" name="Picture 10"/>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4699000" y="1905000"/>
            <a:ext cx="406400" cy="406400"/>
          </a:xfrm>
          <a:prstGeom prst="rect">
            <a:avLst/>
          </a:prstGeom>
        </p:spPr>
      </p:pic>
      <p:sp>
        <p:nvSpPr>
          <p:cNvPr id="11" name="AutoShape 11"/>
          <p:cNvSpPr/>
          <p:nvPr/>
        </p:nvSpPr>
        <p:spPr>
          <a:xfrm>
            <a:off x="5207000" y="1854200"/>
            <a:ext cx="2286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0288D1"/>
                </a:solidFill>
                <a:latin typeface="Noto Sans SC"/>
                <a:ea typeface="Noto Sans SC"/>
                <a:cs typeface="Noto Sans SC"/>
                <a:sym typeface="Noto Sans SC"/>
              </a:rPr>
              <a:t>多头检索增强生成</a:t>
            </a:r>
            <a:endParaRPr lang="en-US" sz="1100"/>
          </a:p>
        </p:txBody>
      </p:sp>
      <p:sp>
        <p:nvSpPr>
          <p:cNvPr id="12" name="AutoShape 12"/>
          <p:cNvSpPr/>
          <p:nvPr/>
        </p:nvSpPr>
        <p:spPr>
          <a:xfrm>
            <a:off x="4699000" y="2349500"/>
            <a:ext cx="2794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0" i="0" u="none" strike="noStrike">
                <a:solidFill>
                  <a:srgbClr val="757575"/>
                </a:solidFill>
                <a:latin typeface="Noto Sans SC"/>
                <a:ea typeface="Noto Sans SC"/>
                <a:cs typeface="Noto Sans SC"/>
                <a:sym typeface="Noto Sans SC"/>
              </a:rPr>
              <a:t>Multi-Head RAG</a:t>
            </a:r>
            <a:endParaRPr lang="en-US" sz="1100"/>
          </a:p>
        </p:txBody>
      </p:sp>
      <p:sp>
        <p:nvSpPr>
          <p:cNvPr id="13" name="AutoShape 13"/>
          <p:cNvSpPr/>
          <p:nvPr/>
        </p:nvSpPr>
        <p:spPr>
          <a:xfrm>
            <a:off x="4699000" y="2794000"/>
            <a:ext cx="2794000" cy="1905000"/>
          </a:xfrm>
          <a:prstGeom prst="rect">
            <a:avLst/>
          </a:prstGeom>
          <a:noFill/>
          <a:ln w="12700" cap="flat" cmpd="sng">
            <a:noFill/>
            <a:prstDash val="solid"/>
            <a:round/>
          </a:ln>
        </p:spPr>
        <p:txBody>
          <a:bodyPr vert="horz" wrap="square" lIns="0" tIns="0" rIns="0" bIns="0" rtlCol="0" anchor="ctr" anchorCtr="0"/>
          <a:lstStyle/>
          <a:p>
            <a:pPr marL="203200" indent="-203200" algn="l">
              <a:lnSpc>
                <a:spcPct val="125000"/>
              </a:lnSpc>
              <a:buClr>
                <a:srgbClr val="424242"/>
              </a:buClr>
              <a:buChar char="•"/>
              <a:defRPr/>
            </a:pPr>
            <a:r>
              <a:rPr lang="en-US" sz="1600" b="0" i="0" u="none" strike="noStrike">
                <a:solidFill>
                  <a:srgbClr val="424242"/>
                </a:solidFill>
                <a:latin typeface="Noto Sans SC"/>
                <a:ea typeface="Noto Sans SC"/>
                <a:cs typeface="Noto Sans SC"/>
                <a:sym typeface="Noto Sans SC"/>
              </a:rPr>
              <a:t>多头RAG概述</a:t>
            </a:r>
            <a:endParaRPr lang="en-US" sz="1100"/>
          </a:p>
          <a:p>
            <a:pPr marL="203200" indent="-203200" algn="l">
              <a:lnSpc>
                <a:spcPct val="125000"/>
              </a:lnSpc>
              <a:buClr>
                <a:srgbClr val="424242"/>
              </a:buClr>
              <a:buChar char="•"/>
            </a:pPr>
            <a:r>
              <a:rPr lang="en-US" sz="1600" b="0" i="0" u="none" strike="noStrike">
                <a:solidFill>
                  <a:srgbClr val="424242"/>
                </a:solidFill>
                <a:latin typeface="Noto Sans SC"/>
                <a:ea typeface="Noto Sans SC"/>
                <a:cs typeface="Noto Sans SC"/>
                <a:sym typeface="Noto Sans SC"/>
              </a:rPr>
              <a:t>多头RAG的架构</a:t>
            </a:r>
            <a:endParaRPr lang="en-US" sz="1600" b="0" i="0" u="none" strike="noStrike">
              <a:solidFill>
                <a:srgbClr val="424242"/>
              </a:solidFill>
              <a:latin typeface="Noto Sans SC"/>
              <a:ea typeface="Noto Sans SC"/>
              <a:cs typeface="Noto Sans SC"/>
              <a:sym typeface="Noto Sans SC"/>
            </a:endParaRPr>
          </a:p>
          <a:p>
            <a:pPr marL="203200" indent="-203200" algn="l">
              <a:lnSpc>
                <a:spcPct val="125000"/>
              </a:lnSpc>
              <a:buClr>
                <a:srgbClr val="424242"/>
              </a:buClr>
              <a:buChar char="•"/>
            </a:pPr>
            <a:r>
              <a:rPr lang="en-US" sz="1600" b="0" i="0" u="none" strike="noStrike">
                <a:solidFill>
                  <a:srgbClr val="424242"/>
                </a:solidFill>
                <a:latin typeface="Noto Sans SC"/>
                <a:ea typeface="Noto Sans SC"/>
                <a:cs typeface="Noto Sans SC"/>
                <a:sym typeface="Noto Sans SC"/>
              </a:rPr>
              <a:t>多头RAG构建实战</a:t>
            </a:r>
            <a:endParaRPr lang="en-US" sz="1600" b="0" i="0" u="none" strike="noStrike">
              <a:solidFill>
                <a:srgbClr val="424242"/>
              </a:solidFill>
              <a:latin typeface="Noto Sans SC"/>
              <a:ea typeface="Noto Sans SC"/>
              <a:cs typeface="Noto Sans SC"/>
              <a:sym typeface="Noto Sans SC"/>
            </a:endParaRPr>
          </a:p>
        </p:txBody>
      </p:sp>
      <p:sp>
        <p:nvSpPr>
          <p:cNvPr id="14" name="AutoShape 14"/>
          <p:cNvSpPr/>
          <p:nvPr/>
        </p:nvSpPr>
        <p:spPr>
          <a:xfrm>
            <a:off x="8128000" y="1651000"/>
            <a:ext cx="3302000" cy="3556000"/>
          </a:xfrm>
          <a:prstGeom prst="roundRect">
            <a:avLst>
              <a:gd name="adj" fmla="val 3846"/>
            </a:avLst>
          </a:prstGeom>
          <a:solidFill>
            <a:srgbClr val="FFFFFF">
              <a:alpha val="100000"/>
            </a:srgbClr>
          </a:solidFill>
          <a:ln w="25400" cap="flat" cmpd="sng">
            <a:noFill/>
            <a:prstDash val="solid"/>
            <a:round/>
          </a:ln>
          <a:effectLst>
            <a:outerShdw blurRad="127000" dist="50800" dir="5400000" algn="tl" rotWithShape="0">
              <a:srgbClr val="0288D1">
                <a:alpha val="15000"/>
              </a:srgbClr>
            </a:outerShdw>
          </a:effectLst>
        </p:spPr>
        <p:txBody>
          <a:bodyPr vert="horz" wrap="square" lIns="63500" tIns="63500" rIns="63500" bIns="63500" rtlCol="0" anchor="ctr"/>
          <a:lstStyle/>
          <a:p>
            <a:pPr algn="ctr">
              <a:defRPr/>
            </a:pPr>
          </a:p>
        </p:txBody>
      </p:sp>
      <p:pic>
        <p:nvPicPr>
          <p:cNvPr id="15" name="Picture 15"/>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8382000" y="1905000"/>
            <a:ext cx="406400" cy="406400"/>
          </a:xfrm>
          <a:prstGeom prst="rect">
            <a:avLst/>
          </a:prstGeom>
        </p:spPr>
      </p:pic>
      <p:sp>
        <p:nvSpPr>
          <p:cNvPr id="16" name="AutoShape 16"/>
          <p:cNvSpPr/>
          <p:nvPr/>
        </p:nvSpPr>
        <p:spPr>
          <a:xfrm>
            <a:off x="8890000" y="1854200"/>
            <a:ext cx="2286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0288D1"/>
                </a:solidFill>
                <a:latin typeface="Noto Sans SC"/>
                <a:ea typeface="Noto Sans SC"/>
                <a:cs typeface="Noto Sans SC"/>
                <a:sym typeface="Noto Sans SC"/>
              </a:rPr>
              <a:t>自反思检索增强生成</a:t>
            </a:r>
            <a:endParaRPr lang="en-US" sz="1100"/>
          </a:p>
        </p:txBody>
      </p:sp>
      <p:sp>
        <p:nvSpPr>
          <p:cNvPr id="17" name="AutoShape 17"/>
          <p:cNvSpPr/>
          <p:nvPr/>
        </p:nvSpPr>
        <p:spPr>
          <a:xfrm>
            <a:off x="8382000" y="2349500"/>
            <a:ext cx="2794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0" i="0" u="none" strike="noStrike">
                <a:solidFill>
                  <a:srgbClr val="757575"/>
                </a:solidFill>
                <a:latin typeface="Noto Sans SC"/>
                <a:ea typeface="Noto Sans SC"/>
                <a:cs typeface="Noto Sans SC"/>
                <a:sym typeface="Noto Sans SC"/>
              </a:rPr>
              <a:t>Self-RAG</a:t>
            </a:r>
            <a:endParaRPr lang="en-US" sz="1100"/>
          </a:p>
        </p:txBody>
      </p:sp>
      <p:sp>
        <p:nvSpPr>
          <p:cNvPr id="18" name="AutoShape 18"/>
          <p:cNvSpPr/>
          <p:nvPr/>
        </p:nvSpPr>
        <p:spPr>
          <a:xfrm>
            <a:off x="8382000" y="2794000"/>
            <a:ext cx="2794000" cy="1905000"/>
          </a:xfrm>
          <a:prstGeom prst="rect">
            <a:avLst/>
          </a:prstGeom>
          <a:noFill/>
          <a:ln w="12700" cap="flat" cmpd="sng">
            <a:noFill/>
            <a:prstDash val="solid"/>
            <a:round/>
          </a:ln>
        </p:spPr>
        <p:txBody>
          <a:bodyPr vert="horz" wrap="square" lIns="0" tIns="0" rIns="0" bIns="0" rtlCol="0" anchor="ctr" anchorCtr="0"/>
          <a:lstStyle/>
          <a:p>
            <a:pPr marL="203200" indent="-203200" algn="l">
              <a:lnSpc>
                <a:spcPct val="125000"/>
              </a:lnSpc>
              <a:buClr>
                <a:srgbClr val="424242"/>
              </a:buClr>
              <a:buChar char="•"/>
              <a:defRPr/>
            </a:pPr>
            <a:r>
              <a:rPr lang="en-US" sz="1600" b="0" i="0" u="none" strike="noStrike">
                <a:solidFill>
                  <a:srgbClr val="424242"/>
                </a:solidFill>
                <a:latin typeface="Noto Sans SC"/>
                <a:ea typeface="Noto Sans SC"/>
                <a:cs typeface="Noto Sans SC"/>
                <a:sym typeface="Noto Sans SC"/>
              </a:rPr>
              <a:t>自反思RAG概述</a:t>
            </a:r>
            <a:endParaRPr lang="en-US" sz="1100"/>
          </a:p>
          <a:p>
            <a:pPr marL="203200" indent="-203200" algn="l">
              <a:lnSpc>
                <a:spcPct val="125000"/>
              </a:lnSpc>
              <a:buClr>
                <a:srgbClr val="424242"/>
              </a:buClr>
              <a:buChar char="•"/>
            </a:pPr>
            <a:r>
              <a:rPr lang="en-US" sz="1600" b="0" i="0" u="none" strike="noStrike">
                <a:solidFill>
                  <a:srgbClr val="424242"/>
                </a:solidFill>
                <a:latin typeface="Noto Sans SC"/>
                <a:ea typeface="Noto Sans SC"/>
                <a:cs typeface="Noto Sans SC"/>
                <a:sym typeface="Noto Sans SC"/>
              </a:rPr>
              <a:t>自反思机制原理</a:t>
            </a:r>
            <a:endParaRPr lang="en-US" sz="1600" b="0" i="0" u="none" strike="noStrike">
              <a:solidFill>
                <a:srgbClr val="424242"/>
              </a:solidFill>
              <a:latin typeface="Noto Sans SC"/>
              <a:ea typeface="Noto Sans SC"/>
              <a:cs typeface="Noto Sans SC"/>
              <a:sym typeface="Noto Sans SC"/>
            </a:endParaRPr>
          </a:p>
          <a:p>
            <a:pPr marL="203200" indent="-203200" algn="l">
              <a:lnSpc>
                <a:spcPct val="125000"/>
              </a:lnSpc>
              <a:buClr>
                <a:srgbClr val="424242"/>
              </a:buClr>
              <a:buChar char="•"/>
            </a:pPr>
            <a:r>
              <a:rPr lang="en-US" sz="1600" b="0" i="0" u="none" strike="noStrike">
                <a:solidFill>
                  <a:srgbClr val="424242"/>
                </a:solidFill>
                <a:latin typeface="Noto Sans SC"/>
                <a:ea typeface="Noto Sans SC"/>
                <a:cs typeface="Noto Sans SC"/>
                <a:sym typeface="Noto Sans SC"/>
              </a:rPr>
              <a:t>应用场景与实战</a:t>
            </a:r>
            <a:endParaRPr lang="en-US" sz="1600" b="0" i="0" u="none" strike="noStrike">
              <a:solidFill>
                <a:srgbClr val="424242"/>
              </a:solidFill>
              <a:latin typeface="Noto Sans SC"/>
              <a:ea typeface="Noto Sans SC"/>
              <a:cs typeface="Noto Sans SC"/>
              <a:sym typeface="Noto Sans SC"/>
            </a:endParaRPr>
          </a:p>
        </p:txBody>
      </p:sp>
      <p:sp>
        <p:nvSpPr>
          <p:cNvPr id="19" name="AutoShape 19"/>
          <p:cNvSpPr/>
          <p:nvPr/>
        </p:nvSpPr>
        <p:spPr>
          <a:xfrm>
            <a:off x="0" y="6604000"/>
            <a:ext cx="12192000" cy="254000"/>
          </a:xfrm>
          <a:prstGeom prst="roundRect">
            <a:avLst>
              <a:gd name="adj" fmla="val 0"/>
            </a:avLst>
          </a:prstGeom>
          <a:solidFill>
            <a:srgbClr val="0288D1">
              <a:alpha val="100000"/>
            </a:srgbClr>
          </a:solidFill>
          <a:ln w="25400" cap="flat" cmpd="sng">
            <a:noFill/>
            <a:prstDash val="solid"/>
            <a:round/>
          </a:ln>
        </p:spPr>
        <p:txBody>
          <a:bodyPr vert="horz" wrap="square" lIns="63500" tIns="63500" rIns="63500" bIns="63500" rtlCol="0" anchor="ctr"/>
          <a:lstStyle/>
          <a:p>
            <a:pPr algn="ctr">
              <a:defRPr/>
            </a:p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E0F7FA">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0" y="0"/>
            <a:ext cx="12192000" cy="101600"/>
          </a:xfrm>
          <a:prstGeom prst="roundRect">
            <a:avLst>
              <a:gd name="adj" fmla="val 0"/>
            </a:avLst>
          </a:prstGeom>
          <a:solidFill>
            <a:srgbClr val="0288D1">
              <a:alpha val="10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635000" y="1651000"/>
            <a:ext cx="10922000" cy="2286000"/>
          </a:xfrm>
          <a:prstGeom prst="roundRect">
            <a:avLst>
              <a:gd name="adj" fmla="val 5555"/>
            </a:avLst>
          </a:prstGeom>
          <a:solidFill>
            <a:srgbClr val="FFFFFF">
              <a:alpha val="100000"/>
            </a:srgbClr>
          </a:solidFill>
          <a:ln w="25400" cap="flat" cmpd="sng">
            <a:noFill/>
            <a:prstDash val="solid"/>
            <a:round/>
          </a:ln>
          <a:effectLst>
            <a:outerShdw blurRad="254000" dist="127000" dir="5400000" algn="tl" rotWithShape="0">
              <a:srgbClr val="0288D1">
                <a:alpha val="15000"/>
              </a:srgbClr>
            </a:outerShdw>
          </a:effectLst>
        </p:spPr>
        <p:txBody>
          <a:bodyPr vert="horz" wrap="square" lIns="63500" tIns="63500" rIns="63500" bIns="63500" rtlCol="0" anchor="ctr"/>
          <a:lstStyle/>
          <a:p>
            <a:pPr algn="ctr">
              <a:defRPr/>
            </a:pPr>
          </a:p>
        </p:txBody>
      </p:sp>
      <p:pic>
        <p:nvPicPr>
          <p:cNvPr id="4" name="Picture 4"/>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016000" y="1905000"/>
            <a:ext cx="609600" cy="609600"/>
          </a:xfrm>
          <a:prstGeom prst="rect">
            <a:avLst/>
          </a:prstGeom>
        </p:spPr>
      </p:pic>
      <p:sp>
        <p:nvSpPr>
          <p:cNvPr id="5" name="AutoShape 5"/>
          <p:cNvSpPr/>
          <p:nvPr/>
        </p:nvSpPr>
        <p:spPr>
          <a:xfrm>
            <a:off x="812800" y="2667000"/>
            <a:ext cx="10566400" cy="762000"/>
          </a:xfrm>
          <a:prstGeom prst="rect">
            <a:avLst/>
          </a:prstGeom>
          <a:noFill/>
          <a:ln w="12700" cap="flat" cmpd="sng">
            <a:noFill/>
            <a:prstDash val="solid"/>
            <a:round/>
          </a:ln>
        </p:spPr>
        <p:txBody>
          <a:bodyPr vert="horz" wrap="none" lIns="0" tIns="0" rIns="0" bIns="0" rtlCol="0" anchor="ctr" anchorCtr="0"/>
          <a:lstStyle/>
          <a:p>
            <a:pPr indent="0" algn="ctr">
              <a:lnSpc>
                <a:spcPct val="125000"/>
              </a:lnSpc>
              <a:defRPr/>
            </a:pPr>
            <a:r>
              <a:rPr lang="en-US" sz="3600" b="1" i="0" u="none" strike="noStrike">
                <a:solidFill>
                  <a:srgbClr val="0288D1"/>
                </a:solidFill>
                <a:latin typeface="Noto Sans SC"/>
                <a:ea typeface="Noto Sans SC"/>
                <a:cs typeface="Noto Sans SC"/>
                <a:sym typeface="Noto Sans SC"/>
              </a:rPr>
              <a:t>3.1 经典检索增强生成（Vanilla RAG）</a:t>
            </a:r>
            <a:endParaRPr lang="en-US" sz="1100"/>
          </a:p>
        </p:txBody>
      </p:sp>
      <p:sp>
        <p:nvSpPr>
          <p:cNvPr id="6" name="AutoShape 6"/>
          <p:cNvSpPr/>
          <p:nvPr/>
        </p:nvSpPr>
        <p:spPr>
          <a:xfrm>
            <a:off x="1016000" y="3429000"/>
            <a:ext cx="10160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600" b="0" i="0" u="none" strike="noStrike">
                <a:solidFill>
                  <a:srgbClr val="757575"/>
                </a:solidFill>
                <a:latin typeface="Noto Sans SC"/>
                <a:ea typeface="Noto Sans SC"/>
                <a:cs typeface="Noto Sans SC"/>
                <a:sym typeface="Noto Sans SC"/>
              </a:rPr>
              <a:t>从基础原理出发，构建可靠的检索增强生成架构</a:t>
            </a:r>
            <a:endParaRPr lang="en-US" sz="1100"/>
          </a:p>
        </p:txBody>
      </p:sp>
      <p:sp>
        <p:nvSpPr>
          <p:cNvPr id="7" name="AutoShape 7"/>
          <p:cNvSpPr/>
          <p:nvPr/>
        </p:nvSpPr>
        <p:spPr>
          <a:xfrm>
            <a:off x="5715000" y="5715000"/>
            <a:ext cx="762000" cy="50800"/>
          </a:xfrm>
          <a:prstGeom prst="roundRect">
            <a:avLst>
              <a:gd name="adj" fmla="val 0"/>
            </a:avLst>
          </a:prstGeom>
          <a:solidFill>
            <a:srgbClr val="0288D1">
              <a:alpha val="100000"/>
            </a:srgbClr>
          </a:solidFill>
          <a:ln w="25400" cap="flat" cmpd="sng">
            <a:noFill/>
            <a:prstDash val="solid"/>
            <a:round/>
          </a:ln>
        </p:spPr>
        <p:txBody>
          <a:bodyPr vert="horz" wrap="square" lIns="63500" tIns="63500" rIns="63500" bIns="63500" rtlCol="0" anchor="ctr"/>
          <a:lstStyle/>
          <a:p>
            <a:pPr algn="ctr">
              <a:defRPr/>
            </a:p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E0F7FA">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635000"/>
            <a:ext cx="4914900" cy="508000"/>
          </a:xfrm>
          <a:prstGeom prst="rect">
            <a:avLst/>
          </a:prstGeom>
          <a:noFill/>
          <a:ln w="12700" cap="flat" cmpd="sng">
            <a:noFill/>
            <a:prstDash val="solid"/>
            <a:round/>
          </a:ln>
        </p:spPr>
        <p:txBody>
          <a:bodyPr vert="horz" wrap="none" lIns="0" tIns="0" rIns="0" bIns="0" rtlCol="0" anchor="ctr" anchorCtr="0"/>
          <a:lstStyle/>
          <a:p>
            <a:pPr indent="0" algn="l">
              <a:lnSpc>
                <a:spcPct val="125000"/>
              </a:lnSpc>
              <a:defRPr/>
            </a:pPr>
            <a:r>
              <a:rPr lang="en-US" sz="3200" b="1" i="0" u="none" strike="noStrike">
                <a:solidFill>
                  <a:srgbClr val="0288D1"/>
                </a:solidFill>
                <a:latin typeface="Noto Sans SC"/>
                <a:ea typeface="Noto Sans SC"/>
                <a:cs typeface="Noto Sans SC"/>
                <a:sym typeface="Noto Sans SC"/>
              </a:rPr>
              <a:t>3.1.1 经典RAG的概述</a:t>
            </a:r>
            <a:endParaRPr lang="en-US" sz="1100"/>
          </a:p>
        </p:txBody>
      </p:sp>
      <p:sp>
        <p:nvSpPr>
          <p:cNvPr id="3" name="AutoShape 3"/>
          <p:cNvSpPr/>
          <p:nvPr/>
        </p:nvSpPr>
        <p:spPr>
          <a:xfrm>
            <a:off x="762000" y="1524000"/>
            <a:ext cx="5080000" cy="3048000"/>
          </a:xfrm>
          <a:prstGeom prst="roundRect">
            <a:avLst>
              <a:gd name="adj" fmla="val 4166"/>
            </a:avLst>
          </a:prstGeom>
          <a:solidFill>
            <a:srgbClr val="FFFFFF">
              <a:alpha val="100000"/>
            </a:srgbClr>
          </a:solidFill>
          <a:ln w="25400" cap="flat" cmpd="sng">
            <a:noFill/>
            <a:prstDash val="solid"/>
            <a:round/>
          </a:ln>
          <a:effectLst>
            <a:outerShdw blurRad="127000" dist="50800" dir="5400000" algn="tl" rotWithShape="0">
              <a:srgbClr val="0288D1">
                <a:alpha val="15000"/>
              </a:srgbClr>
            </a:outerShdw>
          </a:effectLst>
        </p:spPr>
        <p:txBody>
          <a:bodyPr vert="horz" wrap="square" lIns="63500" tIns="63500" rIns="63500" bIns="63500" rtlCol="0" anchor="ctr"/>
          <a:lstStyle/>
          <a:p>
            <a:pPr algn="ctr">
              <a:defRPr/>
            </a:pPr>
          </a:p>
        </p:txBody>
      </p:sp>
      <p:sp>
        <p:nvSpPr>
          <p:cNvPr id="4" name="AutoShape 4"/>
          <p:cNvSpPr/>
          <p:nvPr/>
        </p:nvSpPr>
        <p:spPr>
          <a:xfrm>
            <a:off x="1016000" y="1778000"/>
            <a:ext cx="4572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0288D1"/>
                </a:solidFill>
                <a:latin typeface="Noto Sans SC"/>
                <a:ea typeface="Noto Sans SC"/>
                <a:cs typeface="Noto Sans SC"/>
                <a:sym typeface="Noto Sans SC"/>
              </a:rPr>
              <a:t>经典RAG定义</a:t>
            </a:r>
            <a:endParaRPr lang="en-US" sz="1100"/>
          </a:p>
        </p:txBody>
      </p:sp>
      <p:sp>
        <p:nvSpPr>
          <p:cNvPr id="5" name="AutoShape 5"/>
          <p:cNvSpPr/>
          <p:nvPr/>
        </p:nvSpPr>
        <p:spPr>
          <a:xfrm>
            <a:off x="1016000" y="2286000"/>
            <a:ext cx="4572000" cy="1905000"/>
          </a:xfrm>
          <a:prstGeom prst="rect">
            <a:avLst/>
          </a:prstGeom>
          <a:noFill/>
          <a:ln w="12700" cap="flat" cmpd="sng">
            <a:noFill/>
            <a:prstDash val="solid"/>
            <a:round/>
          </a:ln>
        </p:spPr>
        <p:txBody>
          <a:bodyPr vert="horz" wrap="square" lIns="0" tIns="0" rIns="0" bIns="0" rtlCol="0" anchor="ctr" anchorCtr="0"/>
          <a:lstStyle/>
          <a:p>
            <a:pPr indent="0" algn="l">
              <a:lnSpc>
                <a:spcPct val="117000"/>
              </a:lnSpc>
              <a:defRPr/>
            </a:pPr>
            <a:r>
              <a:rPr lang="en-US" sz="1800" b="0" i="0" u="none" strike="noStrike">
                <a:solidFill>
                  <a:srgbClr val="757575"/>
                </a:solidFill>
                <a:latin typeface="Noto Sans SC"/>
                <a:ea typeface="Noto Sans SC"/>
                <a:cs typeface="Noto Sans SC"/>
                <a:sym typeface="Noto Sans SC"/>
              </a:rPr>
              <a:t>经典RAG利用向量检索技术，从外部知识库中检索与用户输入最相关的信息片段，并将这些信息作为上下文输入到生成模型中，以生成更准确、更相关的回答。</a:t>
            </a:r>
            <a:endParaRPr lang="en-US" sz="1100"/>
          </a:p>
        </p:txBody>
      </p:sp>
      <p:sp>
        <p:nvSpPr>
          <p:cNvPr id="6" name="AutoShape 6"/>
          <p:cNvSpPr/>
          <p:nvPr/>
        </p:nvSpPr>
        <p:spPr>
          <a:xfrm>
            <a:off x="6350000" y="1524000"/>
            <a:ext cx="5080000" cy="3048000"/>
          </a:xfrm>
          <a:prstGeom prst="roundRect">
            <a:avLst>
              <a:gd name="adj" fmla="val 4166"/>
            </a:avLst>
          </a:prstGeom>
          <a:solidFill>
            <a:srgbClr val="FFFFFF">
              <a:alpha val="100000"/>
            </a:srgbClr>
          </a:solidFill>
          <a:ln w="25400" cap="flat" cmpd="sng">
            <a:noFill/>
            <a:prstDash val="solid"/>
            <a:round/>
          </a:ln>
          <a:effectLst>
            <a:outerShdw blurRad="127000" dist="50800" dir="5400000" algn="tl" rotWithShape="0">
              <a:srgbClr val="0288D1">
                <a:alpha val="15000"/>
              </a:srgbClr>
            </a:outerShdw>
          </a:effectLst>
        </p:spPr>
        <p:txBody>
          <a:bodyPr vert="horz" wrap="square" lIns="63500" tIns="63500" rIns="63500" bIns="63500" rtlCol="0" anchor="ctr"/>
          <a:lstStyle/>
          <a:p>
            <a:pPr algn="ctr">
              <a:defRPr/>
            </a:pPr>
          </a:p>
        </p:txBody>
      </p:sp>
      <p:sp>
        <p:nvSpPr>
          <p:cNvPr id="7" name="AutoShape 7"/>
          <p:cNvSpPr/>
          <p:nvPr/>
        </p:nvSpPr>
        <p:spPr>
          <a:xfrm>
            <a:off x="6604000" y="1778000"/>
            <a:ext cx="4572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0288D1"/>
                </a:solidFill>
                <a:latin typeface="Noto Sans SC"/>
                <a:ea typeface="Noto Sans SC"/>
                <a:cs typeface="Noto Sans SC"/>
                <a:sym typeface="Noto Sans SC"/>
              </a:rPr>
              <a:t>核心流程：两步法</a:t>
            </a:r>
            <a:endParaRPr lang="en-US" sz="1100"/>
          </a:p>
        </p:txBody>
      </p:sp>
      <p:sp>
        <p:nvSpPr>
          <p:cNvPr id="8" name="AutoShape 8"/>
          <p:cNvSpPr/>
          <p:nvPr/>
        </p:nvSpPr>
        <p:spPr>
          <a:xfrm>
            <a:off x="6604000" y="2286000"/>
            <a:ext cx="4572000" cy="762000"/>
          </a:xfrm>
          <a:prstGeom prst="roundRect">
            <a:avLst>
              <a:gd name="adj" fmla="val 8333"/>
            </a:avLst>
          </a:prstGeom>
          <a:solidFill>
            <a:srgbClr val="0288D1">
              <a:alpha val="10000"/>
            </a:srgbClr>
          </a:solidFill>
          <a:ln w="25400" cap="flat" cmpd="sng">
            <a:noFill/>
            <a:prstDash val="solid"/>
            <a:round/>
          </a:ln>
        </p:spPr>
        <p:txBody>
          <a:bodyPr vert="horz" wrap="square" lIns="63500" tIns="63500" rIns="63500" bIns="63500" rtlCol="0" anchor="ctr"/>
          <a:lstStyle/>
          <a:p>
            <a:pPr algn="ctr">
              <a:defRPr/>
            </a:pPr>
          </a:p>
        </p:txBody>
      </p:sp>
      <p:pic>
        <p:nvPicPr>
          <p:cNvPr id="9" name="Picture 9"/>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6794500" y="2476500"/>
            <a:ext cx="381000" cy="381000"/>
          </a:xfrm>
          <a:prstGeom prst="rect">
            <a:avLst/>
          </a:prstGeom>
        </p:spPr>
      </p:pic>
      <p:sp>
        <p:nvSpPr>
          <p:cNvPr id="10" name="AutoShape 10"/>
          <p:cNvSpPr/>
          <p:nvPr/>
        </p:nvSpPr>
        <p:spPr>
          <a:xfrm>
            <a:off x="7302500" y="2349500"/>
            <a:ext cx="3683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0288D1"/>
                </a:solidFill>
                <a:latin typeface="Noto Sans SC"/>
                <a:ea typeface="Noto Sans SC"/>
                <a:cs typeface="Noto Sans SC"/>
                <a:sym typeface="Noto Sans SC"/>
              </a:rPr>
              <a:t>1. 检索 (Retrieval)</a:t>
            </a:r>
            <a:endParaRPr lang="en-US" sz="1100"/>
          </a:p>
          <a:p>
            <a:pPr indent="0" algn="l">
              <a:lnSpc>
                <a:spcPct val="125000"/>
              </a:lnSpc>
            </a:pPr>
            <a:r>
              <a:rPr lang="en-US" sz="1400" b="0" i="0" u="none" strike="noStrike">
                <a:solidFill>
                  <a:srgbClr val="757575"/>
                </a:solidFill>
                <a:latin typeface="Noto Sans SC"/>
                <a:ea typeface="Noto Sans SC"/>
                <a:cs typeface="Noto Sans SC"/>
                <a:sym typeface="Noto Sans SC"/>
              </a:rPr>
              <a:t>从知识库中查找与用户问题相关的信息</a:t>
            </a:r>
            <a:endParaRPr lang="en-US" sz="1400" b="0" i="0" u="none" strike="noStrike">
              <a:solidFill>
                <a:srgbClr val="757575"/>
              </a:solidFill>
              <a:latin typeface="Noto Sans SC"/>
              <a:ea typeface="Noto Sans SC"/>
              <a:cs typeface="Noto Sans SC"/>
              <a:sym typeface="Noto Sans SC"/>
            </a:endParaRPr>
          </a:p>
        </p:txBody>
      </p:sp>
      <p:sp>
        <p:nvSpPr>
          <p:cNvPr id="11" name="AutoShape 11"/>
          <p:cNvSpPr/>
          <p:nvPr/>
        </p:nvSpPr>
        <p:spPr>
          <a:xfrm>
            <a:off x="6604000" y="3175000"/>
            <a:ext cx="4572000" cy="762000"/>
          </a:xfrm>
          <a:prstGeom prst="roundRect">
            <a:avLst>
              <a:gd name="adj" fmla="val 8333"/>
            </a:avLst>
          </a:prstGeom>
          <a:solidFill>
            <a:srgbClr val="0288D1">
              <a:alpha val="10000"/>
            </a:srgbClr>
          </a:solidFill>
          <a:ln w="25400" cap="flat" cmpd="sng">
            <a:noFill/>
            <a:prstDash val="solid"/>
            <a:round/>
          </a:ln>
        </p:spPr>
        <p:txBody>
          <a:bodyPr vert="horz" wrap="square" lIns="63500" tIns="63500" rIns="63500" bIns="63500" rtlCol="0" anchor="ctr"/>
          <a:lstStyle/>
          <a:p>
            <a:pPr algn="ctr">
              <a:defRPr/>
            </a:pPr>
          </a:p>
        </p:txBody>
      </p:sp>
      <p:pic>
        <p:nvPicPr>
          <p:cNvPr id="12" name="Picture 12"/>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794500" y="3365500"/>
            <a:ext cx="381000" cy="381000"/>
          </a:xfrm>
          <a:prstGeom prst="rect">
            <a:avLst/>
          </a:prstGeom>
        </p:spPr>
      </p:pic>
      <p:sp>
        <p:nvSpPr>
          <p:cNvPr id="13" name="AutoShape 13"/>
          <p:cNvSpPr/>
          <p:nvPr/>
        </p:nvSpPr>
        <p:spPr>
          <a:xfrm>
            <a:off x="7302500" y="3238500"/>
            <a:ext cx="3683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0288D1"/>
                </a:solidFill>
                <a:latin typeface="Noto Sans SC"/>
                <a:ea typeface="Noto Sans SC"/>
                <a:cs typeface="Noto Sans SC"/>
                <a:sym typeface="Noto Sans SC"/>
              </a:rPr>
              <a:t>2. 生成 (Generation)</a:t>
            </a:r>
            <a:endParaRPr lang="en-US" sz="1100"/>
          </a:p>
          <a:p>
            <a:pPr indent="0" algn="l">
              <a:lnSpc>
                <a:spcPct val="125000"/>
              </a:lnSpc>
            </a:pPr>
            <a:r>
              <a:rPr lang="en-US" sz="1400" b="0" i="0" u="none" strike="noStrike">
                <a:solidFill>
                  <a:srgbClr val="757575"/>
                </a:solidFill>
                <a:latin typeface="Noto Sans SC"/>
                <a:ea typeface="Noto Sans SC"/>
                <a:cs typeface="Noto Sans SC"/>
                <a:sym typeface="Noto Sans SC"/>
              </a:rPr>
              <a:t>将检索信息作为上下文输入大模型生成回答</a:t>
            </a:r>
            <a:endParaRPr lang="en-US" sz="1400" b="0" i="0" u="none" strike="noStrike">
              <a:solidFill>
                <a:srgbClr val="757575"/>
              </a:solidFill>
              <a:latin typeface="Noto Sans SC"/>
              <a:ea typeface="Noto Sans SC"/>
              <a:cs typeface="Noto Sans SC"/>
              <a:sym typeface="Noto Sans SC"/>
            </a:endParaRPr>
          </a:p>
        </p:txBody>
      </p:sp>
      <p:sp>
        <p:nvSpPr>
          <p:cNvPr id="14" name="AutoShape 14"/>
          <p:cNvSpPr/>
          <p:nvPr/>
        </p:nvSpPr>
        <p:spPr>
          <a:xfrm>
            <a:off x="762000" y="4953000"/>
            <a:ext cx="10668000" cy="1143000"/>
          </a:xfrm>
          <a:prstGeom prst="roundRect">
            <a:avLst>
              <a:gd name="adj" fmla="val 11111"/>
            </a:avLst>
          </a:prstGeom>
          <a:solidFill>
            <a:srgbClr val="FFFFFF">
              <a:alpha val="80000"/>
            </a:srgbClr>
          </a:solidFill>
          <a:ln w="12700" cap="flat" cmpd="sng">
            <a:solidFill>
              <a:srgbClr val="0288D1">
                <a:alpha val="100000"/>
              </a:srgbClr>
            </a:solidFill>
            <a:prstDash val="dash"/>
            <a:round/>
          </a:ln>
        </p:spPr>
        <p:txBody>
          <a:bodyPr vert="horz" wrap="square" lIns="63500" tIns="63500" rIns="63500" bIns="63500" rtlCol="0" anchor="ctr"/>
          <a:lstStyle/>
          <a:p>
            <a:pPr algn="ctr">
              <a:defRPr/>
            </a:pPr>
          </a:p>
        </p:txBody>
      </p:sp>
      <p:pic>
        <p:nvPicPr>
          <p:cNvPr id="15" name="Picture 15"/>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016000" y="5270500"/>
            <a:ext cx="508000" cy="508000"/>
          </a:xfrm>
          <a:prstGeom prst="rect">
            <a:avLst/>
          </a:prstGeom>
        </p:spPr>
      </p:pic>
      <p:sp>
        <p:nvSpPr>
          <p:cNvPr id="16" name="AutoShape 16"/>
          <p:cNvSpPr/>
          <p:nvPr/>
        </p:nvSpPr>
        <p:spPr>
          <a:xfrm>
            <a:off x="1651000" y="5080000"/>
            <a:ext cx="9525000" cy="889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0288D1"/>
                </a:solidFill>
                <a:latin typeface="Noto Sans SC"/>
                <a:ea typeface="Noto Sans SC"/>
                <a:cs typeface="Noto Sans SC"/>
                <a:sym typeface="Noto Sans SC"/>
              </a:rPr>
              <a:t>核心价值：</a:t>
            </a:r>
            <a:r>
              <a:rPr lang="en-US" sz="1800" b="0" i="0" u="none" strike="noStrike">
                <a:solidFill>
                  <a:srgbClr val="757575"/>
                </a:solidFill>
                <a:latin typeface="Noto Sans SC"/>
                <a:ea typeface="Noto Sans SC"/>
                <a:cs typeface="Noto Sans SC"/>
                <a:sym typeface="Noto Sans SC"/>
              </a:rPr>
              <a:t>通过“先检索后生成”的模式，有效解决大模型知识更新滞后和产生幻觉的问题，显著提升回答的准确性与可靠性。</a:t>
            </a:r>
            <a:endParaRPr lang="en-US" sz="110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E0F7FA">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635000"/>
            <a:ext cx="10668000" cy="508000"/>
          </a:xfrm>
          <a:prstGeom prst="rect">
            <a:avLst/>
          </a:prstGeom>
          <a:noFill/>
          <a:ln w="12700" cap="flat" cmpd="sng">
            <a:noFill/>
            <a:prstDash val="solid"/>
            <a:round/>
          </a:ln>
        </p:spPr>
        <p:txBody>
          <a:bodyPr vert="horz" wrap="none" lIns="0" tIns="0" rIns="0" bIns="0" rtlCol="0" anchor="ctr" anchorCtr="0"/>
          <a:lstStyle/>
          <a:p>
            <a:pPr indent="0" algn="l">
              <a:lnSpc>
                <a:spcPct val="125000"/>
              </a:lnSpc>
              <a:defRPr/>
            </a:pPr>
            <a:r>
              <a:rPr lang="en-US" sz="3200" b="1" i="0" u="none" strike="noStrike">
                <a:solidFill>
                  <a:srgbClr val="0288D1"/>
                </a:solidFill>
                <a:latin typeface="Noto Sans SC"/>
                <a:ea typeface="Noto Sans SC"/>
                <a:cs typeface="Noto Sans SC"/>
                <a:sym typeface="Noto Sans SC"/>
              </a:rPr>
              <a:t>检索阶段（Retrieval Stage）详解</a:t>
            </a:r>
            <a:endParaRPr lang="en-US" sz="1100"/>
          </a:p>
        </p:txBody>
      </p:sp>
      <p:sp>
        <p:nvSpPr>
          <p:cNvPr id="3" name="AutoShape 3"/>
          <p:cNvSpPr/>
          <p:nvPr/>
        </p:nvSpPr>
        <p:spPr>
          <a:xfrm>
            <a:off x="762000" y="1397000"/>
            <a:ext cx="10668000" cy="1143000"/>
          </a:xfrm>
          <a:prstGeom prst="roundRect">
            <a:avLst>
              <a:gd name="adj" fmla="val 11111"/>
            </a:avLst>
          </a:prstGeom>
          <a:solidFill>
            <a:srgbClr val="FFFFFF">
              <a:alpha val="100000"/>
            </a:srgbClr>
          </a:solidFill>
          <a:ln w="25400" cap="flat" cmpd="sng">
            <a:noFill/>
            <a:prstDash val="solid"/>
            <a:round/>
          </a:ln>
          <a:effectLst>
            <a:outerShdw blurRad="127000" dist="50800" dir="2700000" algn="tl" rotWithShape="0">
              <a:srgbClr val="0288D1">
                <a:alpha val="15000"/>
              </a:srgbClr>
            </a:outerShdw>
          </a:effectLst>
        </p:spPr>
        <p:txBody>
          <a:bodyPr vert="horz" wrap="square" lIns="63500" tIns="63500" rIns="63500" bIns="63500" rtlCol="0" anchor="ctr"/>
          <a:lstStyle/>
          <a:p>
            <a:pPr algn="ctr">
              <a:defRPr/>
            </a:pPr>
          </a:p>
        </p:txBody>
      </p:sp>
      <p:pic>
        <p:nvPicPr>
          <p:cNvPr id="4" name="Picture 4"/>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016000" y="1714500"/>
            <a:ext cx="508000" cy="508000"/>
          </a:xfrm>
          <a:prstGeom prst="rect">
            <a:avLst/>
          </a:prstGeom>
        </p:spPr>
      </p:pic>
      <p:sp>
        <p:nvSpPr>
          <p:cNvPr id="5" name="AutoShape 5"/>
          <p:cNvSpPr/>
          <p:nvPr/>
        </p:nvSpPr>
        <p:spPr>
          <a:xfrm>
            <a:off x="1651000" y="1587500"/>
            <a:ext cx="9525000" cy="762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0288D1"/>
                </a:solidFill>
                <a:latin typeface="Noto Sans SC"/>
                <a:ea typeface="Noto Sans SC"/>
                <a:cs typeface="Noto Sans SC"/>
                <a:sym typeface="Noto Sans SC"/>
              </a:rPr>
              <a:t>核心目标：</a:t>
            </a:r>
            <a:r>
              <a:rPr lang="en-US" sz="1800" b="0" i="0" u="none" strike="noStrike">
                <a:solidFill>
                  <a:srgbClr val="757575"/>
                </a:solidFill>
                <a:latin typeface="Noto Sans SC"/>
                <a:ea typeface="Noto Sans SC"/>
                <a:cs typeface="Noto Sans SC"/>
                <a:sym typeface="Noto Sans SC"/>
              </a:rPr>
              <a:t>从大型知识库中精准检索出与用户输入查询最相关的文档或段落，为后续生成提供高质量素材。</a:t>
            </a:r>
            <a:endParaRPr lang="en-US" sz="1100"/>
          </a:p>
        </p:txBody>
      </p:sp>
      <p:sp>
        <p:nvSpPr>
          <p:cNvPr id="6" name="AutoShape 6"/>
          <p:cNvSpPr/>
          <p:nvPr/>
        </p:nvSpPr>
        <p:spPr>
          <a:xfrm>
            <a:off x="762000" y="2794000"/>
            <a:ext cx="10668000" cy="1143000"/>
          </a:xfrm>
          <a:prstGeom prst="roundRect">
            <a:avLst>
              <a:gd name="adj" fmla="val 11111"/>
            </a:avLst>
          </a:prstGeom>
          <a:solidFill>
            <a:srgbClr val="FFFFFF">
              <a:alpha val="100000"/>
            </a:srgbClr>
          </a:solidFill>
          <a:ln w="25400" cap="flat" cmpd="sng">
            <a:noFill/>
            <a:prstDash val="solid"/>
            <a:round/>
          </a:ln>
          <a:effectLst>
            <a:outerShdw blurRad="127000" dist="50800" dir="2700000" algn="tl" rotWithShape="0">
              <a:srgbClr val="0288D1">
                <a:alpha val="15000"/>
              </a:srgbClr>
            </a:outerShdw>
          </a:effectLst>
        </p:spPr>
        <p:txBody>
          <a:bodyPr vert="horz" wrap="square" lIns="63500" tIns="63500" rIns="63500" bIns="63500" rtlCol="0" anchor="ctr"/>
          <a:lstStyle/>
          <a:p>
            <a:pPr algn="ctr">
              <a:defRPr/>
            </a:pPr>
          </a:p>
        </p:txBody>
      </p:sp>
      <p:pic>
        <p:nvPicPr>
          <p:cNvPr id="7" name="Picture 7"/>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16000" y="3111500"/>
            <a:ext cx="508000" cy="508000"/>
          </a:xfrm>
          <a:prstGeom prst="rect">
            <a:avLst/>
          </a:prstGeom>
        </p:spPr>
      </p:pic>
      <p:sp>
        <p:nvSpPr>
          <p:cNvPr id="8" name="AutoShape 8"/>
          <p:cNvSpPr/>
          <p:nvPr/>
        </p:nvSpPr>
        <p:spPr>
          <a:xfrm>
            <a:off x="1651000" y="2921000"/>
            <a:ext cx="9525000" cy="889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0288D1"/>
                </a:solidFill>
                <a:latin typeface="Noto Sans SC"/>
                <a:ea typeface="Noto Sans SC"/>
                <a:cs typeface="Noto Sans SC"/>
                <a:sym typeface="Noto Sans SC"/>
              </a:rPr>
              <a:t>关键词检索 (Keyword Retrieval)</a:t>
            </a:r>
            <a:endParaRPr lang="en-US" sz="1100"/>
          </a:p>
          <a:p>
            <a:pPr indent="0" algn="l">
              <a:lnSpc>
                <a:spcPct val="125000"/>
              </a:lnSpc>
            </a:pPr>
            <a:r>
              <a:rPr lang="en-US" sz="1800" b="0" i="0" u="none" strike="noStrike">
                <a:solidFill>
                  <a:srgbClr val="757575"/>
                </a:solidFill>
                <a:latin typeface="Noto Sans SC"/>
                <a:ea typeface="Noto Sans SC"/>
                <a:cs typeface="Noto Sans SC"/>
                <a:sym typeface="Noto Sans SC"/>
              </a:rPr>
              <a:t>基于词汇匹配度，如TF-IDF、BM25等传统方法，快速筛选包含特定词汇的文档。</a:t>
            </a:r>
            <a:endParaRPr lang="en-US" sz="1800" b="0" i="0" u="none" strike="noStrike">
              <a:solidFill>
                <a:srgbClr val="757575"/>
              </a:solidFill>
              <a:latin typeface="Noto Sans SC"/>
              <a:ea typeface="Noto Sans SC"/>
              <a:cs typeface="Noto Sans SC"/>
              <a:sym typeface="Noto Sans SC"/>
            </a:endParaRPr>
          </a:p>
        </p:txBody>
      </p:sp>
      <p:sp>
        <p:nvSpPr>
          <p:cNvPr id="9" name="AutoShape 9"/>
          <p:cNvSpPr/>
          <p:nvPr/>
        </p:nvSpPr>
        <p:spPr>
          <a:xfrm>
            <a:off x="762000" y="4064000"/>
            <a:ext cx="10668000" cy="1143000"/>
          </a:xfrm>
          <a:prstGeom prst="roundRect">
            <a:avLst>
              <a:gd name="adj" fmla="val 11111"/>
            </a:avLst>
          </a:prstGeom>
          <a:solidFill>
            <a:srgbClr val="FFFFFF">
              <a:alpha val="100000"/>
            </a:srgbClr>
          </a:solidFill>
          <a:ln w="25400" cap="flat" cmpd="sng">
            <a:noFill/>
            <a:prstDash val="solid"/>
            <a:round/>
          </a:ln>
          <a:effectLst>
            <a:outerShdw blurRad="127000" dist="50800" dir="2700000" algn="tl" rotWithShape="0">
              <a:srgbClr val="0288D1">
                <a:alpha val="15000"/>
              </a:srgbClr>
            </a:outerShdw>
          </a:effectLst>
        </p:spPr>
        <p:txBody>
          <a:bodyPr vert="horz" wrap="square" lIns="63500" tIns="63500" rIns="63500" bIns="63500" rtlCol="0" anchor="ctr"/>
          <a:lstStyle/>
          <a:p>
            <a:pPr algn="ctr">
              <a:defRPr/>
            </a:pPr>
          </a:p>
        </p:txBody>
      </p:sp>
      <p:pic>
        <p:nvPicPr>
          <p:cNvPr id="10" name="Picture 10"/>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016000" y="4381500"/>
            <a:ext cx="508000" cy="508000"/>
          </a:xfrm>
          <a:prstGeom prst="rect">
            <a:avLst/>
          </a:prstGeom>
        </p:spPr>
      </p:pic>
      <p:sp>
        <p:nvSpPr>
          <p:cNvPr id="11" name="AutoShape 11"/>
          <p:cNvSpPr/>
          <p:nvPr/>
        </p:nvSpPr>
        <p:spPr>
          <a:xfrm>
            <a:off x="1651000" y="4191000"/>
            <a:ext cx="9525000" cy="889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0288D1"/>
                </a:solidFill>
                <a:latin typeface="Noto Sans SC"/>
                <a:ea typeface="Noto Sans SC"/>
                <a:cs typeface="Noto Sans SC"/>
                <a:sym typeface="Noto Sans SC"/>
              </a:rPr>
              <a:t>稠密向量检索 (Dense Vector Retrieval)</a:t>
            </a:r>
            <a:endParaRPr lang="en-US" sz="1100"/>
          </a:p>
          <a:p>
            <a:pPr indent="0" algn="l">
              <a:lnSpc>
                <a:spcPct val="125000"/>
              </a:lnSpc>
            </a:pPr>
            <a:r>
              <a:rPr lang="en-US" sz="1800" b="0" i="0" u="none" strike="noStrike">
                <a:solidFill>
                  <a:srgbClr val="757575"/>
                </a:solidFill>
                <a:latin typeface="Noto Sans SC"/>
                <a:ea typeface="Noto Sans SC"/>
                <a:cs typeface="Noto Sans SC"/>
                <a:sym typeface="Noto Sans SC"/>
              </a:rPr>
              <a:t>利用BERT等模型将文本转化为稠密向量，通过计算向量间的语义相似度来检索相关内容。</a:t>
            </a:r>
            <a:endParaRPr lang="en-US" sz="1800" b="0" i="0" u="none" strike="noStrike">
              <a:solidFill>
                <a:srgbClr val="757575"/>
              </a:solidFill>
              <a:latin typeface="Noto Sans SC"/>
              <a:ea typeface="Noto Sans SC"/>
              <a:cs typeface="Noto Sans SC"/>
              <a:sym typeface="Noto Sans SC"/>
            </a:endParaRPr>
          </a:p>
        </p:txBody>
      </p:sp>
      <p:sp>
        <p:nvSpPr>
          <p:cNvPr id="12" name="AutoShape 12"/>
          <p:cNvSpPr/>
          <p:nvPr/>
        </p:nvSpPr>
        <p:spPr>
          <a:xfrm>
            <a:off x="762000" y="5334000"/>
            <a:ext cx="10668000" cy="1143000"/>
          </a:xfrm>
          <a:prstGeom prst="roundRect">
            <a:avLst>
              <a:gd name="adj" fmla="val 11111"/>
            </a:avLst>
          </a:prstGeom>
          <a:solidFill>
            <a:srgbClr val="FFFFFF">
              <a:alpha val="100000"/>
            </a:srgbClr>
          </a:solidFill>
          <a:ln w="25400" cap="flat" cmpd="sng">
            <a:noFill/>
            <a:prstDash val="solid"/>
            <a:round/>
          </a:ln>
          <a:effectLst>
            <a:outerShdw blurRad="127000" dist="50800" dir="2700000" algn="tl" rotWithShape="0">
              <a:srgbClr val="0288D1">
                <a:alpha val="15000"/>
              </a:srgbClr>
            </a:outerShdw>
          </a:effectLst>
        </p:spPr>
        <p:txBody>
          <a:bodyPr vert="horz" wrap="square" lIns="63500" tIns="63500" rIns="63500" bIns="63500" rtlCol="0" anchor="ctr"/>
          <a:lstStyle/>
          <a:p>
            <a:pPr algn="ctr">
              <a:defRPr/>
            </a:pPr>
          </a:p>
        </p:txBody>
      </p:sp>
      <p:pic>
        <p:nvPicPr>
          <p:cNvPr id="13" name="Picture 13"/>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1016000" y="5651500"/>
            <a:ext cx="508000" cy="508000"/>
          </a:xfrm>
          <a:prstGeom prst="rect">
            <a:avLst/>
          </a:prstGeom>
        </p:spPr>
      </p:pic>
      <p:sp>
        <p:nvSpPr>
          <p:cNvPr id="14" name="AutoShape 14"/>
          <p:cNvSpPr/>
          <p:nvPr/>
        </p:nvSpPr>
        <p:spPr>
          <a:xfrm>
            <a:off x="1651000" y="5461000"/>
            <a:ext cx="9525000" cy="889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0288D1"/>
                </a:solidFill>
                <a:latin typeface="Noto Sans SC"/>
                <a:ea typeface="Noto Sans SC"/>
                <a:cs typeface="Noto Sans SC"/>
                <a:sym typeface="Noto Sans SC"/>
              </a:rPr>
              <a:t>混合检索策略 (Hybrid Retrieval)</a:t>
            </a:r>
            <a:endParaRPr lang="en-US" sz="1100"/>
          </a:p>
          <a:p>
            <a:pPr indent="0" algn="l">
              <a:lnSpc>
                <a:spcPct val="125000"/>
              </a:lnSpc>
            </a:pPr>
            <a:r>
              <a:rPr lang="en-US" sz="1800" b="0" i="0" u="none" strike="noStrike">
                <a:solidFill>
                  <a:srgbClr val="757575"/>
                </a:solidFill>
                <a:latin typeface="Noto Sans SC"/>
                <a:ea typeface="Noto Sans SC"/>
                <a:cs typeface="Noto Sans SC"/>
                <a:sym typeface="Noto Sans SC"/>
              </a:rPr>
              <a:t>结合关键词检索的高效与稠密向量检索的精准，通过融合结果显著提升检索的精度和召回率。</a:t>
            </a:r>
            <a:endParaRPr lang="en-US" sz="1800" b="0" i="0" u="none" strike="noStrike">
              <a:solidFill>
                <a:srgbClr val="757575"/>
              </a:solidFill>
              <a:latin typeface="Noto Sans SC"/>
              <a:ea typeface="Noto Sans SC"/>
              <a:cs typeface="Noto Sans SC"/>
              <a:sym typeface="Noto Sans SC"/>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E0F7FA">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635000"/>
            <a:ext cx="10668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0288D1"/>
                </a:solidFill>
                <a:latin typeface="Noto Sans SC"/>
                <a:ea typeface="Noto Sans SC"/>
                <a:cs typeface="Noto Sans SC"/>
                <a:sym typeface="Noto Sans SC"/>
              </a:rPr>
              <a:t>生成阶段（Generation Stage）详解</a:t>
            </a:r>
            <a:endParaRPr lang="en-US" sz="1100"/>
          </a:p>
        </p:txBody>
      </p:sp>
      <p:sp>
        <p:nvSpPr>
          <p:cNvPr id="3" name="AutoShape 3"/>
          <p:cNvSpPr/>
          <p:nvPr/>
        </p:nvSpPr>
        <p:spPr>
          <a:xfrm>
            <a:off x="762000" y="1524000"/>
            <a:ext cx="5080000" cy="2794000"/>
          </a:xfrm>
          <a:prstGeom prst="roundRect">
            <a:avLst>
              <a:gd name="adj" fmla="val 4545"/>
            </a:avLst>
          </a:prstGeom>
          <a:solidFill>
            <a:srgbClr val="FFFFFF">
              <a:alpha val="100000"/>
            </a:srgbClr>
          </a:solidFill>
          <a:ln w="25400" cap="flat" cmpd="sng">
            <a:noFill/>
            <a:prstDash val="solid"/>
            <a:round/>
          </a:ln>
          <a:effectLst>
            <a:outerShdw blurRad="127000" dist="50800" dir="5400000" algn="tl" rotWithShape="0">
              <a:srgbClr val="0288D1">
                <a:alpha val="15000"/>
              </a:srgbClr>
            </a:outerShdw>
          </a:effectLst>
        </p:spPr>
        <p:txBody>
          <a:bodyPr vert="horz" wrap="square" lIns="63500" tIns="63500" rIns="63500" bIns="63500" rtlCol="0" anchor="ctr"/>
          <a:lstStyle/>
          <a:p>
            <a:pPr algn="ctr">
              <a:defRPr/>
            </a:pPr>
          </a:p>
        </p:txBody>
      </p:sp>
      <p:pic>
        <p:nvPicPr>
          <p:cNvPr id="4" name="Picture 4"/>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016000" y="1778000"/>
            <a:ext cx="406400" cy="406400"/>
          </a:xfrm>
          <a:prstGeom prst="rect">
            <a:avLst/>
          </a:prstGeom>
        </p:spPr>
      </p:pic>
      <p:sp>
        <p:nvSpPr>
          <p:cNvPr id="5" name="AutoShape 5"/>
          <p:cNvSpPr/>
          <p:nvPr/>
        </p:nvSpPr>
        <p:spPr>
          <a:xfrm>
            <a:off x="1524000" y="1727200"/>
            <a:ext cx="4064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0288D1"/>
                </a:solidFill>
                <a:latin typeface="Noto Sans SC"/>
                <a:ea typeface="Noto Sans SC"/>
                <a:cs typeface="Noto Sans SC"/>
                <a:sym typeface="Noto Sans SC"/>
              </a:rPr>
              <a:t>核心过程</a:t>
            </a:r>
            <a:endParaRPr lang="en-US" sz="1100"/>
          </a:p>
        </p:txBody>
      </p:sp>
      <p:sp>
        <p:nvSpPr>
          <p:cNvPr id="6" name="AutoShape 6"/>
          <p:cNvSpPr/>
          <p:nvPr/>
        </p:nvSpPr>
        <p:spPr>
          <a:xfrm>
            <a:off x="1016000" y="2286000"/>
            <a:ext cx="4572000" cy="1778000"/>
          </a:xfrm>
          <a:prstGeom prst="rect">
            <a:avLst/>
          </a:prstGeom>
          <a:noFill/>
          <a:ln w="12700" cap="flat" cmpd="sng">
            <a:noFill/>
            <a:prstDash val="solid"/>
            <a:round/>
          </a:ln>
        </p:spPr>
        <p:txBody>
          <a:bodyPr vert="horz" wrap="square" lIns="0" tIns="0" rIns="0" bIns="0" rtlCol="0" anchor="ctr" anchorCtr="0"/>
          <a:lstStyle/>
          <a:p>
            <a:pPr indent="0" algn="l">
              <a:lnSpc>
                <a:spcPct val="117000"/>
              </a:lnSpc>
              <a:defRPr/>
            </a:pPr>
            <a:r>
              <a:rPr lang="en-US" sz="1800" b="0" i="0" u="none" strike="noStrike">
                <a:solidFill>
                  <a:srgbClr val="757575"/>
                </a:solidFill>
                <a:latin typeface="Noto Sans SC"/>
                <a:ea typeface="Noto Sans SC"/>
                <a:cs typeface="Noto Sans SC"/>
                <a:sym typeface="Noto Sans SC"/>
              </a:rPr>
              <a:t>模型将检索阶段获取的相关信息片段作为上下文（Context），与用户的原始查询（Query）一起输入到生成模型中。</a:t>
            </a:r>
            <a:endParaRPr lang="en-US" sz="1100"/>
          </a:p>
        </p:txBody>
      </p:sp>
      <p:sp>
        <p:nvSpPr>
          <p:cNvPr id="7" name="AutoShape 7"/>
          <p:cNvSpPr/>
          <p:nvPr/>
        </p:nvSpPr>
        <p:spPr>
          <a:xfrm>
            <a:off x="6350000" y="1524000"/>
            <a:ext cx="5080000" cy="2794000"/>
          </a:xfrm>
          <a:prstGeom prst="roundRect">
            <a:avLst>
              <a:gd name="adj" fmla="val 4545"/>
            </a:avLst>
          </a:prstGeom>
          <a:solidFill>
            <a:srgbClr val="FFFFFF">
              <a:alpha val="100000"/>
            </a:srgbClr>
          </a:solidFill>
          <a:ln w="25400" cap="flat" cmpd="sng">
            <a:noFill/>
            <a:prstDash val="solid"/>
            <a:round/>
          </a:ln>
          <a:effectLst>
            <a:outerShdw blurRad="127000" dist="50800" dir="5400000" algn="tl" rotWithShape="0">
              <a:srgbClr val="0288D1">
                <a:alpha val="15000"/>
              </a:srgbClr>
            </a:outerShdw>
          </a:effectLst>
        </p:spPr>
        <p:txBody>
          <a:bodyPr vert="horz" wrap="square" lIns="63500" tIns="63500" rIns="63500" bIns="63500" rtlCol="0" anchor="ctr"/>
          <a:lstStyle/>
          <a:p>
            <a:pPr algn="ctr">
              <a:defRPr/>
            </a:pPr>
          </a:p>
        </p:txBody>
      </p:sp>
      <p:pic>
        <p:nvPicPr>
          <p:cNvPr id="8" name="Picture 8"/>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604000" y="1778000"/>
            <a:ext cx="406400" cy="406400"/>
          </a:xfrm>
          <a:prstGeom prst="rect">
            <a:avLst/>
          </a:prstGeom>
        </p:spPr>
      </p:pic>
      <p:sp>
        <p:nvSpPr>
          <p:cNvPr id="9" name="AutoShape 9"/>
          <p:cNvSpPr/>
          <p:nvPr/>
        </p:nvSpPr>
        <p:spPr>
          <a:xfrm>
            <a:off x="7112000" y="1727200"/>
            <a:ext cx="4064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0288D1"/>
                </a:solidFill>
                <a:latin typeface="Noto Sans SC"/>
                <a:ea typeface="Noto Sans SC"/>
                <a:cs typeface="Noto Sans SC"/>
                <a:sym typeface="Noto Sans SC"/>
              </a:rPr>
              <a:t>依赖模型</a:t>
            </a:r>
            <a:endParaRPr lang="en-US" sz="1100"/>
          </a:p>
        </p:txBody>
      </p:sp>
      <p:sp>
        <p:nvSpPr>
          <p:cNvPr id="10" name="AutoShape 10"/>
          <p:cNvSpPr/>
          <p:nvPr/>
        </p:nvSpPr>
        <p:spPr>
          <a:xfrm>
            <a:off x="6604000" y="2286000"/>
            <a:ext cx="4572000" cy="1778000"/>
          </a:xfrm>
          <a:prstGeom prst="rect">
            <a:avLst/>
          </a:prstGeom>
          <a:noFill/>
          <a:ln w="12700" cap="flat" cmpd="sng">
            <a:noFill/>
            <a:prstDash val="solid"/>
            <a:round/>
          </a:ln>
        </p:spPr>
        <p:txBody>
          <a:bodyPr vert="horz" wrap="square" lIns="0" tIns="0" rIns="0" bIns="0" rtlCol="0" anchor="ctr" anchorCtr="0"/>
          <a:lstStyle/>
          <a:p>
            <a:pPr indent="0" algn="l">
              <a:lnSpc>
                <a:spcPct val="117000"/>
              </a:lnSpc>
              <a:defRPr/>
            </a:pPr>
            <a:r>
              <a:rPr lang="en-US" sz="1800" b="0" i="0" u="none" strike="noStrike">
                <a:solidFill>
                  <a:srgbClr val="757575"/>
                </a:solidFill>
                <a:latin typeface="Noto Sans SC"/>
                <a:ea typeface="Noto Sans SC"/>
                <a:cs typeface="Noto Sans SC"/>
                <a:sym typeface="Noto Sans SC"/>
              </a:rPr>
              <a:t>通常依赖于预训练的大型语言模型（LLM），例如GPT系列、国产的GLM系列等。这些模型具备强大的自然语言理解和生成能力，能够基于提供的上下文，生成流畅、准确且与问题高度相关的自然语言回答。</a:t>
            </a:r>
            <a:endParaRPr lang="en-US" sz="1100"/>
          </a:p>
        </p:txBody>
      </p:sp>
      <p:sp>
        <p:nvSpPr>
          <p:cNvPr id="11" name="AutoShape 11"/>
          <p:cNvSpPr/>
          <p:nvPr/>
        </p:nvSpPr>
        <p:spPr>
          <a:xfrm>
            <a:off x="762000" y="4699000"/>
            <a:ext cx="10668000" cy="1270000"/>
          </a:xfrm>
          <a:prstGeom prst="roundRect">
            <a:avLst>
              <a:gd name="adj" fmla="val 10000"/>
            </a:avLst>
          </a:prstGeom>
          <a:solidFill>
            <a:srgbClr val="0288D1">
              <a:alpha val="10000"/>
            </a:srgbClr>
          </a:solidFill>
          <a:ln w="12700" cap="flat" cmpd="sng">
            <a:solidFill>
              <a:srgbClr val="0288D1">
                <a:alpha val="30000"/>
              </a:srgbClr>
            </a:solidFill>
            <a:prstDash val="solid"/>
            <a:round/>
          </a:ln>
        </p:spPr>
        <p:txBody>
          <a:bodyPr vert="horz" wrap="square" lIns="63500" tIns="63500" rIns="63500" bIns="63500" rtlCol="0" anchor="ctr"/>
          <a:lstStyle/>
          <a:p>
            <a:pPr algn="ctr">
              <a:defRPr/>
            </a:pPr>
          </a:p>
        </p:txBody>
      </p:sp>
      <p:pic>
        <p:nvPicPr>
          <p:cNvPr id="12" name="Picture 12"/>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016000" y="5016500"/>
            <a:ext cx="406400" cy="406400"/>
          </a:xfrm>
          <a:prstGeom prst="rect">
            <a:avLst/>
          </a:prstGeom>
        </p:spPr>
      </p:pic>
      <p:sp>
        <p:nvSpPr>
          <p:cNvPr id="13" name="AutoShape 13"/>
          <p:cNvSpPr/>
          <p:nvPr/>
        </p:nvSpPr>
        <p:spPr>
          <a:xfrm>
            <a:off x="1524000" y="4889500"/>
            <a:ext cx="9652000" cy="8890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800" b="1" i="0" u="none" strike="noStrike">
                <a:solidFill>
                  <a:srgbClr val="0288D1"/>
                </a:solidFill>
                <a:latin typeface="Noto Sans SC"/>
                <a:ea typeface="Noto Sans SC"/>
                <a:cs typeface="Noto Sans SC"/>
                <a:sym typeface="Noto Sans SC"/>
              </a:rPr>
              <a:t>核心价值：</a:t>
            </a:r>
            <a:r>
              <a:rPr lang="en-US" sz="1800" b="0" i="0" u="none" strike="noStrike">
                <a:solidFill>
                  <a:srgbClr val="757575"/>
                </a:solidFill>
                <a:latin typeface="Noto Sans SC"/>
                <a:ea typeface="Noto Sans SC"/>
                <a:cs typeface="Noto Sans SC"/>
                <a:sym typeface="Noto Sans SC"/>
              </a:rPr>
              <a:t>将检索到的“参考资料”转化为符合人类语言习惯的高质量答案，实现知识的精准输出与价值转化。</a:t>
            </a:r>
            <a:endParaRPr lang="en-US" sz="110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E0F7FA">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635000"/>
            <a:ext cx="10668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0288D1"/>
                </a:solidFill>
                <a:latin typeface="Noto Sans SC"/>
                <a:ea typeface="Noto Sans SC"/>
                <a:cs typeface="Noto Sans SC"/>
                <a:sym typeface="Noto Sans SC"/>
              </a:rPr>
              <a:t>应用场景与局限性</a:t>
            </a:r>
            <a:endParaRPr lang="en-US" sz="1100"/>
          </a:p>
        </p:txBody>
      </p:sp>
      <p:sp>
        <p:nvSpPr>
          <p:cNvPr id="3" name="AutoShape 3"/>
          <p:cNvSpPr/>
          <p:nvPr/>
        </p:nvSpPr>
        <p:spPr>
          <a:xfrm>
            <a:off x="762000" y="1397000"/>
            <a:ext cx="5080000" cy="4191000"/>
          </a:xfrm>
          <a:prstGeom prst="roundRect">
            <a:avLst>
              <a:gd name="adj" fmla="val 3030"/>
            </a:avLst>
          </a:prstGeom>
          <a:solidFill>
            <a:srgbClr val="FFFFFF">
              <a:alpha val="100000"/>
            </a:srgbClr>
          </a:solidFill>
          <a:ln w="25400" cap="flat" cmpd="sng">
            <a:noFill/>
            <a:prstDash val="solid"/>
            <a:round/>
          </a:ln>
          <a:effectLst>
            <a:outerShdw blurRad="127000" dist="50800" dir="5400000" algn="tl" rotWithShape="0">
              <a:srgbClr val="0288D1">
                <a:alpha val="15000"/>
              </a:srgbClr>
            </a:outerShdw>
          </a:effectLst>
        </p:spPr>
        <p:txBody>
          <a:bodyPr vert="horz" wrap="square" lIns="63500" tIns="63500" rIns="63500" bIns="63500" rtlCol="0" anchor="ctr"/>
          <a:lstStyle/>
          <a:p>
            <a:pPr algn="ctr">
              <a:defRPr/>
            </a:pPr>
          </a:p>
        </p:txBody>
      </p:sp>
      <p:sp>
        <p:nvSpPr>
          <p:cNvPr id="4" name="AutoShape 4"/>
          <p:cNvSpPr/>
          <p:nvPr/>
        </p:nvSpPr>
        <p:spPr>
          <a:xfrm>
            <a:off x="1016000" y="1651000"/>
            <a:ext cx="4572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200" b="1" i="0" u="none" strike="noStrike">
                <a:solidFill>
                  <a:srgbClr val="0288D1"/>
                </a:solidFill>
                <a:latin typeface="Noto Sans SC"/>
                <a:ea typeface="Noto Sans SC"/>
                <a:cs typeface="Noto Sans SC"/>
                <a:sym typeface="Noto Sans SC"/>
              </a:rPr>
              <a:t>应用场景</a:t>
            </a:r>
            <a:endParaRPr lang="en-US" sz="1100"/>
          </a:p>
        </p:txBody>
      </p:sp>
      <p:cxnSp>
        <p:nvCxnSpPr>
          <p:cNvPr id="5" name="Connector 5"/>
          <p:cNvCxnSpPr/>
          <p:nvPr/>
        </p:nvCxnSpPr>
        <p:spPr>
          <a:xfrm rot="-9549">
            <a:off x="1016009" y="2089150"/>
            <a:ext cx="4572000" cy="12700"/>
          </a:xfrm>
          <a:prstGeom prst="straightConnector1">
            <a:avLst/>
          </a:prstGeom>
          <a:solidFill>
            <a:srgbClr val="DEE0E3">
              <a:alpha val="100000"/>
            </a:srgbClr>
          </a:solidFill>
          <a:ln w="25400" cap="flat" cmpd="sng">
            <a:solidFill>
              <a:srgbClr val="E0F7FA">
                <a:alpha val="100000"/>
              </a:srgbClr>
            </a:solidFill>
            <a:prstDash val="solid"/>
            <a:round/>
            <a:headEnd type="none" w="lg" len="lg"/>
            <a:tailEnd type="none" w="lg" len="lg"/>
          </a:ln>
        </p:spPr>
      </p:cxnSp>
      <p:pic>
        <p:nvPicPr>
          <p:cNvPr id="6" name="Picture 6"/>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016000" y="2286000"/>
            <a:ext cx="355600" cy="355600"/>
          </a:xfrm>
          <a:prstGeom prst="rect">
            <a:avLst/>
          </a:prstGeom>
        </p:spPr>
      </p:pic>
      <p:sp>
        <p:nvSpPr>
          <p:cNvPr id="7" name="AutoShape 7"/>
          <p:cNvSpPr/>
          <p:nvPr/>
        </p:nvSpPr>
        <p:spPr>
          <a:xfrm>
            <a:off x="1460500" y="2235200"/>
            <a:ext cx="41275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212121"/>
                </a:solidFill>
                <a:latin typeface="Noto Sans SC"/>
                <a:ea typeface="Noto Sans SC"/>
                <a:cs typeface="Noto Sans SC"/>
                <a:sym typeface="Noto Sans SC"/>
              </a:rPr>
              <a:t>开放域问答</a:t>
            </a:r>
            <a:endParaRPr lang="en-US" sz="1100"/>
          </a:p>
          <a:p>
            <a:pPr indent="0" algn="l">
              <a:lnSpc>
                <a:spcPct val="125000"/>
              </a:lnSpc>
            </a:pPr>
            <a:r>
              <a:rPr lang="en-US" sz="1600" b="0" i="0" u="none" strike="noStrike">
                <a:solidFill>
                  <a:srgbClr val="757575"/>
                </a:solidFill>
                <a:latin typeface="Noto Sans SC"/>
                <a:ea typeface="Noto Sans SC"/>
                <a:cs typeface="Noto Sans SC"/>
                <a:sym typeface="Noto Sans SC"/>
              </a:rPr>
              <a:t>回答各类知识性问题，提供即时信息。</a:t>
            </a:r>
            <a:endParaRPr lang="en-US" sz="1600" b="0" i="0" u="none" strike="noStrike">
              <a:solidFill>
                <a:srgbClr val="757575"/>
              </a:solidFill>
              <a:latin typeface="Noto Sans SC"/>
              <a:ea typeface="Noto Sans SC"/>
              <a:cs typeface="Noto Sans SC"/>
              <a:sym typeface="Noto Sans SC"/>
            </a:endParaRPr>
          </a:p>
        </p:txBody>
      </p:sp>
      <p:pic>
        <p:nvPicPr>
          <p:cNvPr id="8" name="Picture 8"/>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16000" y="3048000"/>
            <a:ext cx="355600" cy="355600"/>
          </a:xfrm>
          <a:prstGeom prst="rect">
            <a:avLst/>
          </a:prstGeom>
        </p:spPr>
      </p:pic>
      <p:sp>
        <p:nvSpPr>
          <p:cNvPr id="9" name="AutoShape 9"/>
          <p:cNvSpPr/>
          <p:nvPr/>
        </p:nvSpPr>
        <p:spPr>
          <a:xfrm>
            <a:off x="1460500" y="2997200"/>
            <a:ext cx="41275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212121"/>
                </a:solidFill>
                <a:latin typeface="Noto Sans SC"/>
                <a:ea typeface="Noto Sans SC"/>
                <a:cs typeface="Noto Sans SC"/>
                <a:sym typeface="Noto Sans SC"/>
              </a:rPr>
              <a:t>对话系统</a:t>
            </a:r>
            <a:endParaRPr lang="en-US" sz="1100"/>
          </a:p>
          <a:p>
            <a:pPr indent="0" algn="l">
              <a:lnSpc>
                <a:spcPct val="125000"/>
              </a:lnSpc>
            </a:pPr>
            <a:r>
              <a:rPr lang="en-US" sz="1600" b="0" i="0" u="none" strike="noStrike">
                <a:solidFill>
                  <a:srgbClr val="757575"/>
                </a:solidFill>
                <a:latin typeface="Noto Sans SC"/>
                <a:ea typeface="Noto Sans SC"/>
                <a:cs typeface="Noto Sans SC"/>
                <a:sym typeface="Noto Sans SC"/>
              </a:rPr>
              <a:t>构建更智能的聊天机器人，增强交互体验。</a:t>
            </a:r>
            <a:endParaRPr lang="en-US" sz="1600" b="0" i="0" u="none" strike="noStrike">
              <a:solidFill>
                <a:srgbClr val="757575"/>
              </a:solidFill>
              <a:latin typeface="Noto Sans SC"/>
              <a:ea typeface="Noto Sans SC"/>
              <a:cs typeface="Noto Sans SC"/>
              <a:sym typeface="Noto Sans SC"/>
            </a:endParaRPr>
          </a:p>
        </p:txBody>
      </p:sp>
      <p:pic>
        <p:nvPicPr>
          <p:cNvPr id="10" name="Picture 10"/>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016000" y="3810000"/>
            <a:ext cx="355600" cy="355600"/>
          </a:xfrm>
          <a:prstGeom prst="rect">
            <a:avLst/>
          </a:prstGeom>
        </p:spPr>
      </p:pic>
      <p:sp>
        <p:nvSpPr>
          <p:cNvPr id="11" name="AutoShape 11"/>
          <p:cNvSpPr/>
          <p:nvPr/>
        </p:nvSpPr>
        <p:spPr>
          <a:xfrm>
            <a:off x="1460500" y="3759200"/>
            <a:ext cx="41275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212121"/>
                </a:solidFill>
                <a:latin typeface="Noto Sans SC"/>
                <a:ea typeface="Noto Sans SC"/>
                <a:cs typeface="Noto Sans SC"/>
                <a:sym typeface="Noto Sans SC"/>
              </a:rPr>
              <a:t>内容生成系统</a:t>
            </a:r>
            <a:endParaRPr lang="en-US" sz="1100"/>
          </a:p>
          <a:p>
            <a:pPr indent="0" algn="l">
              <a:lnSpc>
                <a:spcPct val="125000"/>
              </a:lnSpc>
            </a:pPr>
            <a:r>
              <a:rPr lang="en-US" sz="1600" b="0" i="0" u="none" strike="noStrike">
                <a:solidFill>
                  <a:srgbClr val="757575"/>
                </a:solidFill>
                <a:latin typeface="Noto Sans SC"/>
                <a:ea typeface="Noto Sans SC"/>
                <a:cs typeface="Noto Sans SC"/>
                <a:sym typeface="Noto Sans SC"/>
              </a:rPr>
              <a:t>辅助撰写报告、文章等，提升创作效率。</a:t>
            </a:r>
            <a:endParaRPr lang="en-US" sz="1600" b="0" i="0" u="none" strike="noStrike">
              <a:solidFill>
                <a:srgbClr val="757575"/>
              </a:solidFill>
              <a:latin typeface="Noto Sans SC"/>
              <a:ea typeface="Noto Sans SC"/>
              <a:cs typeface="Noto Sans SC"/>
              <a:sym typeface="Noto Sans SC"/>
            </a:endParaRPr>
          </a:p>
        </p:txBody>
      </p:sp>
      <p:sp>
        <p:nvSpPr>
          <p:cNvPr id="12" name="AutoShape 12"/>
          <p:cNvSpPr/>
          <p:nvPr/>
        </p:nvSpPr>
        <p:spPr>
          <a:xfrm>
            <a:off x="6350000" y="1397000"/>
            <a:ext cx="5080000" cy="4191000"/>
          </a:xfrm>
          <a:prstGeom prst="roundRect">
            <a:avLst>
              <a:gd name="adj" fmla="val 3030"/>
            </a:avLst>
          </a:prstGeom>
          <a:solidFill>
            <a:srgbClr val="FFFFFF">
              <a:alpha val="100000"/>
            </a:srgbClr>
          </a:solidFill>
          <a:ln w="25400" cap="flat" cmpd="sng">
            <a:noFill/>
            <a:prstDash val="solid"/>
            <a:round/>
          </a:ln>
          <a:effectLst>
            <a:outerShdw blurRad="127000" dist="50800" dir="5400000" algn="tl" rotWithShape="0">
              <a:srgbClr val="0288D1">
                <a:alpha val="15000"/>
              </a:srgbClr>
            </a:outerShdw>
          </a:effectLst>
        </p:spPr>
        <p:txBody>
          <a:bodyPr vert="horz" wrap="square" lIns="63500" tIns="63500" rIns="63500" bIns="63500" rtlCol="0" anchor="ctr"/>
          <a:lstStyle/>
          <a:p>
            <a:pPr algn="ctr">
              <a:defRPr/>
            </a:pPr>
          </a:p>
        </p:txBody>
      </p:sp>
      <p:sp>
        <p:nvSpPr>
          <p:cNvPr id="13" name="AutoShape 13"/>
          <p:cNvSpPr/>
          <p:nvPr/>
        </p:nvSpPr>
        <p:spPr>
          <a:xfrm>
            <a:off x="6604000" y="1651000"/>
            <a:ext cx="4572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200" b="1" i="0" u="none" strike="noStrike">
                <a:solidFill>
                  <a:srgbClr val="0288D1"/>
                </a:solidFill>
                <a:latin typeface="Noto Sans SC"/>
                <a:ea typeface="Noto Sans SC"/>
                <a:cs typeface="Noto Sans SC"/>
                <a:sym typeface="Noto Sans SC"/>
              </a:rPr>
              <a:t>局限性</a:t>
            </a:r>
            <a:endParaRPr lang="en-US" sz="1100"/>
          </a:p>
        </p:txBody>
      </p:sp>
      <p:cxnSp>
        <p:nvCxnSpPr>
          <p:cNvPr id="14" name="Connector 14"/>
          <p:cNvCxnSpPr/>
          <p:nvPr/>
        </p:nvCxnSpPr>
        <p:spPr>
          <a:xfrm rot="-9549">
            <a:off x="6604009" y="2089150"/>
            <a:ext cx="4572000" cy="12700"/>
          </a:xfrm>
          <a:prstGeom prst="straightConnector1">
            <a:avLst/>
          </a:prstGeom>
          <a:solidFill>
            <a:srgbClr val="DEE0E3">
              <a:alpha val="100000"/>
            </a:srgbClr>
          </a:solidFill>
          <a:ln w="25400" cap="flat" cmpd="sng">
            <a:solidFill>
              <a:srgbClr val="E0F7FA">
                <a:alpha val="100000"/>
              </a:srgbClr>
            </a:solidFill>
            <a:prstDash val="solid"/>
            <a:round/>
            <a:headEnd type="none" w="lg" len="lg"/>
            <a:tailEnd type="none" w="lg" len="lg"/>
          </a:ln>
        </p:spPr>
      </p:cxnSp>
      <p:pic>
        <p:nvPicPr>
          <p:cNvPr id="15" name="Picture 15"/>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6604000" y="2286000"/>
            <a:ext cx="355600" cy="355600"/>
          </a:xfrm>
          <a:prstGeom prst="rect">
            <a:avLst/>
          </a:prstGeom>
        </p:spPr>
      </p:pic>
      <p:sp>
        <p:nvSpPr>
          <p:cNvPr id="16" name="AutoShape 16"/>
          <p:cNvSpPr/>
          <p:nvPr/>
        </p:nvSpPr>
        <p:spPr>
          <a:xfrm>
            <a:off x="7048500" y="2235200"/>
            <a:ext cx="41275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212121"/>
                </a:solidFill>
                <a:latin typeface="Noto Sans SC"/>
                <a:ea typeface="Noto Sans SC"/>
                <a:cs typeface="Noto Sans SC"/>
                <a:sym typeface="Noto Sans SC"/>
              </a:rPr>
              <a:t>非公开知识覆盖不足</a:t>
            </a:r>
            <a:endParaRPr lang="en-US" sz="1100"/>
          </a:p>
          <a:p>
            <a:pPr indent="0" algn="l">
              <a:lnSpc>
                <a:spcPct val="125000"/>
              </a:lnSpc>
            </a:pPr>
            <a:r>
              <a:rPr lang="en-US" sz="1600" b="0" i="0" u="none" strike="noStrike">
                <a:solidFill>
                  <a:srgbClr val="757575"/>
                </a:solidFill>
                <a:latin typeface="Noto Sans SC"/>
                <a:ea typeface="Noto Sans SC"/>
                <a:cs typeface="Noto Sans SC"/>
                <a:sym typeface="Noto Sans SC"/>
              </a:rPr>
              <a:t>无法检索到未公开的内部数据。</a:t>
            </a:r>
            <a:endParaRPr lang="en-US" sz="1600" b="0" i="0" u="none" strike="noStrike">
              <a:solidFill>
                <a:srgbClr val="757575"/>
              </a:solidFill>
              <a:latin typeface="Noto Sans SC"/>
              <a:ea typeface="Noto Sans SC"/>
              <a:cs typeface="Noto Sans SC"/>
              <a:sym typeface="Noto Sans SC"/>
            </a:endParaRPr>
          </a:p>
        </p:txBody>
      </p:sp>
      <p:pic>
        <p:nvPicPr>
          <p:cNvPr id="17" name="Picture 17"/>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6604000" y="2921000"/>
            <a:ext cx="355600" cy="355600"/>
          </a:xfrm>
          <a:prstGeom prst="rect">
            <a:avLst/>
          </a:prstGeom>
        </p:spPr>
      </p:pic>
      <p:sp>
        <p:nvSpPr>
          <p:cNvPr id="18" name="AutoShape 18"/>
          <p:cNvSpPr/>
          <p:nvPr/>
        </p:nvSpPr>
        <p:spPr>
          <a:xfrm>
            <a:off x="7048500" y="2870200"/>
            <a:ext cx="41275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212121"/>
                </a:solidFill>
                <a:latin typeface="Noto Sans SC"/>
                <a:ea typeface="Noto Sans SC"/>
                <a:cs typeface="Noto Sans SC"/>
                <a:sym typeface="Noto Sans SC"/>
              </a:rPr>
              <a:t>数据安全问题</a:t>
            </a:r>
            <a:endParaRPr lang="en-US" sz="1100"/>
          </a:p>
          <a:p>
            <a:pPr indent="0" algn="l">
              <a:lnSpc>
                <a:spcPct val="125000"/>
              </a:lnSpc>
            </a:pPr>
            <a:r>
              <a:rPr lang="en-US" sz="1600" b="0" i="0" u="none" strike="noStrike">
                <a:solidFill>
                  <a:srgbClr val="757575"/>
                </a:solidFill>
                <a:latin typeface="Noto Sans SC"/>
                <a:ea typeface="Noto Sans SC"/>
                <a:cs typeface="Noto Sans SC"/>
                <a:sym typeface="Noto Sans SC"/>
              </a:rPr>
              <a:t>外部知识库可能存在隐私和安全风险。</a:t>
            </a:r>
            <a:endParaRPr lang="en-US" sz="1600" b="0" i="0" u="none" strike="noStrike">
              <a:solidFill>
                <a:srgbClr val="757575"/>
              </a:solidFill>
              <a:latin typeface="Noto Sans SC"/>
              <a:ea typeface="Noto Sans SC"/>
              <a:cs typeface="Noto Sans SC"/>
              <a:sym typeface="Noto Sans SC"/>
            </a:endParaRPr>
          </a:p>
        </p:txBody>
      </p:sp>
      <p:pic>
        <p:nvPicPr>
          <p:cNvPr id="19" name="Picture 19"/>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6604000" y="3556000"/>
            <a:ext cx="355600" cy="355600"/>
          </a:xfrm>
          <a:prstGeom prst="rect">
            <a:avLst/>
          </a:prstGeom>
        </p:spPr>
      </p:pic>
      <p:sp>
        <p:nvSpPr>
          <p:cNvPr id="20" name="AutoShape 20"/>
          <p:cNvSpPr/>
          <p:nvPr/>
        </p:nvSpPr>
        <p:spPr>
          <a:xfrm>
            <a:off x="7048500" y="3505200"/>
            <a:ext cx="41275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212121"/>
                </a:solidFill>
                <a:latin typeface="Noto Sans SC"/>
                <a:ea typeface="Noto Sans SC"/>
                <a:cs typeface="Noto Sans SC"/>
                <a:sym typeface="Noto Sans SC"/>
              </a:rPr>
              <a:t>对检索结果依赖高</a:t>
            </a:r>
            <a:endParaRPr lang="en-US" sz="1100"/>
          </a:p>
          <a:p>
            <a:pPr indent="0" algn="l">
              <a:lnSpc>
                <a:spcPct val="125000"/>
              </a:lnSpc>
            </a:pPr>
            <a:r>
              <a:rPr lang="en-US" sz="1600" b="0" i="0" u="none" strike="noStrike">
                <a:solidFill>
                  <a:srgbClr val="757575"/>
                </a:solidFill>
                <a:latin typeface="Noto Sans SC"/>
                <a:ea typeface="Noto Sans SC"/>
                <a:cs typeface="Noto Sans SC"/>
                <a:sym typeface="Noto Sans SC"/>
              </a:rPr>
              <a:t>检索结果的质量直接决定回答质量。</a:t>
            </a:r>
            <a:endParaRPr lang="en-US" sz="1600" b="0" i="0" u="none" strike="noStrike">
              <a:solidFill>
                <a:srgbClr val="757575"/>
              </a:solidFill>
              <a:latin typeface="Noto Sans SC"/>
              <a:ea typeface="Noto Sans SC"/>
              <a:cs typeface="Noto Sans SC"/>
              <a:sym typeface="Noto Sans SC"/>
            </a:endParaRPr>
          </a:p>
        </p:txBody>
      </p:sp>
      <p:pic>
        <p:nvPicPr>
          <p:cNvPr id="21" name="Picture 21"/>
          <p:cNvPicPr>
            <a:picLocks noChangeAspect="1"/>
          </p:cNvPicPr>
          <p:nvPr/>
        </p:nvPicPr>
        <p: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a:off x="6604000" y="4191000"/>
            <a:ext cx="355600" cy="355600"/>
          </a:xfrm>
          <a:prstGeom prst="rect">
            <a:avLst/>
          </a:prstGeom>
        </p:spPr>
      </p:pic>
      <p:sp>
        <p:nvSpPr>
          <p:cNvPr id="22" name="AutoShape 22"/>
          <p:cNvSpPr/>
          <p:nvPr/>
        </p:nvSpPr>
        <p:spPr>
          <a:xfrm>
            <a:off x="7048500" y="4140200"/>
            <a:ext cx="41275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212121"/>
                </a:solidFill>
                <a:latin typeface="Noto Sans SC"/>
                <a:ea typeface="Noto Sans SC"/>
                <a:cs typeface="Noto Sans SC"/>
                <a:sym typeface="Noto Sans SC"/>
              </a:rPr>
              <a:t>复杂推理能力弱</a:t>
            </a:r>
            <a:endParaRPr lang="en-US" sz="1100"/>
          </a:p>
          <a:p>
            <a:pPr indent="0" algn="l">
              <a:lnSpc>
                <a:spcPct val="125000"/>
              </a:lnSpc>
            </a:pPr>
            <a:r>
              <a:rPr lang="en-US" sz="1600" b="0" i="0" u="none" strike="noStrike">
                <a:solidFill>
                  <a:srgbClr val="757575"/>
                </a:solidFill>
                <a:latin typeface="Noto Sans SC"/>
                <a:ea typeface="Noto Sans SC"/>
                <a:cs typeface="Noto Sans SC"/>
                <a:sym typeface="Noto Sans SC"/>
              </a:rPr>
              <a:t>多步推理或长逻辑链任务表现不佳。</a:t>
            </a:r>
            <a:endParaRPr lang="en-US" sz="1600" b="0" i="0" u="none" strike="noStrike">
              <a:solidFill>
                <a:srgbClr val="757575"/>
              </a:solidFill>
              <a:latin typeface="Noto Sans SC"/>
              <a:ea typeface="Noto Sans SC"/>
              <a:cs typeface="Noto Sans SC"/>
              <a:sym typeface="Noto Sans SC"/>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E0F7FA">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635000"/>
            <a:ext cx="4470400" cy="508000"/>
          </a:xfrm>
          <a:prstGeom prst="rect">
            <a:avLst/>
          </a:prstGeom>
          <a:noFill/>
          <a:ln w="12700" cap="flat" cmpd="sng">
            <a:noFill/>
            <a:prstDash val="solid"/>
            <a:round/>
          </a:ln>
        </p:spPr>
        <p:txBody>
          <a:bodyPr vert="horz" wrap="none" lIns="0" tIns="0" rIns="0" bIns="0" rtlCol="0" anchor="ctr" anchorCtr="0"/>
          <a:lstStyle/>
          <a:p>
            <a:pPr indent="0" algn="l">
              <a:lnSpc>
                <a:spcPct val="125000"/>
              </a:lnSpc>
              <a:defRPr/>
            </a:pPr>
            <a:r>
              <a:rPr lang="en-US" sz="3200" b="1" i="0" u="none" strike="noStrike">
                <a:solidFill>
                  <a:srgbClr val="0288D1"/>
                </a:solidFill>
                <a:latin typeface="Noto Sans SC"/>
                <a:ea typeface="Noto Sans SC"/>
                <a:cs typeface="Noto Sans SC"/>
                <a:sym typeface="Noto Sans SC"/>
              </a:rPr>
              <a:t>3.1.2 经典RAG的架构</a:t>
            </a:r>
            <a:endParaRPr lang="en-US" sz="1100"/>
          </a:p>
        </p:txBody>
      </p:sp>
      <p:pic>
        <p:nvPicPr>
          <p:cNvPr id="3" name="Picture 3"/>
          <p:cNvPicPr>
            <a:picLocks noChangeAspect="1"/>
          </p:cNvPicPr>
          <p:nvPr/>
        </p:nvPicPr>
        <p:blipFill>
          <a:blip r:embed="rId1"/>
          <a:srcRect l="82" r="82"/>
          <a:stretch>
            <a:fillRect/>
          </a:stretch>
        </p:blipFill>
        <p:spPr>
          <a:xfrm>
            <a:off x="2286000" y="1397000"/>
            <a:ext cx="7620000" cy="3848100"/>
          </a:xfrm>
          <a:prstGeom prst="roundRect">
            <a:avLst>
              <a:gd name="adj" fmla="val 3300"/>
            </a:avLst>
          </a:prstGeom>
          <a:noFill/>
          <a:ln w="50800" cap="flat" cmpd="sng">
            <a:solidFill>
              <a:srgbClr val="FFFFFF">
                <a:alpha val="100000"/>
              </a:srgbClr>
            </a:solidFill>
            <a:prstDash val="solid"/>
            <a:round/>
          </a:ln>
          <a:effectLst>
            <a:outerShdw blurRad="127000" dist="50800" dir="2700000" algn="tl" rotWithShape="0">
              <a:srgbClr val="000000">
                <a:alpha val="10000"/>
              </a:srgbClr>
            </a:outerShdw>
          </a:effectLst>
        </p:spPr>
      </p:pic>
      <p:sp>
        <p:nvSpPr>
          <p:cNvPr id="4" name="AutoShape 4"/>
          <p:cNvSpPr/>
          <p:nvPr/>
        </p:nvSpPr>
        <p:spPr>
          <a:xfrm>
            <a:off x="762000" y="5461000"/>
            <a:ext cx="10668000" cy="889000"/>
          </a:xfrm>
          <a:prstGeom prst="rect">
            <a:avLst/>
          </a:prstGeom>
          <a:noFill/>
          <a:ln w="12700" cap="flat" cmpd="sng">
            <a:noFill/>
            <a:prstDash val="solid"/>
            <a:round/>
          </a:ln>
        </p:spPr>
        <p:txBody>
          <a:bodyPr vert="horz" wrap="square" lIns="0" tIns="0" rIns="0" bIns="0" rtlCol="0" anchor="ctr" anchorCtr="0"/>
          <a:lstStyle/>
          <a:p>
            <a:pPr indent="0" algn="just">
              <a:lnSpc>
                <a:spcPct val="108000"/>
              </a:lnSpc>
              <a:defRPr/>
            </a:pPr>
            <a:r>
              <a:rPr lang="en-US" sz="1800" b="0" i="0" u="none" strike="noStrike">
                <a:solidFill>
                  <a:srgbClr val="757575"/>
                </a:solidFill>
                <a:latin typeface="Noto Sans SC"/>
                <a:ea typeface="Noto Sans SC"/>
                <a:cs typeface="Noto Sans SC"/>
                <a:sym typeface="Noto Sans SC"/>
              </a:rPr>
              <a:t>经典RAG的完整架构主要分为两个部分：</a:t>
            </a:r>
            <a:r>
              <a:rPr lang="en-US" sz="1800" b="1" i="0" u="none" strike="noStrike">
                <a:solidFill>
                  <a:srgbClr val="0288D1"/>
                </a:solidFill>
                <a:latin typeface="Noto Sans SC"/>
                <a:ea typeface="Noto Sans SC"/>
                <a:cs typeface="Noto Sans SC"/>
                <a:sym typeface="Noto Sans SC"/>
              </a:rPr>
              <a:t>离线构建知识库</a:t>
            </a:r>
            <a:r>
              <a:rPr lang="en-US" sz="1800" b="0" i="0" u="none" strike="noStrike">
                <a:solidFill>
                  <a:srgbClr val="757575"/>
                </a:solidFill>
                <a:latin typeface="Noto Sans SC"/>
                <a:ea typeface="Noto Sans SC"/>
                <a:cs typeface="Noto Sans SC"/>
                <a:sym typeface="Noto Sans SC"/>
              </a:rPr>
              <a:t>和</a:t>
            </a:r>
            <a:r>
              <a:rPr lang="en-US" sz="1800" b="1" i="0" u="none" strike="noStrike">
                <a:solidFill>
                  <a:srgbClr val="0288D1"/>
                </a:solidFill>
                <a:latin typeface="Noto Sans SC"/>
                <a:ea typeface="Noto Sans SC"/>
                <a:cs typeface="Noto Sans SC"/>
                <a:sym typeface="Noto Sans SC"/>
              </a:rPr>
              <a:t>在线实时查询</a:t>
            </a:r>
            <a:r>
              <a:rPr lang="en-US" sz="1800" b="0" i="0" u="none" strike="noStrike">
                <a:solidFill>
                  <a:srgbClr val="757575"/>
                </a:solidFill>
                <a:latin typeface="Noto Sans SC"/>
                <a:ea typeface="Noto Sans SC"/>
                <a:cs typeface="Noto Sans SC"/>
                <a:sym typeface="Noto Sans SC"/>
              </a:rPr>
              <a:t>。整个流程从数据准备开始，经过处理、转换、存储，最终响应用户的实时查询。</a:t>
            </a:r>
            <a:endParaRPr lang="en-US" sz="110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E0F7FA">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635000"/>
            <a:ext cx="4470400" cy="508000"/>
          </a:xfrm>
          <a:prstGeom prst="rect">
            <a:avLst/>
          </a:prstGeom>
          <a:noFill/>
          <a:ln w="12700" cap="flat" cmpd="sng">
            <a:noFill/>
            <a:prstDash val="solid"/>
            <a:round/>
          </a:ln>
        </p:spPr>
        <p:txBody>
          <a:bodyPr vert="horz" wrap="none" lIns="0" tIns="0" rIns="0" bIns="0" rtlCol="0" anchor="ctr" anchorCtr="0"/>
          <a:lstStyle/>
          <a:p>
            <a:pPr indent="0" algn="l">
              <a:lnSpc>
                <a:spcPct val="125000"/>
              </a:lnSpc>
              <a:defRPr/>
            </a:pPr>
            <a:r>
              <a:rPr lang="en-US" sz="3200" b="1" i="0" u="none" strike="noStrike">
                <a:solidFill>
                  <a:srgbClr val="0288D1"/>
                </a:solidFill>
                <a:latin typeface="Noto Sans SC"/>
                <a:ea typeface="Noto Sans SC"/>
                <a:cs typeface="Noto Sans SC"/>
                <a:sym typeface="Noto Sans SC"/>
              </a:rPr>
              <a:t>离线构建知识库（1）</a:t>
            </a:r>
            <a:endParaRPr lang="en-US" sz="1100"/>
          </a:p>
        </p:txBody>
      </p:sp>
      <p:sp>
        <p:nvSpPr>
          <p:cNvPr id="3" name="AutoShape 3"/>
          <p:cNvSpPr/>
          <p:nvPr/>
        </p:nvSpPr>
        <p:spPr>
          <a:xfrm>
            <a:off x="762000" y="1651000"/>
            <a:ext cx="3302000" cy="3048000"/>
          </a:xfrm>
          <a:prstGeom prst="roundRect">
            <a:avLst>
              <a:gd name="adj" fmla="val 4166"/>
            </a:avLst>
          </a:prstGeom>
          <a:solidFill>
            <a:srgbClr val="FFFFFF">
              <a:alpha val="100000"/>
            </a:srgbClr>
          </a:solidFill>
          <a:ln w="25400" cap="flat" cmpd="sng">
            <a:noFill/>
            <a:prstDash val="solid"/>
            <a:round/>
          </a:ln>
          <a:effectLst>
            <a:outerShdw blurRad="127000" dist="50800" dir="5400000" algn="tl" rotWithShape="0">
              <a:srgbClr val="0288D1">
                <a:alpha val="15000"/>
              </a:srgbClr>
            </a:outerShdw>
          </a:effectLst>
        </p:spPr>
        <p:txBody>
          <a:bodyPr vert="horz" wrap="square" lIns="63500" tIns="63500" rIns="63500" bIns="63500" rtlCol="0" anchor="ctr"/>
          <a:lstStyle/>
          <a:p>
            <a:pPr algn="ctr">
              <a:defRPr/>
            </a:pPr>
          </a:p>
        </p:txBody>
      </p:sp>
      <p:pic>
        <p:nvPicPr>
          <p:cNvPr id="4" name="Picture 4"/>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2095500" y="1905000"/>
            <a:ext cx="635000" cy="635000"/>
          </a:xfrm>
          <a:prstGeom prst="rect">
            <a:avLst/>
          </a:prstGeom>
        </p:spPr>
      </p:pic>
      <p:sp>
        <p:nvSpPr>
          <p:cNvPr id="5" name="AutoShape 5"/>
          <p:cNvSpPr/>
          <p:nvPr/>
        </p:nvSpPr>
        <p:spPr>
          <a:xfrm>
            <a:off x="889000" y="2667000"/>
            <a:ext cx="3048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2000" b="1" i="0" u="none" strike="noStrike">
                <a:solidFill>
                  <a:srgbClr val="0288D1"/>
                </a:solidFill>
                <a:latin typeface="Noto Sans SC"/>
                <a:ea typeface="Noto Sans SC"/>
                <a:cs typeface="Noto Sans SC"/>
                <a:sym typeface="Noto Sans SC"/>
              </a:rPr>
              <a:t>数据抽取</a:t>
            </a:r>
            <a:endParaRPr lang="en-US" sz="1100"/>
          </a:p>
        </p:txBody>
      </p:sp>
      <p:sp>
        <p:nvSpPr>
          <p:cNvPr id="6" name="AutoShape 6"/>
          <p:cNvSpPr/>
          <p:nvPr/>
        </p:nvSpPr>
        <p:spPr>
          <a:xfrm>
            <a:off x="952500" y="3111500"/>
            <a:ext cx="2921000" cy="1270000"/>
          </a:xfrm>
          <a:prstGeom prst="rect">
            <a:avLst/>
          </a:prstGeom>
          <a:noFill/>
          <a:ln w="12700" cap="flat" cmpd="sng">
            <a:noFill/>
            <a:prstDash val="solid"/>
            <a:round/>
          </a:ln>
        </p:spPr>
        <p:txBody>
          <a:bodyPr vert="horz" wrap="square" lIns="0" tIns="0" rIns="0" bIns="0" rtlCol="0" anchor="ctr" anchorCtr="0"/>
          <a:lstStyle/>
          <a:p>
            <a:pPr indent="0" algn="just">
              <a:lnSpc>
                <a:spcPct val="108000"/>
              </a:lnSpc>
              <a:defRPr/>
            </a:pPr>
            <a:r>
              <a:rPr lang="en-US" sz="1600" b="0" i="0" u="none" strike="noStrike">
                <a:solidFill>
                  <a:srgbClr val="757575"/>
                </a:solidFill>
                <a:latin typeface="Noto Sans SC"/>
                <a:ea typeface="Noto Sans SC"/>
                <a:cs typeface="Noto Sans SC"/>
                <a:sym typeface="Noto Sans SC"/>
              </a:rPr>
              <a:t>从各种数据源（如PDF文档、网页、数据库等）中抽取原始文本数据。</a:t>
            </a:r>
            <a:endParaRPr lang="en-US" sz="1100"/>
          </a:p>
        </p:txBody>
      </p:sp>
      <p:sp>
        <p:nvSpPr>
          <p:cNvPr id="7" name="AutoShape 7"/>
          <p:cNvSpPr/>
          <p:nvPr/>
        </p:nvSpPr>
        <p:spPr>
          <a:xfrm>
            <a:off x="4445000" y="1651000"/>
            <a:ext cx="3302000" cy="3048000"/>
          </a:xfrm>
          <a:prstGeom prst="roundRect">
            <a:avLst>
              <a:gd name="adj" fmla="val 4166"/>
            </a:avLst>
          </a:prstGeom>
          <a:solidFill>
            <a:srgbClr val="FFFFFF">
              <a:alpha val="100000"/>
            </a:srgbClr>
          </a:solidFill>
          <a:ln w="25400" cap="flat" cmpd="sng">
            <a:noFill/>
            <a:prstDash val="solid"/>
            <a:round/>
          </a:ln>
          <a:effectLst>
            <a:outerShdw blurRad="127000" dist="50800" dir="5400000" algn="tl" rotWithShape="0">
              <a:srgbClr val="0288D1">
                <a:alpha val="15000"/>
              </a:srgbClr>
            </a:outerShdw>
          </a:effectLst>
        </p:spPr>
        <p:txBody>
          <a:bodyPr vert="horz" wrap="square" lIns="63500" tIns="63500" rIns="63500" bIns="63500" rtlCol="0" anchor="ctr"/>
          <a:lstStyle/>
          <a:p>
            <a:pPr algn="ctr">
              <a:defRPr/>
            </a:pPr>
          </a:p>
        </p:txBody>
      </p:sp>
      <p:pic>
        <p:nvPicPr>
          <p:cNvPr id="8" name="Picture 8"/>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5778500" y="1905000"/>
            <a:ext cx="635000" cy="635000"/>
          </a:xfrm>
          <a:prstGeom prst="rect">
            <a:avLst/>
          </a:prstGeom>
        </p:spPr>
      </p:pic>
      <p:sp>
        <p:nvSpPr>
          <p:cNvPr id="9" name="AutoShape 9"/>
          <p:cNvSpPr/>
          <p:nvPr/>
        </p:nvSpPr>
        <p:spPr>
          <a:xfrm>
            <a:off x="4572000" y="2667000"/>
            <a:ext cx="3048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2000" b="1" i="0" u="none" strike="noStrike">
                <a:solidFill>
                  <a:srgbClr val="0288D1"/>
                </a:solidFill>
                <a:latin typeface="Noto Sans SC"/>
                <a:ea typeface="Noto Sans SC"/>
                <a:cs typeface="Noto Sans SC"/>
                <a:sym typeface="Noto Sans SC"/>
              </a:rPr>
              <a:t>数据处理</a:t>
            </a:r>
            <a:endParaRPr lang="en-US" sz="1100"/>
          </a:p>
        </p:txBody>
      </p:sp>
      <p:sp>
        <p:nvSpPr>
          <p:cNvPr id="10" name="AutoShape 10"/>
          <p:cNvSpPr/>
          <p:nvPr/>
        </p:nvSpPr>
        <p:spPr>
          <a:xfrm>
            <a:off x="4635500" y="3111500"/>
            <a:ext cx="2921000" cy="1270000"/>
          </a:xfrm>
          <a:prstGeom prst="rect">
            <a:avLst/>
          </a:prstGeom>
          <a:noFill/>
          <a:ln w="12700" cap="flat" cmpd="sng">
            <a:noFill/>
            <a:prstDash val="solid"/>
            <a:round/>
          </a:ln>
        </p:spPr>
        <p:txBody>
          <a:bodyPr vert="horz" wrap="square" lIns="0" tIns="0" rIns="0" bIns="0" rtlCol="0" anchor="ctr" anchorCtr="0"/>
          <a:lstStyle/>
          <a:p>
            <a:pPr indent="0" algn="just">
              <a:lnSpc>
                <a:spcPct val="108000"/>
              </a:lnSpc>
              <a:defRPr/>
            </a:pPr>
            <a:r>
              <a:rPr lang="en-US" sz="1600" b="0" i="0" u="none" strike="noStrike">
                <a:solidFill>
                  <a:srgbClr val="757575"/>
                </a:solidFill>
                <a:latin typeface="Noto Sans SC"/>
                <a:ea typeface="Noto Sans SC"/>
                <a:cs typeface="Noto Sans SC"/>
                <a:sym typeface="Noto Sans SC"/>
              </a:rPr>
              <a:t>对抽取的数据进行清洗、去重、降噪和格式转换等预处理工作，以提高数据质量。</a:t>
            </a:r>
            <a:endParaRPr lang="en-US" sz="1100"/>
          </a:p>
        </p:txBody>
      </p:sp>
      <p:sp>
        <p:nvSpPr>
          <p:cNvPr id="11" name="AutoShape 11"/>
          <p:cNvSpPr/>
          <p:nvPr/>
        </p:nvSpPr>
        <p:spPr>
          <a:xfrm>
            <a:off x="8128000" y="1651000"/>
            <a:ext cx="3302000" cy="3048000"/>
          </a:xfrm>
          <a:prstGeom prst="roundRect">
            <a:avLst>
              <a:gd name="adj" fmla="val 4166"/>
            </a:avLst>
          </a:prstGeom>
          <a:solidFill>
            <a:srgbClr val="FFFFFF">
              <a:alpha val="100000"/>
            </a:srgbClr>
          </a:solidFill>
          <a:ln w="25400" cap="flat" cmpd="sng">
            <a:noFill/>
            <a:prstDash val="solid"/>
            <a:round/>
          </a:ln>
          <a:effectLst>
            <a:outerShdw blurRad="127000" dist="50800" dir="5400000" algn="tl" rotWithShape="0">
              <a:srgbClr val="0288D1">
                <a:alpha val="15000"/>
              </a:srgbClr>
            </a:outerShdw>
          </a:effectLst>
        </p:spPr>
        <p:txBody>
          <a:bodyPr vert="horz" wrap="square" lIns="63500" tIns="63500" rIns="63500" bIns="63500" rtlCol="0" anchor="ctr"/>
          <a:lstStyle/>
          <a:p>
            <a:pPr algn="ctr">
              <a:defRPr/>
            </a:pPr>
          </a:p>
        </p:txBody>
      </p:sp>
      <p:pic>
        <p:nvPicPr>
          <p:cNvPr id="12" name="Picture 12"/>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9461500" y="1905000"/>
            <a:ext cx="635000" cy="635000"/>
          </a:xfrm>
          <a:prstGeom prst="rect">
            <a:avLst/>
          </a:prstGeom>
        </p:spPr>
      </p:pic>
      <p:sp>
        <p:nvSpPr>
          <p:cNvPr id="13" name="AutoShape 13"/>
          <p:cNvSpPr/>
          <p:nvPr/>
        </p:nvSpPr>
        <p:spPr>
          <a:xfrm>
            <a:off x="8255000" y="2667000"/>
            <a:ext cx="3048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2000" b="1" i="0" u="none" strike="noStrike">
                <a:solidFill>
                  <a:srgbClr val="0288D1"/>
                </a:solidFill>
                <a:latin typeface="Noto Sans SC"/>
                <a:ea typeface="Noto Sans SC"/>
                <a:cs typeface="Noto Sans SC"/>
                <a:sym typeface="Noto Sans SC"/>
              </a:rPr>
              <a:t>数据分块</a:t>
            </a:r>
            <a:endParaRPr lang="en-US" sz="1100"/>
          </a:p>
        </p:txBody>
      </p:sp>
      <p:sp>
        <p:nvSpPr>
          <p:cNvPr id="14" name="AutoShape 14"/>
          <p:cNvSpPr/>
          <p:nvPr/>
        </p:nvSpPr>
        <p:spPr>
          <a:xfrm>
            <a:off x="8318500" y="3111500"/>
            <a:ext cx="2921000" cy="1270000"/>
          </a:xfrm>
          <a:prstGeom prst="rect">
            <a:avLst/>
          </a:prstGeom>
          <a:noFill/>
          <a:ln w="12700" cap="flat" cmpd="sng">
            <a:noFill/>
            <a:prstDash val="solid"/>
            <a:round/>
          </a:ln>
        </p:spPr>
        <p:txBody>
          <a:bodyPr vert="horz" wrap="square" lIns="0" tIns="0" rIns="0" bIns="0" rtlCol="0" anchor="ctr" anchorCtr="0"/>
          <a:lstStyle/>
          <a:p>
            <a:pPr indent="0" algn="just">
              <a:lnSpc>
                <a:spcPct val="108000"/>
              </a:lnSpc>
              <a:defRPr/>
            </a:pPr>
            <a:r>
              <a:rPr lang="en-US" sz="1600" b="0" i="0" u="none" strike="noStrike">
                <a:solidFill>
                  <a:srgbClr val="757575"/>
                </a:solidFill>
                <a:latin typeface="Noto Sans SC"/>
                <a:ea typeface="Noto Sans SC"/>
                <a:cs typeface="Noto Sans SC"/>
                <a:sym typeface="Noto Sans SC"/>
              </a:rPr>
              <a:t>将长文本分割成较小的、语义相对完整的文本块（Chunk），提高存储和检索效率。</a:t>
            </a:r>
            <a:endParaRPr lang="en-US" sz="1100"/>
          </a:p>
        </p:txBody>
      </p:sp>
      <p:sp>
        <p:nvSpPr>
          <p:cNvPr id="15" name="AutoShape 15"/>
          <p:cNvSpPr/>
          <p:nvPr/>
        </p:nvSpPr>
        <p:spPr>
          <a:xfrm>
            <a:off x="762000" y="5334000"/>
            <a:ext cx="10668000" cy="25400"/>
          </a:xfrm>
          <a:prstGeom prst="roundRect">
            <a:avLst>
              <a:gd name="adj" fmla="val 0"/>
            </a:avLst>
          </a:prstGeom>
          <a:solidFill>
            <a:srgbClr val="0288D1">
              <a:alpha val="30000"/>
            </a:srgbClr>
          </a:solidFill>
          <a:ln w="25400" cap="flat" cmpd="sng">
            <a:noFill/>
            <a:prstDash val="solid"/>
            <a:round/>
          </a:ln>
        </p:spPr>
        <p:txBody>
          <a:bodyPr vert="horz" wrap="square" lIns="63500" tIns="63500" rIns="63500" bIns="63500" rtlCol="0" anchor="ctr"/>
          <a:lstStyle/>
          <a:p>
            <a:pPr algn="ctr">
              <a:defRPr/>
            </a:pPr>
          </a:p>
        </p:txBody>
      </p:sp>
      <p:sp>
        <p:nvSpPr>
          <p:cNvPr id="16" name="AutoShape 16"/>
          <p:cNvSpPr/>
          <p:nvPr/>
        </p:nvSpPr>
        <p:spPr>
          <a:xfrm>
            <a:off x="762000" y="5588000"/>
            <a:ext cx="10668000" cy="508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800" b="0" i="0" u="none" strike="noStrike">
                <a:solidFill>
                  <a:srgbClr val="757575"/>
                </a:solidFill>
                <a:latin typeface="Noto Sans SC"/>
                <a:ea typeface="Noto Sans SC"/>
                <a:cs typeface="Noto Sans SC"/>
                <a:sym typeface="Noto Sans SC"/>
              </a:rPr>
              <a:t>这三个步骤构成了知识库构建的基础，确保数据的准确性与可用性。</a:t>
            </a:r>
            <a:endParaRPr lang="en-US" sz="110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E0F7FA">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635000"/>
            <a:ext cx="4470400" cy="508000"/>
          </a:xfrm>
          <a:prstGeom prst="rect">
            <a:avLst/>
          </a:prstGeom>
          <a:noFill/>
          <a:ln w="12700" cap="flat" cmpd="sng">
            <a:noFill/>
            <a:prstDash val="solid"/>
            <a:round/>
          </a:ln>
        </p:spPr>
        <p:txBody>
          <a:bodyPr vert="horz" wrap="none" lIns="0" tIns="0" rIns="0" bIns="0" rtlCol="0" anchor="ctr" anchorCtr="0"/>
          <a:lstStyle/>
          <a:p>
            <a:pPr indent="0" algn="l">
              <a:lnSpc>
                <a:spcPct val="125000"/>
              </a:lnSpc>
              <a:defRPr/>
            </a:pPr>
            <a:r>
              <a:rPr lang="en-US" sz="3200" b="1" i="0" u="none" strike="noStrike">
                <a:solidFill>
                  <a:srgbClr val="0288D1"/>
                </a:solidFill>
                <a:latin typeface="Noto Sans SC"/>
                <a:ea typeface="Noto Sans SC"/>
                <a:cs typeface="Noto Sans SC"/>
                <a:sym typeface="Noto Sans SC"/>
              </a:rPr>
              <a:t>离线构建知识库（2）</a:t>
            </a:r>
            <a:endParaRPr lang="en-US" sz="1100"/>
          </a:p>
        </p:txBody>
      </p:sp>
      <p:sp>
        <p:nvSpPr>
          <p:cNvPr id="3" name="AutoShape 3"/>
          <p:cNvSpPr/>
          <p:nvPr/>
        </p:nvSpPr>
        <p:spPr>
          <a:xfrm>
            <a:off x="762000" y="1651000"/>
            <a:ext cx="10668000" cy="1905000"/>
          </a:xfrm>
          <a:prstGeom prst="roundRect">
            <a:avLst>
              <a:gd name="adj" fmla="val 6666"/>
            </a:avLst>
          </a:prstGeom>
          <a:solidFill>
            <a:srgbClr val="FFFFFF">
              <a:alpha val="100000"/>
            </a:srgbClr>
          </a:solidFill>
          <a:ln w="25400" cap="flat" cmpd="sng">
            <a:noFill/>
            <a:prstDash val="solid"/>
            <a:round/>
          </a:ln>
          <a:effectLst>
            <a:outerShdw blurRad="127000" dist="50800" dir="5400000" algn="tl" rotWithShape="0">
              <a:srgbClr val="0288D1">
                <a:alpha val="15000"/>
              </a:srgbClr>
            </a:outerShdw>
          </a:effectLst>
        </p:spPr>
        <p:txBody>
          <a:bodyPr vert="horz" wrap="square" lIns="63500" tIns="63500" rIns="63500" bIns="63500" rtlCol="0" anchor="ctr"/>
          <a:lstStyle/>
          <a:p>
            <a:pPr algn="ctr">
              <a:defRPr/>
            </a:pPr>
          </a:p>
        </p:txBody>
      </p:sp>
      <p:pic>
        <p:nvPicPr>
          <p:cNvPr id="4" name="Picture 4"/>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143000" y="2095500"/>
            <a:ext cx="762000" cy="762000"/>
          </a:xfrm>
          <a:prstGeom prst="rect">
            <a:avLst/>
          </a:prstGeom>
        </p:spPr>
      </p:pic>
      <p:sp>
        <p:nvSpPr>
          <p:cNvPr id="5" name="AutoShape 5"/>
          <p:cNvSpPr/>
          <p:nvPr/>
        </p:nvSpPr>
        <p:spPr>
          <a:xfrm>
            <a:off x="2159000" y="1841500"/>
            <a:ext cx="8890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200" b="1" i="0" u="none" strike="noStrike">
                <a:solidFill>
                  <a:srgbClr val="0288D1"/>
                </a:solidFill>
                <a:latin typeface="Noto Sans SC"/>
                <a:ea typeface="Noto Sans SC"/>
                <a:cs typeface="Noto Sans SC"/>
                <a:sym typeface="Noto Sans SC"/>
              </a:rPr>
              <a:t>4. 词嵌入转换 (Embedding)</a:t>
            </a:r>
            <a:endParaRPr lang="en-US" sz="1100"/>
          </a:p>
        </p:txBody>
      </p:sp>
      <p:sp>
        <p:nvSpPr>
          <p:cNvPr id="6" name="AutoShape 6"/>
          <p:cNvSpPr/>
          <p:nvPr/>
        </p:nvSpPr>
        <p:spPr>
          <a:xfrm>
            <a:off x="2159000" y="2286000"/>
            <a:ext cx="8890000" cy="10160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800" b="0" i="0" u="none" strike="noStrike">
                <a:solidFill>
                  <a:srgbClr val="757575"/>
                </a:solidFill>
                <a:latin typeface="Noto Sans SC"/>
                <a:ea typeface="Noto Sans SC"/>
                <a:cs typeface="Noto Sans SC"/>
                <a:sym typeface="Noto Sans SC"/>
              </a:rPr>
              <a:t>利用词嵌入模型（Embedding Model），将每个文本块转换为一个固定长度的稠密向量（Vector）。这个向量能够捕捉文本的语义信息，赋予文本“数字指纹”。</a:t>
            </a:r>
            <a:endParaRPr lang="en-US" sz="1100"/>
          </a:p>
        </p:txBody>
      </p:sp>
      <p:sp>
        <p:nvSpPr>
          <p:cNvPr id="7" name="AutoShape 7"/>
          <p:cNvSpPr/>
          <p:nvPr/>
        </p:nvSpPr>
        <p:spPr>
          <a:xfrm>
            <a:off x="762000" y="3937000"/>
            <a:ext cx="10668000" cy="1905000"/>
          </a:xfrm>
          <a:prstGeom prst="roundRect">
            <a:avLst>
              <a:gd name="adj" fmla="val 6666"/>
            </a:avLst>
          </a:prstGeom>
          <a:solidFill>
            <a:srgbClr val="FFFFFF">
              <a:alpha val="100000"/>
            </a:srgbClr>
          </a:solidFill>
          <a:ln w="25400" cap="flat" cmpd="sng">
            <a:noFill/>
            <a:prstDash val="solid"/>
            <a:round/>
          </a:ln>
          <a:effectLst>
            <a:outerShdw blurRad="127000" dist="50800" dir="5400000" algn="tl" rotWithShape="0">
              <a:srgbClr val="0288D1">
                <a:alpha val="15000"/>
              </a:srgbClr>
            </a:outerShdw>
          </a:effectLst>
        </p:spPr>
        <p:txBody>
          <a:bodyPr vert="horz" wrap="square" lIns="63500" tIns="63500" rIns="63500" bIns="63500" rtlCol="0" anchor="ctr"/>
          <a:lstStyle/>
          <a:p>
            <a:pPr algn="ctr">
              <a:defRPr/>
            </a:pPr>
          </a:p>
        </p:txBody>
      </p:sp>
      <p:pic>
        <p:nvPicPr>
          <p:cNvPr id="8" name="Picture 8"/>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143000" y="4381500"/>
            <a:ext cx="762000" cy="762000"/>
          </a:xfrm>
          <a:prstGeom prst="rect">
            <a:avLst/>
          </a:prstGeom>
        </p:spPr>
      </p:pic>
      <p:sp>
        <p:nvSpPr>
          <p:cNvPr id="9" name="AutoShape 9"/>
          <p:cNvSpPr/>
          <p:nvPr/>
        </p:nvSpPr>
        <p:spPr>
          <a:xfrm>
            <a:off x="2159000" y="4127500"/>
            <a:ext cx="8890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200" b="1" i="0" u="none" strike="noStrike">
                <a:solidFill>
                  <a:srgbClr val="0288D1"/>
                </a:solidFill>
                <a:latin typeface="Noto Sans SC"/>
                <a:ea typeface="Noto Sans SC"/>
                <a:cs typeface="Noto Sans SC"/>
                <a:sym typeface="Noto Sans SC"/>
              </a:rPr>
              <a:t>5. 向量存储 (Vector Storage)</a:t>
            </a:r>
            <a:endParaRPr lang="en-US" sz="1100"/>
          </a:p>
        </p:txBody>
      </p:sp>
      <p:sp>
        <p:nvSpPr>
          <p:cNvPr id="10" name="AutoShape 10"/>
          <p:cNvSpPr/>
          <p:nvPr/>
        </p:nvSpPr>
        <p:spPr>
          <a:xfrm>
            <a:off x="2159000" y="4572000"/>
            <a:ext cx="8890000" cy="10160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800" b="0" i="0" u="none" strike="noStrike">
                <a:solidFill>
                  <a:srgbClr val="757575"/>
                </a:solidFill>
                <a:latin typeface="Noto Sans SC"/>
                <a:ea typeface="Noto Sans SC"/>
                <a:cs typeface="Noto Sans SC"/>
                <a:sym typeface="Noto Sans SC"/>
              </a:rPr>
              <a:t>将转换后的所有向量存储到专门的向量数据库（Vector Database）中。向量数据库专为高效的相似度检索设计，能快速匹配查询向量与知识库中的相似内容。</a:t>
            </a:r>
            <a:endParaRPr lang="en-US" sz="110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E0F7FA">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635000"/>
            <a:ext cx="3124200" cy="508000"/>
          </a:xfrm>
          <a:prstGeom prst="rect">
            <a:avLst/>
          </a:prstGeom>
          <a:noFill/>
          <a:ln w="12700" cap="flat" cmpd="sng">
            <a:noFill/>
            <a:prstDash val="solid"/>
            <a:round/>
          </a:ln>
        </p:spPr>
        <p:txBody>
          <a:bodyPr vert="horz" wrap="none" lIns="0" tIns="0" rIns="0" bIns="0" rtlCol="0" anchor="ctr" anchorCtr="0"/>
          <a:lstStyle/>
          <a:p>
            <a:pPr indent="0" algn="l">
              <a:lnSpc>
                <a:spcPct val="125000"/>
              </a:lnSpc>
              <a:defRPr/>
            </a:pPr>
            <a:r>
              <a:rPr lang="en-US" sz="3200" b="1" i="0" u="none" strike="noStrike">
                <a:solidFill>
                  <a:srgbClr val="0288D1"/>
                </a:solidFill>
                <a:latin typeface="Noto Sans SC"/>
                <a:ea typeface="Noto Sans SC"/>
                <a:cs typeface="Noto Sans SC"/>
                <a:sym typeface="Noto Sans SC"/>
              </a:rPr>
              <a:t>在线实时查询（1）</a:t>
            </a:r>
            <a:endParaRPr lang="en-US" sz="1100"/>
          </a:p>
        </p:txBody>
      </p:sp>
      <p:sp>
        <p:nvSpPr>
          <p:cNvPr id="3" name="AutoShape 3"/>
          <p:cNvSpPr/>
          <p:nvPr/>
        </p:nvSpPr>
        <p:spPr>
          <a:xfrm>
            <a:off x="762000" y="1778000"/>
            <a:ext cx="5080000" cy="2794000"/>
          </a:xfrm>
          <a:prstGeom prst="roundRect">
            <a:avLst>
              <a:gd name="adj" fmla="val 4545"/>
            </a:avLst>
          </a:prstGeom>
          <a:solidFill>
            <a:srgbClr val="FFFFFF">
              <a:alpha val="100000"/>
            </a:srgbClr>
          </a:solidFill>
          <a:ln w="25400" cap="flat" cmpd="sng">
            <a:noFill/>
            <a:prstDash val="solid"/>
            <a:round/>
          </a:ln>
          <a:effectLst>
            <a:outerShdw blurRad="127000" dist="50800" dir="5400000" algn="tl" rotWithShape="0">
              <a:srgbClr val="0288D1">
                <a:alpha val="15000"/>
              </a:srgbClr>
            </a:outerShdw>
          </a:effectLst>
        </p:spPr>
        <p:txBody>
          <a:bodyPr vert="horz" wrap="square" lIns="63500" tIns="63500" rIns="63500" bIns="63500" rtlCol="0" anchor="ctr"/>
          <a:lstStyle/>
          <a:p>
            <a:pPr algn="ctr">
              <a:defRPr/>
            </a:pPr>
          </a:p>
        </p:txBody>
      </p:sp>
      <p:sp>
        <p:nvSpPr>
          <p:cNvPr id="4" name="AutoShape 4"/>
          <p:cNvSpPr/>
          <p:nvPr/>
        </p:nvSpPr>
        <p:spPr>
          <a:xfrm>
            <a:off x="1079500" y="2095500"/>
            <a:ext cx="609600" cy="609600"/>
          </a:xfrm>
          <a:prstGeom prst="ellipse">
            <a:avLst/>
          </a:prstGeom>
          <a:solidFill>
            <a:srgbClr val="0288D1">
              <a:alpha val="10000"/>
            </a:srgbClr>
          </a:solidFill>
          <a:ln w="25400" cap="flat" cmpd="sng">
            <a:noFill/>
            <a:prstDash val="solid"/>
            <a:round/>
          </a:ln>
        </p:spPr>
        <p:txBody>
          <a:bodyPr vert="horz" wrap="square" lIns="63500" tIns="63500" rIns="63500" bIns="63500" rtlCol="0" anchor="ctr"/>
          <a:lstStyle/>
          <a:p>
            <a:pPr algn="ctr">
              <a:defRPr/>
            </a:pPr>
          </a:p>
        </p:txBody>
      </p:sp>
      <p:pic>
        <p:nvPicPr>
          <p:cNvPr id="5" name="Picture 5"/>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181100" y="2197100"/>
            <a:ext cx="406400" cy="406400"/>
          </a:xfrm>
          <a:prstGeom prst="rect">
            <a:avLst/>
          </a:prstGeom>
        </p:spPr>
      </p:pic>
      <p:sp>
        <p:nvSpPr>
          <p:cNvPr id="6" name="AutoShape 6"/>
          <p:cNvSpPr/>
          <p:nvPr/>
        </p:nvSpPr>
        <p:spPr>
          <a:xfrm>
            <a:off x="1841500" y="2095500"/>
            <a:ext cx="3683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0288D1"/>
                </a:solidFill>
                <a:latin typeface="Noto Sans SC"/>
                <a:ea typeface="Noto Sans SC"/>
                <a:cs typeface="Noto Sans SC"/>
                <a:sym typeface="Noto Sans SC"/>
              </a:rPr>
              <a:t>1. 查询向量化</a:t>
            </a:r>
            <a:endParaRPr lang="en-US" sz="1100"/>
          </a:p>
        </p:txBody>
      </p:sp>
      <p:sp>
        <p:nvSpPr>
          <p:cNvPr id="7" name="AutoShape 7"/>
          <p:cNvSpPr/>
          <p:nvPr/>
        </p:nvSpPr>
        <p:spPr>
          <a:xfrm>
            <a:off x="1079500" y="2794000"/>
            <a:ext cx="4445000" cy="1524000"/>
          </a:xfrm>
          <a:prstGeom prst="rect">
            <a:avLst/>
          </a:prstGeom>
          <a:noFill/>
          <a:ln w="12700" cap="flat" cmpd="sng">
            <a:noFill/>
            <a:prstDash val="solid"/>
            <a:round/>
          </a:ln>
        </p:spPr>
        <p:txBody>
          <a:bodyPr vert="horz" wrap="square" lIns="0" tIns="0" rIns="0" bIns="0" rtlCol="0" anchor="ctr" anchorCtr="0"/>
          <a:lstStyle/>
          <a:p>
            <a:pPr indent="0" algn="l">
              <a:lnSpc>
                <a:spcPct val="117000"/>
              </a:lnSpc>
              <a:defRPr/>
            </a:pPr>
            <a:r>
              <a:rPr lang="en-US" sz="1800" b="0" i="0" u="none" strike="noStrike">
                <a:solidFill>
                  <a:srgbClr val="757575"/>
                </a:solidFill>
                <a:latin typeface="Noto Sans SC"/>
                <a:ea typeface="Noto Sans SC"/>
                <a:cs typeface="Noto Sans SC"/>
                <a:sym typeface="Noto Sans SC"/>
              </a:rPr>
              <a:t>当用户输入一个查询问题时，系统首先使用与离线阶段相同的词嵌入模型，将这个查询问题转换为对应的向量表示。</a:t>
            </a:r>
            <a:endParaRPr lang="en-US" sz="1100"/>
          </a:p>
        </p:txBody>
      </p:sp>
      <p:sp>
        <p:nvSpPr>
          <p:cNvPr id="8" name="AutoShape 8"/>
          <p:cNvSpPr/>
          <p:nvPr/>
        </p:nvSpPr>
        <p:spPr>
          <a:xfrm>
            <a:off x="6350000" y="1778000"/>
            <a:ext cx="5080000" cy="2794000"/>
          </a:xfrm>
          <a:prstGeom prst="roundRect">
            <a:avLst>
              <a:gd name="adj" fmla="val 4545"/>
            </a:avLst>
          </a:prstGeom>
          <a:solidFill>
            <a:srgbClr val="FFFFFF">
              <a:alpha val="100000"/>
            </a:srgbClr>
          </a:solidFill>
          <a:ln w="25400" cap="flat" cmpd="sng">
            <a:noFill/>
            <a:prstDash val="solid"/>
            <a:round/>
          </a:ln>
          <a:effectLst>
            <a:outerShdw blurRad="127000" dist="50800" dir="5400000" algn="tl" rotWithShape="0">
              <a:srgbClr val="0288D1">
                <a:alpha val="15000"/>
              </a:srgbClr>
            </a:outerShdw>
          </a:effectLst>
        </p:spPr>
        <p:txBody>
          <a:bodyPr vert="horz" wrap="square" lIns="63500" tIns="63500" rIns="63500" bIns="63500" rtlCol="0" anchor="ctr"/>
          <a:lstStyle/>
          <a:p>
            <a:pPr algn="ctr">
              <a:defRPr/>
            </a:pPr>
          </a:p>
        </p:txBody>
      </p:sp>
      <p:sp>
        <p:nvSpPr>
          <p:cNvPr id="9" name="AutoShape 9"/>
          <p:cNvSpPr/>
          <p:nvPr/>
        </p:nvSpPr>
        <p:spPr>
          <a:xfrm>
            <a:off x="6667500" y="2095500"/>
            <a:ext cx="609600" cy="609600"/>
          </a:xfrm>
          <a:prstGeom prst="ellipse">
            <a:avLst/>
          </a:prstGeom>
          <a:solidFill>
            <a:srgbClr val="0288D1">
              <a:alpha val="10000"/>
            </a:srgbClr>
          </a:solidFill>
          <a:ln w="25400" cap="flat" cmpd="sng">
            <a:noFill/>
            <a:prstDash val="solid"/>
            <a:round/>
          </a:ln>
        </p:spPr>
        <p:txBody>
          <a:bodyPr vert="horz" wrap="square" lIns="63500" tIns="63500" rIns="63500" bIns="63500" rtlCol="0" anchor="ctr"/>
          <a:lstStyle/>
          <a:p>
            <a:pPr algn="ctr">
              <a:defRPr/>
            </a:pPr>
          </a:p>
        </p:txBody>
      </p:sp>
      <p:pic>
        <p:nvPicPr>
          <p:cNvPr id="10" name="Picture 10"/>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769100" y="2197100"/>
            <a:ext cx="406400" cy="406400"/>
          </a:xfrm>
          <a:prstGeom prst="rect">
            <a:avLst/>
          </a:prstGeom>
        </p:spPr>
      </p:pic>
      <p:sp>
        <p:nvSpPr>
          <p:cNvPr id="11" name="AutoShape 11"/>
          <p:cNvSpPr/>
          <p:nvPr/>
        </p:nvSpPr>
        <p:spPr>
          <a:xfrm>
            <a:off x="7429500" y="2095500"/>
            <a:ext cx="3683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0288D1"/>
                </a:solidFill>
                <a:latin typeface="Noto Sans SC"/>
                <a:ea typeface="Noto Sans SC"/>
                <a:cs typeface="Noto Sans SC"/>
                <a:sym typeface="Noto Sans SC"/>
              </a:rPr>
              <a:t>2. 相似度检索</a:t>
            </a:r>
            <a:endParaRPr lang="en-US" sz="1100"/>
          </a:p>
        </p:txBody>
      </p:sp>
      <p:sp>
        <p:nvSpPr>
          <p:cNvPr id="12" name="AutoShape 12"/>
          <p:cNvSpPr/>
          <p:nvPr/>
        </p:nvSpPr>
        <p:spPr>
          <a:xfrm>
            <a:off x="6667500" y="2794000"/>
            <a:ext cx="4445000" cy="1524000"/>
          </a:xfrm>
          <a:prstGeom prst="rect">
            <a:avLst/>
          </a:prstGeom>
          <a:noFill/>
          <a:ln w="12700" cap="flat" cmpd="sng">
            <a:noFill/>
            <a:prstDash val="solid"/>
            <a:round/>
          </a:ln>
        </p:spPr>
        <p:txBody>
          <a:bodyPr vert="horz" wrap="square" lIns="0" tIns="0" rIns="0" bIns="0" rtlCol="0" anchor="ctr" anchorCtr="0"/>
          <a:lstStyle/>
          <a:p>
            <a:pPr indent="0" algn="l">
              <a:lnSpc>
                <a:spcPct val="117000"/>
              </a:lnSpc>
              <a:defRPr/>
            </a:pPr>
            <a:r>
              <a:rPr lang="en-US" sz="1800" b="0" i="0" u="none" strike="noStrike">
                <a:solidFill>
                  <a:srgbClr val="757575"/>
                </a:solidFill>
                <a:latin typeface="Noto Sans SC"/>
                <a:ea typeface="Noto Sans SC"/>
                <a:cs typeface="Noto Sans SC"/>
                <a:sym typeface="Noto Sans SC"/>
              </a:rPr>
              <a:t>利用向量数据库，计算查询向量与库中所有文档向量的相似度，并检索出相似度最高的Top-K个文档向量及其对应的文本块，作为回答问题的上下文信息。</a:t>
            </a:r>
            <a:endParaRPr lang="en-US" sz="1100"/>
          </a:p>
        </p:txBody>
      </p:sp>
      <p:sp>
        <p:nvSpPr>
          <p:cNvPr id="13" name="AutoShape 13"/>
          <p:cNvSpPr/>
          <p:nvPr/>
        </p:nvSpPr>
        <p:spPr>
          <a:xfrm>
            <a:off x="762000" y="5080000"/>
            <a:ext cx="10668000" cy="25400"/>
          </a:xfrm>
          <a:prstGeom prst="roundRect">
            <a:avLst>
              <a:gd name="adj" fmla="val 0"/>
            </a:avLst>
          </a:prstGeom>
          <a:solidFill>
            <a:srgbClr val="0288D1">
              <a:alpha val="20000"/>
            </a:srgbClr>
          </a:solidFill>
          <a:ln w="25400" cap="flat" cmpd="sng">
            <a:noFill/>
            <a:prstDash val="solid"/>
            <a:round/>
          </a:ln>
        </p:spPr>
        <p:txBody>
          <a:bodyPr vert="horz" wrap="square" lIns="63500" tIns="63500" rIns="63500" bIns="63500" rtlCol="0" anchor="ctr"/>
          <a:lstStyle/>
          <a:p>
            <a:pPr algn="ctr">
              <a:defRPr/>
            </a:pPr>
          </a:p>
        </p:txBody>
      </p:sp>
      <p:sp>
        <p:nvSpPr>
          <p:cNvPr id="14" name="AutoShape 14"/>
          <p:cNvSpPr/>
          <p:nvPr/>
        </p:nvSpPr>
        <p:spPr>
          <a:xfrm>
            <a:off x="762000" y="5334000"/>
            <a:ext cx="10668000" cy="508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600" b="0" i="0" u="none" strike="noStrike">
                <a:solidFill>
                  <a:srgbClr val="757575"/>
                </a:solidFill>
                <a:latin typeface="Noto Sans SC"/>
                <a:ea typeface="Noto Sans SC"/>
                <a:cs typeface="Noto Sans SC"/>
                <a:sym typeface="Noto Sans SC"/>
              </a:rPr>
              <a:t>核心目标：将用户问题转化为机器可理解的向量，并快速找到最相关的知识片段。</a:t>
            </a:r>
            <a:endParaRPr lang="en-US" sz="110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E0F7FA">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635000"/>
            <a:ext cx="3581400" cy="508000"/>
          </a:xfrm>
          <a:prstGeom prst="rect">
            <a:avLst/>
          </a:prstGeom>
          <a:noFill/>
          <a:ln w="12700" cap="flat" cmpd="sng">
            <a:noFill/>
            <a:prstDash val="solid"/>
            <a:round/>
          </a:ln>
        </p:spPr>
        <p:txBody>
          <a:bodyPr vert="horz" wrap="none" lIns="0" tIns="0" rIns="0" bIns="0" rtlCol="0" anchor="ctr" anchorCtr="0"/>
          <a:lstStyle/>
          <a:p>
            <a:pPr indent="0" algn="l">
              <a:lnSpc>
                <a:spcPct val="125000"/>
              </a:lnSpc>
              <a:defRPr/>
            </a:pPr>
            <a:r>
              <a:rPr lang="en-US" sz="3200" b="1" i="0" u="none" strike="noStrike">
                <a:solidFill>
                  <a:srgbClr val="0288D1"/>
                </a:solidFill>
                <a:latin typeface="Noto Sans SC"/>
                <a:ea typeface="Noto Sans SC"/>
                <a:cs typeface="Noto Sans SC"/>
                <a:sym typeface="Noto Sans SC"/>
              </a:rPr>
              <a:t>在线实时查询（2）</a:t>
            </a:r>
            <a:endParaRPr lang="en-US" sz="1100"/>
          </a:p>
        </p:txBody>
      </p:sp>
      <p:sp>
        <p:nvSpPr>
          <p:cNvPr id="3" name="AutoShape 3"/>
          <p:cNvSpPr/>
          <p:nvPr/>
        </p:nvSpPr>
        <p:spPr>
          <a:xfrm>
            <a:off x="762000" y="1651000"/>
            <a:ext cx="10668000" cy="2032000"/>
          </a:xfrm>
          <a:prstGeom prst="roundRect">
            <a:avLst>
              <a:gd name="adj" fmla="val 6250"/>
            </a:avLst>
          </a:prstGeom>
          <a:solidFill>
            <a:srgbClr val="FFFFFF">
              <a:alpha val="100000"/>
            </a:srgbClr>
          </a:solidFill>
          <a:ln w="25400" cap="flat" cmpd="sng">
            <a:noFill/>
            <a:prstDash val="solid"/>
            <a:round/>
          </a:ln>
          <a:effectLst>
            <a:outerShdw blurRad="127000" dist="50800" dir="5400000" algn="tl" rotWithShape="0">
              <a:srgbClr val="0288D1">
                <a:alpha val="15000"/>
              </a:srgbClr>
            </a:outerShdw>
          </a:effectLst>
        </p:spPr>
        <p:txBody>
          <a:bodyPr vert="horz" wrap="square" lIns="63500" tIns="63500" rIns="63500" bIns="63500" rtlCol="0" anchor="ctr"/>
          <a:lstStyle/>
          <a:p>
            <a:pPr algn="ctr">
              <a:defRPr/>
            </a:pPr>
          </a:p>
        </p:txBody>
      </p:sp>
      <p:sp>
        <p:nvSpPr>
          <p:cNvPr id="4" name="AutoShape 4"/>
          <p:cNvSpPr/>
          <p:nvPr/>
        </p:nvSpPr>
        <p:spPr>
          <a:xfrm>
            <a:off x="1143000" y="2032000"/>
            <a:ext cx="762000" cy="762000"/>
          </a:xfrm>
          <a:prstGeom prst="ellipse">
            <a:avLst/>
          </a:prstGeom>
          <a:solidFill>
            <a:srgbClr val="0288D1">
              <a:alpha val="10000"/>
            </a:srgbClr>
          </a:solidFill>
          <a:ln w="25400" cap="flat" cmpd="sng">
            <a:noFill/>
            <a:prstDash val="solid"/>
            <a:round/>
          </a:ln>
        </p:spPr>
        <p:txBody>
          <a:bodyPr vert="horz" wrap="square" lIns="63500" tIns="63500" rIns="63500" bIns="63500" rtlCol="0" anchor="ctr"/>
          <a:lstStyle/>
          <a:p>
            <a:pPr algn="ctr">
              <a:defRPr/>
            </a:pPr>
          </a:p>
        </p:txBody>
      </p:sp>
      <p:pic>
        <p:nvPicPr>
          <p:cNvPr id="5" name="Picture 5"/>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295400" y="2184400"/>
            <a:ext cx="457200" cy="457200"/>
          </a:xfrm>
          <a:prstGeom prst="rect">
            <a:avLst/>
          </a:prstGeom>
        </p:spPr>
      </p:pic>
      <p:sp>
        <p:nvSpPr>
          <p:cNvPr id="6" name="AutoShape 6"/>
          <p:cNvSpPr/>
          <p:nvPr/>
        </p:nvSpPr>
        <p:spPr>
          <a:xfrm>
            <a:off x="2159000" y="1841500"/>
            <a:ext cx="8890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200" b="1" i="0" u="none" strike="noStrike">
                <a:solidFill>
                  <a:srgbClr val="0288D1"/>
                </a:solidFill>
                <a:latin typeface="Noto Sans SC"/>
                <a:ea typeface="Noto Sans SC"/>
                <a:cs typeface="Noto Sans SC"/>
                <a:sym typeface="Noto Sans SC"/>
              </a:rPr>
              <a:t>3. 提示词工程</a:t>
            </a:r>
            <a:endParaRPr lang="en-US" sz="1100"/>
          </a:p>
        </p:txBody>
      </p:sp>
      <p:sp>
        <p:nvSpPr>
          <p:cNvPr id="7" name="AutoShape 7"/>
          <p:cNvSpPr/>
          <p:nvPr/>
        </p:nvSpPr>
        <p:spPr>
          <a:xfrm>
            <a:off x="2159000" y="2286000"/>
            <a:ext cx="8890000" cy="11430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800" b="0" i="0" u="none" strike="noStrike">
                <a:solidFill>
                  <a:srgbClr val="757575"/>
                </a:solidFill>
                <a:latin typeface="Noto Sans SC"/>
                <a:ea typeface="Noto Sans SC"/>
                <a:cs typeface="Noto Sans SC"/>
                <a:sym typeface="Noto Sans SC"/>
              </a:rPr>
              <a:t>将用户的原始查询和检索到的Top-K个文本块内容巧妙地组合起来，构建一个结构化的提示词（Prompt），引导大语言模型生成准确的回答。</a:t>
            </a:r>
            <a:endParaRPr lang="en-US" sz="1100"/>
          </a:p>
        </p:txBody>
      </p:sp>
      <p:sp>
        <p:nvSpPr>
          <p:cNvPr id="8" name="AutoShape 8"/>
          <p:cNvSpPr/>
          <p:nvPr/>
        </p:nvSpPr>
        <p:spPr>
          <a:xfrm>
            <a:off x="762000" y="3937000"/>
            <a:ext cx="10668000" cy="2032000"/>
          </a:xfrm>
          <a:prstGeom prst="roundRect">
            <a:avLst>
              <a:gd name="adj" fmla="val 6250"/>
            </a:avLst>
          </a:prstGeom>
          <a:solidFill>
            <a:srgbClr val="FFFFFF">
              <a:alpha val="100000"/>
            </a:srgbClr>
          </a:solidFill>
          <a:ln w="25400" cap="flat" cmpd="sng">
            <a:noFill/>
            <a:prstDash val="solid"/>
            <a:round/>
          </a:ln>
          <a:effectLst>
            <a:outerShdw blurRad="127000" dist="50800" dir="5400000" algn="tl" rotWithShape="0">
              <a:srgbClr val="0288D1">
                <a:alpha val="15000"/>
              </a:srgbClr>
            </a:outerShdw>
          </a:effectLst>
        </p:spPr>
        <p:txBody>
          <a:bodyPr vert="horz" wrap="square" lIns="63500" tIns="63500" rIns="63500" bIns="63500" rtlCol="0" anchor="ctr"/>
          <a:lstStyle/>
          <a:p>
            <a:pPr algn="ctr">
              <a:defRPr/>
            </a:pPr>
          </a:p>
        </p:txBody>
      </p:sp>
      <p:sp>
        <p:nvSpPr>
          <p:cNvPr id="9" name="AutoShape 9"/>
          <p:cNvSpPr/>
          <p:nvPr/>
        </p:nvSpPr>
        <p:spPr>
          <a:xfrm>
            <a:off x="1143000" y="4318000"/>
            <a:ext cx="762000" cy="762000"/>
          </a:xfrm>
          <a:prstGeom prst="ellipse">
            <a:avLst/>
          </a:prstGeom>
          <a:solidFill>
            <a:srgbClr val="0288D1">
              <a:alpha val="10000"/>
            </a:srgbClr>
          </a:solidFill>
          <a:ln w="25400" cap="flat" cmpd="sng">
            <a:noFill/>
            <a:prstDash val="solid"/>
            <a:round/>
          </a:ln>
        </p:spPr>
        <p:txBody>
          <a:bodyPr vert="horz" wrap="square" lIns="63500" tIns="63500" rIns="63500" bIns="63500" rtlCol="0" anchor="ctr"/>
          <a:lstStyle/>
          <a:p>
            <a:pPr algn="ctr">
              <a:defRPr/>
            </a:pPr>
          </a:p>
        </p:txBody>
      </p:sp>
      <p:pic>
        <p:nvPicPr>
          <p:cNvPr id="10" name="Picture 10"/>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295400" y="4470400"/>
            <a:ext cx="457200" cy="457200"/>
          </a:xfrm>
          <a:prstGeom prst="rect">
            <a:avLst/>
          </a:prstGeom>
        </p:spPr>
      </p:pic>
      <p:sp>
        <p:nvSpPr>
          <p:cNvPr id="11" name="AutoShape 11"/>
          <p:cNvSpPr/>
          <p:nvPr/>
        </p:nvSpPr>
        <p:spPr>
          <a:xfrm>
            <a:off x="2159000" y="4127500"/>
            <a:ext cx="8890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200" b="1" i="0" u="none" strike="noStrike">
                <a:solidFill>
                  <a:srgbClr val="0288D1"/>
                </a:solidFill>
                <a:latin typeface="Noto Sans SC"/>
                <a:ea typeface="Noto Sans SC"/>
                <a:cs typeface="Noto Sans SC"/>
                <a:sym typeface="Noto Sans SC"/>
              </a:rPr>
              <a:t>4. 大模型生成</a:t>
            </a:r>
            <a:endParaRPr lang="en-US" sz="1100"/>
          </a:p>
        </p:txBody>
      </p:sp>
      <p:sp>
        <p:nvSpPr>
          <p:cNvPr id="12" name="AutoShape 12"/>
          <p:cNvSpPr/>
          <p:nvPr/>
        </p:nvSpPr>
        <p:spPr>
          <a:xfrm>
            <a:off x="2159000" y="4572000"/>
            <a:ext cx="8890000" cy="11430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800" b="0" i="0" u="none" strike="noStrike">
                <a:solidFill>
                  <a:srgbClr val="757575"/>
                </a:solidFill>
                <a:latin typeface="Noto Sans SC"/>
                <a:ea typeface="Noto Sans SC"/>
                <a:cs typeface="Noto Sans SC"/>
                <a:sym typeface="Noto Sans SC"/>
              </a:rPr>
              <a:t>将构建好的提示词输入到预训练的大语言模型中，模型基于提示词中的上下文信息，生成最终的、自然语言形式的回答结果。</a:t>
            </a:r>
            <a:endParaRPr lang="en-US" sz="110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E0F7FA">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635000"/>
            <a:ext cx="5359400" cy="508000"/>
          </a:xfrm>
          <a:prstGeom prst="rect">
            <a:avLst/>
          </a:prstGeom>
          <a:noFill/>
          <a:ln w="12700" cap="flat" cmpd="sng">
            <a:noFill/>
            <a:prstDash val="solid"/>
            <a:round/>
          </a:ln>
        </p:spPr>
        <p:txBody>
          <a:bodyPr vert="horz" wrap="none" lIns="0" tIns="0" rIns="0" bIns="0" rtlCol="0" anchor="ctr" anchorCtr="0"/>
          <a:lstStyle/>
          <a:p>
            <a:pPr indent="0" algn="l">
              <a:lnSpc>
                <a:spcPct val="125000"/>
              </a:lnSpc>
              <a:defRPr/>
            </a:pPr>
            <a:r>
              <a:rPr lang="en-US" sz="3200" b="1" i="0" u="none" strike="noStrike">
                <a:solidFill>
                  <a:srgbClr val="0288D1"/>
                </a:solidFill>
                <a:latin typeface="Noto Sans SC"/>
                <a:ea typeface="Noto Sans SC"/>
                <a:cs typeface="Noto Sans SC"/>
                <a:sym typeface="Noto Sans SC"/>
              </a:rPr>
              <a:t>3.1.3 经典RAG构建实战</a:t>
            </a:r>
            <a:endParaRPr lang="en-US" sz="1100"/>
          </a:p>
        </p:txBody>
      </p:sp>
      <p:sp>
        <p:nvSpPr>
          <p:cNvPr id="3" name="AutoShape 3"/>
          <p:cNvSpPr/>
          <p:nvPr/>
        </p:nvSpPr>
        <p:spPr>
          <a:xfrm>
            <a:off x="762000" y="1524000"/>
            <a:ext cx="10668000" cy="1143000"/>
          </a:xfrm>
          <a:prstGeom prst="roundRect">
            <a:avLst>
              <a:gd name="adj" fmla="val 11111"/>
            </a:avLst>
          </a:prstGeom>
          <a:solidFill>
            <a:srgbClr val="FFFFFF">
              <a:alpha val="100000"/>
            </a:srgbClr>
          </a:solidFill>
          <a:ln w="25400" cap="flat" cmpd="sng">
            <a:noFill/>
            <a:prstDash val="solid"/>
            <a:round/>
          </a:ln>
          <a:effectLst>
            <a:outerShdw blurRad="127000" dist="50800" dir="5400000" algn="tl" rotWithShape="0">
              <a:srgbClr val="0288D1">
                <a:alpha val="15000"/>
              </a:srgbClr>
            </a:outerShdw>
          </a:effectLst>
        </p:spPr>
        <p:txBody>
          <a:bodyPr vert="horz" wrap="square" lIns="63500" tIns="63500" rIns="63500" bIns="63500" rtlCol="0" anchor="ctr"/>
          <a:lstStyle/>
          <a:p>
            <a:pPr algn="ctr">
              <a:defRPr/>
            </a:pPr>
          </a:p>
        </p:txBody>
      </p:sp>
      <p:pic>
        <p:nvPicPr>
          <p:cNvPr id="4" name="Picture 4"/>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016000" y="1841500"/>
            <a:ext cx="508000" cy="508000"/>
          </a:xfrm>
          <a:prstGeom prst="rect">
            <a:avLst/>
          </a:prstGeom>
        </p:spPr>
      </p:pic>
      <p:sp>
        <p:nvSpPr>
          <p:cNvPr id="5" name="AutoShape 5"/>
          <p:cNvSpPr/>
          <p:nvPr/>
        </p:nvSpPr>
        <p:spPr>
          <a:xfrm>
            <a:off x="1714500" y="1714500"/>
            <a:ext cx="9398000" cy="762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0288D1"/>
                </a:solidFill>
                <a:latin typeface="Noto Sans SC"/>
                <a:ea typeface="Noto Sans SC"/>
                <a:cs typeface="Noto Sans SC"/>
                <a:sym typeface="Noto Sans SC"/>
              </a:rPr>
              <a:t>实战场景：ChatPDF 智能问答</a:t>
            </a:r>
            <a:endParaRPr lang="en-US" sz="1100"/>
          </a:p>
          <a:p>
            <a:pPr indent="0" algn="l">
              <a:lnSpc>
                <a:spcPct val="125000"/>
              </a:lnSpc>
            </a:pPr>
            <a:r>
              <a:rPr lang="en-US" sz="1600" b="0" i="0" u="none" strike="noStrike">
                <a:solidFill>
                  <a:srgbClr val="757575"/>
                </a:solidFill>
                <a:latin typeface="Noto Sans SC"/>
                <a:ea typeface="Noto Sans SC"/>
                <a:cs typeface="Noto Sans SC"/>
                <a:sym typeface="Noto Sans SC"/>
              </a:rPr>
              <a:t>以文档问答为切入点，通过具体案例演示经典RAG架构的完整构建流程。</a:t>
            </a:r>
            <a:endParaRPr lang="en-US" sz="1600" b="0" i="0" u="none" strike="noStrike">
              <a:solidFill>
                <a:srgbClr val="757575"/>
              </a:solidFill>
              <a:latin typeface="Noto Sans SC"/>
              <a:ea typeface="Noto Sans SC"/>
              <a:cs typeface="Noto Sans SC"/>
              <a:sym typeface="Noto Sans SC"/>
            </a:endParaRPr>
          </a:p>
        </p:txBody>
      </p:sp>
      <p:sp>
        <p:nvSpPr>
          <p:cNvPr id="6" name="AutoShape 6"/>
          <p:cNvSpPr/>
          <p:nvPr/>
        </p:nvSpPr>
        <p:spPr>
          <a:xfrm>
            <a:off x="762000" y="2921000"/>
            <a:ext cx="10668000" cy="1143000"/>
          </a:xfrm>
          <a:prstGeom prst="roundRect">
            <a:avLst>
              <a:gd name="adj" fmla="val 11111"/>
            </a:avLst>
          </a:prstGeom>
          <a:solidFill>
            <a:srgbClr val="FFFFFF">
              <a:alpha val="100000"/>
            </a:srgbClr>
          </a:solidFill>
          <a:ln w="25400" cap="flat" cmpd="sng">
            <a:noFill/>
            <a:prstDash val="solid"/>
            <a:round/>
          </a:ln>
          <a:effectLst>
            <a:outerShdw blurRad="127000" dist="50800" dir="5400000" algn="tl" rotWithShape="0">
              <a:srgbClr val="0288D1">
                <a:alpha val="15000"/>
              </a:srgbClr>
            </a:outerShdw>
          </a:effectLst>
        </p:spPr>
        <p:txBody>
          <a:bodyPr vert="horz" wrap="square" lIns="63500" tIns="63500" rIns="63500" bIns="63500" rtlCol="0" anchor="ctr"/>
          <a:lstStyle/>
          <a:p>
            <a:pPr algn="ctr">
              <a:defRPr/>
            </a:pPr>
          </a:p>
        </p:txBody>
      </p:sp>
      <p:pic>
        <p:nvPicPr>
          <p:cNvPr id="7" name="Picture 7"/>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16000" y="3238500"/>
            <a:ext cx="508000" cy="508000"/>
          </a:xfrm>
          <a:prstGeom prst="rect">
            <a:avLst/>
          </a:prstGeom>
        </p:spPr>
      </p:pic>
      <p:sp>
        <p:nvSpPr>
          <p:cNvPr id="8" name="AutoShape 8"/>
          <p:cNvSpPr/>
          <p:nvPr/>
        </p:nvSpPr>
        <p:spPr>
          <a:xfrm>
            <a:off x="1714500" y="3111500"/>
            <a:ext cx="9398000" cy="762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0288D1"/>
                </a:solidFill>
                <a:latin typeface="Noto Sans SC"/>
                <a:ea typeface="Noto Sans SC"/>
                <a:cs typeface="Noto Sans SC"/>
                <a:sym typeface="Noto Sans SC"/>
              </a:rPr>
              <a:t>核心技术栈</a:t>
            </a:r>
            <a:endParaRPr lang="en-US" sz="1100"/>
          </a:p>
          <a:p>
            <a:pPr indent="0" algn="l">
              <a:lnSpc>
                <a:spcPct val="125000"/>
              </a:lnSpc>
            </a:pPr>
            <a:r>
              <a:rPr lang="en-US" sz="1600" b="0" i="0" u="none" strike="noStrike">
                <a:solidFill>
                  <a:srgbClr val="757575"/>
                </a:solidFill>
                <a:latin typeface="Noto Sans SC"/>
                <a:ea typeface="Noto Sans SC"/>
                <a:cs typeface="Noto Sans SC"/>
                <a:sym typeface="Noto Sans SC"/>
              </a:rPr>
              <a:t>大模型：通义千问 (Qwen) | 应用框架：LangChain</a:t>
            </a:r>
            <a:endParaRPr lang="en-US" sz="1600" b="0" i="0" u="none" strike="noStrike">
              <a:solidFill>
                <a:srgbClr val="757575"/>
              </a:solidFill>
              <a:latin typeface="Noto Sans SC"/>
              <a:ea typeface="Noto Sans SC"/>
              <a:cs typeface="Noto Sans SC"/>
              <a:sym typeface="Noto Sans SC"/>
            </a:endParaRPr>
          </a:p>
        </p:txBody>
      </p:sp>
      <p:sp>
        <p:nvSpPr>
          <p:cNvPr id="9" name="AutoShape 9"/>
          <p:cNvSpPr/>
          <p:nvPr/>
        </p:nvSpPr>
        <p:spPr>
          <a:xfrm>
            <a:off x="762000" y="4318000"/>
            <a:ext cx="10668000" cy="1143000"/>
          </a:xfrm>
          <a:prstGeom prst="roundRect">
            <a:avLst>
              <a:gd name="adj" fmla="val 11111"/>
            </a:avLst>
          </a:prstGeom>
          <a:solidFill>
            <a:srgbClr val="FFFFFF">
              <a:alpha val="100000"/>
            </a:srgbClr>
          </a:solidFill>
          <a:ln w="25400" cap="flat" cmpd="sng">
            <a:noFill/>
            <a:prstDash val="solid"/>
            <a:round/>
          </a:ln>
          <a:effectLst>
            <a:outerShdw blurRad="127000" dist="50800" dir="5400000" algn="tl" rotWithShape="0">
              <a:srgbClr val="0288D1">
                <a:alpha val="15000"/>
              </a:srgbClr>
            </a:outerShdw>
          </a:effectLst>
        </p:spPr>
        <p:txBody>
          <a:bodyPr vert="horz" wrap="square" lIns="63500" tIns="63500" rIns="63500" bIns="63500" rtlCol="0" anchor="ctr"/>
          <a:lstStyle/>
          <a:p>
            <a:pPr algn="ctr">
              <a:defRPr/>
            </a:pPr>
          </a:p>
        </p:txBody>
      </p:sp>
      <p:pic>
        <p:nvPicPr>
          <p:cNvPr id="10" name="Picture 10"/>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016000" y="4635500"/>
            <a:ext cx="508000" cy="508000"/>
          </a:xfrm>
          <a:prstGeom prst="rect">
            <a:avLst/>
          </a:prstGeom>
        </p:spPr>
      </p:pic>
      <p:sp>
        <p:nvSpPr>
          <p:cNvPr id="11" name="AutoShape 11"/>
          <p:cNvSpPr/>
          <p:nvPr/>
        </p:nvSpPr>
        <p:spPr>
          <a:xfrm>
            <a:off x="1714500" y="4508500"/>
            <a:ext cx="9398000" cy="762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0288D1"/>
                </a:solidFill>
                <a:latin typeface="Noto Sans SC"/>
                <a:ea typeface="Noto Sans SC"/>
                <a:cs typeface="Noto Sans SC"/>
                <a:sym typeface="Noto Sans SC"/>
              </a:rPr>
              <a:t>实战环节拆解</a:t>
            </a:r>
            <a:endParaRPr lang="en-US" sz="1100"/>
          </a:p>
          <a:p>
            <a:pPr indent="0" algn="l">
              <a:lnSpc>
                <a:spcPct val="125000"/>
              </a:lnSpc>
            </a:pPr>
            <a:r>
              <a:rPr lang="en-US" sz="1600" b="0" i="0" u="none" strike="noStrike">
                <a:solidFill>
                  <a:srgbClr val="757575"/>
                </a:solidFill>
                <a:latin typeface="Noto Sans SC"/>
                <a:ea typeface="Noto Sans SC"/>
                <a:cs typeface="Noto Sans SC"/>
                <a:sym typeface="Noto Sans SC"/>
              </a:rPr>
              <a:t>第一部分：离线构建知识库 (Embedding &amp; Vector DB)</a:t>
            </a:r>
            <a:endParaRPr lang="en-US" sz="1600" b="0" i="0" u="none" strike="noStrike">
              <a:solidFill>
                <a:srgbClr val="757575"/>
              </a:solidFill>
              <a:latin typeface="Noto Sans SC"/>
              <a:ea typeface="Noto Sans SC"/>
              <a:cs typeface="Noto Sans SC"/>
              <a:sym typeface="Noto Sans SC"/>
            </a:endParaRPr>
          </a:p>
          <a:p>
            <a:pPr indent="0" algn="l">
              <a:lnSpc>
                <a:spcPct val="125000"/>
              </a:lnSpc>
            </a:pPr>
            <a:r>
              <a:rPr lang="en-US" sz="1600" b="0" i="0" u="none" strike="noStrike">
                <a:solidFill>
                  <a:srgbClr val="757575"/>
                </a:solidFill>
                <a:latin typeface="Noto Sans SC"/>
                <a:ea typeface="Noto Sans SC"/>
                <a:cs typeface="Noto Sans SC"/>
                <a:sym typeface="Noto Sans SC"/>
              </a:rPr>
              <a:t>第二部分：在线实时查询 (Retrieval &amp; Generation)</a:t>
            </a:r>
            <a:endParaRPr lang="en-US" sz="1600" b="0" i="0" u="none" strike="noStrike">
              <a:solidFill>
                <a:srgbClr val="757575"/>
              </a:solidFill>
              <a:latin typeface="Noto Sans SC"/>
              <a:ea typeface="Noto Sans SC"/>
              <a:cs typeface="Noto Sans SC"/>
              <a:sym typeface="Noto Sans SC"/>
            </a:endParaRPr>
          </a:p>
        </p:txBody>
      </p:sp>
      <p:sp>
        <p:nvSpPr>
          <p:cNvPr id="12" name="AutoShape 12"/>
          <p:cNvSpPr/>
          <p:nvPr/>
        </p:nvSpPr>
        <p:spPr>
          <a:xfrm>
            <a:off x="762000" y="5842000"/>
            <a:ext cx="10668000" cy="50800"/>
          </a:xfrm>
          <a:prstGeom prst="roundRect">
            <a:avLst>
              <a:gd name="adj" fmla="val 0"/>
            </a:avLst>
          </a:prstGeom>
          <a:solidFill>
            <a:srgbClr val="0288D1">
              <a:alpha val="100000"/>
            </a:srgbClr>
          </a:solidFill>
          <a:ln w="25400" cap="flat" cmpd="sng">
            <a:noFill/>
            <a:prstDash val="solid"/>
            <a:round/>
          </a:ln>
        </p:spPr>
        <p:txBody>
          <a:bodyPr vert="horz" wrap="square" lIns="63500" tIns="63500" rIns="63500" bIns="63500" rtlCol="0" anchor="ctr"/>
          <a:lstStyle/>
          <a:p>
            <a:pPr algn="ctr">
              <a:defRPr/>
            </a:p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E0F7FA">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635000"/>
            <a:ext cx="10668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0288D1"/>
                </a:solidFill>
                <a:latin typeface="Noto Sans SC"/>
                <a:ea typeface="Noto Sans SC"/>
                <a:cs typeface="Noto Sans SC"/>
                <a:sym typeface="Noto Sans SC"/>
              </a:rPr>
              <a:t>离线构建知识库：数据抽取</a:t>
            </a:r>
            <a:endParaRPr lang="en-US" sz="1100"/>
          </a:p>
        </p:txBody>
      </p:sp>
      <p:sp>
        <p:nvSpPr>
          <p:cNvPr id="3" name="AutoShape 3"/>
          <p:cNvSpPr/>
          <p:nvPr/>
        </p:nvSpPr>
        <p:spPr>
          <a:xfrm>
            <a:off x="762000" y="1397000"/>
            <a:ext cx="6604000" cy="3556000"/>
          </a:xfrm>
          <a:prstGeom prst="roundRect">
            <a:avLst>
              <a:gd name="adj" fmla="val 3571"/>
            </a:avLst>
          </a:prstGeom>
          <a:solidFill>
            <a:srgbClr val="FFFFFF">
              <a:alpha val="100000"/>
            </a:srgbClr>
          </a:solidFill>
          <a:ln w="25400" cap="flat" cmpd="sng">
            <a:noFill/>
            <a:prstDash val="solid"/>
            <a:round/>
          </a:ln>
          <a:effectLst>
            <a:outerShdw blurRad="127000" dist="50800" dir="5400000" algn="tl" rotWithShape="0">
              <a:srgbClr val="0288D1">
                <a:alpha val="15000"/>
              </a:srgbClr>
            </a:outerShdw>
          </a:effectLst>
        </p:spPr>
        <p:txBody>
          <a:bodyPr vert="horz" wrap="square" lIns="63500" tIns="63500" rIns="63500" bIns="63500" rtlCol="0" anchor="ctr"/>
          <a:lstStyle/>
          <a:p>
            <a:pPr algn="ctr">
              <a:defRPr/>
            </a:pPr>
          </a:p>
        </p:txBody>
      </p:sp>
      <p:sp>
        <p:nvSpPr>
          <p:cNvPr id="4" name="AutoShape 4"/>
          <p:cNvSpPr/>
          <p:nvPr/>
        </p:nvSpPr>
        <p:spPr>
          <a:xfrm>
            <a:off x="1016000" y="1587500"/>
            <a:ext cx="6096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757575"/>
                </a:solidFill>
                <a:latin typeface="Noto Sans SC"/>
                <a:ea typeface="Noto Sans SC"/>
                <a:cs typeface="Noto Sans SC"/>
                <a:sym typeface="Noto Sans SC"/>
              </a:rPr>
              <a:t>Python 实现代码</a:t>
            </a:r>
            <a:endParaRPr lang="en-US" sz="1100"/>
          </a:p>
        </p:txBody>
      </p:sp>
      <p:sp>
        <p:nvSpPr>
          <p:cNvPr id="5" name="AutoShape 5"/>
          <p:cNvSpPr/>
          <p:nvPr/>
        </p:nvSpPr>
        <p:spPr>
          <a:xfrm>
            <a:off x="1016000" y="1968500"/>
            <a:ext cx="6096000" cy="27940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400" b="0" i="0" u="none" strike="noStrike">
                <a:solidFill>
                  <a:srgbClr val="D73A49"/>
                </a:solidFill>
                <a:latin typeface="Roboto Mono"/>
                <a:ea typeface="Roboto Mono"/>
                <a:cs typeface="Roboto Mono"/>
                <a:sym typeface="Roboto Mono"/>
              </a:rPr>
              <a:t>import</a:t>
            </a:r>
            <a:r>
              <a:rPr lang="en-US" sz="1400" b="0" i="0" u="none" strike="noStrike">
                <a:solidFill>
                  <a:srgbClr val="212121"/>
                </a:solidFill>
                <a:latin typeface="Roboto Mono"/>
                <a:ea typeface="Roboto Mono"/>
                <a:cs typeface="Roboto Mono"/>
                <a:sym typeface="Roboto Mono"/>
              </a:rPr>
              <a:t>pypdfium2</a:t>
            </a:r>
            <a:endParaRPr lang="en-US" sz="1100"/>
          </a:p>
          <a:p>
            <a:pPr indent="0" algn="l">
              <a:lnSpc>
                <a:spcPct val="100000"/>
              </a:lnSpc>
            </a:pPr>
            <a:r>
              <a:rPr lang="en-US" sz="1400" b="0" i="0" u="none" strike="noStrike">
                <a:solidFill>
                  <a:srgbClr val="D73A49"/>
                </a:solidFill>
                <a:latin typeface="Roboto Mono"/>
                <a:ea typeface="Roboto Mono"/>
                <a:cs typeface="Roboto Mono"/>
                <a:sym typeface="Roboto Mono"/>
              </a:rPr>
              <a:t>from</a:t>
            </a:r>
            <a:r>
              <a:rPr lang="en-US" sz="1400" b="0" i="0" u="none" strike="noStrike">
                <a:solidFill>
                  <a:srgbClr val="212121"/>
                </a:solidFill>
                <a:latin typeface="Roboto Mono"/>
                <a:ea typeface="Roboto Mono"/>
                <a:cs typeface="Roboto Mono"/>
                <a:sym typeface="Roboto Mono"/>
              </a:rPr>
              <a:t>typing</a:t>
            </a:r>
            <a:r>
              <a:rPr lang="en-US" sz="1400" b="0" i="0" u="none" strike="noStrike">
                <a:solidFill>
                  <a:srgbClr val="D73A49"/>
                </a:solidFill>
                <a:latin typeface="Roboto Mono"/>
                <a:ea typeface="Roboto Mono"/>
                <a:cs typeface="Roboto Mono"/>
                <a:sym typeface="Roboto Mono"/>
              </a:rPr>
              <a:t>import</a:t>
            </a:r>
            <a:r>
              <a:rPr lang="en-US" sz="1400" b="0" i="0" u="none" strike="noStrike">
                <a:solidFill>
                  <a:srgbClr val="212121"/>
                </a:solidFill>
                <a:latin typeface="Roboto Mono"/>
                <a:ea typeface="Roboto Mono"/>
                <a:cs typeface="Roboto Mono"/>
                <a:sym typeface="Roboto Mono"/>
              </a:rPr>
              <a:t>List</a:t>
            </a:r>
            <a:endParaRPr lang="en-US" sz="1400" b="0" i="0" u="none" strike="noStrike">
              <a:solidFill>
                <a:srgbClr val="212121"/>
              </a:solidFill>
              <a:latin typeface="Roboto Mono"/>
              <a:ea typeface="Roboto Mono"/>
              <a:cs typeface="Roboto Mono"/>
              <a:sym typeface="Roboto Mono"/>
            </a:endParaRPr>
          </a:p>
          <a:p>
            <a:pPr indent="0" algn="l">
              <a:lnSpc>
                <a:spcPct val="100000"/>
              </a:lnSpc>
            </a:pPr>
            <a:r>
              <a:rPr lang="en-US" sz="1400" b="0" i="0" u="none" strike="noStrike">
                <a:solidFill>
                  <a:srgbClr val="D73A49"/>
                </a:solidFill>
                <a:latin typeface="Roboto Mono"/>
                <a:ea typeface="Roboto Mono"/>
                <a:cs typeface="Roboto Mono"/>
                <a:sym typeface="Roboto Mono"/>
              </a:rPr>
              <a:t>from</a:t>
            </a:r>
            <a:r>
              <a:rPr lang="en-US" sz="1400" b="0" i="0" u="none" strike="noStrike">
                <a:solidFill>
                  <a:srgbClr val="212121"/>
                </a:solidFill>
                <a:latin typeface="Roboto Mono"/>
                <a:ea typeface="Roboto Mono"/>
                <a:cs typeface="Roboto Mono"/>
                <a:sym typeface="Roboto Mono"/>
              </a:rPr>
              <a:t>langchain_core.documents</a:t>
            </a:r>
            <a:r>
              <a:rPr lang="en-US" sz="1400" b="0" i="0" u="none" strike="noStrike">
                <a:solidFill>
                  <a:srgbClr val="D73A49"/>
                </a:solidFill>
                <a:latin typeface="Roboto Mono"/>
                <a:ea typeface="Roboto Mono"/>
                <a:cs typeface="Roboto Mono"/>
                <a:sym typeface="Roboto Mono"/>
              </a:rPr>
              <a:t>import</a:t>
            </a:r>
            <a:r>
              <a:rPr lang="en-US" sz="1400" b="0" i="0" u="none" strike="noStrike">
                <a:solidFill>
                  <a:srgbClr val="212121"/>
                </a:solidFill>
                <a:latin typeface="Roboto Mono"/>
                <a:ea typeface="Roboto Mono"/>
                <a:cs typeface="Roboto Mono"/>
                <a:sym typeface="Roboto Mono"/>
              </a:rPr>
              <a:t>Document</a:t>
            </a:r>
            <a:endParaRPr lang="en-US" sz="1400" b="0" i="0" u="none" strike="noStrike">
              <a:solidFill>
                <a:srgbClr val="212121"/>
              </a:solidFill>
              <a:latin typeface="Roboto Mono"/>
              <a:ea typeface="Roboto Mono"/>
              <a:cs typeface="Roboto Mono"/>
              <a:sym typeface="Roboto Mono"/>
            </a:endParaRPr>
          </a:p>
          <a:p>
            <a:pPr indent="0" algn="l">
              <a:lnSpc>
                <a:spcPct val="100000"/>
              </a:lnSpc>
            </a:pPr>
          </a:p>
          <a:p>
            <a:pPr indent="0" algn="l">
              <a:lnSpc>
                <a:spcPct val="100000"/>
              </a:lnSpc>
            </a:pPr>
            <a:r>
              <a:rPr lang="en-US" sz="1400" b="0" i="0" u="none" strike="noStrike">
                <a:solidFill>
                  <a:srgbClr val="D73A49"/>
                </a:solidFill>
                <a:latin typeface="Roboto Mono"/>
                <a:ea typeface="Roboto Mono"/>
                <a:cs typeface="Roboto Mono"/>
                <a:sym typeface="Roboto Mono"/>
              </a:rPr>
              <a:t>def</a:t>
            </a:r>
            <a:r>
              <a:rPr lang="en-US" sz="1400" b="0" i="0" u="none" strike="noStrike">
                <a:solidFill>
                  <a:srgbClr val="212121"/>
                </a:solidFill>
                <a:latin typeface="Roboto Mono"/>
                <a:ea typeface="Roboto Mono"/>
                <a:cs typeface="Roboto Mono"/>
                <a:sym typeface="Roboto Mono"/>
              </a:rPr>
              <a:t>parse_pdf_file(file_name):</a:t>
            </a:r>
            <a:endParaRPr lang="en-US" sz="1400" b="0" i="0" u="none" strike="noStrike">
              <a:solidFill>
                <a:srgbClr val="212121"/>
              </a:solidFill>
              <a:latin typeface="Roboto Mono"/>
              <a:ea typeface="Roboto Mono"/>
              <a:cs typeface="Roboto Mono"/>
              <a:sym typeface="Roboto Mono"/>
            </a:endParaRPr>
          </a:p>
          <a:p>
            <a:pPr indent="0" algn="l">
              <a:lnSpc>
                <a:spcPct val="100000"/>
              </a:lnSpc>
            </a:pPr>
            <a:r>
              <a:rPr lang="en-US" sz="1400" b="0" i="0" u="none" strike="noStrike">
                <a:solidFill>
                  <a:srgbClr val="212121"/>
                </a:solidFill>
                <a:latin typeface="Roboto Mono"/>
                <a:ea typeface="Roboto Mono"/>
                <a:cs typeface="Roboto Mono"/>
                <a:sym typeface="Roboto Mono"/>
              </a:rPr>
              <a:t>docs = []</a:t>
            </a:r>
            <a:endParaRPr lang="en-US" sz="1400" b="0" i="0" u="none" strike="noStrike">
              <a:solidFill>
                <a:srgbClr val="212121"/>
              </a:solidFill>
              <a:latin typeface="Roboto Mono"/>
              <a:ea typeface="Roboto Mono"/>
              <a:cs typeface="Roboto Mono"/>
              <a:sym typeface="Roboto Mono"/>
            </a:endParaRPr>
          </a:p>
          <a:p>
            <a:pPr indent="0" algn="l">
              <a:lnSpc>
                <a:spcPct val="100000"/>
              </a:lnSpc>
            </a:pPr>
            <a:r>
              <a:rPr lang="en-US" sz="1400" b="0" i="0" u="none" strike="noStrike">
                <a:solidFill>
                  <a:srgbClr val="212121"/>
                </a:solidFill>
                <a:latin typeface="Roboto Mono"/>
                <a:ea typeface="Roboto Mono"/>
                <a:cs typeface="Roboto Mono"/>
                <a:sym typeface="Roboto Mono"/>
              </a:rPr>
              <a:t>pdf_reader = pypdfium2.PdfDocument(file_name)</a:t>
            </a:r>
            <a:endParaRPr lang="en-US" sz="1400" b="0" i="0" u="none" strike="noStrike">
              <a:solidFill>
                <a:srgbClr val="212121"/>
              </a:solidFill>
              <a:latin typeface="Roboto Mono"/>
              <a:ea typeface="Roboto Mono"/>
              <a:cs typeface="Roboto Mono"/>
              <a:sym typeface="Roboto Mono"/>
            </a:endParaRPr>
          </a:p>
          <a:p>
            <a:pPr indent="0" algn="l">
              <a:lnSpc>
                <a:spcPct val="100000"/>
              </a:lnSpc>
            </a:pPr>
            <a:r>
              <a:rPr lang="en-US" sz="1400" b="0" i="0" u="none" strike="noStrike">
                <a:solidFill>
                  <a:srgbClr val="D73A49"/>
                </a:solidFill>
                <a:latin typeface="Roboto Mono"/>
                <a:ea typeface="Roboto Mono"/>
                <a:cs typeface="Roboto Mono"/>
                <a:sym typeface="Roboto Mono"/>
              </a:rPr>
              <a:t>try:</a:t>
            </a:r>
            <a:endParaRPr lang="en-US" sz="1400" b="0" i="0" u="none" strike="noStrike">
              <a:solidFill>
                <a:srgbClr val="D73A49"/>
              </a:solidFill>
              <a:latin typeface="Roboto Mono"/>
              <a:ea typeface="Roboto Mono"/>
              <a:cs typeface="Roboto Mono"/>
              <a:sym typeface="Roboto Mono"/>
            </a:endParaRPr>
          </a:p>
          <a:p>
            <a:pPr indent="0" algn="l">
              <a:lnSpc>
                <a:spcPct val="100000"/>
              </a:lnSpc>
            </a:pPr>
            <a:r>
              <a:rPr lang="en-US" sz="1400" b="0" i="0" u="none" strike="noStrike">
                <a:solidFill>
                  <a:srgbClr val="D73A49"/>
                </a:solidFill>
                <a:latin typeface="Roboto Mono"/>
                <a:ea typeface="Roboto Mono"/>
                <a:cs typeface="Roboto Mono"/>
                <a:sym typeface="Roboto Mono"/>
              </a:rPr>
              <a:t>for</a:t>
            </a:r>
            <a:r>
              <a:rPr lang="en-US" sz="1400" b="0" i="0" u="none" strike="noStrike">
                <a:solidFill>
                  <a:srgbClr val="212121"/>
                </a:solidFill>
                <a:latin typeface="Roboto Mono"/>
                <a:ea typeface="Roboto Mono"/>
                <a:cs typeface="Roboto Mono"/>
                <a:sym typeface="Roboto Mono"/>
              </a:rPr>
              <a:t>page_num, page</a:t>
            </a:r>
            <a:r>
              <a:rPr lang="en-US" sz="1400" b="0" i="0" u="none" strike="noStrike">
                <a:solidFill>
                  <a:srgbClr val="D73A49"/>
                </a:solidFill>
                <a:latin typeface="Roboto Mono"/>
                <a:ea typeface="Roboto Mono"/>
                <a:cs typeface="Roboto Mono"/>
                <a:sym typeface="Roboto Mono"/>
              </a:rPr>
              <a:t>in</a:t>
            </a:r>
            <a:r>
              <a:rPr lang="en-US" sz="1400" b="0" i="0" u="none" strike="noStrike">
                <a:solidFill>
                  <a:srgbClr val="212121"/>
                </a:solidFill>
                <a:latin typeface="Roboto Mono"/>
                <a:ea typeface="Roboto Mono"/>
                <a:cs typeface="Roboto Mono"/>
                <a:sym typeface="Roboto Mono"/>
              </a:rPr>
              <a:t>enumerate(pdf_reader):</a:t>
            </a:r>
            <a:endParaRPr lang="en-US" sz="1400" b="0" i="0" u="none" strike="noStrike">
              <a:solidFill>
                <a:srgbClr val="212121"/>
              </a:solidFill>
              <a:latin typeface="Roboto Mono"/>
              <a:ea typeface="Roboto Mono"/>
              <a:cs typeface="Roboto Mono"/>
              <a:sym typeface="Roboto Mono"/>
            </a:endParaRPr>
          </a:p>
          <a:p>
            <a:pPr indent="0" algn="l">
              <a:lnSpc>
                <a:spcPct val="100000"/>
              </a:lnSpc>
            </a:pPr>
            <a:r>
              <a:rPr lang="en-US" sz="1400" b="0" i="0" u="none" strike="noStrike">
                <a:solidFill>
                  <a:srgbClr val="212121"/>
                </a:solidFill>
                <a:latin typeface="Roboto Mono"/>
                <a:ea typeface="Roboto Mono"/>
                <a:cs typeface="Roboto Mono"/>
                <a:sym typeface="Roboto Mono"/>
              </a:rPr>
              <a:t>content = page.get_textpage().get_text_range()</a:t>
            </a:r>
            <a:endParaRPr lang="en-US" sz="1400" b="0" i="0" u="none" strike="noStrike">
              <a:solidFill>
                <a:srgbClr val="212121"/>
              </a:solidFill>
              <a:latin typeface="Roboto Mono"/>
              <a:ea typeface="Roboto Mono"/>
              <a:cs typeface="Roboto Mono"/>
              <a:sym typeface="Roboto Mono"/>
            </a:endParaRPr>
          </a:p>
          <a:p>
            <a:pPr indent="0" algn="l">
              <a:lnSpc>
                <a:spcPct val="100000"/>
              </a:lnSpc>
            </a:pPr>
            <a:r>
              <a:rPr lang="en-US" sz="1400" b="0" i="0" u="none" strike="noStrike">
                <a:solidFill>
                  <a:srgbClr val="212121"/>
                </a:solidFill>
                <a:latin typeface="Roboto Mono"/>
                <a:ea typeface="Roboto Mono"/>
                <a:cs typeface="Roboto Mono"/>
                <a:sym typeface="Roboto Mono"/>
              </a:rPr>
              <a:t>metadata = {</a:t>
            </a:r>
            <a:r>
              <a:rPr lang="en-US" sz="1400" b="0" i="0" u="none" strike="noStrike">
                <a:solidFill>
                  <a:srgbClr val="059669"/>
                </a:solidFill>
                <a:latin typeface="Roboto Mono"/>
                <a:ea typeface="Roboto Mono"/>
                <a:cs typeface="Roboto Mono"/>
                <a:sym typeface="Roboto Mono"/>
              </a:rPr>
              <a:t>"page"</a:t>
            </a:r>
            <a:r>
              <a:rPr lang="en-US" sz="1400" b="0" i="0" u="none" strike="noStrike">
                <a:solidFill>
                  <a:srgbClr val="212121"/>
                </a:solidFill>
                <a:latin typeface="Roboto Mono"/>
                <a:ea typeface="Roboto Mono"/>
                <a:cs typeface="Roboto Mono"/>
                <a:sym typeface="Roboto Mono"/>
              </a:rPr>
              <a:t>: page_num}</a:t>
            </a:r>
            <a:endParaRPr lang="en-US" sz="1400" b="0" i="0" u="none" strike="noStrike">
              <a:solidFill>
                <a:srgbClr val="212121"/>
              </a:solidFill>
              <a:latin typeface="Roboto Mono"/>
              <a:ea typeface="Roboto Mono"/>
              <a:cs typeface="Roboto Mono"/>
              <a:sym typeface="Roboto Mono"/>
            </a:endParaRPr>
          </a:p>
          <a:p>
            <a:pPr indent="0" algn="l">
              <a:lnSpc>
                <a:spcPct val="100000"/>
              </a:lnSpc>
            </a:pPr>
            <a:r>
              <a:rPr lang="en-US" sz="1400" b="0" i="0" u="none" strike="noStrike">
                <a:solidFill>
                  <a:srgbClr val="212121"/>
                </a:solidFill>
                <a:latin typeface="Roboto Mono"/>
                <a:ea typeface="Roboto Mono"/>
                <a:cs typeface="Roboto Mono"/>
                <a:sym typeface="Roboto Mono"/>
              </a:rPr>
              <a:t>docs.append(Document(page_content=content, metadata=metadata))</a:t>
            </a:r>
            <a:endParaRPr lang="en-US" sz="1400" b="0" i="0" u="none" strike="noStrike">
              <a:solidFill>
                <a:srgbClr val="212121"/>
              </a:solidFill>
              <a:latin typeface="Roboto Mono"/>
              <a:ea typeface="Roboto Mono"/>
              <a:cs typeface="Roboto Mono"/>
              <a:sym typeface="Roboto Mono"/>
            </a:endParaRPr>
          </a:p>
          <a:p>
            <a:pPr indent="0" algn="l">
              <a:lnSpc>
                <a:spcPct val="100000"/>
              </a:lnSpc>
            </a:pPr>
            <a:r>
              <a:rPr lang="en-US" sz="1400" b="0" i="0" u="none" strike="noStrike">
                <a:solidFill>
                  <a:srgbClr val="D73A49"/>
                </a:solidFill>
                <a:latin typeface="Roboto Mono"/>
                <a:ea typeface="Roboto Mono"/>
                <a:cs typeface="Roboto Mono"/>
                <a:sym typeface="Roboto Mono"/>
              </a:rPr>
              <a:t>finally:</a:t>
            </a:r>
            <a:endParaRPr lang="en-US" sz="1400" b="0" i="0" u="none" strike="noStrike">
              <a:solidFill>
                <a:srgbClr val="D73A49"/>
              </a:solidFill>
              <a:latin typeface="Roboto Mono"/>
              <a:ea typeface="Roboto Mono"/>
              <a:cs typeface="Roboto Mono"/>
              <a:sym typeface="Roboto Mono"/>
            </a:endParaRPr>
          </a:p>
          <a:p>
            <a:pPr indent="0" algn="l">
              <a:lnSpc>
                <a:spcPct val="100000"/>
              </a:lnSpc>
            </a:pPr>
            <a:r>
              <a:rPr lang="en-US" sz="1400" b="0" i="0" u="none" strike="noStrike">
                <a:solidFill>
                  <a:srgbClr val="212121"/>
                </a:solidFill>
                <a:latin typeface="Roboto Mono"/>
                <a:ea typeface="Roboto Mono"/>
                <a:cs typeface="Roboto Mono"/>
                <a:sym typeface="Roboto Mono"/>
              </a:rPr>
              <a:t>pdf_reader.close()</a:t>
            </a:r>
            <a:endParaRPr lang="en-US" sz="1400" b="0" i="0" u="none" strike="noStrike">
              <a:solidFill>
                <a:srgbClr val="212121"/>
              </a:solidFill>
              <a:latin typeface="Roboto Mono"/>
              <a:ea typeface="Roboto Mono"/>
              <a:cs typeface="Roboto Mono"/>
              <a:sym typeface="Roboto Mono"/>
            </a:endParaRPr>
          </a:p>
          <a:p>
            <a:pPr indent="0" algn="l">
              <a:lnSpc>
                <a:spcPct val="100000"/>
              </a:lnSpc>
            </a:pPr>
            <a:r>
              <a:rPr lang="en-US" sz="1400" b="0" i="0" u="none" strike="noStrike">
                <a:solidFill>
                  <a:srgbClr val="D73A49"/>
                </a:solidFill>
                <a:latin typeface="Roboto Mono"/>
                <a:ea typeface="Roboto Mono"/>
                <a:cs typeface="Roboto Mono"/>
                <a:sym typeface="Roboto Mono"/>
              </a:rPr>
              <a:t>return</a:t>
            </a:r>
            <a:r>
              <a:rPr lang="en-US" sz="1400" b="0" i="0" u="none" strike="noStrike">
                <a:solidFill>
                  <a:srgbClr val="212121"/>
                </a:solidFill>
                <a:latin typeface="Roboto Mono"/>
                <a:ea typeface="Roboto Mono"/>
                <a:cs typeface="Roboto Mono"/>
                <a:sym typeface="Roboto Mono"/>
              </a:rPr>
              <a:t>docs</a:t>
            </a:r>
            <a:endParaRPr lang="en-US" sz="1400" b="0" i="0" u="none" strike="noStrike">
              <a:solidFill>
                <a:srgbClr val="212121"/>
              </a:solidFill>
              <a:latin typeface="Roboto Mono"/>
              <a:ea typeface="Roboto Mono"/>
              <a:cs typeface="Roboto Mono"/>
              <a:sym typeface="Roboto Mono"/>
            </a:endParaRPr>
          </a:p>
        </p:txBody>
      </p:sp>
      <p:sp>
        <p:nvSpPr>
          <p:cNvPr id="6" name="AutoShape 6"/>
          <p:cNvSpPr/>
          <p:nvPr/>
        </p:nvSpPr>
        <p:spPr>
          <a:xfrm>
            <a:off x="7620000" y="1397000"/>
            <a:ext cx="3810000" cy="3556000"/>
          </a:xfrm>
          <a:prstGeom prst="roundRect">
            <a:avLst>
              <a:gd name="adj" fmla="val 3571"/>
            </a:avLst>
          </a:prstGeom>
          <a:solidFill>
            <a:srgbClr val="FFFFFF">
              <a:alpha val="100000"/>
            </a:srgbClr>
          </a:solidFill>
          <a:ln w="25400" cap="flat" cmpd="sng">
            <a:noFill/>
            <a:prstDash val="solid"/>
            <a:round/>
          </a:ln>
          <a:effectLst>
            <a:outerShdw blurRad="127000" dist="50800" dir="5400000" algn="tl" rotWithShape="0">
              <a:srgbClr val="0288D1">
                <a:alpha val="15000"/>
              </a:srgbClr>
            </a:outerShdw>
          </a:effectLst>
        </p:spPr>
        <p:txBody>
          <a:bodyPr vert="horz" wrap="square" lIns="63500" tIns="63500" rIns="63500" bIns="63500" rtlCol="0" anchor="ctr"/>
          <a:lstStyle/>
          <a:p>
            <a:pPr algn="ctr">
              <a:defRPr/>
            </a:pPr>
          </a:p>
        </p:txBody>
      </p:sp>
      <p:pic>
        <p:nvPicPr>
          <p:cNvPr id="7" name="Picture 7"/>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7874000" y="1587500"/>
            <a:ext cx="304800" cy="304800"/>
          </a:xfrm>
          <a:prstGeom prst="rect">
            <a:avLst/>
          </a:prstGeom>
        </p:spPr>
      </p:pic>
      <p:sp>
        <p:nvSpPr>
          <p:cNvPr id="8" name="AutoShape 8"/>
          <p:cNvSpPr/>
          <p:nvPr/>
        </p:nvSpPr>
        <p:spPr>
          <a:xfrm>
            <a:off x="8255000" y="1549400"/>
            <a:ext cx="2921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0288D1"/>
                </a:solidFill>
                <a:latin typeface="Noto Sans SC"/>
                <a:ea typeface="Noto Sans SC"/>
                <a:cs typeface="Noto Sans SC"/>
                <a:sym typeface="Noto Sans SC"/>
              </a:rPr>
              <a:t>功能解析</a:t>
            </a:r>
            <a:endParaRPr lang="en-US" sz="1100"/>
          </a:p>
        </p:txBody>
      </p:sp>
      <p:sp>
        <p:nvSpPr>
          <p:cNvPr id="9" name="AutoShape 9"/>
          <p:cNvSpPr/>
          <p:nvPr/>
        </p:nvSpPr>
        <p:spPr>
          <a:xfrm>
            <a:off x="7874000" y="2032000"/>
            <a:ext cx="3302000" cy="2667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0" i="0" u="none" strike="noStrike">
                <a:solidFill>
                  <a:srgbClr val="757575"/>
                </a:solidFill>
                <a:latin typeface="Noto Sans SC"/>
                <a:ea typeface="Noto Sans SC"/>
                <a:cs typeface="Noto Sans SC"/>
                <a:sym typeface="Noto Sans SC"/>
              </a:rPr>
              <a:t>该函数</a:t>
            </a:r>
            <a:r>
              <a:rPr lang="en-US" sz="1600" b="1" i="0" u="none" strike="noStrike">
                <a:solidFill>
                  <a:srgbClr val="212121"/>
                </a:solidFill>
                <a:latin typeface="Roboto Mono"/>
                <a:ea typeface="Roboto Mono"/>
                <a:cs typeface="Roboto Mono"/>
                <a:sym typeface="Roboto Mono"/>
              </a:rPr>
              <a:t>parse_pdf_file</a:t>
            </a:r>
            <a:r>
              <a:rPr lang="en-US" sz="1600" b="0" i="0" u="none" strike="noStrike">
                <a:solidFill>
                  <a:srgbClr val="757575"/>
                </a:solidFill>
                <a:latin typeface="Noto Sans SC"/>
                <a:ea typeface="Noto Sans SC"/>
                <a:cs typeface="Noto Sans SC"/>
                <a:sym typeface="Noto Sans SC"/>
              </a:rPr>
              <a:t>是构建知识库的基础环节。</a:t>
            </a:r>
            <a:endParaRPr lang="en-US" sz="1100"/>
          </a:p>
          <a:p>
            <a:pPr indent="0" algn="l">
              <a:lnSpc>
                <a:spcPct val="125000"/>
              </a:lnSpc>
            </a:pPr>
            <a:r>
              <a:rPr lang="en-US" sz="1600" b="0" i="0" u="none" strike="noStrike">
                <a:solidFill>
                  <a:srgbClr val="757575"/>
                </a:solidFill>
                <a:latin typeface="Noto Sans SC"/>
                <a:ea typeface="Noto Sans SC"/>
                <a:cs typeface="Noto Sans SC"/>
                <a:sym typeface="Noto Sans SC"/>
              </a:rPr>
              <a:t>它利用</a:t>
            </a:r>
            <a:r>
              <a:rPr lang="en-US" sz="1600" b="0" i="0" u="none" strike="noStrike">
                <a:solidFill>
                  <a:srgbClr val="212121"/>
                </a:solidFill>
                <a:latin typeface="Roboto Mono"/>
                <a:ea typeface="Roboto Mono"/>
                <a:cs typeface="Roboto Mono"/>
                <a:sym typeface="Roboto Mono"/>
              </a:rPr>
              <a:t>pypdfium2</a:t>
            </a:r>
            <a:r>
              <a:rPr lang="en-US" sz="1600" b="0" i="0" u="none" strike="noStrike">
                <a:solidFill>
                  <a:srgbClr val="757575"/>
                </a:solidFill>
                <a:latin typeface="Noto Sans SC"/>
                <a:ea typeface="Noto Sans SC"/>
                <a:cs typeface="Noto Sans SC"/>
                <a:sym typeface="Noto Sans SC"/>
              </a:rPr>
              <a:t>高效解析PDF，逐页提取文本内容，并将其封装为 LangChain 的</a:t>
            </a:r>
            <a:r>
              <a:rPr lang="en-US" sz="1600" b="0" i="0" u="none" strike="noStrike">
                <a:solidFill>
                  <a:srgbClr val="212121"/>
                </a:solidFill>
                <a:latin typeface="Roboto Mono"/>
                <a:ea typeface="Roboto Mono"/>
                <a:cs typeface="Roboto Mono"/>
                <a:sym typeface="Roboto Mono"/>
              </a:rPr>
              <a:t>Document</a:t>
            </a:r>
            <a:r>
              <a:rPr lang="en-US" sz="1600" b="0" i="0" u="none" strike="noStrike">
                <a:solidFill>
                  <a:srgbClr val="757575"/>
                </a:solidFill>
                <a:latin typeface="Noto Sans SC"/>
                <a:ea typeface="Noto Sans SC"/>
                <a:cs typeface="Noto Sans SC"/>
                <a:sym typeface="Noto Sans SC"/>
              </a:rPr>
              <a:t>对象，保留了页码等关键元数据，为后续的向量化存储做好准备。</a:t>
            </a:r>
            <a:endParaRPr lang="en-US" sz="1600" b="0" i="0" u="none" strike="noStrike">
              <a:solidFill>
                <a:srgbClr val="757575"/>
              </a:solidFill>
              <a:latin typeface="Noto Sans SC"/>
              <a:ea typeface="Noto Sans SC"/>
              <a:cs typeface="Noto Sans SC"/>
              <a:sym typeface="Noto Sans SC"/>
            </a:endParaRPr>
          </a:p>
        </p:txBody>
      </p:sp>
      <p:sp>
        <p:nvSpPr>
          <p:cNvPr id="10" name="AutoShape 10"/>
          <p:cNvSpPr/>
          <p:nvPr/>
        </p:nvSpPr>
        <p:spPr>
          <a:xfrm>
            <a:off x="0" y="6604000"/>
            <a:ext cx="12192000" cy="254000"/>
          </a:xfrm>
          <a:prstGeom prst="roundRect">
            <a:avLst>
              <a:gd name="adj" fmla="val 0"/>
            </a:avLst>
          </a:prstGeom>
          <a:solidFill>
            <a:srgbClr val="0288D1">
              <a:alpha val="100000"/>
            </a:srgbClr>
          </a:solidFill>
          <a:ln w="25400" cap="flat" cmpd="sng">
            <a:noFill/>
            <a:prstDash val="solid"/>
            <a:round/>
          </a:ln>
        </p:spPr>
        <p:txBody>
          <a:bodyPr vert="horz" wrap="square" lIns="63500" tIns="63500" rIns="63500" bIns="63500" rtlCol="0" anchor="ctr"/>
          <a:lstStyle/>
          <a:p>
            <a:pPr algn="ctr">
              <a:defRPr/>
            </a:p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E0F7FA">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635000"/>
            <a:ext cx="10668000" cy="508000"/>
          </a:xfrm>
          <a:prstGeom prst="rect">
            <a:avLst/>
          </a:prstGeom>
          <a:noFill/>
          <a:ln w="12700" cap="flat" cmpd="sng">
            <a:noFill/>
            <a:prstDash val="solid"/>
            <a:round/>
          </a:ln>
        </p:spPr>
        <p:txBody>
          <a:bodyPr vert="horz" wrap="none" lIns="0" tIns="0" rIns="0" bIns="0" rtlCol="0" anchor="ctr" anchorCtr="0"/>
          <a:lstStyle/>
          <a:p>
            <a:pPr indent="0" algn="l">
              <a:lnSpc>
                <a:spcPct val="125000"/>
              </a:lnSpc>
              <a:defRPr/>
            </a:pPr>
            <a:r>
              <a:rPr lang="en-US" sz="3200" b="1" i="0" u="none" strike="noStrike">
                <a:solidFill>
                  <a:srgbClr val="0288D1"/>
                </a:solidFill>
                <a:latin typeface="Noto Sans SC"/>
                <a:ea typeface="Noto Sans SC"/>
                <a:cs typeface="Noto Sans SC"/>
                <a:sym typeface="Noto Sans SC"/>
              </a:rPr>
              <a:t>离线构建知识库：数据分块</a:t>
            </a:r>
            <a:endParaRPr lang="en-US" sz="1100"/>
          </a:p>
        </p:txBody>
      </p:sp>
      <p:sp>
        <p:nvSpPr>
          <p:cNvPr id="3" name="AutoShape 3"/>
          <p:cNvSpPr/>
          <p:nvPr/>
        </p:nvSpPr>
        <p:spPr>
          <a:xfrm>
            <a:off x="762000" y="1524000"/>
            <a:ext cx="5080000" cy="3302000"/>
          </a:xfrm>
          <a:prstGeom prst="roundRect">
            <a:avLst>
              <a:gd name="adj" fmla="val 3846"/>
            </a:avLst>
          </a:prstGeom>
          <a:solidFill>
            <a:srgbClr val="1E1E1E">
              <a:alpha val="100000"/>
            </a:srgbClr>
          </a:solidFill>
          <a:ln w="25400" cap="flat" cmpd="sng">
            <a:noFill/>
            <a:prstDash val="solid"/>
            <a:round/>
          </a:ln>
          <a:effectLst>
            <a:outerShdw blurRad="101600" dist="50800" dir="5400000" algn="tl" rotWithShape="0">
              <a:srgbClr val="000000">
                <a:alpha val="15000"/>
              </a:srgbClr>
            </a:outerShdw>
          </a:effectLst>
        </p:spPr>
        <p:txBody>
          <a:bodyPr vert="horz" wrap="square" lIns="63500" tIns="63500" rIns="63500" bIns="63500" rtlCol="0" anchor="ctr"/>
          <a:lstStyle/>
          <a:p>
            <a:pPr algn="ctr">
              <a:defRPr/>
            </a:pPr>
          </a:p>
        </p:txBody>
      </p:sp>
      <p:sp>
        <p:nvSpPr>
          <p:cNvPr id="4" name="AutoShape 4"/>
          <p:cNvSpPr/>
          <p:nvPr/>
        </p:nvSpPr>
        <p:spPr>
          <a:xfrm>
            <a:off x="952500" y="1714500"/>
            <a:ext cx="4699000" cy="29210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400" b="0" i="0" u="none" strike="noStrike">
                <a:solidFill>
                  <a:srgbClr val="C678DD"/>
                </a:solidFill>
                <a:latin typeface="Roboto"/>
                <a:ea typeface="Roboto"/>
                <a:cs typeface="Roboto"/>
                <a:sym typeface="Roboto"/>
              </a:rPr>
              <a:t>from</a:t>
            </a:r>
            <a:r>
              <a:rPr lang="en-US" sz="1400" b="0" i="0" u="none" strike="noStrike">
                <a:solidFill>
                  <a:srgbClr val="DCDFE4"/>
                </a:solidFill>
                <a:latin typeface="Roboto"/>
                <a:ea typeface="Roboto"/>
                <a:cs typeface="Roboto"/>
                <a:sym typeface="Roboto"/>
              </a:rPr>
              <a:t>langchain.text_splitter</a:t>
            </a:r>
            <a:r>
              <a:rPr lang="en-US" sz="1400" b="0" i="0" u="none" strike="noStrike">
                <a:solidFill>
                  <a:srgbClr val="C678DD"/>
                </a:solidFill>
                <a:latin typeface="Roboto"/>
                <a:ea typeface="Roboto"/>
                <a:cs typeface="Roboto"/>
                <a:sym typeface="Roboto"/>
              </a:rPr>
              <a:t>import</a:t>
            </a:r>
            <a:r>
              <a:rPr lang="en-US" sz="1400" b="0" i="0" u="none" strike="noStrike">
                <a:solidFill>
                  <a:srgbClr val="61AFEF"/>
                </a:solidFill>
                <a:latin typeface="Roboto"/>
                <a:ea typeface="Roboto"/>
                <a:cs typeface="Roboto"/>
                <a:sym typeface="Roboto"/>
              </a:rPr>
              <a:t>CharacterTextSplitter</a:t>
            </a:r>
            <a:endParaRPr lang="en-US" sz="1100"/>
          </a:p>
          <a:p>
            <a:pPr indent="0" algn="l">
              <a:lnSpc>
                <a:spcPct val="100000"/>
              </a:lnSpc>
            </a:pPr>
          </a:p>
          <a:p>
            <a:pPr indent="0" algn="l">
              <a:lnSpc>
                <a:spcPct val="100000"/>
              </a:lnSpc>
            </a:pPr>
            <a:r>
              <a:rPr lang="en-US" sz="1400" b="0" i="0" u="none" strike="noStrike">
                <a:solidFill>
                  <a:srgbClr val="C678DD"/>
                </a:solidFill>
                <a:latin typeface="Roboto"/>
                <a:ea typeface="Roboto"/>
                <a:cs typeface="Roboto"/>
                <a:sym typeface="Roboto"/>
              </a:rPr>
              <a:t>def</a:t>
            </a:r>
            <a:r>
              <a:rPr lang="en-US" sz="1400" b="0" i="0" u="none" strike="noStrike">
                <a:solidFill>
                  <a:srgbClr val="61AFEF"/>
                </a:solidFill>
                <a:latin typeface="Roboto"/>
                <a:ea typeface="Roboto"/>
                <a:cs typeface="Roboto"/>
                <a:sym typeface="Roboto"/>
              </a:rPr>
              <a:t>docs_splitter</a:t>
            </a:r>
            <a:r>
              <a:rPr lang="en-US" sz="1400" b="0" i="0" u="none" strike="noStrike">
                <a:solidFill>
                  <a:srgbClr val="DCDFE4"/>
                </a:solidFill>
                <a:latin typeface="Roboto"/>
                <a:ea typeface="Roboto"/>
                <a:cs typeface="Roboto"/>
                <a:sym typeface="Roboto"/>
              </a:rPr>
              <a:t>(docs: List[Document]):</a:t>
            </a:r>
            <a:endParaRPr lang="en-US" sz="1400" b="0" i="0" u="none" strike="noStrike">
              <a:solidFill>
                <a:srgbClr val="DCDFE4"/>
              </a:solidFill>
              <a:latin typeface="Roboto"/>
              <a:ea typeface="Roboto"/>
              <a:cs typeface="Roboto"/>
              <a:sym typeface="Roboto"/>
            </a:endParaRPr>
          </a:p>
          <a:p>
            <a:pPr indent="0" algn="l">
              <a:lnSpc>
                <a:spcPct val="100000"/>
              </a:lnSpc>
            </a:pPr>
            <a:r>
              <a:rPr lang="en-US" sz="1400" b="0" i="0" u="none" strike="noStrike">
                <a:solidFill>
                  <a:srgbClr val="DCDFE4"/>
                </a:solidFill>
                <a:latin typeface="Roboto"/>
                <a:ea typeface="Roboto"/>
                <a:cs typeface="Roboto"/>
                <a:sym typeface="Roboto"/>
              </a:rPr>
              <a:t>text_splitter =</a:t>
            </a:r>
            <a:r>
              <a:rPr lang="en-US" sz="1400" b="0" i="0" u="none" strike="noStrike">
                <a:solidFill>
                  <a:srgbClr val="61AFEF"/>
                </a:solidFill>
                <a:latin typeface="Roboto"/>
                <a:ea typeface="Roboto"/>
                <a:cs typeface="Roboto"/>
                <a:sym typeface="Roboto"/>
              </a:rPr>
              <a:t>CharacterTextSplitter</a:t>
            </a:r>
            <a:r>
              <a:rPr lang="en-US" sz="1400" b="0" i="0" u="none" strike="noStrike">
                <a:solidFill>
                  <a:srgbClr val="DCDFE4"/>
                </a:solidFill>
                <a:latin typeface="Roboto"/>
                <a:ea typeface="Roboto"/>
                <a:cs typeface="Roboto"/>
                <a:sym typeface="Roboto"/>
              </a:rPr>
              <a:t>(</a:t>
            </a:r>
            <a:endParaRPr lang="en-US" sz="1400" b="0" i="0" u="none" strike="noStrike">
              <a:solidFill>
                <a:srgbClr val="DCDFE4"/>
              </a:solidFill>
              <a:latin typeface="Roboto"/>
              <a:ea typeface="Roboto"/>
              <a:cs typeface="Roboto"/>
              <a:sym typeface="Roboto"/>
            </a:endParaRPr>
          </a:p>
          <a:p>
            <a:pPr indent="0" algn="l">
              <a:lnSpc>
                <a:spcPct val="100000"/>
              </a:lnSpc>
            </a:pPr>
            <a:r>
              <a:rPr lang="en-US" sz="1400" b="0" i="0" u="none" strike="noStrike">
                <a:solidFill>
                  <a:srgbClr val="DCDFE4"/>
                </a:solidFill>
                <a:latin typeface="Roboto"/>
                <a:ea typeface="Roboto"/>
                <a:cs typeface="Roboto"/>
                <a:sym typeface="Roboto"/>
              </a:rPr>
              <a:t>separator=</a:t>
            </a:r>
            <a:r>
              <a:rPr lang="en-US" sz="1400" b="0" i="0" u="none" strike="noStrike">
                <a:solidFill>
                  <a:srgbClr val="98C379"/>
                </a:solidFill>
                <a:latin typeface="Roboto"/>
                <a:ea typeface="Roboto"/>
                <a:cs typeface="Roboto"/>
                <a:sym typeface="Roboto"/>
              </a:rPr>
              <a:t>"\n"</a:t>
            </a:r>
            <a:r>
              <a:rPr lang="en-US" sz="1400" b="0" i="0" u="none" strike="noStrike">
                <a:solidFill>
                  <a:srgbClr val="DCDFE4"/>
                </a:solidFill>
                <a:latin typeface="Roboto"/>
                <a:ea typeface="Roboto"/>
                <a:cs typeface="Roboto"/>
                <a:sym typeface="Roboto"/>
              </a:rPr>
              <a:t>,</a:t>
            </a:r>
            <a:endParaRPr lang="en-US" sz="1400" b="0" i="0" u="none" strike="noStrike">
              <a:solidFill>
                <a:srgbClr val="DCDFE4"/>
              </a:solidFill>
              <a:latin typeface="Roboto"/>
              <a:ea typeface="Roboto"/>
              <a:cs typeface="Roboto"/>
              <a:sym typeface="Roboto"/>
            </a:endParaRPr>
          </a:p>
          <a:p>
            <a:pPr indent="0" algn="l">
              <a:lnSpc>
                <a:spcPct val="100000"/>
              </a:lnSpc>
            </a:pPr>
            <a:r>
              <a:rPr lang="en-US" sz="1400" b="0" i="0" u="none" strike="noStrike">
                <a:solidFill>
                  <a:srgbClr val="DCDFE4"/>
                </a:solidFill>
                <a:latin typeface="Roboto"/>
                <a:ea typeface="Roboto"/>
                <a:cs typeface="Roboto"/>
                <a:sym typeface="Roboto"/>
              </a:rPr>
              <a:t>chunk_size=</a:t>
            </a:r>
            <a:r>
              <a:rPr lang="en-US" sz="1400" b="0" i="0" u="none" strike="noStrike">
                <a:solidFill>
                  <a:srgbClr val="D19A66"/>
                </a:solidFill>
                <a:latin typeface="Roboto"/>
                <a:ea typeface="Roboto"/>
                <a:cs typeface="Roboto"/>
                <a:sym typeface="Roboto"/>
              </a:rPr>
              <a:t>256</a:t>
            </a:r>
            <a:r>
              <a:rPr lang="en-US" sz="1400" b="0" i="0" u="none" strike="noStrike">
                <a:solidFill>
                  <a:srgbClr val="DCDFE4"/>
                </a:solidFill>
                <a:latin typeface="Roboto"/>
                <a:ea typeface="Roboto"/>
                <a:cs typeface="Roboto"/>
                <a:sym typeface="Roboto"/>
              </a:rPr>
              <a:t>,</a:t>
            </a:r>
            <a:endParaRPr lang="en-US" sz="1400" b="0" i="0" u="none" strike="noStrike">
              <a:solidFill>
                <a:srgbClr val="DCDFE4"/>
              </a:solidFill>
              <a:latin typeface="Roboto"/>
              <a:ea typeface="Roboto"/>
              <a:cs typeface="Roboto"/>
              <a:sym typeface="Roboto"/>
            </a:endParaRPr>
          </a:p>
          <a:p>
            <a:pPr indent="0" algn="l">
              <a:lnSpc>
                <a:spcPct val="100000"/>
              </a:lnSpc>
            </a:pPr>
            <a:r>
              <a:rPr lang="en-US" sz="1400" b="0" i="0" u="none" strike="noStrike">
                <a:solidFill>
                  <a:srgbClr val="DCDFE4"/>
                </a:solidFill>
                <a:latin typeface="Roboto"/>
                <a:ea typeface="Roboto"/>
                <a:cs typeface="Roboto"/>
                <a:sym typeface="Roboto"/>
              </a:rPr>
              <a:t>chunk_overlap=</a:t>
            </a:r>
            <a:r>
              <a:rPr lang="en-US" sz="1400" b="0" i="0" u="none" strike="noStrike">
                <a:solidFill>
                  <a:srgbClr val="D19A66"/>
                </a:solidFill>
                <a:latin typeface="Roboto"/>
                <a:ea typeface="Roboto"/>
                <a:cs typeface="Roboto"/>
                <a:sym typeface="Roboto"/>
              </a:rPr>
              <a:t>20</a:t>
            </a:r>
            <a:r>
              <a:rPr lang="en-US" sz="1400" b="0" i="0" u="none" strike="noStrike">
                <a:solidFill>
                  <a:srgbClr val="DCDFE4"/>
                </a:solidFill>
                <a:latin typeface="Roboto"/>
                <a:ea typeface="Roboto"/>
                <a:cs typeface="Roboto"/>
                <a:sym typeface="Roboto"/>
              </a:rPr>
              <a:t>,</a:t>
            </a:r>
            <a:endParaRPr lang="en-US" sz="1400" b="0" i="0" u="none" strike="noStrike">
              <a:solidFill>
                <a:srgbClr val="DCDFE4"/>
              </a:solidFill>
              <a:latin typeface="Roboto"/>
              <a:ea typeface="Roboto"/>
              <a:cs typeface="Roboto"/>
              <a:sym typeface="Roboto"/>
            </a:endParaRPr>
          </a:p>
          <a:p>
            <a:pPr indent="0" algn="l">
              <a:lnSpc>
                <a:spcPct val="100000"/>
              </a:lnSpc>
            </a:pPr>
            <a:r>
              <a:rPr lang="en-US" sz="1400" b="0" i="0" u="none" strike="noStrike">
                <a:solidFill>
                  <a:srgbClr val="DCDFE4"/>
                </a:solidFill>
                <a:latin typeface="Roboto"/>
                <a:ea typeface="Roboto"/>
                <a:cs typeface="Roboto"/>
                <a:sym typeface="Roboto"/>
              </a:rPr>
              <a:t>length_function=len,</a:t>
            </a:r>
            <a:endParaRPr lang="en-US" sz="1400" b="0" i="0" u="none" strike="noStrike">
              <a:solidFill>
                <a:srgbClr val="DCDFE4"/>
              </a:solidFill>
              <a:latin typeface="Roboto"/>
              <a:ea typeface="Roboto"/>
              <a:cs typeface="Roboto"/>
              <a:sym typeface="Roboto"/>
            </a:endParaRPr>
          </a:p>
          <a:p>
            <a:pPr indent="0" algn="l">
              <a:lnSpc>
                <a:spcPct val="100000"/>
              </a:lnSpc>
            </a:pPr>
            <a:r>
              <a:rPr lang="en-US" sz="1400" b="0" i="0" u="none" strike="noStrike">
                <a:solidFill>
                  <a:srgbClr val="DCDFE4"/>
                </a:solidFill>
                <a:latin typeface="Roboto"/>
                <a:ea typeface="Roboto"/>
                <a:cs typeface="Roboto"/>
                <a:sym typeface="Roboto"/>
              </a:rPr>
              <a:t>)</a:t>
            </a:r>
            <a:endParaRPr lang="en-US" sz="1400" b="0" i="0" u="none" strike="noStrike">
              <a:solidFill>
                <a:srgbClr val="DCDFE4"/>
              </a:solidFill>
              <a:latin typeface="Roboto"/>
              <a:ea typeface="Roboto"/>
              <a:cs typeface="Roboto"/>
              <a:sym typeface="Roboto"/>
            </a:endParaRPr>
          </a:p>
          <a:p>
            <a:pPr indent="0" algn="l">
              <a:lnSpc>
                <a:spcPct val="100000"/>
              </a:lnSpc>
            </a:pPr>
            <a:r>
              <a:rPr lang="en-US" sz="1400" b="0" i="0" u="none" strike="noStrike">
                <a:solidFill>
                  <a:srgbClr val="DCDFE4"/>
                </a:solidFill>
                <a:latin typeface="Roboto"/>
                <a:ea typeface="Roboto"/>
                <a:cs typeface="Roboto"/>
                <a:sym typeface="Roboto"/>
              </a:rPr>
              <a:t>split_docs = text_splitter.split_documents(docs)</a:t>
            </a:r>
            <a:endParaRPr lang="en-US" sz="1400" b="0" i="0" u="none" strike="noStrike">
              <a:solidFill>
                <a:srgbClr val="DCDFE4"/>
              </a:solidFill>
              <a:latin typeface="Roboto"/>
              <a:ea typeface="Roboto"/>
              <a:cs typeface="Roboto"/>
              <a:sym typeface="Roboto"/>
            </a:endParaRPr>
          </a:p>
          <a:p>
            <a:pPr indent="0" algn="l">
              <a:lnSpc>
                <a:spcPct val="100000"/>
              </a:lnSpc>
            </a:pPr>
            <a:r>
              <a:rPr lang="en-US" sz="1400" b="0" i="0" u="none" strike="noStrike">
                <a:solidFill>
                  <a:srgbClr val="C678DD"/>
                </a:solidFill>
                <a:latin typeface="Roboto"/>
                <a:ea typeface="Roboto"/>
                <a:cs typeface="Roboto"/>
                <a:sym typeface="Roboto"/>
              </a:rPr>
              <a:t>return</a:t>
            </a:r>
            <a:r>
              <a:rPr lang="en-US" sz="1400" b="0" i="0" u="none" strike="noStrike">
                <a:solidFill>
                  <a:srgbClr val="DCDFE4"/>
                </a:solidFill>
                <a:latin typeface="Roboto"/>
                <a:ea typeface="Roboto"/>
                <a:cs typeface="Roboto"/>
                <a:sym typeface="Roboto"/>
              </a:rPr>
              <a:t>split_docs</a:t>
            </a:r>
            <a:endParaRPr lang="en-US" sz="1400" b="0" i="0" u="none" strike="noStrike">
              <a:solidFill>
                <a:srgbClr val="DCDFE4"/>
              </a:solidFill>
              <a:latin typeface="Roboto"/>
              <a:ea typeface="Roboto"/>
              <a:cs typeface="Roboto"/>
              <a:sym typeface="Roboto"/>
            </a:endParaRPr>
          </a:p>
        </p:txBody>
      </p:sp>
      <p:sp>
        <p:nvSpPr>
          <p:cNvPr id="5" name="AutoShape 5"/>
          <p:cNvSpPr/>
          <p:nvPr/>
        </p:nvSpPr>
        <p:spPr>
          <a:xfrm>
            <a:off x="6350000" y="1524000"/>
            <a:ext cx="5080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0288D1"/>
                </a:solidFill>
                <a:latin typeface="Noto Sans SC"/>
                <a:ea typeface="Noto Sans SC"/>
                <a:cs typeface="Noto Sans SC"/>
                <a:sym typeface="Noto Sans SC"/>
              </a:rPr>
              <a:t>关键参数解析</a:t>
            </a:r>
            <a:endParaRPr lang="en-US" sz="1100"/>
          </a:p>
        </p:txBody>
      </p:sp>
      <p:sp>
        <p:nvSpPr>
          <p:cNvPr id="6" name="AutoShape 6"/>
          <p:cNvSpPr/>
          <p:nvPr/>
        </p:nvSpPr>
        <p:spPr>
          <a:xfrm>
            <a:off x="6350000" y="2032000"/>
            <a:ext cx="5080000" cy="889000"/>
          </a:xfrm>
          <a:prstGeom prst="roundRect">
            <a:avLst>
              <a:gd name="adj" fmla="val 14285"/>
            </a:avLst>
          </a:prstGeom>
          <a:solidFill>
            <a:srgbClr val="FFFFFF">
              <a:alpha val="100000"/>
            </a:srgbClr>
          </a:solidFill>
          <a:ln w="12700" cap="flat" cmpd="sng">
            <a:solidFill>
              <a:srgbClr val="B3E5FC">
                <a:alpha val="100000"/>
              </a:srgbClr>
            </a:solidFill>
            <a:prstDash val="solid"/>
            <a:round/>
          </a:ln>
        </p:spPr>
        <p:txBody>
          <a:bodyPr vert="horz" wrap="square" lIns="63500" tIns="63500" rIns="63500" bIns="63500" rtlCol="0" anchor="ctr"/>
          <a:lstStyle/>
          <a:p>
            <a:pPr algn="ctr">
              <a:defRPr/>
            </a:pPr>
          </a:p>
        </p:txBody>
      </p:sp>
      <p:pic>
        <p:nvPicPr>
          <p:cNvPr id="7" name="Picture 7"/>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6540500" y="2222500"/>
            <a:ext cx="406400" cy="406400"/>
          </a:xfrm>
          <a:prstGeom prst="rect">
            <a:avLst/>
          </a:prstGeom>
        </p:spPr>
      </p:pic>
      <p:sp>
        <p:nvSpPr>
          <p:cNvPr id="8" name="AutoShape 8"/>
          <p:cNvSpPr/>
          <p:nvPr/>
        </p:nvSpPr>
        <p:spPr>
          <a:xfrm>
            <a:off x="7112000" y="2095500"/>
            <a:ext cx="4191000" cy="762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0288D1"/>
                </a:solidFill>
                <a:latin typeface="Roboto"/>
                <a:ea typeface="Roboto"/>
                <a:cs typeface="Roboto"/>
                <a:sym typeface="Roboto"/>
              </a:rPr>
              <a:t>separator</a:t>
            </a:r>
            <a:endParaRPr lang="en-US" sz="1100"/>
          </a:p>
          <a:p>
            <a:pPr indent="0" algn="l">
              <a:lnSpc>
                <a:spcPct val="125000"/>
              </a:lnSpc>
            </a:pPr>
            <a:r>
              <a:rPr lang="en-US" sz="1400" b="0" i="0" u="none" strike="noStrike">
                <a:solidFill>
                  <a:srgbClr val="757575"/>
                </a:solidFill>
                <a:latin typeface="Noto Sans SC"/>
                <a:ea typeface="Noto Sans SC"/>
                <a:cs typeface="Noto Sans SC"/>
                <a:sym typeface="Noto Sans SC"/>
              </a:rPr>
              <a:t>分隔符，示例中使用换行符 `\n` 进行文本分割。</a:t>
            </a:r>
            <a:endParaRPr lang="en-US" sz="1400" b="0" i="0" u="none" strike="noStrike">
              <a:solidFill>
                <a:srgbClr val="757575"/>
              </a:solidFill>
              <a:latin typeface="Noto Sans SC"/>
              <a:ea typeface="Noto Sans SC"/>
              <a:cs typeface="Noto Sans SC"/>
              <a:sym typeface="Noto Sans SC"/>
            </a:endParaRPr>
          </a:p>
        </p:txBody>
      </p:sp>
      <p:sp>
        <p:nvSpPr>
          <p:cNvPr id="9" name="AutoShape 9"/>
          <p:cNvSpPr/>
          <p:nvPr/>
        </p:nvSpPr>
        <p:spPr>
          <a:xfrm>
            <a:off x="6350000" y="3048000"/>
            <a:ext cx="5080000" cy="889000"/>
          </a:xfrm>
          <a:prstGeom prst="roundRect">
            <a:avLst>
              <a:gd name="adj" fmla="val 14285"/>
            </a:avLst>
          </a:prstGeom>
          <a:solidFill>
            <a:srgbClr val="FFFFFF">
              <a:alpha val="100000"/>
            </a:srgbClr>
          </a:solidFill>
          <a:ln w="12700" cap="flat" cmpd="sng">
            <a:solidFill>
              <a:srgbClr val="B3E5FC">
                <a:alpha val="100000"/>
              </a:srgbClr>
            </a:solidFill>
            <a:prstDash val="solid"/>
            <a:round/>
          </a:ln>
        </p:spPr>
        <p:txBody>
          <a:bodyPr vert="horz" wrap="square" lIns="63500" tIns="63500" rIns="63500" bIns="63500" rtlCol="0" anchor="ctr"/>
          <a:lstStyle/>
          <a:p>
            <a:pPr algn="ctr">
              <a:defRPr/>
            </a:pPr>
          </a:p>
        </p:txBody>
      </p:sp>
      <p:pic>
        <p:nvPicPr>
          <p:cNvPr id="10" name="Picture 10"/>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540500" y="3238500"/>
            <a:ext cx="406400" cy="406400"/>
          </a:xfrm>
          <a:prstGeom prst="rect">
            <a:avLst/>
          </a:prstGeom>
        </p:spPr>
      </p:pic>
      <p:sp>
        <p:nvSpPr>
          <p:cNvPr id="11" name="AutoShape 11"/>
          <p:cNvSpPr/>
          <p:nvPr/>
        </p:nvSpPr>
        <p:spPr>
          <a:xfrm>
            <a:off x="7112000" y="3111500"/>
            <a:ext cx="4191000" cy="762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0288D1"/>
                </a:solidFill>
                <a:latin typeface="Roboto"/>
                <a:ea typeface="Roboto"/>
                <a:cs typeface="Roboto"/>
                <a:sym typeface="Roboto"/>
              </a:rPr>
              <a:t>chunk_size</a:t>
            </a:r>
            <a:endParaRPr lang="en-US" sz="1100"/>
          </a:p>
          <a:p>
            <a:pPr indent="0" algn="l">
              <a:lnSpc>
                <a:spcPct val="125000"/>
              </a:lnSpc>
            </a:pPr>
            <a:r>
              <a:rPr lang="en-US" sz="1400" b="0" i="0" u="none" strike="noStrike">
                <a:solidFill>
                  <a:srgbClr val="757575"/>
                </a:solidFill>
                <a:latin typeface="Noto Sans SC"/>
                <a:ea typeface="Noto Sans SC"/>
                <a:cs typeface="Noto Sans SC"/>
                <a:sym typeface="Noto Sans SC"/>
              </a:rPr>
              <a:t>每个分块的最大字符数，设置为 256。</a:t>
            </a:r>
            <a:endParaRPr lang="en-US" sz="1400" b="0" i="0" u="none" strike="noStrike">
              <a:solidFill>
                <a:srgbClr val="757575"/>
              </a:solidFill>
              <a:latin typeface="Noto Sans SC"/>
              <a:ea typeface="Noto Sans SC"/>
              <a:cs typeface="Noto Sans SC"/>
              <a:sym typeface="Noto Sans SC"/>
            </a:endParaRPr>
          </a:p>
        </p:txBody>
      </p:sp>
      <p:sp>
        <p:nvSpPr>
          <p:cNvPr id="12" name="AutoShape 12"/>
          <p:cNvSpPr/>
          <p:nvPr/>
        </p:nvSpPr>
        <p:spPr>
          <a:xfrm>
            <a:off x="6350000" y="4064000"/>
            <a:ext cx="5080000" cy="889000"/>
          </a:xfrm>
          <a:prstGeom prst="roundRect">
            <a:avLst>
              <a:gd name="adj" fmla="val 14285"/>
            </a:avLst>
          </a:prstGeom>
          <a:solidFill>
            <a:srgbClr val="FFFFFF">
              <a:alpha val="100000"/>
            </a:srgbClr>
          </a:solidFill>
          <a:ln w="12700" cap="flat" cmpd="sng">
            <a:solidFill>
              <a:srgbClr val="B3E5FC">
                <a:alpha val="100000"/>
              </a:srgbClr>
            </a:solidFill>
            <a:prstDash val="solid"/>
            <a:round/>
          </a:ln>
        </p:spPr>
        <p:txBody>
          <a:bodyPr vert="horz" wrap="square" lIns="63500" tIns="63500" rIns="63500" bIns="63500" rtlCol="0" anchor="ctr"/>
          <a:lstStyle/>
          <a:p>
            <a:pPr algn="ctr">
              <a:defRPr/>
            </a:pPr>
          </a:p>
        </p:txBody>
      </p:sp>
      <p:pic>
        <p:nvPicPr>
          <p:cNvPr id="13" name="Picture 13"/>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6540500" y="4254500"/>
            <a:ext cx="406400" cy="406400"/>
          </a:xfrm>
          <a:prstGeom prst="rect">
            <a:avLst/>
          </a:prstGeom>
        </p:spPr>
      </p:pic>
      <p:sp>
        <p:nvSpPr>
          <p:cNvPr id="14" name="AutoShape 14"/>
          <p:cNvSpPr/>
          <p:nvPr/>
        </p:nvSpPr>
        <p:spPr>
          <a:xfrm>
            <a:off x="7112000" y="4127500"/>
            <a:ext cx="4191000" cy="762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0288D1"/>
                </a:solidFill>
                <a:latin typeface="Roboto"/>
                <a:ea typeface="Roboto"/>
                <a:cs typeface="Roboto"/>
                <a:sym typeface="Roboto"/>
              </a:rPr>
              <a:t>chunk_overlap</a:t>
            </a:r>
            <a:endParaRPr lang="en-US" sz="1100"/>
          </a:p>
          <a:p>
            <a:pPr indent="0" algn="l">
              <a:lnSpc>
                <a:spcPct val="125000"/>
              </a:lnSpc>
            </a:pPr>
            <a:r>
              <a:rPr lang="en-US" sz="1400" b="0" i="0" u="none" strike="noStrike">
                <a:solidFill>
                  <a:srgbClr val="757575"/>
                </a:solidFill>
                <a:latin typeface="Noto Sans SC"/>
                <a:ea typeface="Noto Sans SC"/>
                <a:cs typeface="Noto Sans SC"/>
                <a:sym typeface="Noto Sans SC"/>
              </a:rPr>
              <a:t>相邻分块的重叠字符数，设置为 20 以保持上下文连贯。</a:t>
            </a:r>
            <a:endParaRPr lang="en-US" sz="1400" b="0" i="0" u="none" strike="noStrike">
              <a:solidFill>
                <a:srgbClr val="757575"/>
              </a:solidFill>
              <a:latin typeface="Noto Sans SC"/>
              <a:ea typeface="Noto Sans SC"/>
              <a:cs typeface="Noto Sans SC"/>
              <a:sym typeface="Noto Sans SC"/>
            </a:endParaRPr>
          </a:p>
        </p:txBody>
      </p:sp>
      <p:sp>
        <p:nvSpPr>
          <p:cNvPr id="15" name="AutoShape 15"/>
          <p:cNvSpPr/>
          <p:nvPr/>
        </p:nvSpPr>
        <p:spPr>
          <a:xfrm>
            <a:off x="762000" y="5334000"/>
            <a:ext cx="10668000" cy="762000"/>
          </a:xfrm>
          <a:prstGeom prst="roundRect">
            <a:avLst>
              <a:gd name="adj" fmla="val 16666"/>
            </a:avLst>
          </a:prstGeom>
          <a:solidFill>
            <a:srgbClr val="0288D1">
              <a:alpha val="10000"/>
            </a:srgbClr>
          </a:solidFill>
          <a:ln w="25400" cap="flat" cmpd="sng">
            <a:noFill/>
            <a:prstDash val="solid"/>
            <a:round/>
          </a:ln>
        </p:spPr>
        <p:txBody>
          <a:bodyPr vert="horz" wrap="square" lIns="63500" tIns="63500" rIns="63500" bIns="63500" rtlCol="0" anchor="ctr"/>
          <a:lstStyle/>
          <a:p>
            <a:pPr algn="ctr">
              <a:defRPr/>
            </a:pPr>
          </a:p>
        </p:txBody>
      </p:sp>
      <p:sp>
        <p:nvSpPr>
          <p:cNvPr id="16" name="AutoShape 16"/>
          <p:cNvSpPr/>
          <p:nvPr/>
        </p:nvSpPr>
        <p:spPr>
          <a:xfrm>
            <a:off x="952500" y="5461000"/>
            <a:ext cx="10287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0288D1"/>
                </a:solidFill>
                <a:latin typeface="Noto Sans SC"/>
                <a:ea typeface="Noto Sans SC"/>
                <a:cs typeface="Noto Sans SC"/>
                <a:sym typeface="Noto Sans SC"/>
              </a:rPr>
              <a:t>总结：</a:t>
            </a:r>
            <a:r>
              <a:rPr lang="en-US" sz="1600" b="0" i="0" u="none" strike="noStrike">
                <a:solidFill>
                  <a:srgbClr val="505050"/>
                </a:solidFill>
                <a:latin typeface="Noto Sans SC"/>
                <a:ea typeface="Noto Sans SC"/>
                <a:cs typeface="Noto Sans SC"/>
                <a:sym typeface="Noto Sans SC"/>
              </a:rPr>
              <a:t>通过 `CharacterTextSplitter` 将长文本切割为小块，平衡了上下文保留与处理效率。</a:t>
            </a:r>
            <a:endParaRPr lang="en-US" sz="110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E0F7FA">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635000"/>
            <a:ext cx="6705600" cy="508000"/>
          </a:xfrm>
          <a:prstGeom prst="rect">
            <a:avLst/>
          </a:prstGeom>
          <a:noFill/>
          <a:ln w="12700" cap="flat" cmpd="sng">
            <a:noFill/>
            <a:prstDash val="solid"/>
            <a:round/>
          </a:ln>
        </p:spPr>
        <p:txBody>
          <a:bodyPr vert="horz" wrap="none" lIns="0" tIns="0" rIns="0" bIns="0" rtlCol="0" anchor="ctr" anchorCtr="0"/>
          <a:lstStyle/>
          <a:p>
            <a:pPr indent="0" algn="l">
              <a:lnSpc>
                <a:spcPct val="125000"/>
              </a:lnSpc>
              <a:defRPr/>
            </a:pPr>
            <a:r>
              <a:rPr lang="en-US" sz="3200" b="1" i="0" u="none" strike="noStrike">
                <a:solidFill>
                  <a:srgbClr val="0288D1"/>
                </a:solidFill>
                <a:latin typeface="Noto Sans SC"/>
                <a:ea typeface="Noto Sans SC"/>
                <a:cs typeface="Noto Sans SC"/>
                <a:sym typeface="Noto Sans SC"/>
              </a:rPr>
              <a:t>离线构建知识库：词嵌入转换</a:t>
            </a:r>
            <a:endParaRPr lang="en-US" sz="1100"/>
          </a:p>
        </p:txBody>
      </p:sp>
      <p:sp>
        <p:nvSpPr>
          <p:cNvPr id="3" name="AutoShape 3"/>
          <p:cNvSpPr/>
          <p:nvPr/>
        </p:nvSpPr>
        <p:spPr>
          <a:xfrm>
            <a:off x="762000" y="1524000"/>
            <a:ext cx="5334000" cy="3302000"/>
          </a:xfrm>
          <a:prstGeom prst="roundRect">
            <a:avLst>
              <a:gd name="adj" fmla="val 3846"/>
            </a:avLst>
          </a:prstGeom>
          <a:solidFill>
            <a:srgbClr val="FFFFFF">
              <a:alpha val="100000"/>
            </a:srgbClr>
          </a:solidFill>
          <a:ln w="25400" cap="flat" cmpd="sng">
            <a:noFill/>
            <a:prstDash val="solid"/>
            <a:round/>
          </a:ln>
          <a:effectLst>
            <a:outerShdw blurRad="127000" dist="50800" dir="5400000" algn="tl" rotWithShape="0">
              <a:srgbClr val="000000">
                <a:alpha val="10000"/>
              </a:srgbClr>
            </a:outerShdw>
          </a:effectLst>
        </p:spPr>
        <p:txBody>
          <a:bodyPr vert="horz" wrap="square" lIns="63500" tIns="63500" rIns="63500" bIns="63500" rtlCol="0" anchor="ctr"/>
          <a:lstStyle/>
          <a:p>
            <a:pPr algn="ctr">
              <a:defRPr/>
            </a:pPr>
          </a:p>
        </p:txBody>
      </p:sp>
      <p:sp>
        <p:nvSpPr>
          <p:cNvPr id="4" name="AutoShape 4"/>
          <p:cNvSpPr/>
          <p:nvPr/>
        </p:nvSpPr>
        <p:spPr>
          <a:xfrm>
            <a:off x="1016000" y="1714500"/>
            <a:ext cx="4826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757575"/>
                </a:solidFill>
                <a:latin typeface="Noto Sans SC"/>
                <a:ea typeface="Noto Sans SC"/>
                <a:cs typeface="Noto Sans SC"/>
                <a:sym typeface="Noto Sans SC"/>
              </a:rPr>
              <a:t>Python 代码实现</a:t>
            </a:r>
            <a:endParaRPr lang="en-US" sz="1100"/>
          </a:p>
        </p:txBody>
      </p:sp>
      <p:sp>
        <p:nvSpPr>
          <p:cNvPr id="5" name="AutoShape 5"/>
          <p:cNvSpPr/>
          <p:nvPr/>
        </p:nvSpPr>
        <p:spPr>
          <a:xfrm>
            <a:off x="1016000" y="2095500"/>
            <a:ext cx="4826000" cy="24130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400" b="0" i="0" u="none" strike="noStrike">
                <a:solidFill>
                  <a:srgbClr val="C7254E"/>
                </a:solidFill>
                <a:latin typeface="Roboto"/>
                <a:ea typeface="Roboto"/>
                <a:cs typeface="Roboto"/>
                <a:sym typeface="Roboto"/>
              </a:rPr>
              <a:t>from</a:t>
            </a:r>
            <a:r>
              <a:rPr lang="en-US" sz="1400" b="0" i="0" u="none" strike="noStrike">
                <a:solidFill>
                  <a:srgbClr val="212121"/>
                </a:solidFill>
                <a:latin typeface="Roboto"/>
                <a:ea typeface="Roboto"/>
                <a:cs typeface="Roboto"/>
                <a:sym typeface="Roboto"/>
              </a:rPr>
              <a:t>langchain_community.embeddings</a:t>
            </a:r>
            <a:r>
              <a:rPr lang="en-US" sz="1400" b="0" i="0" u="none" strike="noStrike">
                <a:solidFill>
                  <a:srgbClr val="C7254E"/>
                </a:solidFill>
                <a:latin typeface="Roboto"/>
                <a:ea typeface="Roboto"/>
                <a:cs typeface="Roboto"/>
                <a:sym typeface="Roboto"/>
              </a:rPr>
              <a:t>import</a:t>
            </a:r>
            <a:r>
              <a:rPr lang="en-US" sz="1400" b="0" i="0" u="none" strike="noStrike">
                <a:solidFill>
                  <a:srgbClr val="212121"/>
                </a:solidFill>
                <a:latin typeface="Roboto"/>
                <a:ea typeface="Roboto"/>
                <a:cs typeface="Roboto"/>
                <a:sym typeface="Roboto"/>
              </a:rPr>
              <a:t>DashScopeEmbeddings</a:t>
            </a:r>
            <a:endParaRPr lang="en-US" sz="1100"/>
          </a:p>
          <a:p>
            <a:pPr indent="0" algn="l">
              <a:lnSpc>
                <a:spcPct val="108000"/>
              </a:lnSpc>
            </a:pPr>
          </a:p>
          <a:p>
            <a:pPr indent="0" algn="l">
              <a:lnSpc>
                <a:spcPct val="108000"/>
              </a:lnSpc>
            </a:pPr>
            <a:r>
              <a:rPr lang="en-US" sz="1400" b="0" i="0" u="none" strike="noStrike">
                <a:solidFill>
                  <a:srgbClr val="C7254E"/>
                </a:solidFill>
                <a:latin typeface="Roboto"/>
                <a:ea typeface="Roboto"/>
                <a:cs typeface="Roboto"/>
                <a:sym typeface="Roboto"/>
              </a:rPr>
              <a:t>def</a:t>
            </a:r>
            <a:r>
              <a:rPr lang="en-US" sz="1400" b="0" i="0" u="none" strike="noStrike">
                <a:solidFill>
                  <a:srgbClr val="212121"/>
                </a:solidFill>
                <a:latin typeface="Roboto"/>
                <a:ea typeface="Roboto"/>
                <a:cs typeface="Roboto"/>
                <a:sym typeface="Roboto"/>
              </a:rPr>
              <a:t>get_embedding_model(dash_scope_api_key=</a:t>
            </a:r>
            <a:r>
              <a:rPr lang="en-US" sz="1400" b="0" i="0" u="none" strike="noStrike">
                <a:solidFill>
                  <a:srgbClr val="C7254E"/>
                </a:solidFill>
                <a:latin typeface="Roboto"/>
                <a:ea typeface="Roboto"/>
                <a:cs typeface="Roboto"/>
                <a:sym typeface="Roboto"/>
              </a:rPr>
              <a:t>None</a:t>
            </a:r>
            <a:r>
              <a:rPr lang="en-US" sz="1400" b="0" i="0" u="none" strike="noStrike">
                <a:solidFill>
                  <a:srgbClr val="212121"/>
                </a:solidFill>
                <a:latin typeface="Roboto"/>
                <a:ea typeface="Roboto"/>
                <a:cs typeface="Roboto"/>
                <a:sym typeface="Roboto"/>
              </a:rPr>
              <a:t>):</a:t>
            </a:r>
            <a:endParaRPr lang="en-US" sz="1400" b="0" i="0" u="none" strike="noStrike">
              <a:solidFill>
                <a:srgbClr val="212121"/>
              </a:solidFill>
              <a:latin typeface="Roboto"/>
              <a:ea typeface="Roboto"/>
              <a:cs typeface="Roboto"/>
              <a:sym typeface="Roboto"/>
            </a:endParaRPr>
          </a:p>
          <a:p>
            <a:pPr indent="0" algn="l">
              <a:lnSpc>
                <a:spcPct val="108000"/>
              </a:lnSpc>
            </a:pPr>
            <a:r>
              <a:rPr lang="en-US" sz="1400" b="0" i="0" u="none" strike="noStrike">
                <a:solidFill>
                  <a:srgbClr val="C7254E"/>
                </a:solidFill>
                <a:latin typeface="Roboto"/>
                <a:ea typeface="Roboto"/>
                <a:cs typeface="Roboto"/>
                <a:sym typeface="Roboto"/>
              </a:rPr>
              <a:t>if</a:t>
            </a:r>
            <a:r>
              <a:rPr lang="en-US" sz="1400" b="0" i="0" u="none" strike="noStrike">
                <a:solidFill>
                  <a:srgbClr val="212121"/>
                </a:solidFill>
                <a:latin typeface="Roboto"/>
                <a:ea typeface="Roboto"/>
                <a:cs typeface="Roboto"/>
                <a:sym typeface="Roboto"/>
              </a:rPr>
              <a:t>dash_scope_api_key</a:t>
            </a:r>
            <a:r>
              <a:rPr lang="en-US" sz="1400" b="0" i="0" u="none" strike="noStrike">
                <a:solidFill>
                  <a:srgbClr val="C7254E"/>
                </a:solidFill>
                <a:latin typeface="Roboto"/>
                <a:ea typeface="Roboto"/>
                <a:cs typeface="Roboto"/>
                <a:sym typeface="Roboto"/>
              </a:rPr>
              <a:t>isNone</a:t>
            </a:r>
            <a:r>
              <a:rPr lang="en-US" sz="1400" b="0" i="0" u="none" strike="noStrike">
                <a:solidFill>
                  <a:srgbClr val="212121"/>
                </a:solidFill>
                <a:latin typeface="Roboto"/>
                <a:ea typeface="Roboto"/>
                <a:cs typeface="Roboto"/>
                <a:sym typeface="Roboto"/>
              </a:rPr>
              <a:t>:</a:t>
            </a:r>
            <a:endParaRPr lang="en-US" sz="1400" b="0" i="0" u="none" strike="noStrike">
              <a:solidFill>
                <a:srgbClr val="212121"/>
              </a:solidFill>
              <a:latin typeface="Roboto"/>
              <a:ea typeface="Roboto"/>
              <a:cs typeface="Roboto"/>
              <a:sym typeface="Roboto"/>
            </a:endParaRPr>
          </a:p>
          <a:p>
            <a:pPr indent="0" algn="l">
              <a:lnSpc>
                <a:spcPct val="108000"/>
              </a:lnSpc>
            </a:pPr>
            <a:r>
              <a:rPr lang="en-US" sz="1400" b="0" i="0" u="none" strike="noStrike">
                <a:solidFill>
                  <a:srgbClr val="C7254E"/>
                </a:solidFill>
                <a:latin typeface="Roboto"/>
                <a:ea typeface="Roboto"/>
                <a:cs typeface="Roboto"/>
                <a:sym typeface="Roboto"/>
              </a:rPr>
              <a:t>returnNone</a:t>
            </a:r>
            <a:endParaRPr lang="en-US" sz="1400" b="0" i="0" u="none" strike="noStrike">
              <a:solidFill>
                <a:srgbClr val="C7254E"/>
              </a:solidFill>
              <a:latin typeface="Roboto"/>
              <a:ea typeface="Roboto"/>
              <a:cs typeface="Roboto"/>
              <a:sym typeface="Roboto"/>
            </a:endParaRPr>
          </a:p>
          <a:p>
            <a:pPr indent="0" algn="l">
              <a:lnSpc>
                <a:spcPct val="108000"/>
              </a:lnSpc>
            </a:pPr>
            <a:r>
              <a:rPr lang="en-US" sz="1400" b="0" i="0" u="none" strike="noStrike">
                <a:solidFill>
                  <a:srgbClr val="212121"/>
                </a:solidFill>
                <a:latin typeface="Roboto"/>
                <a:ea typeface="Roboto"/>
                <a:cs typeface="Roboto"/>
                <a:sym typeface="Roboto"/>
              </a:rPr>
              <a:t>embeddings = DashScopeEmbeddings(</a:t>
            </a:r>
            <a:endParaRPr lang="en-US" sz="1400" b="0" i="0" u="none" strike="noStrike">
              <a:solidFill>
                <a:srgbClr val="212121"/>
              </a:solidFill>
              <a:latin typeface="Roboto"/>
              <a:ea typeface="Roboto"/>
              <a:cs typeface="Roboto"/>
              <a:sym typeface="Roboto"/>
            </a:endParaRPr>
          </a:p>
          <a:p>
            <a:pPr indent="0" algn="l">
              <a:lnSpc>
                <a:spcPct val="108000"/>
              </a:lnSpc>
            </a:pPr>
            <a:r>
              <a:rPr lang="en-US" sz="1400" b="0" i="0" u="none" strike="noStrike">
                <a:solidFill>
                  <a:srgbClr val="212121"/>
                </a:solidFill>
                <a:latin typeface="Roboto"/>
                <a:ea typeface="Roboto"/>
                <a:cs typeface="Roboto"/>
                <a:sym typeface="Roboto"/>
              </a:rPr>
              <a:t>model=</a:t>
            </a:r>
            <a:r>
              <a:rPr lang="en-US" sz="1400" b="0" i="0" u="none" strike="noStrike">
                <a:solidFill>
                  <a:srgbClr val="42B983"/>
                </a:solidFill>
                <a:latin typeface="Roboto"/>
                <a:ea typeface="Roboto"/>
                <a:cs typeface="Roboto"/>
                <a:sym typeface="Roboto"/>
              </a:rPr>
              <a:t>"text-embedding-v3"</a:t>
            </a:r>
            <a:r>
              <a:rPr lang="en-US" sz="1400" b="0" i="0" u="none" strike="noStrike">
                <a:solidFill>
                  <a:srgbClr val="212121"/>
                </a:solidFill>
                <a:latin typeface="Roboto"/>
                <a:ea typeface="Roboto"/>
                <a:cs typeface="Roboto"/>
                <a:sym typeface="Roboto"/>
              </a:rPr>
              <a:t>,</a:t>
            </a:r>
            <a:endParaRPr lang="en-US" sz="1400" b="0" i="0" u="none" strike="noStrike">
              <a:solidFill>
                <a:srgbClr val="212121"/>
              </a:solidFill>
              <a:latin typeface="Roboto"/>
              <a:ea typeface="Roboto"/>
              <a:cs typeface="Roboto"/>
              <a:sym typeface="Roboto"/>
            </a:endParaRPr>
          </a:p>
          <a:p>
            <a:pPr indent="0" algn="l">
              <a:lnSpc>
                <a:spcPct val="108000"/>
              </a:lnSpc>
            </a:pPr>
            <a:r>
              <a:rPr lang="en-US" sz="1400" b="0" i="0" u="none" strike="noStrike">
                <a:solidFill>
                  <a:srgbClr val="212121"/>
                </a:solidFill>
                <a:latin typeface="Roboto"/>
                <a:ea typeface="Roboto"/>
                <a:cs typeface="Roboto"/>
                <a:sym typeface="Roboto"/>
              </a:rPr>
              <a:t>dashscope_api_key=dash_scope_api_key</a:t>
            </a:r>
            <a:endParaRPr lang="en-US" sz="1400" b="0" i="0" u="none" strike="noStrike">
              <a:solidFill>
                <a:srgbClr val="212121"/>
              </a:solidFill>
              <a:latin typeface="Roboto"/>
              <a:ea typeface="Roboto"/>
              <a:cs typeface="Roboto"/>
              <a:sym typeface="Roboto"/>
            </a:endParaRPr>
          </a:p>
          <a:p>
            <a:pPr indent="0" algn="l">
              <a:lnSpc>
                <a:spcPct val="108000"/>
              </a:lnSpc>
            </a:pPr>
            <a:r>
              <a:rPr lang="en-US" sz="1400" b="0" i="0" u="none" strike="noStrike">
                <a:solidFill>
                  <a:srgbClr val="212121"/>
                </a:solidFill>
                <a:latin typeface="Roboto"/>
                <a:ea typeface="Roboto"/>
                <a:cs typeface="Roboto"/>
                <a:sym typeface="Roboto"/>
              </a:rPr>
              <a:t>)</a:t>
            </a:r>
            <a:endParaRPr lang="en-US" sz="1400" b="0" i="0" u="none" strike="noStrike">
              <a:solidFill>
                <a:srgbClr val="212121"/>
              </a:solidFill>
              <a:latin typeface="Roboto"/>
              <a:ea typeface="Roboto"/>
              <a:cs typeface="Roboto"/>
              <a:sym typeface="Roboto"/>
            </a:endParaRPr>
          </a:p>
          <a:p>
            <a:pPr indent="0" algn="l">
              <a:lnSpc>
                <a:spcPct val="108000"/>
              </a:lnSpc>
            </a:pPr>
            <a:r>
              <a:rPr lang="en-US" sz="1400" b="0" i="0" u="none" strike="noStrike">
                <a:solidFill>
                  <a:srgbClr val="C7254E"/>
                </a:solidFill>
                <a:latin typeface="Roboto"/>
                <a:ea typeface="Roboto"/>
                <a:cs typeface="Roboto"/>
                <a:sym typeface="Roboto"/>
              </a:rPr>
              <a:t>return</a:t>
            </a:r>
            <a:r>
              <a:rPr lang="en-US" sz="1400" b="0" i="0" u="none" strike="noStrike">
                <a:solidFill>
                  <a:srgbClr val="212121"/>
                </a:solidFill>
                <a:latin typeface="Roboto"/>
                <a:ea typeface="Roboto"/>
                <a:cs typeface="Roboto"/>
                <a:sym typeface="Roboto"/>
              </a:rPr>
              <a:t>embeddings</a:t>
            </a:r>
            <a:endParaRPr lang="en-US" sz="1400" b="0" i="0" u="none" strike="noStrike">
              <a:solidFill>
                <a:srgbClr val="212121"/>
              </a:solidFill>
              <a:latin typeface="Roboto"/>
              <a:ea typeface="Roboto"/>
              <a:cs typeface="Roboto"/>
              <a:sym typeface="Roboto"/>
            </a:endParaRPr>
          </a:p>
        </p:txBody>
      </p:sp>
      <p:sp>
        <p:nvSpPr>
          <p:cNvPr id="6" name="AutoShape 6"/>
          <p:cNvSpPr/>
          <p:nvPr/>
        </p:nvSpPr>
        <p:spPr>
          <a:xfrm>
            <a:off x="6350000" y="1524000"/>
            <a:ext cx="5080000" cy="3302000"/>
          </a:xfrm>
          <a:prstGeom prst="roundRect">
            <a:avLst>
              <a:gd name="adj" fmla="val 3846"/>
            </a:avLst>
          </a:prstGeom>
          <a:solidFill>
            <a:srgbClr val="FFFFFF">
              <a:alpha val="100000"/>
            </a:srgbClr>
          </a:solidFill>
          <a:ln w="25400" cap="flat" cmpd="sng">
            <a:noFill/>
            <a:prstDash val="solid"/>
            <a:round/>
          </a:ln>
          <a:effectLst>
            <a:outerShdw blurRad="127000" dist="50800" dir="5400000" algn="tl" rotWithShape="0">
              <a:srgbClr val="000000">
                <a:alpha val="10000"/>
              </a:srgbClr>
            </a:outerShdw>
          </a:effectLst>
        </p:spPr>
        <p:txBody>
          <a:bodyPr vert="horz" wrap="square" lIns="63500" tIns="63500" rIns="63500" bIns="63500" rtlCol="0" anchor="ctr"/>
          <a:lstStyle/>
          <a:p>
            <a:pPr algn="ctr">
              <a:defRPr/>
            </a:pPr>
          </a:p>
        </p:txBody>
      </p:sp>
      <p:sp>
        <p:nvSpPr>
          <p:cNvPr id="7" name="AutoShape 7"/>
          <p:cNvSpPr/>
          <p:nvPr/>
        </p:nvSpPr>
        <p:spPr>
          <a:xfrm>
            <a:off x="6604000" y="1714500"/>
            <a:ext cx="4572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757575"/>
                </a:solidFill>
                <a:latin typeface="Noto Sans SC"/>
                <a:ea typeface="Noto Sans SC"/>
                <a:cs typeface="Noto Sans SC"/>
                <a:sym typeface="Noto Sans SC"/>
              </a:rPr>
              <a:t>代码逻辑解析</a:t>
            </a:r>
            <a:endParaRPr lang="en-US" sz="1100"/>
          </a:p>
        </p:txBody>
      </p:sp>
      <p:sp>
        <p:nvSpPr>
          <p:cNvPr id="8" name="AutoShape 8"/>
          <p:cNvSpPr/>
          <p:nvPr/>
        </p:nvSpPr>
        <p:spPr>
          <a:xfrm>
            <a:off x="6604000" y="2095500"/>
            <a:ext cx="4572000" cy="2413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424242"/>
                </a:solidFill>
                <a:latin typeface="Noto Sans SC"/>
                <a:ea typeface="Noto Sans SC"/>
                <a:cs typeface="Noto Sans SC"/>
                <a:sym typeface="Noto Sans SC"/>
              </a:rPr>
              <a:t>功能说明：</a:t>
            </a:r>
            <a:endParaRPr lang="en-US" sz="1100"/>
          </a:p>
          <a:p>
            <a:pPr indent="0" algn="l">
              <a:lnSpc>
                <a:spcPct val="125000"/>
              </a:lnSpc>
            </a:pPr>
            <a:r>
              <a:rPr lang="en-US" sz="1600" b="0" i="0" u="none" strike="noStrike">
                <a:solidFill>
                  <a:srgbClr val="616161"/>
                </a:solidFill>
                <a:latin typeface="Noto Sans SC"/>
                <a:ea typeface="Noto Sans SC"/>
                <a:cs typeface="Noto Sans SC"/>
                <a:sym typeface="Noto Sans SC"/>
              </a:rPr>
              <a:t>该函数</a:t>
            </a:r>
            <a:r>
              <a:rPr lang="en-US" sz="1600" b="1" i="0" u="none" strike="noStrike">
                <a:solidFill>
                  <a:srgbClr val="0288D1"/>
                </a:solidFill>
                <a:latin typeface="Roboto"/>
                <a:ea typeface="Roboto"/>
                <a:cs typeface="Roboto"/>
                <a:sym typeface="Roboto"/>
              </a:rPr>
              <a:t>get_embedding_model</a:t>
            </a:r>
            <a:r>
              <a:rPr lang="en-US" sz="1600" b="0" i="0" u="none" strike="noStrike">
                <a:solidFill>
                  <a:srgbClr val="616161"/>
                </a:solidFill>
                <a:latin typeface="Noto Sans SC"/>
                <a:ea typeface="Noto Sans SC"/>
                <a:cs typeface="Noto Sans SC"/>
                <a:sym typeface="Noto Sans SC"/>
              </a:rPr>
              <a:t>用于初始化通义千问的嵌入模型，将文本转换为向量表示。</a:t>
            </a:r>
            <a:endParaRPr lang="en-US" sz="1600" b="0" i="0" u="none" strike="noStrike">
              <a:solidFill>
                <a:srgbClr val="616161"/>
              </a:solidFill>
              <a:latin typeface="Noto Sans SC"/>
              <a:ea typeface="Noto Sans SC"/>
              <a:cs typeface="Noto Sans SC"/>
              <a:sym typeface="Noto Sans SC"/>
            </a:endParaRPr>
          </a:p>
          <a:p>
            <a:pPr indent="0" algn="l">
              <a:lnSpc>
                <a:spcPct val="125000"/>
              </a:lnSpc>
            </a:pPr>
          </a:p>
          <a:p>
            <a:pPr indent="0" algn="l">
              <a:lnSpc>
                <a:spcPct val="125000"/>
              </a:lnSpc>
            </a:pPr>
            <a:r>
              <a:rPr lang="en-US" sz="1600" b="1" i="0" u="none" strike="noStrike">
                <a:solidFill>
                  <a:srgbClr val="424242"/>
                </a:solidFill>
                <a:latin typeface="Noto Sans SC"/>
                <a:ea typeface="Noto Sans SC"/>
                <a:cs typeface="Noto Sans SC"/>
                <a:sym typeface="Noto Sans SC"/>
              </a:rPr>
              <a:t>关键参数：</a:t>
            </a:r>
            <a:endParaRPr lang="en-US" sz="1600" b="1" i="0" u="none" strike="noStrike">
              <a:solidFill>
                <a:srgbClr val="424242"/>
              </a:solidFill>
              <a:latin typeface="Noto Sans SC"/>
              <a:ea typeface="Noto Sans SC"/>
              <a:cs typeface="Noto Sans SC"/>
              <a:sym typeface="Noto Sans SC"/>
            </a:endParaRPr>
          </a:p>
          <a:p>
            <a:pPr marL="203200" indent="-203200" algn="l">
              <a:lnSpc>
                <a:spcPct val="125000"/>
              </a:lnSpc>
              <a:buClr>
                <a:srgbClr val="616161"/>
              </a:buClr>
              <a:buChar char="•"/>
            </a:pPr>
            <a:r>
              <a:rPr lang="en-US" sz="1600" b="1" i="0" u="none" strike="noStrike">
                <a:solidFill>
                  <a:srgbClr val="616161"/>
                </a:solidFill>
                <a:latin typeface="Noto Sans SC"/>
                <a:ea typeface="Noto Sans SC"/>
                <a:cs typeface="Noto Sans SC"/>
                <a:sym typeface="Noto Sans SC"/>
              </a:rPr>
              <a:t>model</a:t>
            </a:r>
            <a:r>
              <a:rPr lang="en-US" sz="1600" b="0" i="0" u="none" strike="noStrike">
                <a:solidFill>
                  <a:srgbClr val="616161"/>
                </a:solidFill>
                <a:latin typeface="Noto Sans SC"/>
                <a:ea typeface="Noto Sans SC"/>
                <a:cs typeface="Noto Sans SC"/>
                <a:sym typeface="Noto Sans SC"/>
              </a:rPr>
              <a:t>：指定模型版本为</a:t>
            </a:r>
            <a:r>
              <a:rPr lang="en-US" sz="1600" b="0" i="0" u="none" strike="noStrike">
                <a:solidFill>
                  <a:srgbClr val="0288D1"/>
                </a:solidFill>
                <a:latin typeface="Roboto"/>
                <a:ea typeface="Roboto"/>
                <a:cs typeface="Roboto"/>
                <a:sym typeface="Roboto"/>
              </a:rPr>
              <a:t>text-embedding-v3</a:t>
            </a:r>
            <a:endParaRPr lang="en-US" sz="1600" b="0" i="0" u="none" strike="noStrike">
              <a:solidFill>
                <a:srgbClr val="0288D1"/>
              </a:solidFill>
              <a:latin typeface="Roboto"/>
              <a:ea typeface="Roboto"/>
              <a:cs typeface="Roboto"/>
              <a:sym typeface="Roboto"/>
            </a:endParaRPr>
          </a:p>
          <a:p>
            <a:pPr marL="203200" indent="-203200" algn="l">
              <a:lnSpc>
                <a:spcPct val="125000"/>
              </a:lnSpc>
              <a:buClr>
                <a:srgbClr val="616161"/>
              </a:buClr>
              <a:buChar char="•"/>
            </a:pPr>
            <a:r>
              <a:rPr lang="en-US" sz="1600" b="1" i="0" u="none" strike="noStrike">
                <a:solidFill>
                  <a:srgbClr val="616161"/>
                </a:solidFill>
                <a:latin typeface="Noto Sans SC"/>
                <a:ea typeface="Noto Sans SC"/>
                <a:cs typeface="Noto Sans SC"/>
                <a:sym typeface="Noto Sans SC"/>
              </a:rPr>
              <a:t>dashscope_api_key</a:t>
            </a:r>
            <a:r>
              <a:rPr lang="en-US" sz="1600" b="0" i="0" u="none" strike="noStrike">
                <a:solidFill>
                  <a:srgbClr val="616161"/>
                </a:solidFill>
                <a:latin typeface="Noto Sans SC"/>
                <a:ea typeface="Noto Sans SC"/>
                <a:cs typeface="Noto Sans SC"/>
                <a:sym typeface="Noto Sans SC"/>
              </a:rPr>
              <a:t>：用户需传入在阿里云申请的API密钥</a:t>
            </a:r>
            <a:endParaRPr lang="en-US" sz="1600" b="0" i="0" u="none" strike="noStrike">
              <a:solidFill>
                <a:srgbClr val="616161"/>
              </a:solidFill>
              <a:latin typeface="Noto Sans SC"/>
              <a:ea typeface="Noto Sans SC"/>
              <a:cs typeface="Noto Sans SC"/>
              <a:sym typeface="Noto Sans SC"/>
            </a:endParaRPr>
          </a:p>
        </p:txBody>
      </p:sp>
      <p:sp>
        <p:nvSpPr>
          <p:cNvPr id="9" name="AutoShape 9"/>
          <p:cNvSpPr/>
          <p:nvPr/>
        </p:nvSpPr>
        <p:spPr>
          <a:xfrm>
            <a:off x="762000" y="5334000"/>
            <a:ext cx="10668000" cy="25400"/>
          </a:xfrm>
          <a:prstGeom prst="roundRect">
            <a:avLst>
              <a:gd name="adj" fmla="val 0"/>
            </a:avLst>
          </a:prstGeom>
          <a:solidFill>
            <a:srgbClr val="0288D1">
              <a:alpha val="30000"/>
            </a:srgbClr>
          </a:solidFill>
          <a:ln w="25400" cap="flat" cmpd="sng">
            <a:noFill/>
            <a:prstDash val="solid"/>
            <a:round/>
          </a:ln>
        </p:spPr>
        <p:txBody>
          <a:bodyPr vert="horz" wrap="square" lIns="63500" tIns="63500" rIns="63500" bIns="63500" rtlCol="0" anchor="ctr"/>
          <a:lstStyle/>
          <a:p>
            <a:pPr algn="ctr">
              <a:defRPr/>
            </a:pPr>
          </a:p>
        </p:txBody>
      </p:sp>
      <p:pic>
        <p:nvPicPr>
          <p:cNvPr id="10" name="Picture 10"/>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762000" y="5588000"/>
            <a:ext cx="304800" cy="304800"/>
          </a:xfrm>
          <a:prstGeom prst="rect">
            <a:avLst/>
          </a:prstGeom>
        </p:spPr>
      </p:pic>
      <p:sp>
        <p:nvSpPr>
          <p:cNvPr id="11" name="AutoShape 11"/>
          <p:cNvSpPr/>
          <p:nvPr/>
        </p:nvSpPr>
        <p:spPr>
          <a:xfrm>
            <a:off x="1143000" y="5562600"/>
            <a:ext cx="10287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0" i="0" u="none" strike="noStrike">
                <a:solidFill>
                  <a:srgbClr val="757575"/>
                </a:solidFill>
                <a:latin typeface="Noto Sans SC"/>
                <a:ea typeface="Noto Sans SC"/>
                <a:cs typeface="Noto Sans SC"/>
                <a:sym typeface="Noto Sans SC"/>
              </a:rPr>
              <a:t>通过嵌入模型将非结构化文本转化为结构化向量，是构建知识库索引的核心步骤。</a:t>
            </a:r>
            <a:endParaRPr lang="en-US" sz="110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E0F7FA">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635000"/>
            <a:ext cx="10668000" cy="508000"/>
          </a:xfrm>
          <a:prstGeom prst="rect">
            <a:avLst/>
          </a:prstGeom>
          <a:noFill/>
          <a:ln w="12700" cap="flat" cmpd="sng">
            <a:noFill/>
            <a:prstDash val="solid"/>
            <a:round/>
          </a:ln>
        </p:spPr>
        <p:txBody>
          <a:bodyPr vert="horz" wrap="none" lIns="0" tIns="0" rIns="0" bIns="0" rtlCol="0" anchor="ctr" anchorCtr="0"/>
          <a:lstStyle/>
          <a:p>
            <a:pPr indent="0" algn="l">
              <a:lnSpc>
                <a:spcPct val="125000"/>
              </a:lnSpc>
              <a:defRPr/>
            </a:pPr>
            <a:r>
              <a:rPr lang="en-US" sz="3200" b="1" i="0" u="none" strike="noStrike">
                <a:solidFill>
                  <a:srgbClr val="0288D1"/>
                </a:solidFill>
                <a:latin typeface="Noto Sans SC"/>
                <a:ea typeface="Noto Sans SC"/>
                <a:cs typeface="Noto Sans SC"/>
                <a:sym typeface="Noto Sans SC"/>
              </a:rPr>
              <a:t>离线构建知识库：向量存储</a:t>
            </a:r>
            <a:endParaRPr lang="en-US" sz="1100"/>
          </a:p>
        </p:txBody>
      </p:sp>
      <p:sp>
        <p:nvSpPr>
          <p:cNvPr id="3" name="AutoShape 3"/>
          <p:cNvSpPr/>
          <p:nvPr/>
        </p:nvSpPr>
        <p:spPr>
          <a:xfrm>
            <a:off x="762000" y="1524000"/>
            <a:ext cx="5334000" cy="3556000"/>
          </a:xfrm>
          <a:prstGeom prst="roundRect">
            <a:avLst>
              <a:gd name="adj" fmla="val 3571"/>
            </a:avLst>
          </a:prstGeom>
          <a:solidFill>
            <a:srgbClr val="1E1E1E">
              <a:alpha val="100000"/>
            </a:srgbClr>
          </a:solidFill>
          <a:ln w="25400" cap="flat" cmpd="sng">
            <a:noFill/>
            <a:prstDash val="solid"/>
            <a:round/>
          </a:ln>
          <a:effectLst>
            <a:outerShdw blurRad="101600" dist="50800" dir="5400000" algn="tl" rotWithShape="0">
              <a:srgbClr val="000000">
                <a:alpha val="15000"/>
              </a:srgbClr>
            </a:outerShdw>
          </a:effectLst>
        </p:spPr>
        <p:txBody>
          <a:bodyPr vert="horz" wrap="square" lIns="63500" tIns="63500" rIns="63500" bIns="63500" rtlCol="0" anchor="ctr"/>
          <a:lstStyle/>
          <a:p>
            <a:pPr algn="ctr">
              <a:defRPr/>
            </a:pPr>
          </a:p>
        </p:txBody>
      </p:sp>
      <p:sp>
        <p:nvSpPr>
          <p:cNvPr id="4" name="AutoShape 4"/>
          <p:cNvSpPr/>
          <p:nvPr/>
        </p:nvSpPr>
        <p:spPr>
          <a:xfrm>
            <a:off x="952500" y="1714500"/>
            <a:ext cx="4953000" cy="3175000"/>
          </a:xfrm>
          <a:prstGeom prst="rect">
            <a:avLst/>
          </a:prstGeom>
          <a:noFill/>
          <a:ln w="12700" cap="flat" cmpd="sng">
            <a:noFill/>
            <a:prstDash val="solid"/>
            <a:round/>
          </a:ln>
        </p:spPr>
        <p:txBody>
          <a:bodyPr vert="horz" wrap="square" lIns="0" tIns="0" rIns="0" bIns="0" rtlCol="0" anchor="t" anchorCtr="0"/>
          <a:lstStyle/>
          <a:p>
            <a:pPr indent="0" algn="l">
              <a:lnSpc>
                <a:spcPct val="100000"/>
              </a:lnSpc>
              <a:defRPr/>
            </a:pPr>
            <a:r>
              <a:rPr lang="en-US" sz="1400" b="0" i="0" u="none" strike="noStrike">
                <a:solidFill>
                  <a:srgbClr val="C678DD"/>
                </a:solidFill>
                <a:latin typeface="Roboto"/>
                <a:ea typeface="Roboto"/>
                <a:cs typeface="Roboto"/>
                <a:sym typeface="Roboto"/>
              </a:rPr>
              <a:t>from</a:t>
            </a:r>
            <a:r>
              <a:rPr lang="en-US" sz="1400" b="0" i="0" u="none" strike="noStrike">
                <a:solidFill>
                  <a:srgbClr val="DCDFE4"/>
                </a:solidFill>
                <a:latin typeface="Roboto"/>
                <a:ea typeface="Roboto"/>
                <a:cs typeface="Roboto"/>
                <a:sym typeface="Roboto"/>
              </a:rPr>
              <a:t>langchain_community.vectorstores</a:t>
            </a:r>
            <a:r>
              <a:rPr lang="en-US" sz="1400" b="0" i="0" u="none" strike="noStrike">
                <a:solidFill>
                  <a:srgbClr val="C678DD"/>
                </a:solidFill>
                <a:latin typeface="Roboto"/>
                <a:ea typeface="Roboto"/>
                <a:cs typeface="Roboto"/>
                <a:sym typeface="Roboto"/>
              </a:rPr>
              <a:t>import</a:t>
            </a:r>
            <a:r>
              <a:rPr lang="en-US" sz="1400" b="0" i="0" u="none" strike="noStrike">
                <a:solidFill>
                  <a:srgbClr val="E5C07B"/>
                </a:solidFill>
                <a:latin typeface="Roboto"/>
                <a:ea typeface="Roboto"/>
                <a:cs typeface="Roboto"/>
                <a:sym typeface="Roboto"/>
              </a:rPr>
              <a:t>FAISS</a:t>
            </a:r>
            <a:endParaRPr lang="en-US" sz="1100"/>
          </a:p>
          <a:p>
            <a:pPr indent="0" algn="l">
              <a:lnSpc>
                <a:spcPct val="100000"/>
              </a:lnSpc>
            </a:pPr>
          </a:p>
          <a:p>
            <a:pPr indent="0" algn="l">
              <a:lnSpc>
                <a:spcPct val="100000"/>
              </a:lnSpc>
            </a:pPr>
            <a:r>
              <a:rPr lang="en-US" sz="1400" b="0" i="0" u="none" strike="noStrike">
                <a:solidFill>
                  <a:srgbClr val="C678DD"/>
                </a:solidFill>
                <a:latin typeface="Roboto"/>
                <a:ea typeface="Roboto"/>
                <a:cs typeface="Roboto"/>
                <a:sym typeface="Roboto"/>
              </a:rPr>
              <a:t>def</a:t>
            </a:r>
            <a:r>
              <a:rPr lang="en-US" sz="1400" b="0" i="0" u="none" strike="noStrike">
                <a:solidFill>
                  <a:srgbClr val="61AFEF"/>
                </a:solidFill>
                <a:latin typeface="Roboto"/>
                <a:ea typeface="Roboto"/>
                <a:cs typeface="Roboto"/>
                <a:sym typeface="Roboto"/>
              </a:rPr>
              <a:t>persist_vec_db</a:t>
            </a:r>
            <a:r>
              <a:rPr lang="en-US" sz="1400" b="0" i="0" u="none" strike="noStrike">
                <a:solidFill>
                  <a:srgbClr val="DCDFE4"/>
                </a:solidFill>
                <a:latin typeface="Roboto"/>
                <a:ea typeface="Roboto"/>
                <a:cs typeface="Roboto"/>
                <a:sym typeface="Roboto"/>
              </a:rPr>
              <a:t>(docs, embedding, db_path=</a:t>
            </a:r>
            <a:r>
              <a:rPr lang="en-US" sz="1400" b="0" i="0" u="none" strike="noStrike">
                <a:solidFill>
                  <a:srgbClr val="98C379"/>
                </a:solidFill>
                <a:latin typeface="Roboto"/>
                <a:ea typeface="Roboto"/>
                <a:cs typeface="Roboto"/>
                <a:sym typeface="Roboto"/>
              </a:rPr>
              <a:t>"vec.db"</a:t>
            </a:r>
            <a:r>
              <a:rPr lang="en-US" sz="1400" b="0" i="0" u="none" strike="noStrike">
                <a:solidFill>
                  <a:srgbClr val="DCDFE4"/>
                </a:solidFill>
                <a:latin typeface="Roboto"/>
                <a:ea typeface="Roboto"/>
                <a:cs typeface="Roboto"/>
                <a:sym typeface="Roboto"/>
              </a:rPr>
              <a:t>):</a:t>
            </a:r>
            <a:endParaRPr lang="en-US" sz="1400" b="0" i="0" u="none" strike="noStrike">
              <a:solidFill>
                <a:srgbClr val="DCDFE4"/>
              </a:solidFill>
              <a:latin typeface="Roboto"/>
              <a:ea typeface="Roboto"/>
              <a:cs typeface="Roboto"/>
              <a:sym typeface="Roboto"/>
            </a:endParaRPr>
          </a:p>
          <a:p>
            <a:pPr indent="0" algn="l">
              <a:lnSpc>
                <a:spcPct val="100000"/>
              </a:lnSpc>
            </a:pPr>
            <a:r>
              <a:rPr lang="en-US" sz="1400" b="0" i="0" u="none" strike="noStrike">
                <a:solidFill>
                  <a:srgbClr val="DCDFE4"/>
                </a:solidFill>
                <a:latin typeface="Roboto"/>
                <a:ea typeface="Roboto"/>
                <a:cs typeface="Roboto"/>
                <a:sym typeface="Roboto"/>
              </a:rPr>
              <a:t>foot =</a:t>
            </a:r>
            <a:r>
              <a:rPr lang="en-US" sz="1400" b="0" i="0" u="none" strike="noStrike">
                <a:solidFill>
                  <a:srgbClr val="D19A66"/>
                </a:solidFill>
                <a:latin typeface="Roboto"/>
                <a:ea typeface="Roboto"/>
                <a:cs typeface="Roboto"/>
                <a:sym typeface="Roboto"/>
              </a:rPr>
              <a:t>6</a:t>
            </a:r>
            <a:endParaRPr lang="en-US" sz="1400" b="0" i="0" u="none" strike="noStrike">
              <a:solidFill>
                <a:srgbClr val="D19A66"/>
              </a:solidFill>
              <a:latin typeface="Roboto"/>
              <a:ea typeface="Roboto"/>
              <a:cs typeface="Roboto"/>
              <a:sym typeface="Roboto"/>
            </a:endParaRPr>
          </a:p>
          <a:p>
            <a:pPr indent="0" algn="l">
              <a:lnSpc>
                <a:spcPct val="100000"/>
              </a:lnSpc>
            </a:pPr>
            <a:r>
              <a:rPr lang="en-US" sz="1400" b="0" i="0" u="none" strike="noStrike">
                <a:solidFill>
                  <a:srgbClr val="DCDFE4"/>
                </a:solidFill>
                <a:latin typeface="Roboto"/>
                <a:ea typeface="Roboto"/>
                <a:cs typeface="Roboto"/>
                <a:sym typeface="Roboto"/>
              </a:rPr>
              <a:t>vec_db =</a:t>
            </a:r>
            <a:r>
              <a:rPr lang="en-US" sz="1400" b="0" i="0" u="none" strike="noStrike">
                <a:solidFill>
                  <a:srgbClr val="D19A66"/>
                </a:solidFill>
                <a:latin typeface="Roboto"/>
                <a:ea typeface="Roboto"/>
                <a:cs typeface="Roboto"/>
                <a:sym typeface="Roboto"/>
              </a:rPr>
              <a:t>None</a:t>
            </a:r>
            <a:endParaRPr lang="en-US" sz="1400" b="0" i="0" u="none" strike="noStrike">
              <a:solidFill>
                <a:srgbClr val="D19A66"/>
              </a:solidFill>
              <a:latin typeface="Roboto"/>
              <a:ea typeface="Roboto"/>
              <a:cs typeface="Roboto"/>
              <a:sym typeface="Roboto"/>
            </a:endParaRPr>
          </a:p>
          <a:p>
            <a:pPr indent="0" algn="l">
              <a:lnSpc>
                <a:spcPct val="100000"/>
              </a:lnSpc>
            </a:pPr>
            <a:r>
              <a:rPr lang="en-US" sz="1400" b="0" i="0" u="none" strike="noStrike">
                <a:solidFill>
                  <a:srgbClr val="C678DD"/>
                </a:solidFill>
                <a:latin typeface="Roboto"/>
                <a:ea typeface="Roboto"/>
                <a:cs typeface="Roboto"/>
                <a:sym typeface="Roboto"/>
              </a:rPr>
              <a:t>for</a:t>
            </a:r>
            <a:r>
              <a:rPr lang="en-US" sz="1400" b="0" i="0" u="none" strike="noStrike">
                <a:solidFill>
                  <a:srgbClr val="DCDFE4"/>
                </a:solidFill>
                <a:latin typeface="Roboto"/>
                <a:ea typeface="Roboto"/>
                <a:cs typeface="Roboto"/>
                <a:sym typeface="Roboto"/>
              </a:rPr>
              <a:t>idx</a:t>
            </a:r>
            <a:r>
              <a:rPr lang="en-US" sz="1400" b="0" i="0" u="none" strike="noStrike">
                <a:solidFill>
                  <a:srgbClr val="C678DD"/>
                </a:solidFill>
                <a:latin typeface="Roboto"/>
                <a:ea typeface="Roboto"/>
                <a:cs typeface="Roboto"/>
                <a:sym typeface="Roboto"/>
              </a:rPr>
              <a:t>in</a:t>
            </a:r>
            <a:r>
              <a:rPr lang="en-US" sz="1400" b="0" i="0" u="none" strike="noStrike">
                <a:solidFill>
                  <a:srgbClr val="DCDFE4"/>
                </a:solidFill>
                <a:latin typeface="Roboto"/>
                <a:ea typeface="Roboto"/>
                <a:cs typeface="Roboto"/>
                <a:sym typeface="Roboto"/>
              </a:rPr>
              <a:t>range(</a:t>
            </a:r>
            <a:r>
              <a:rPr lang="en-US" sz="1400" b="0" i="0" u="none" strike="noStrike">
                <a:solidFill>
                  <a:srgbClr val="D19A66"/>
                </a:solidFill>
                <a:latin typeface="Roboto"/>
                <a:ea typeface="Roboto"/>
                <a:cs typeface="Roboto"/>
                <a:sym typeface="Roboto"/>
              </a:rPr>
              <a:t>0</a:t>
            </a:r>
            <a:r>
              <a:rPr lang="en-US" sz="1400" b="0" i="0" u="none" strike="noStrike">
                <a:solidFill>
                  <a:srgbClr val="DCDFE4"/>
                </a:solidFill>
                <a:latin typeface="Roboto"/>
                <a:ea typeface="Roboto"/>
                <a:cs typeface="Roboto"/>
                <a:sym typeface="Roboto"/>
              </a:rPr>
              <a:t>, len(docs), foot):</a:t>
            </a:r>
            <a:endParaRPr lang="en-US" sz="1400" b="0" i="0" u="none" strike="noStrike">
              <a:solidFill>
                <a:srgbClr val="DCDFE4"/>
              </a:solidFill>
              <a:latin typeface="Roboto"/>
              <a:ea typeface="Roboto"/>
              <a:cs typeface="Roboto"/>
              <a:sym typeface="Roboto"/>
            </a:endParaRPr>
          </a:p>
          <a:p>
            <a:pPr indent="0" algn="l">
              <a:lnSpc>
                <a:spcPct val="100000"/>
              </a:lnSpc>
            </a:pPr>
            <a:r>
              <a:rPr lang="en-US" sz="1400" b="0" i="0" u="none" strike="noStrike">
                <a:solidFill>
                  <a:srgbClr val="DCDFE4"/>
                </a:solidFill>
                <a:latin typeface="Roboto"/>
                <a:ea typeface="Roboto"/>
                <a:cs typeface="Roboto"/>
                <a:sym typeface="Roboto"/>
              </a:rPr>
              <a:t>sub_docs = docs[idx:idx + foot]</a:t>
            </a:r>
            <a:endParaRPr lang="en-US" sz="1400" b="0" i="0" u="none" strike="noStrike">
              <a:solidFill>
                <a:srgbClr val="DCDFE4"/>
              </a:solidFill>
              <a:latin typeface="Roboto"/>
              <a:ea typeface="Roboto"/>
              <a:cs typeface="Roboto"/>
              <a:sym typeface="Roboto"/>
            </a:endParaRPr>
          </a:p>
          <a:p>
            <a:pPr indent="0" algn="l">
              <a:lnSpc>
                <a:spcPct val="100000"/>
              </a:lnSpc>
            </a:pPr>
            <a:r>
              <a:rPr lang="en-US" sz="1400" b="0" i="0" u="none" strike="noStrike">
                <a:solidFill>
                  <a:srgbClr val="C678DD"/>
                </a:solidFill>
                <a:latin typeface="Roboto"/>
                <a:ea typeface="Roboto"/>
                <a:cs typeface="Roboto"/>
                <a:sym typeface="Roboto"/>
              </a:rPr>
              <a:t>if</a:t>
            </a:r>
            <a:r>
              <a:rPr lang="en-US" sz="1400" b="0" i="0" u="none" strike="noStrike">
                <a:solidFill>
                  <a:srgbClr val="DCDFE4"/>
                </a:solidFill>
                <a:latin typeface="Roboto"/>
                <a:ea typeface="Roboto"/>
                <a:cs typeface="Roboto"/>
                <a:sym typeface="Roboto"/>
              </a:rPr>
              <a:t>idx ==</a:t>
            </a:r>
            <a:r>
              <a:rPr lang="en-US" sz="1400" b="0" i="0" u="none" strike="noStrike">
                <a:solidFill>
                  <a:srgbClr val="D19A66"/>
                </a:solidFill>
                <a:latin typeface="Roboto"/>
                <a:ea typeface="Roboto"/>
                <a:cs typeface="Roboto"/>
                <a:sym typeface="Roboto"/>
              </a:rPr>
              <a:t>0</a:t>
            </a:r>
            <a:r>
              <a:rPr lang="en-US" sz="1400" b="0" i="0" u="none" strike="noStrike">
                <a:solidFill>
                  <a:srgbClr val="DCDFE4"/>
                </a:solidFill>
                <a:latin typeface="Roboto"/>
                <a:ea typeface="Roboto"/>
                <a:cs typeface="Roboto"/>
                <a:sym typeface="Roboto"/>
              </a:rPr>
              <a:t>:</a:t>
            </a:r>
            <a:endParaRPr lang="en-US" sz="1400" b="0" i="0" u="none" strike="noStrike">
              <a:solidFill>
                <a:srgbClr val="DCDFE4"/>
              </a:solidFill>
              <a:latin typeface="Roboto"/>
              <a:ea typeface="Roboto"/>
              <a:cs typeface="Roboto"/>
              <a:sym typeface="Roboto"/>
            </a:endParaRPr>
          </a:p>
          <a:p>
            <a:pPr indent="0" algn="l">
              <a:lnSpc>
                <a:spcPct val="100000"/>
              </a:lnSpc>
            </a:pPr>
            <a:r>
              <a:rPr lang="en-US" sz="1400" b="0" i="0" u="none" strike="noStrike">
                <a:solidFill>
                  <a:srgbClr val="DCDFE4"/>
                </a:solidFill>
                <a:latin typeface="Roboto"/>
                <a:ea typeface="Roboto"/>
                <a:cs typeface="Roboto"/>
                <a:sym typeface="Roboto"/>
              </a:rPr>
              <a:t>vec_db = FAISS.from_documents(sub_docs, embedding)</a:t>
            </a:r>
            <a:endParaRPr lang="en-US" sz="1400" b="0" i="0" u="none" strike="noStrike">
              <a:solidFill>
                <a:srgbClr val="DCDFE4"/>
              </a:solidFill>
              <a:latin typeface="Roboto"/>
              <a:ea typeface="Roboto"/>
              <a:cs typeface="Roboto"/>
              <a:sym typeface="Roboto"/>
            </a:endParaRPr>
          </a:p>
          <a:p>
            <a:pPr indent="0" algn="l">
              <a:lnSpc>
                <a:spcPct val="100000"/>
              </a:lnSpc>
            </a:pPr>
            <a:r>
              <a:rPr lang="en-US" sz="1400" b="0" i="0" u="none" strike="noStrike">
                <a:solidFill>
                  <a:srgbClr val="C678DD"/>
                </a:solidFill>
                <a:latin typeface="Roboto"/>
                <a:ea typeface="Roboto"/>
                <a:cs typeface="Roboto"/>
                <a:sym typeface="Roboto"/>
              </a:rPr>
              <a:t>else</a:t>
            </a:r>
            <a:r>
              <a:rPr lang="en-US" sz="1400" b="0" i="0" u="none" strike="noStrike">
                <a:solidFill>
                  <a:srgbClr val="DCDFE4"/>
                </a:solidFill>
                <a:latin typeface="Roboto"/>
                <a:ea typeface="Roboto"/>
                <a:cs typeface="Roboto"/>
                <a:sym typeface="Roboto"/>
              </a:rPr>
              <a:t>:</a:t>
            </a:r>
            <a:endParaRPr lang="en-US" sz="1400" b="0" i="0" u="none" strike="noStrike">
              <a:solidFill>
                <a:srgbClr val="DCDFE4"/>
              </a:solidFill>
              <a:latin typeface="Roboto"/>
              <a:ea typeface="Roboto"/>
              <a:cs typeface="Roboto"/>
              <a:sym typeface="Roboto"/>
            </a:endParaRPr>
          </a:p>
          <a:p>
            <a:pPr indent="0" algn="l">
              <a:lnSpc>
                <a:spcPct val="100000"/>
              </a:lnSpc>
            </a:pPr>
            <a:r>
              <a:rPr lang="en-US" sz="1400" b="0" i="0" u="none" strike="noStrike">
                <a:solidFill>
                  <a:srgbClr val="DCDFE4"/>
                </a:solidFill>
                <a:latin typeface="Roboto"/>
                <a:ea typeface="Roboto"/>
                <a:cs typeface="Roboto"/>
                <a:sym typeface="Roboto"/>
              </a:rPr>
              <a:t>temp_vec_db = FAISS.from_documents(sub_docs, embedding)</a:t>
            </a:r>
            <a:endParaRPr lang="en-US" sz="1400" b="0" i="0" u="none" strike="noStrike">
              <a:solidFill>
                <a:srgbClr val="DCDFE4"/>
              </a:solidFill>
              <a:latin typeface="Roboto"/>
              <a:ea typeface="Roboto"/>
              <a:cs typeface="Roboto"/>
              <a:sym typeface="Roboto"/>
            </a:endParaRPr>
          </a:p>
          <a:p>
            <a:pPr indent="0" algn="l">
              <a:lnSpc>
                <a:spcPct val="100000"/>
              </a:lnSpc>
            </a:pPr>
            <a:r>
              <a:rPr lang="en-US" sz="1400" b="0" i="0" u="none" strike="noStrike">
                <a:solidFill>
                  <a:srgbClr val="DCDFE4"/>
                </a:solidFill>
                <a:latin typeface="Roboto"/>
                <a:ea typeface="Roboto"/>
                <a:cs typeface="Roboto"/>
                <a:sym typeface="Roboto"/>
              </a:rPr>
              <a:t>vec_db.merge_from(temp_vec_db)</a:t>
            </a:r>
            <a:endParaRPr lang="en-US" sz="1400" b="0" i="0" u="none" strike="noStrike">
              <a:solidFill>
                <a:srgbClr val="DCDFE4"/>
              </a:solidFill>
              <a:latin typeface="Roboto"/>
              <a:ea typeface="Roboto"/>
              <a:cs typeface="Roboto"/>
              <a:sym typeface="Roboto"/>
            </a:endParaRPr>
          </a:p>
          <a:p>
            <a:pPr indent="0" algn="l">
              <a:lnSpc>
                <a:spcPct val="100000"/>
              </a:lnSpc>
            </a:pPr>
            <a:r>
              <a:rPr lang="en-US" sz="1400" b="0" i="0" u="none" strike="noStrike">
                <a:solidFill>
                  <a:srgbClr val="DCDFE4"/>
                </a:solidFill>
                <a:latin typeface="Roboto"/>
                <a:ea typeface="Roboto"/>
                <a:cs typeface="Roboto"/>
                <a:sym typeface="Roboto"/>
              </a:rPr>
              <a:t>vec_db.save_local(db_path)</a:t>
            </a:r>
            <a:endParaRPr lang="en-US" sz="1400" b="0" i="0" u="none" strike="noStrike">
              <a:solidFill>
                <a:srgbClr val="DCDFE4"/>
              </a:solidFill>
              <a:latin typeface="Roboto"/>
              <a:ea typeface="Roboto"/>
              <a:cs typeface="Roboto"/>
              <a:sym typeface="Roboto"/>
            </a:endParaRPr>
          </a:p>
        </p:txBody>
      </p:sp>
      <p:sp>
        <p:nvSpPr>
          <p:cNvPr id="5" name="AutoShape 5"/>
          <p:cNvSpPr/>
          <p:nvPr/>
        </p:nvSpPr>
        <p:spPr>
          <a:xfrm>
            <a:off x="6350000" y="1524000"/>
            <a:ext cx="5080000" cy="3556000"/>
          </a:xfrm>
          <a:prstGeom prst="roundRect">
            <a:avLst>
              <a:gd name="adj" fmla="val 3571"/>
            </a:avLst>
          </a:prstGeom>
          <a:solidFill>
            <a:srgbClr val="FFFFFF">
              <a:alpha val="100000"/>
            </a:srgbClr>
          </a:solidFill>
          <a:ln w="25400" cap="flat" cmpd="sng">
            <a:noFill/>
            <a:prstDash val="solid"/>
            <a:round/>
          </a:ln>
          <a:effectLst>
            <a:outerShdw blurRad="101600" dist="50800" dir="5400000" algn="tl" rotWithShape="0">
              <a:srgbClr val="000000">
                <a:alpha val="10000"/>
              </a:srgbClr>
            </a:outerShdw>
          </a:effectLst>
        </p:spPr>
        <p:txBody>
          <a:bodyPr vert="horz" wrap="square" lIns="63500" tIns="63500" rIns="63500" bIns="63500" rtlCol="0" anchor="ctr"/>
          <a:lstStyle/>
          <a:p>
            <a:pPr algn="ctr">
              <a:defRPr/>
            </a:pPr>
          </a:p>
        </p:txBody>
      </p:sp>
      <p:sp>
        <p:nvSpPr>
          <p:cNvPr id="6" name="AutoShape 6"/>
          <p:cNvSpPr/>
          <p:nvPr/>
        </p:nvSpPr>
        <p:spPr>
          <a:xfrm>
            <a:off x="6604000" y="1714500"/>
            <a:ext cx="4572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0288D1"/>
                </a:solidFill>
                <a:latin typeface="Noto Sans SC"/>
                <a:ea typeface="Noto Sans SC"/>
                <a:cs typeface="Noto Sans SC"/>
                <a:sym typeface="Noto Sans SC"/>
              </a:rPr>
              <a:t>代码功能解析</a:t>
            </a:r>
            <a:endParaRPr lang="en-US" sz="1100"/>
          </a:p>
        </p:txBody>
      </p:sp>
      <p:sp>
        <p:nvSpPr>
          <p:cNvPr id="7" name="AutoShape 7"/>
          <p:cNvSpPr/>
          <p:nvPr/>
        </p:nvSpPr>
        <p:spPr>
          <a:xfrm>
            <a:off x="6604000" y="2159000"/>
            <a:ext cx="4572000" cy="2667000"/>
          </a:xfrm>
          <a:prstGeom prst="rect">
            <a:avLst/>
          </a:prstGeom>
          <a:noFill/>
          <a:ln w="12700" cap="flat" cmpd="sng">
            <a:noFill/>
            <a:prstDash val="solid"/>
            <a:round/>
          </a:ln>
        </p:spPr>
        <p:txBody>
          <a:bodyPr vert="horz" wrap="square" lIns="0" tIns="0" rIns="0" bIns="0" rtlCol="0" anchor="t" anchorCtr="0"/>
          <a:lstStyle/>
          <a:p>
            <a:pPr indent="0" algn="l">
              <a:lnSpc>
                <a:spcPct val="125000"/>
              </a:lnSpc>
              <a:defRPr/>
            </a:pPr>
            <a:r>
              <a:rPr lang="en-US" sz="1600" b="0" i="0" u="none" strike="noStrike">
                <a:solidFill>
                  <a:srgbClr val="757575"/>
                </a:solidFill>
                <a:latin typeface="Noto Sans SC"/>
                <a:ea typeface="Noto Sans SC"/>
                <a:cs typeface="Noto Sans SC"/>
                <a:sym typeface="Noto Sans SC"/>
              </a:rPr>
              <a:t>该函数</a:t>
            </a:r>
            <a:r>
              <a:rPr lang="en-US" sz="1600" b="1" i="0" u="none" strike="noStrike">
                <a:solidFill>
                  <a:srgbClr val="0288D1"/>
                </a:solidFill>
                <a:latin typeface="Roboto"/>
                <a:ea typeface="Roboto"/>
                <a:cs typeface="Roboto"/>
                <a:sym typeface="Roboto"/>
              </a:rPr>
              <a:t>persist_vec_db</a:t>
            </a:r>
            <a:r>
              <a:rPr lang="en-US" sz="1600" b="0" i="0" u="none" strike="noStrike">
                <a:solidFill>
                  <a:srgbClr val="757575"/>
                </a:solidFill>
                <a:latin typeface="Noto Sans SC"/>
                <a:ea typeface="Noto Sans SC"/>
                <a:cs typeface="Noto Sans SC"/>
                <a:sym typeface="Noto Sans SC"/>
              </a:rPr>
              <a:t>主要完成以下核心任务：</a:t>
            </a:r>
            <a:endParaRPr lang="en-US" sz="1100"/>
          </a:p>
          <a:p>
            <a:pPr marL="203200" indent="-203200" algn="l">
              <a:lnSpc>
                <a:spcPct val="125000"/>
              </a:lnSpc>
              <a:buClr>
                <a:srgbClr val="757575"/>
              </a:buClr>
              <a:buChar char="•"/>
            </a:pPr>
            <a:r>
              <a:rPr lang="en-US" sz="1600" b="0" i="0" u="none" strike="noStrike">
                <a:solidFill>
                  <a:srgbClr val="757575"/>
                </a:solidFill>
                <a:latin typeface="Noto Sans SC"/>
                <a:ea typeface="Noto Sans SC"/>
                <a:cs typeface="Noto Sans SC"/>
                <a:sym typeface="Noto Sans SC"/>
              </a:rPr>
              <a:t>批量处理：循环读取分块后的文档（docs），每批处理6个文档块。</a:t>
            </a:r>
            <a:endParaRPr lang="en-US" sz="1600" b="0" i="0" u="none" strike="noStrike">
              <a:solidFill>
                <a:srgbClr val="757575"/>
              </a:solidFill>
              <a:latin typeface="Noto Sans SC"/>
              <a:ea typeface="Noto Sans SC"/>
              <a:cs typeface="Noto Sans SC"/>
              <a:sym typeface="Noto Sans SC"/>
            </a:endParaRPr>
          </a:p>
          <a:p>
            <a:pPr marL="203200" indent="-203200" algn="l">
              <a:lnSpc>
                <a:spcPct val="125000"/>
              </a:lnSpc>
              <a:buClr>
                <a:srgbClr val="757575"/>
              </a:buClr>
              <a:buChar char="•"/>
            </a:pPr>
            <a:r>
              <a:rPr lang="en-US" sz="1600" b="0" i="0" u="none" strike="noStrike">
                <a:solidFill>
                  <a:srgbClr val="757575"/>
                </a:solidFill>
                <a:latin typeface="Noto Sans SC"/>
                <a:ea typeface="Noto Sans SC"/>
                <a:cs typeface="Noto Sans SC"/>
                <a:sym typeface="Noto Sans SC"/>
              </a:rPr>
              <a:t>向量转换：利用嵌入模型（embedding）将文本转换为向量表示。</a:t>
            </a:r>
            <a:endParaRPr lang="en-US" sz="1600" b="0" i="0" u="none" strike="noStrike">
              <a:solidFill>
                <a:srgbClr val="757575"/>
              </a:solidFill>
              <a:latin typeface="Noto Sans SC"/>
              <a:ea typeface="Noto Sans SC"/>
              <a:cs typeface="Noto Sans SC"/>
              <a:sym typeface="Noto Sans SC"/>
            </a:endParaRPr>
          </a:p>
          <a:p>
            <a:pPr marL="203200" indent="-203200" algn="l">
              <a:lnSpc>
                <a:spcPct val="125000"/>
              </a:lnSpc>
              <a:buClr>
                <a:srgbClr val="757575"/>
              </a:buClr>
              <a:buChar char="•"/>
            </a:pPr>
            <a:r>
              <a:rPr lang="en-US" sz="1600" b="0" i="0" u="none" strike="noStrike">
                <a:solidFill>
                  <a:srgbClr val="757575"/>
                </a:solidFill>
                <a:latin typeface="Noto Sans SC"/>
                <a:ea typeface="Noto Sans SC"/>
                <a:cs typeface="Noto Sans SC"/>
                <a:sym typeface="Noto Sans SC"/>
              </a:rPr>
              <a:t>数据库构建：将生成的向量逐步添加并合并到 FAISS 向量数据库中。</a:t>
            </a:r>
            <a:endParaRPr lang="en-US" sz="1600" b="0" i="0" u="none" strike="noStrike">
              <a:solidFill>
                <a:srgbClr val="757575"/>
              </a:solidFill>
              <a:latin typeface="Noto Sans SC"/>
              <a:ea typeface="Noto Sans SC"/>
              <a:cs typeface="Noto Sans SC"/>
              <a:sym typeface="Noto Sans SC"/>
            </a:endParaRPr>
          </a:p>
          <a:p>
            <a:pPr marL="203200" indent="-203200" algn="l">
              <a:lnSpc>
                <a:spcPct val="125000"/>
              </a:lnSpc>
              <a:buClr>
                <a:srgbClr val="757575"/>
              </a:buClr>
              <a:buChar char="•"/>
            </a:pPr>
            <a:r>
              <a:rPr lang="en-US" sz="1600" b="0" i="0" u="none" strike="noStrike">
                <a:solidFill>
                  <a:srgbClr val="757575"/>
                </a:solidFill>
                <a:latin typeface="Noto Sans SC"/>
                <a:ea typeface="Noto Sans SC"/>
                <a:cs typeface="Noto Sans SC"/>
                <a:sym typeface="Noto Sans SC"/>
              </a:rPr>
              <a:t>持久化存储：最终将完整的向量数据库保存到本地文件（vec.db），便于后续加载使用。</a:t>
            </a:r>
            <a:endParaRPr lang="en-US" sz="1600" b="0" i="0" u="none" strike="noStrike">
              <a:solidFill>
                <a:srgbClr val="757575"/>
              </a:solidFill>
              <a:latin typeface="Noto Sans SC"/>
              <a:ea typeface="Noto Sans SC"/>
              <a:cs typeface="Noto Sans SC"/>
              <a:sym typeface="Noto Sans SC"/>
            </a:endParaRPr>
          </a:p>
        </p:txBody>
      </p:sp>
      <p:sp>
        <p:nvSpPr>
          <p:cNvPr id="8" name="AutoShape 8"/>
          <p:cNvSpPr/>
          <p:nvPr/>
        </p:nvSpPr>
        <p:spPr>
          <a:xfrm>
            <a:off x="762000" y="5461000"/>
            <a:ext cx="10668000" cy="50800"/>
          </a:xfrm>
          <a:prstGeom prst="roundRect">
            <a:avLst>
              <a:gd name="adj" fmla="val 0"/>
            </a:avLst>
          </a:prstGeom>
          <a:solidFill>
            <a:srgbClr val="0288D1">
              <a:alpha val="100000"/>
            </a:srgbClr>
          </a:solidFill>
          <a:ln w="25400" cap="flat" cmpd="sng">
            <a:noFill/>
            <a:prstDash val="solid"/>
            <a:round/>
          </a:ln>
        </p:spPr>
        <p:txBody>
          <a:bodyPr vert="horz" wrap="square" lIns="63500" tIns="63500" rIns="63500" bIns="63500" rtlCol="0" anchor="ctr"/>
          <a:lstStyle/>
          <a:p>
            <a:pPr algn="ctr">
              <a:defRPr/>
            </a:pPr>
          </a:p>
        </p:txBody>
      </p:sp>
      <p:sp>
        <p:nvSpPr>
          <p:cNvPr id="9" name="AutoShape 9"/>
          <p:cNvSpPr/>
          <p:nvPr/>
        </p:nvSpPr>
        <p:spPr>
          <a:xfrm>
            <a:off x="762000" y="5651500"/>
            <a:ext cx="10668000" cy="508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600" b="0" i="0" u="none" strike="noStrike">
                <a:solidFill>
                  <a:srgbClr val="757575"/>
                </a:solidFill>
                <a:latin typeface="Noto Sans SC"/>
                <a:ea typeface="Noto Sans SC"/>
                <a:cs typeface="Noto Sans SC"/>
                <a:sym typeface="Noto Sans SC"/>
              </a:rPr>
              <a:t>通过离线构建向量库，我们实现了知识的结构化存储，为后续高效检索奠定基础。</a:t>
            </a:r>
            <a:endParaRPr lang="en-US" sz="110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E0F7FA">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635000"/>
            <a:ext cx="10668000" cy="508000"/>
          </a:xfrm>
          <a:prstGeom prst="rect">
            <a:avLst/>
          </a:prstGeom>
          <a:noFill/>
          <a:ln w="12700" cap="flat" cmpd="sng">
            <a:noFill/>
            <a:prstDash val="solid"/>
            <a:round/>
          </a:ln>
        </p:spPr>
        <p:txBody>
          <a:bodyPr vert="horz" wrap="none" lIns="0" tIns="0" rIns="0" bIns="0" rtlCol="0" anchor="ctr" anchorCtr="0"/>
          <a:lstStyle/>
          <a:p>
            <a:pPr indent="0" algn="l">
              <a:lnSpc>
                <a:spcPct val="125000"/>
              </a:lnSpc>
              <a:defRPr/>
            </a:pPr>
            <a:r>
              <a:rPr lang="en-US" sz="3200" b="1" i="0" u="none" strike="noStrike">
                <a:solidFill>
                  <a:srgbClr val="0288D1"/>
                </a:solidFill>
                <a:latin typeface="Noto Sans SC"/>
                <a:ea typeface="Noto Sans SC"/>
                <a:cs typeface="Noto Sans SC"/>
                <a:sym typeface="Noto Sans SC"/>
              </a:rPr>
              <a:t>离线构建知识库：主函数调用</a:t>
            </a:r>
            <a:endParaRPr lang="en-US" sz="1100"/>
          </a:p>
        </p:txBody>
      </p:sp>
      <p:sp>
        <p:nvSpPr>
          <p:cNvPr id="3" name="AutoShape 3"/>
          <p:cNvSpPr/>
          <p:nvPr/>
        </p:nvSpPr>
        <p:spPr>
          <a:xfrm>
            <a:off x="762000" y="1397000"/>
            <a:ext cx="6096000" cy="3302000"/>
          </a:xfrm>
          <a:prstGeom prst="roundRect">
            <a:avLst>
              <a:gd name="adj" fmla="val 3846"/>
            </a:avLst>
          </a:prstGeom>
          <a:solidFill>
            <a:srgbClr val="1E1E1E">
              <a:alpha val="100000"/>
            </a:srgbClr>
          </a:solidFill>
          <a:ln w="25400" cap="flat" cmpd="sng">
            <a:noFill/>
            <a:prstDash val="solid"/>
            <a:round/>
          </a:ln>
          <a:effectLst>
            <a:outerShdw blurRad="101600" dist="50800" dir="5400000" algn="tl" rotWithShape="0">
              <a:srgbClr val="000000">
                <a:alpha val="15000"/>
              </a:srgbClr>
            </a:outerShdw>
          </a:effectLst>
        </p:spPr>
        <p:txBody>
          <a:bodyPr vert="horz" wrap="square" lIns="63500" tIns="63500" rIns="63500" bIns="63500" rtlCol="0" anchor="ctr"/>
          <a:lstStyle/>
          <a:p>
            <a:pPr algn="ctr">
              <a:defRPr/>
            </a:pPr>
          </a:p>
        </p:txBody>
      </p:sp>
      <p:sp>
        <p:nvSpPr>
          <p:cNvPr id="4" name="AutoShape 4"/>
          <p:cNvSpPr/>
          <p:nvPr/>
        </p:nvSpPr>
        <p:spPr>
          <a:xfrm>
            <a:off x="952500" y="1587500"/>
            <a:ext cx="5715000" cy="2921000"/>
          </a:xfrm>
          <a:prstGeom prst="rect">
            <a:avLst/>
          </a:prstGeom>
          <a:noFill/>
          <a:ln w="12700" cap="flat" cmpd="sng">
            <a:noFill/>
            <a:prstDash val="solid"/>
            <a:round/>
          </a:ln>
        </p:spPr>
        <p:txBody>
          <a:bodyPr vert="horz" wrap="square" lIns="0" tIns="0" rIns="0" bIns="0" rtlCol="0" anchor="t" anchorCtr="0"/>
          <a:lstStyle/>
          <a:p>
            <a:pPr indent="0" algn="l">
              <a:lnSpc>
                <a:spcPct val="108000"/>
              </a:lnSpc>
              <a:defRPr/>
            </a:pPr>
            <a:r>
              <a:rPr lang="en-US" sz="1400" b="0" i="0" u="none" strike="noStrike">
                <a:solidFill>
                  <a:srgbClr val="C678DD"/>
                </a:solidFill>
                <a:latin typeface="Roboto"/>
                <a:ea typeface="Roboto"/>
                <a:cs typeface="Roboto"/>
                <a:sym typeface="Roboto"/>
              </a:rPr>
              <a:t>if</a:t>
            </a:r>
            <a:r>
              <a:rPr lang="en-US" sz="1400" b="0" i="0" u="none" strike="noStrike">
                <a:solidFill>
                  <a:srgbClr val="DCDFE4"/>
                </a:solidFill>
                <a:latin typeface="Roboto"/>
                <a:ea typeface="Roboto"/>
                <a:cs typeface="Roboto"/>
                <a:sym typeface="Roboto"/>
              </a:rPr>
              <a:t>__name__ ==</a:t>
            </a:r>
            <a:r>
              <a:rPr lang="en-US" sz="1400" b="0" i="0" u="none" strike="noStrike">
                <a:solidFill>
                  <a:srgbClr val="98C379"/>
                </a:solidFill>
                <a:latin typeface="Roboto"/>
                <a:ea typeface="Roboto"/>
                <a:cs typeface="Roboto"/>
                <a:sym typeface="Roboto"/>
              </a:rPr>
              <a:t>"__main__"</a:t>
            </a:r>
            <a:r>
              <a:rPr lang="en-US" sz="1400" b="0" i="0" u="none" strike="noStrike">
                <a:solidFill>
                  <a:srgbClr val="DCDFE4"/>
                </a:solidFill>
                <a:latin typeface="Roboto"/>
                <a:ea typeface="Roboto"/>
                <a:cs typeface="Roboto"/>
                <a:sym typeface="Roboto"/>
              </a:rPr>
              <a:t>:</a:t>
            </a:r>
            <a:endParaRPr lang="en-US" sz="1100"/>
          </a:p>
          <a:p>
            <a:pPr indent="0" algn="l">
              <a:lnSpc>
                <a:spcPct val="108000"/>
              </a:lnSpc>
            </a:pPr>
            <a:r>
              <a:rPr lang="en-US" sz="1400" b="0" i="0" u="none" strike="noStrike">
                <a:solidFill>
                  <a:srgbClr val="DCDFE4"/>
                </a:solidFill>
                <a:latin typeface="Roboto"/>
                <a:ea typeface="Roboto"/>
                <a:cs typeface="Roboto"/>
                <a:sym typeface="Roboto"/>
              </a:rPr>
              <a:t>file_name =</a:t>
            </a:r>
            <a:r>
              <a:rPr lang="en-US" sz="1400" b="0" i="0" u="none" strike="noStrike">
                <a:solidFill>
                  <a:srgbClr val="98C379"/>
                </a:solidFill>
                <a:latin typeface="Roboto"/>
                <a:ea typeface="Roboto"/>
                <a:cs typeface="Roboto"/>
                <a:sym typeface="Roboto"/>
              </a:rPr>
              <a:t>"2024年AI大模型训练数据白皮书.pdf"</a:t>
            </a:r>
            <a:endParaRPr lang="en-US" sz="1400" b="0" i="0" u="none" strike="noStrike">
              <a:solidFill>
                <a:srgbClr val="98C379"/>
              </a:solidFill>
              <a:latin typeface="Roboto"/>
              <a:ea typeface="Roboto"/>
              <a:cs typeface="Roboto"/>
              <a:sym typeface="Roboto"/>
            </a:endParaRPr>
          </a:p>
          <a:p>
            <a:pPr indent="0" algn="l">
              <a:lnSpc>
                <a:spcPct val="108000"/>
              </a:lnSpc>
            </a:pPr>
            <a:r>
              <a:rPr lang="en-US" sz="1400" b="0" i="0" u="none" strike="noStrike">
                <a:solidFill>
                  <a:srgbClr val="DCDFE4"/>
                </a:solidFill>
                <a:latin typeface="Roboto"/>
                <a:ea typeface="Roboto"/>
                <a:cs typeface="Roboto"/>
                <a:sym typeface="Roboto"/>
              </a:rPr>
              <a:t>api_key =</a:t>
            </a:r>
            <a:r>
              <a:rPr lang="en-US" sz="1400" b="0" i="0" u="none" strike="noStrike">
                <a:solidFill>
                  <a:srgbClr val="98C379"/>
                </a:solidFill>
                <a:latin typeface="Roboto"/>
                <a:ea typeface="Roboto"/>
                <a:cs typeface="Roboto"/>
                <a:sym typeface="Roboto"/>
              </a:rPr>
              <a:t>"sk-3axxx"</a:t>
            </a:r>
            <a:r>
              <a:rPr lang="en-US" sz="1400" b="0" i="0" u="none" strike="noStrike">
                <a:solidFill>
                  <a:srgbClr val="5C6370"/>
                </a:solidFill>
                <a:latin typeface="Roboto"/>
                <a:ea typeface="Roboto"/>
                <a:cs typeface="Roboto"/>
                <a:sym typeface="Roboto"/>
              </a:rPr>
              <a:t># 替换为你的API Key</a:t>
            </a:r>
            <a:endParaRPr lang="en-US" sz="1400" b="0" i="0" u="none" strike="noStrike">
              <a:solidFill>
                <a:srgbClr val="5C6370"/>
              </a:solidFill>
              <a:latin typeface="Roboto"/>
              <a:ea typeface="Roboto"/>
              <a:cs typeface="Roboto"/>
              <a:sym typeface="Roboto"/>
            </a:endParaRPr>
          </a:p>
          <a:p>
            <a:pPr indent="0" algn="l">
              <a:lnSpc>
                <a:spcPct val="108000"/>
              </a:lnSpc>
            </a:pPr>
            <a:r>
              <a:rPr lang="en-US" sz="1400" b="0" i="0" u="none" strike="noStrike">
                <a:solidFill>
                  <a:srgbClr val="5C6370"/>
                </a:solidFill>
                <a:latin typeface="Roboto"/>
                <a:ea typeface="Roboto"/>
                <a:cs typeface="Roboto"/>
                <a:sym typeface="Roboto"/>
              </a:rPr>
              <a:t># 1. PDF文件解析</a:t>
            </a:r>
            <a:endParaRPr lang="en-US" sz="1400" b="0" i="0" u="none" strike="noStrike">
              <a:solidFill>
                <a:srgbClr val="5C6370"/>
              </a:solidFill>
              <a:latin typeface="Roboto"/>
              <a:ea typeface="Roboto"/>
              <a:cs typeface="Roboto"/>
              <a:sym typeface="Roboto"/>
            </a:endParaRPr>
          </a:p>
          <a:p>
            <a:pPr indent="0" algn="l">
              <a:lnSpc>
                <a:spcPct val="108000"/>
              </a:lnSpc>
            </a:pPr>
            <a:r>
              <a:rPr lang="en-US" sz="1400" b="0" i="0" u="none" strike="noStrike">
                <a:solidFill>
                  <a:srgbClr val="DCDFE4"/>
                </a:solidFill>
                <a:latin typeface="Roboto"/>
                <a:ea typeface="Roboto"/>
                <a:cs typeface="Roboto"/>
                <a:sym typeface="Roboto"/>
              </a:rPr>
              <a:t>docs = parse_pdf_file(file_name)</a:t>
            </a:r>
            <a:endParaRPr lang="en-US" sz="1400" b="0" i="0" u="none" strike="noStrike">
              <a:solidFill>
                <a:srgbClr val="DCDFE4"/>
              </a:solidFill>
              <a:latin typeface="Roboto"/>
              <a:ea typeface="Roboto"/>
              <a:cs typeface="Roboto"/>
              <a:sym typeface="Roboto"/>
            </a:endParaRPr>
          </a:p>
          <a:p>
            <a:pPr indent="0" algn="l">
              <a:lnSpc>
                <a:spcPct val="108000"/>
              </a:lnSpc>
            </a:pPr>
            <a:r>
              <a:rPr lang="en-US" sz="1400" b="0" i="0" u="none" strike="noStrike">
                <a:solidFill>
                  <a:srgbClr val="5C6370"/>
                </a:solidFill>
                <a:latin typeface="Roboto"/>
                <a:ea typeface="Roboto"/>
                <a:cs typeface="Roboto"/>
                <a:sym typeface="Roboto"/>
              </a:rPr>
              <a:t># 2. 文档分块</a:t>
            </a:r>
            <a:endParaRPr lang="en-US" sz="1400" b="0" i="0" u="none" strike="noStrike">
              <a:solidFill>
                <a:srgbClr val="5C6370"/>
              </a:solidFill>
              <a:latin typeface="Roboto"/>
              <a:ea typeface="Roboto"/>
              <a:cs typeface="Roboto"/>
              <a:sym typeface="Roboto"/>
            </a:endParaRPr>
          </a:p>
          <a:p>
            <a:pPr indent="0" algn="l">
              <a:lnSpc>
                <a:spcPct val="108000"/>
              </a:lnSpc>
            </a:pPr>
            <a:r>
              <a:rPr lang="en-US" sz="1400" b="0" i="0" u="none" strike="noStrike">
                <a:solidFill>
                  <a:srgbClr val="DCDFE4"/>
                </a:solidFill>
                <a:latin typeface="Roboto"/>
                <a:ea typeface="Roboto"/>
                <a:cs typeface="Roboto"/>
                <a:sym typeface="Roboto"/>
              </a:rPr>
              <a:t>split_docs = docs_splitter(docs)</a:t>
            </a:r>
            <a:endParaRPr lang="en-US" sz="1400" b="0" i="0" u="none" strike="noStrike">
              <a:solidFill>
                <a:srgbClr val="DCDFE4"/>
              </a:solidFill>
              <a:latin typeface="Roboto"/>
              <a:ea typeface="Roboto"/>
              <a:cs typeface="Roboto"/>
              <a:sym typeface="Roboto"/>
            </a:endParaRPr>
          </a:p>
          <a:p>
            <a:pPr indent="0" algn="l">
              <a:lnSpc>
                <a:spcPct val="108000"/>
              </a:lnSpc>
            </a:pPr>
            <a:r>
              <a:rPr lang="en-US" sz="1400" b="0" i="0" u="none" strike="noStrike">
                <a:solidFill>
                  <a:srgbClr val="5C6370"/>
                </a:solidFill>
                <a:latin typeface="Roboto"/>
                <a:ea typeface="Roboto"/>
                <a:cs typeface="Roboto"/>
                <a:sym typeface="Roboto"/>
              </a:rPr>
              <a:t># 3. 词嵌入模型</a:t>
            </a:r>
            <a:endParaRPr lang="en-US" sz="1400" b="0" i="0" u="none" strike="noStrike">
              <a:solidFill>
                <a:srgbClr val="5C6370"/>
              </a:solidFill>
              <a:latin typeface="Roboto"/>
              <a:ea typeface="Roboto"/>
              <a:cs typeface="Roboto"/>
              <a:sym typeface="Roboto"/>
            </a:endParaRPr>
          </a:p>
          <a:p>
            <a:pPr indent="0" algn="l">
              <a:lnSpc>
                <a:spcPct val="108000"/>
              </a:lnSpc>
            </a:pPr>
            <a:r>
              <a:rPr lang="en-US" sz="1400" b="0" i="0" u="none" strike="noStrike">
                <a:solidFill>
                  <a:srgbClr val="DCDFE4"/>
                </a:solidFill>
                <a:latin typeface="Roboto"/>
                <a:ea typeface="Roboto"/>
                <a:cs typeface="Roboto"/>
                <a:sym typeface="Roboto"/>
              </a:rPr>
              <a:t>embedding = get_embedding_model(api_key)</a:t>
            </a:r>
            <a:endParaRPr lang="en-US" sz="1400" b="0" i="0" u="none" strike="noStrike">
              <a:solidFill>
                <a:srgbClr val="DCDFE4"/>
              </a:solidFill>
              <a:latin typeface="Roboto"/>
              <a:ea typeface="Roboto"/>
              <a:cs typeface="Roboto"/>
              <a:sym typeface="Roboto"/>
            </a:endParaRPr>
          </a:p>
          <a:p>
            <a:pPr indent="0" algn="l">
              <a:lnSpc>
                <a:spcPct val="108000"/>
              </a:lnSpc>
            </a:pPr>
            <a:r>
              <a:rPr lang="en-US" sz="1400" b="0" i="0" u="none" strike="noStrike">
                <a:solidFill>
                  <a:srgbClr val="5C6370"/>
                </a:solidFill>
                <a:latin typeface="Roboto"/>
                <a:ea typeface="Roboto"/>
                <a:cs typeface="Roboto"/>
                <a:sym typeface="Roboto"/>
              </a:rPr>
              <a:t># 4. 文档保存向量数据库</a:t>
            </a:r>
            <a:endParaRPr lang="en-US" sz="1400" b="0" i="0" u="none" strike="noStrike">
              <a:solidFill>
                <a:srgbClr val="5C6370"/>
              </a:solidFill>
              <a:latin typeface="Roboto"/>
              <a:ea typeface="Roboto"/>
              <a:cs typeface="Roboto"/>
              <a:sym typeface="Roboto"/>
            </a:endParaRPr>
          </a:p>
          <a:p>
            <a:pPr indent="0" algn="l">
              <a:lnSpc>
                <a:spcPct val="108000"/>
              </a:lnSpc>
            </a:pPr>
            <a:r>
              <a:rPr lang="en-US" sz="1400" b="0" i="0" u="none" strike="noStrike">
                <a:solidFill>
                  <a:srgbClr val="DCDFE4"/>
                </a:solidFill>
                <a:latin typeface="Roboto"/>
                <a:ea typeface="Roboto"/>
                <a:cs typeface="Roboto"/>
                <a:sym typeface="Roboto"/>
              </a:rPr>
              <a:t>persist_vec_db(split_docs, embedding, db_path="vec.db")</a:t>
            </a:r>
            <a:endParaRPr lang="en-US" sz="1400" b="0" i="0" u="none" strike="noStrike">
              <a:solidFill>
                <a:srgbClr val="DCDFE4"/>
              </a:solidFill>
              <a:latin typeface="Roboto"/>
              <a:ea typeface="Roboto"/>
              <a:cs typeface="Roboto"/>
              <a:sym typeface="Roboto"/>
            </a:endParaRPr>
          </a:p>
        </p:txBody>
      </p:sp>
      <p:sp>
        <p:nvSpPr>
          <p:cNvPr id="5" name="AutoShape 5"/>
          <p:cNvSpPr/>
          <p:nvPr/>
        </p:nvSpPr>
        <p:spPr>
          <a:xfrm>
            <a:off x="7112000" y="1397000"/>
            <a:ext cx="4318000" cy="698500"/>
          </a:xfrm>
          <a:prstGeom prst="roundRect">
            <a:avLst>
              <a:gd name="adj" fmla="val 18181"/>
            </a:avLst>
          </a:prstGeom>
          <a:solidFill>
            <a:srgbClr val="FFFFFF">
              <a:alpha val="100000"/>
            </a:srgbClr>
          </a:solidFill>
          <a:ln w="25400" cap="flat" cmpd="sng">
            <a:noFill/>
            <a:prstDash val="solid"/>
            <a:round/>
          </a:ln>
          <a:effectLst>
            <a:outerShdw blurRad="50800" dist="25400" dir="2700000" algn="tl" rotWithShape="0">
              <a:srgbClr val="000000">
                <a:alpha val="5000"/>
              </a:srgbClr>
            </a:outerShdw>
          </a:effectLst>
        </p:spPr>
        <p:txBody>
          <a:bodyPr vert="horz" wrap="square" lIns="63500" tIns="63500" rIns="63500" bIns="63500" rtlCol="0" anchor="ctr"/>
          <a:lstStyle/>
          <a:p>
            <a:pPr algn="ctr">
              <a:defRPr/>
            </a:pPr>
          </a:p>
        </p:txBody>
      </p:sp>
      <p:pic>
        <p:nvPicPr>
          <p:cNvPr id="6" name="Picture 6"/>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7302500" y="1549400"/>
            <a:ext cx="406400" cy="406400"/>
          </a:xfrm>
          <a:prstGeom prst="rect">
            <a:avLst/>
          </a:prstGeom>
        </p:spPr>
      </p:pic>
      <p:sp>
        <p:nvSpPr>
          <p:cNvPr id="7" name="AutoShape 7"/>
          <p:cNvSpPr/>
          <p:nvPr/>
        </p:nvSpPr>
        <p:spPr>
          <a:xfrm>
            <a:off x="7810500" y="1498600"/>
            <a:ext cx="3429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37474F"/>
                </a:solidFill>
                <a:latin typeface="Noto Sans SC"/>
                <a:ea typeface="Noto Sans SC"/>
                <a:cs typeface="Noto Sans SC"/>
                <a:sym typeface="Noto Sans SC"/>
              </a:rPr>
              <a:t>PDF文件解析</a:t>
            </a:r>
            <a:r>
              <a:rPr lang="en-US" sz="1400" b="0" i="0" u="none" strike="noStrike">
                <a:solidFill>
                  <a:srgbClr val="757575"/>
                </a:solidFill>
                <a:latin typeface="Noto Sans SC"/>
                <a:ea typeface="Noto Sans SC"/>
                <a:cs typeface="Noto Sans SC"/>
                <a:sym typeface="Noto Sans SC"/>
              </a:rPr>
              <a:t>(parse_pdf_file)</a:t>
            </a:r>
            <a:endParaRPr lang="en-US" sz="1100"/>
          </a:p>
        </p:txBody>
      </p:sp>
      <p:sp>
        <p:nvSpPr>
          <p:cNvPr id="8" name="AutoShape 8"/>
          <p:cNvSpPr/>
          <p:nvPr/>
        </p:nvSpPr>
        <p:spPr>
          <a:xfrm>
            <a:off x="7112000" y="2222500"/>
            <a:ext cx="4318000" cy="698500"/>
          </a:xfrm>
          <a:prstGeom prst="roundRect">
            <a:avLst>
              <a:gd name="adj" fmla="val 18181"/>
            </a:avLst>
          </a:prstGeom>
          <a:solidFill>
            <a:srgbClr val="FFFFFF">
              <a:alpha val="100000"/>
            </a:srgbClr>
          </a:solidFill>
          <a:ln w="25400" cap="flat" cmpd="sng">
            <a:noFill/>
            <a:prstDash val="solid"/>
            <a:round/>
          </a:ln>
          <a:effectLst>
            <a:outerShdw blurRad="50800" dist="25400" dir="2700000" algn="tl" rotWithShape="0">
              <a:srgbClr val="000000">
                <a:alpha val="5000"/>
              </a:srgbClr>
            </a:outerShdw>
          </a:effectLst>
        </p:spPr>
        <p:txBody>
          <a:bodyPr vert="horz" wrap="square" lIns="63500" tIns="63500" rIns="63500" bIns="63500" rtlCol="0" anchor="ctr"/>
          <a:lstStyle/>
          <a:p>
            <a:pPr algn="ctr">
              <a:defRPr/>
            </a:pPr>
          </a:p>
        </p:txBody>
      </p:sp>
      <p:pic>
        <p:nvPicPr>
          <p:cNvPr id="9" name="Picture 9"/>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7302500" y="2374900"/>
            <a:ext cx="406400" cy="406400"/>
          </a:xfrm>
          <a:prstGeom prst="rect">
            <a:avLst/>
          </a:prstGeom>
        </p:spPr>
      </p:pic>
      <p:sp>
        <p:nvSpPr>
          <p:cNvPr id="10" name="AutoShape 10"/>
          <p:cNvSpPr/>
          <p:nvPr/>
        </p:nvSpPr>
        <p:spPr>
          <a:xfrm>
            <a:off x="7810500" y="2324100"/>
            <a:ext cx="3429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37474F"/>
                </a:solidFill>
                <a:latin typeface="Noto Sans SC"/>
                <a:ea typeface="Noto Sans SC"/>
                <a:cs typeface="Noto Sans SC"/>
                <a:sym typeface="Noto Sans SC"/>
              </a:rPr>
              <a:t>文档分块处理</a:t>
            </a:r>
            <a:r>
              <a:rPr lang="en-US" sz="1400" b="0" i="0" u="none" strike="noStrike">
                <a:solidFill>
                  <a:srgbClr val="757575"/>
                </a:solidFill>
                <a:latin typeface="Noto Sans SC"/>
                <a:ea typeface="Noto Sans SC"/>
                <a:cs typeface="Noto Sans SC"/>
                <a:sym typeface="Noto Sans SC"/>
              </a:rPr>
              <a:t>(docs_splitter)</a:t>
            </a:r>
            <a:endParaRPr lang="en-US" sz="1100"/>
          </a:p>
        </p:txBody>
      </p:sp>
      <p:sp>
        <p:nvSpPr>
          <p:cNvPr id="11" name="AutoShape 11"/>
          <p:cNvSpPr/>
          <p:nvPr/>
        </p:nvSpPr>
        <p:spPr>
          <a:xfrm>
            <a:off x="7112000" y="3048000"/>
            <a:ext cx="4318000" cy="698500"/>
          </a:xfrm>
          <a:prstGeom prst="roundRect">
            <a:avLst>
              <a:gd name="adj" fmla="val 18181"/>
            </a:avLst>
          </a:prstGeom>
          <a:solidFill>
            <a:srgbClr val="FFFFFF">
              <a:alpha val="100000"/>
            </a:srgbClr>
          </a:solidFill>
          <a:ln w="25400" cap="flat" cmpd="sng">
            <a:noFill/>
            <a:prstDash val="solid"/>
            <a:round/>
          </a:ln>
          <a:effectLst>
            <a:outerShdw blurRad="50800" dist="25400" dir="2700000" algn="tl" rotWithShape="0">
              <a:srgbClr val="000000">
                <a:alpha val="5000"/>
              </a:srgbClr>
            </a:outerShdw>
          </a:effectLst>
        </p:spPr>
        <p:txBody>
          <a:bodyPr vert="horz" wrap="square" lIns="63500" tIns="63500" rIns="63500" bIns="63500" rtlCol="0" anchor="ctr"/>
          <a:lstStyle/>
          <a:p>
            <a:pPr algn="ctr">
              <a:defRPr/>
            </a:pPr>
          </a:p>
        </p:txBody>
      </p:sp>
      <p:pic>
        <p:nvPicPr>
          <p:cNvPr id="12" name="Picture 12"/>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7302500" y="3200400"/>
            <a:ext cx="406400" cy="406400"/>
          </a:xfrm>
          <a:prstGeom prst="rect">
            <a:avLst/>
          </a:prstGeom>
        </p:spPr>
      </p:pic>
      <p:sp>
        <p:nvSpPr>
          <p:cNvPr id="13" name="AutoShape 13"/>
          <p:cNvSpPr/>
          <p:nvPr/>
        </p:nvSpPr>
        <p:spPr>
          <a:xfrm>
            <a:off x="7810500" y="3149600"/>
            <a:ext cx="3429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37474F"/>
                </a:solidFill>
                <a:latin typeface="Noto Sans SC"/>
                <a:ea typeface="Noto Sans SC"/>
                <a:cs typeface="Noto Sans SC"/>
                <a:sym typeface="Noto Sans SC"/>
              </a:rPr>
              <a:t>词嵌入模型初始化</a:t>
            </a:r>
            <a:r>
              <a:rPr lang="en-US" sz="1400" b="0" i="0" u="none" strike="noStrike">
                <a:solidFill>
                  <a:srgbClr val="757575"/>
                </a:solidFill>
                <a:latin typeface="Noto Sans SC"/>
                <a:ea typeface="Noto Sans SC"/>
                <a:cs typeface="Noto Sans SC"/>
                <a:sym typeface="Noto Sans SC"/>
              </a:rPr>
              <a:t>(get_embedding)</a:t>
            </a:r>
            <a:endParaRPr lang="en-US" sz="1100"/>
          </a:p>
        </p:txBody>
      </p:sp>
      <p:sp>
        <p:nvSpPr>
          <p:cNvPr id="14" name="AutoShape 14"/>
          <p:cNvSpPr/>
          <p:nvPr/>
        </p:nvSpPr>
        <p:spPr>
          <a:xfrm>
            <a:off x="7112000" y="3873500"/>
            <a:ext cx="4318000" cy="698500"/>
          </a:xfrm>
          <a:prstGeom prst="roundRect">
            <a:avLst>
              <a:gd name="adj" fmla="val 18181"/>
            </a:avLst>
          </a:prstGeom>
          <a:solidFill>
            <a:srgbClr val="FFFFFF">
              <a:alpha val="100000"/>
            </a:srgbClr>
          </a:solidFill>
          <a:ln w="25400" cap="flat" cmpd="sng">
            <a:noFill/>
            <a:prstDash val="solid"/>
            <a:round/>
          </a:ln>
          <a:effectLst>
            <a:outerShdw blurRad="50800" dist="25400" dir="2700000" algn="tl" rotWithShape="0">
              <a:srgbClr val="000000">
                <a:alpha val="5000"/>
              </a:srgbClr>
            </a:outerShdw>
          </a:effectLst>
        </p:spPr>
        <p:txBody>
          <a:bodyPr vert="horz" wrap="square" lIns="63500" tIns="63500" rIns="63500" bIns="63500" rtlCol="0" anchor="ctr"/>
          <a:lstStyle/>
          <a:p>
            <a:pPr algn="ctr">
              <a:defRPr/>
            </a:pPr>
          </a:p>
        </p:txBody>
      </p:sp>
      <p:pic>
        <p:nvPicPr>
          <p:cNvPr id="15" name="Picture 15"/>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7302500" y="4025900"/>
            <a:ext cx="406400" cy="406400"/>
          </a:xfrm>
          <a:prstGeom prst="rect">
            <a:avLst/>
          </a:prstGeom>
        </p:spPr>
      </p:pic>
      <p:sp>
        <p:nvSpPr>
          <p:cNvPr id="16" name="AutoShape 16"/>
          <p:cNvSpPr/>
          <p:nvPr/>
        </p:nvSpPr>
        <p:spPr>
          <a:xfrm>
            <a:off x="7810500" y="3975100"/>
            <a:ext cx="3429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37474F"/>
                </a:solidFill>
                <a:latin typeface="Noto Sans SC"/>
                <a:ea typeface="Noto Sans SC"/>
                <a:cs typeface="Noto Sans SC"/>
                <a:sym typeface="Noto Sans SC"/>
              </a:rPr>
              <a:t>向量数据库持久化</a:t>
            </a:r>
            <a:r>
              <a:rPr lang="en-US" sz="1400" b="0" i="0" u="none" strike="noStrike">
                <a:solidFill>
                  <a:srgbClr val="757575"/>
                </a:solidFill>
                <a:latin typeface="Noto Sans SC"/>
                <a:ea typeface="Noto Sans SC"/>
                <a:cs typeface="Noto Sans SC"/>
                <a:sym typeface="Noto Sans SC"/>
              </a:rPr>
              <a:t>(persist_vec_db)</a:t>
            </a:r>
            <a:endParaRPr lang="en-US" sz="1100"/>
          </a:p>
        </p:txBody>
      </p:sp>
      <p:sp>
        <p:nvSpPr>
          <p:cNvPr id="17" name="AutoShape 17"/>
          <p:cNvSpPr/>
          <p:nvPr/>
        </p:nvSpPr>
        <p:spPr>
          <a:xfrm>
            <a:off x="762000" y="4953000"/>
            <a:ext cx="10668000" cy="1270000"/>
          </a:xfrm>
          <a:prstGeom prst="roundRect">
            <a:avLst>
              <a:gd name="adj" fmla="val 10000"/>
            </a:avLst>
          </a:prstGeom>
          <a:solidFill>
            <a:srgbClr val="FFFFFF">
              <a:alpha val="80000"/>
            </a:srgbClr>
          </a:solidFill>
          <a:ln w="12700" cap="flat" cmpd="sng">
            <a:solidFill>
              <a:srgbClr val="0288D1">
                <a:alpha val="100000"/>
              </a:srgbClr>
            </a:solidFill>
            <a:prstDash val="solid"/>
            <a:round/>
          </a:ln>
        </p:spPr>
        <p:txBody>
          <a:bodyPr vert="horz" wrap="square" lIns="63500" tIns="63500" rIns="63500" bIns="63500" rtlCol="0" anchor="ctr"/>
          <a:lstStyle/>
          <a:p>
            <a:pPr algn="ctr">
              <a:defRPr/>
            </a:pPr>
          </a:p>
        </p:txBody>
      </p:sp>
      <p:pic>
        <p:nvPicPr>
          <p:cNvPr id="18" name="Picture 18"/>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1016000" y="5207000"/>
            <a:ext cx="304800" cy="304800"/>
          </a:xfrm>
          <a:prstGeom prst="rect">
            <a:avLst/>
          </a:prstGeom>
        </p:spPr>
      </p:pic>
      <p:sp>
        <p:nvSpPr>
          <p:cNvPr id="19" name="AutoShape 19"/>
          <p:cNvSpPr/>
          <p:nvPr/>
        </p:nvSpPr>
        <p:spPr>
          <a:xfrm>
            <a:off x="1460500" y="5080000"/>
            <a:ext cx="9779000" cy="1016000"/>
          </a:xfrm>
          <a:prstGeom prst="rect">
            <a:avLst/>
          </a:prstGeom>
          <a:noFill/>
          <a:ln w="12700" cap="flat" cmpd="sng">
            <a:noFill/>
            <a:prstDash val="solid"/>
            <a:round/>
          </a:ln>
        </p:spPr>
        <p:txBody>
          <a:bodyPr vert="horz" wrap="square" lIns="0" tIns="0" rIns="0" bIns="0" rtlCol="0" anchor="ctr" anchorCtr="0"/>
          <a:lstStyle/>
          <a:p>
            <a:pPr indent="0" algn="l">
              <a:lnSpc>
                <a:spcPct val="117000"/>
              </a:lnSpc>
              <a:defRPr/>
            </a:pPr>
            <a:r>
              <a:rPr lang="en-US" sz="1600" b="1" i="0" u="none" strike="noStrike">
                <a:solidFill>
                  <a:srgbClr val="37474F"/>
                </a:solidFill>
                <a:latin typeface="Noto Sans SC"/>
                <a:ea typeface="Noto Sans SC"/>
                <a:cs typeface="Noto Sans SC"/>
                <a:sym typeface="Noto Sans SC"/>
              </a:rPr>
              <a:t>流程总结：</a:t>
            </a:r>
            <a:r>
              <a:rPr lang="en-US" sz="1600" b="0" i="0" u="none" strike="noStrike">
                <a:solidFill>
                  <a:srgbClr val="616161"/>
                </a:solidFill>
                <a:latin typeface="Noto Sans SC"/>
                <a:ea typeface="Noto Sans SC"/>
                <a:cs typeface="Noto Sans SC"/>
                <a:sym typeface="Noto Sans SC"/>
              </a:rPr>
              <a:t>在主函数中，我们依次调用了四个核心函数：解析PDF、文档分块、初始化嵌入模型、保存向量数据库。这一系列操作将原始文档转化为机器可理解的向量形式，从而完成整个离线知识库的构建流程。</a:t>
            </a:r>
            <a:endParaRPr lang="en-US" sz="110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E0F7FA">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635000"/>
            <a:ext cx="10668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0288D1"/>
                </a:solidFill>
                <a:latin typeface="Noto Sans SC"/>
                <a:ea typeface="Noto Sans SC"/>
                <a:cs typeface="Noto Sans SC"/>
                <a:sym typeface="Noto Sans SC"/>
              </a:rPr>
              <a:t>在线实时查询：获取词嵌入</a:t>
            </a:r>
            <a:endParaRPr lang="en-US" sz="1100"/>
          </a:p>
        </p:txBody>
      </p:sp>
      <p:sp>
        <p:nvSpPr>
          <p:cNvPr id="3" name="AutoShape 3"/>
          <p:cNvSpPr/>
          <p:nvPr/>
        </p:nvSpPr>
        <p:spPr>
          <a:xfrm>
            <a:off x="762000" y="1524000"/>
            <a:ext cx="5080000" cy="3302000"/>
          </a:xfrm>
          <a:prstGeom prst="roundRect">
            <a:avLst>
              <a:gd name="adj" fmla="val 3846"/>
            </a:avLst>
          </a:prstGeom>
          <a:solidFill>
            <a:srgbClr val="1E1E1E">
              <a:alpha val="100000"/>
            </a:srgbClr>
          </a:solidFill>
          <a:ln w="25400" cap="flat" cmpd="sng">
            <a:noFill/>
            <a:prstDash val="solid"/>
            <a:round/>
          </a:ln>
          <a:effectLst>
            <a:outerShdw blurRad="127000" dist="50800" dir="5400000" algn="tl" rotWithShape="0">
              <a:srgbClr val="000000">
                <a:alpha val="15000"/>
              </a:srgbClr>
            </a:outerShdw>
          </a:effectLst>
        </p:spPr>
        <p:txBody>
          <a:bodyPr vert="horz" wrap="square" lIns="63500" tIns="63500" rIns="63500" bIns="63500" rtlCol="0" anchor="ctr"/>
          <a:lstStyle/>
          <a:p>
            <a:pPr algn="ctr">
              <a:defRPr/>
            </a:pPr>
          </a:p>
        </p:txBody>
      </p:sp>
      <p:sp>
        <p:nvSpPr>
          <p:cNvPr id="4" name="AutoShape 4"/>
          <p:cNvSpPr/>
          <p:nvPr/>
        </p:nvSpPr>
        <p:spPr>
          <a:xfrm>
            <a:off x="1016000" y="1714500"/>
            <a:ext cx="4572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0" i="0" u="none" strike="noStrike">
                <a:solidFill>
                  <a:srgbClr val="FFFFFF">
                    <a:alpha val="60000"/>
                  </a:srgbClr>
                </a:solidFill>
                <a:latin typeface="Roboto"/>
                <a:ea typeface="Roboto"/>
                <a:cs typeface="Roboto"/>
                <a:sym typeface="Roboto"/>
              </a:rPr>
              <a:t>Python Implementation</a:t>
            </a:r>
            <a:endParaRPr lang="en-US" sz="1100"/>
          </a:p>
        </p:txBody>
      </p:sp>
      <p:sp>
        <p:nvSpPr>
          <p:cNvPr id="5" name="AutoShape 5"/>
          <p:cNvSpPr/>
          <p:nvPr/>
        </p:nvSpPr>
        <p:spPr>
          <a:xfrm>
            <a:off x="1016000" y="2095500"/>
            <a:ext cx="4572000" cy="25400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400" b="0" i="0" u="none" strike="noStrike">
                <a:solidFill>
                  <a:srgbClr val="C678DD"/>
                </a:solidFill>
                <a:latin typeface="Roboto"/>
                <a:ea typeface="Roboto"/>
                <a:cs typeface="Roboto"/>
                <a:sym typeface="Roboto"/>
              </a:rPr>
              <a:t>from</a:t>
            </a:r>
            <a:r>
              <a:rPr lang="en-US" sz="1400" b="0" i="0" u="none" strike="noStrike">
                <a:solidFill>
                  <a:srgbClr val="DCDFE4"/>
                </a:solidFill>
                <a:latin typeface="Roboto"/>
                <a:ea typeface="Roboto"/>
                <a:cs typeface="Roboto"/>
                <a:sym typeface="Roboto"/>
              </a:rPr>
              <a:t>langchain_community.embeddings</a:t>
            </a:r>
            <a:r>
              <a:rPr lang="en-US" sz="1400" b="0" i="0" u="none" strike="noStrike">
                <a:solidFill>
                  <a:srgbClr val="C678DD"/>
                </a:solidFill>
                <a:latin typeface="Roboto"/>
                <a:ea typeface="Roboto"/>
                <a:cs typeface="Roboto"/>
                <a:sym typeface="Roboto"/>
              </a:rPr>
              <a:t>import</a:t>
            </a:r>
            <a:r>
              <a:rPr lang="en-US" sz="1400" b="0" i="0" u="none" strike="noStrike">
                <a:solidFill>
                  <a:srgbClr val="E5C07B"/>
                </a:solidFill>
                <a:latin typeface="Roboto"/>
                <a:ea typeface="Roboto"/>
                <a:cs typeface="Roboto"/>
                <a:sym typeface="Roboto"/>
              </a:rPr>
              <a:t>DashScopeEmbeddings</a:t>
            </a:r>
            <a:endParaRPr lang="en-US" sz="1100"/>
          </a:p>
          <a:p>
            <a:pPr indent="0" algn="l">
              <a:lnSpc>
                <a:spcPct val="108000"/>
              </a:lnSpc>
            </a:pPr>
            <a:r>
              <a:rPr lang="en-US" sz="1400" b="0" i="0" u="none" strike="noStrike">
                <a:solidFill>
                  <a:srgbClr val="DCDFE4"/>
                </a:solidFill>
                <a:latin typeface="Roboto"/>
                <a:ea typeface="Roboto"/>
                <a:cs typeface="Roboto"/>
                <a:sym typeface="Roboto"/>
              </a:rPr>
              <a:t> </a:t>
            </a:r>
            <a:endParaRPr lang="en-US" sz="1400" b="0" i="0" u="none" strike="noStrike">
              <a:solidFill>
                <a:srgbClr val="DCDFE4"/>
              </a:solidFill>
              <a:latin typeface="Roboto"/>
              <a:ea typeface="Roboto"/>
              <a:cs typeface="Roboto"/>
              <a:sym typeface="Roboto"/>
            </a:endParaRPr>
          </a:p>
          <a:p>
            <a:pPr indent="0" algn="l">
              <a:lnSpc>
                <a:spcPct val="108000"/>
              </a:lnSpc>
            </a:pPr>
            <a:r>
              <a:rPr lang="en-US" sz="1400" b="0" i="0" u="none" strike="noStrike">
                <a:solidFill>
                  <a:srgbClr val="C678DD"/>
                </a:solidFill>
                <a:latin typeface="Roboto"/>
                <a:ea typeface="Roboto"/>
                <a:cs typeface="Roboto"/>
                <a:sym typeface="Roboto"/>
              </a:rPr>
              <a:t>def</a:t>
            </a:r>
            <a:r>
              <a:rPr lang="en-US" sz="1400" b="0" i="0" u="none" strike="noStrike">
                <a:solidFill>
                  <a:srgbClr val="61AFEF"/>
                </a:solidFill>
                <a:latin typeface="Roboto"/>
                <a:ea typeface="Roboto"/>
                <a:cs typeface="Roboto"/>
                <a:sym typeface="Roboto"/>
              </a:rPr>
              <a:t>get_embedding_model</a:t>
            </a:r>
            <a:r>
              <a:rPr lang="en-US" sz="1400" b="0" i="0" u="none" strike="noStrike">
                <a:solidFill>
                  <a:srgbClr val="DCDFE4"/>
                </a:solidFill>
                <a:latin typeface="Roboto"/>
                <a:ea typeface="Roboto"/>
                <a:cs typeface="Roboto"/>
                <a:sym typeface="Roboto"/>
              </a:rPr>
              <a:t>(dash_scope_api_key=</a:t>
            </a:r>
            <a:r>
              <a:rPr lang="en-US" sz="1400" b="0" i="0" u="none" strike="noStrike">
                <a:solidFill>
                  <a:srgbClr val="D19A66"/>
                </a:solidFill>
                <a:latin typeface="Roboto"/>
                <a:ea typeface="Roboto"/>
                <a:cs typeface="Roboto"/>
                <a:sym typeface="Roboto"/>
              </a:rPr>
              <a:t>None</a:t>
            </a:r>
            <a:r>
              <a:rPr lang="en-US" sz="1400" b="0" i="0" u="none" strike="noStrike">
                <a:solidFill>
                  <a:srgbClr val="DCDFE4"/>
                </a:solidFill>
                <a:latin typeface="Roboto"/>
                <a:ea typeface="Roboto"/>
                <a:cs typeface="Roboto"/>
                <a:sym typeface="Roboto"/>
              </a:rPr>
              <a:t>):</a:t>
            </a:r>
            <a:endParaRPr lang="en-US" sz="1400" b="0" i="0" u="none" strike="noStrike">
              <a:solidFill>
                <a:srgbClr val="DCDFE4"/>
              </a:solidFill>
              <a:latin typeface="Roboto"/>
              <a:ea typeface="Roboto"/>
              <a:cs typeface="Roboto"/>
              <a:sym typeface="Roboto"/>
            </a:endParaRPr>
          </a:p>
          <a:p>
            <a:pPr indent="0" algn="l">
              <a:lnSpc>
                <a:spcPct val="108000"/>
              </a:lnSpc>
            </a:pPr>
            <a:r>
              <a:rPr lang="en-US" sz="1400" b="0" i="0" u="none" strike="noStrike">
                <a:solidFill>
                  <a:srgbClr val="DCDFE4"/>
                </a:solidFill>
                <a:latin typeface="Roboto"/>
                <a:ea typeface="Roboto"/>
                <a:cs typeface="Roboto"/>
                <a:sym typeface="Roboto"/>
              </a:rPr>
              <a:t>    </a:t>
            </a:r>
            <a:r>
              <a:rPr lang="en-US" sz="1400" b="0" i="0" u="none" strike="noStrike">
                <a:solidFill>
                  <a:srgbClr val="C678DD"/>
                </a:solidFill>
                <a:latin typeface="Roboto"/>
                <a:ea typeface="Roboto"/>
                <a:cs typeface="Roboto"/>
                <a:sym typeface="Roboto"/>
              </a:rPr>
              <a:t>if</a:t>
            </a:r>
            <a:r>
              <a:rPr lang="en-US" sz="1400" b="0" i="0" u="none" strike="noStrike">
                <a:solidFill>
                  <a:srgbClr val="DCDFE4"/>
                </a:solidFill>
                <a:latin typeface="Roboto"/>
                <a:ea typeface="Roboto"/>
                <a:cs typeface="Roboto"/>
                <a:sym typeface="Roboto"/>
              </a:rPr>
              <a:t>dash_scope_api_key</a:t>
            </a:r>
            <a:r>
              <a:rPr lang="en-US" sz="1400" b="0" i="0" u="none" strike="noStrike">
                <a:solidFill>
                  <a:srgbClr val="C678DD"/>
                </a:solidFill>
                <a:latin typeface="Roboto"/>
                <a:ea typeface="Roboto"/>
                <a:cs typeface="Roboto"/>
                <a:sym typeface="Roboto"/>
              </a:rPr>
              <a:t>is</a:t>
            </a:r>
            <a:r>
              <a:rPr lang="en-US" sz="1400" b="0" i="0" u="none" strike="noStrike">
                <a:solidFill>
                  <a:srgbClr val="D19A66"/>
                </a:solidFill>
                <a:latin typeface="Roboto"/>
                <a:ea typeface="Roboto"/>
                <a:cs typeface="Roboto"/>
                <a:sym typeface="Roboto"/>
              </a:rPr>
              <a:t>None</a:t>
            </a:r>
            <a:r>
              <a:rPr lang="en-US" sz="1400" b="0" i="0" u="none" strike="noStrike">
                <a:solidFill>
                  <a:srgbClr val="DCDFE4"/>
                </a:solidFill>
                <a:latin typeface="Roboto"/>
                <a:ea typeface="Roboto"/>
                <a:cs typeface="Roboto"/>
                <a:sym typeface="Roboto"/>
              </a:rPr>
              <a:t>:</a:t>
            </a:r>
            <a:endParaRPr lang="en-US" sz="1400" b="0" i="0" u="none" strike="noStrike">
              <a:solidFill>
                <a:srgbClr val="DCDFE4"/>
              </a:solidFill>
              <a:latin typeface="Roboto"/>
              <a:ea typeface="Roboto"/>
              <a:cs typeface="Roboto"/>
              <a:sym typeface="Roboto"/>
            </a:endParaRPr>
          </a:p>
          <a:p>
            <a:pPr indent="0" algn="l">
              <a:lnSpc>
                <a:spcPct val="108000"/>
              </a:lnSpc>
            </a:pPr>
            <a:r>
              <a:rPr lang="en-US" sz="1400" b="0" i="0" u="none" strike="noStrike">
                <a:solidFill>
                  <a:srgbClr val="DCDFE4"/>
                </a:solidFill>
                <a:latin typeface="Roboto"/>
                <a:ea typeface="Roboto"/>
                <a:cs typeface="Roboto"/>
                <a:sym typeface="Roboto"/>
              </a:rPr>
              <a:t>        </a:t>
            </a:r>
            <a:r>
              <a:rPr lang="en-US" sz="1400" b="0" i="0" u="none" strike="noStrike">
                <a:solidFill>
                  <a:srgbClr val="C678DD"/>
                </a:solidFill>
                <a:latin typeface="Roboto"/>
                <a:ea typeface="Roboto"/>
                <a:cs typeface="Roboto"/>
                <a:sym typeface="Roboto"/>
              </a:rPr>
              <a:t>return</a:t>
            </a:r>
            <a:r>
              <a:rPr lang="en-US" sz="1400" b="0" i="0" u="none" strike="noStrike">
                <a:solidFill>
                  <a:srgbClr val="D19A66"/>
                </a:solidFill>
                <a:latin typeface="Roboto"/>
                <a:ea typeface="Roboto"/>
                <a:cs typeface="Roboto"/>
                <a:sym typeface="Roboto"/>
              </a:rPr>
              <a:t>None</a:t>
            </a:r>
            <a:endParaRPr lang="en-US" sz="1400" b="0" i="0" u="none" strike="noStrike">
              <a:solidFill>
                <a:srgbClr val="D19A66"/>
              </a:solidFill>
              <a:latin typeface="Roboto"/>
              <a:ea typeface="Roboto"/>
              <a:cs typeface="Roboto"/>
              <a:sym typeface="Roboto"/>
            </a:endParaRPr>
          </a:p>
          <a:p>
            <a:pPr indent="0" algn="l">
              <a:lnSpc>
                <a:spcPct val="108000"/>
              </a:lnSpc>
            </a:pPr>
            <a:r>
              <a:rPr lang="en-US" sz="1400" b="0" i="0" u="none" strike="noStrike">
                <a:solidFill>
                  <a:srgbClr val="DCDFE4"/>
                </a:solidFill>
                <a:latin typeface="Roboto"/>
                <a:ea typeface="Roboto"/>
                <a:cs typeface="Roboto"/>
                <a:sym typeface="Roboto"/>
              </a:rPr>
              <a:t>    embeddings =</a:t>
            </a:r>
            <a:r>
              <a:rPr lang="en-US" sz="1400" b="0" i="0" u="none" strike="noStrike">
                <a:solidFill>
                  <a:srgbClr val="E5C07B"/>
                </a:solidFill>
                <a:latin typeface="Roboto"/>
                <a:ea typeface="Roboto"/>
                <a:cs typeface="Roboto"/>
                <a:sym typeface="Roboto"/>
              </a:rPr>
              <a:t>DashScopeEmbeddings</a:t>
            </a:r>
            <a:r>
              <a:rPr lang="en-US" sz="1400" b="0" i="0" u="none" strike="noStrike">
                <a:solidFill>
                  <a:srgbClr val="DCDFE4"/>
                </a:solidFill>
                <a:latin typeface="Roboto"/>
                <a:ea typeface="Roboto"/>
                <a:cs typeface="Roboto"/>
                <a:sym typeface="Roboto"/>
              </a:rPr>
              <a:t>(</a:t>
            </a:r>
            <a:endParaRPr lang="en-US" sz="1400" b="0" i="0" u="none" strike="noStrike">
              <a:solidFill>
                <a:srgbClr val="DCDFE4"/>
              </a:solidFill>
              <a:latin typeface="Roboto"/>
              <a:ea typeface="Roboto"/>
              <a:cs typeface="Roboto"/>
              <a:sym typeface="Roboto"/>
            </a:endParaRPr>
          </a:p>
          <a:p>
            <a:pPr indent="0" algn="l">
              <a:lnSpc>
                <a:spcPct val="108000"/>
              </a:lnSpc>
            </a:pPr>
            <a:r>
              <a:rPr lang="en-US" sz="1400" b="0" i="0" u="none" strike="noStrike">
                <a:solidFill>
                  <a:srgbClr val="DCDFE4"/>
                </a:solidFill>
                <a:latin typeface="Roboto"/>
                <a:ea typeface="Roboto"/>
                <a:cs typeface="Roboto"/>
                <a:sym typeface="Roboto"/>
              </a:rPr>
              <a:t>        model=</a:t>
            </a:r>
            <a:r>
              <a:rPr lang="en-US" sz="1400" b="0" i="0" u="none" strike="noStrike">
                <a:solidFill>
                  <a:srgbClr val="98C379"/>
                </a:solidFill>
                <a:latin typeface="Roboto"/>
                <a:ea typeface="Roboto"/>
                <a:cs typeface="Roboto"/>
                <a:sym typeface="Roboto"/>
              </a:rPr>
              <a:t>"text-embedding-v3"</a:t>
            </a:r>
            <a:r>
              <a:rPr lang="en-US" sz="1400" b="0" i="0" u="none" strike="noStrike">
                <a:solidFill>
                  <a:srgbClr val="DCDFE4"/>
                </a:solidFill>
                <a:latin typeface="Roboto"/>
                <a:ea typeface="Roboto"/>
                <a:cs typeface="Roboto"/>
                <a:sym typeface="Roboto"/>
              </a:rPr>
              <a:t>,</a:t>
            </a:r>
            <a:endParaRPr lang="en-US" sz="1400" b="0" i="0" u="none" strike="noStrike">
              <a:solidFill>
                <a:srgbClr val="DCDFE4"/>
              </a:solidFill>
              <a:latin typeface="Roboto"/>
              <a:ea typeface="Roboto"/>
              <a:cs typeface="Roboto"/>
              <a:sym typeface="Roboto"/>
            </a:endParaRPr>
          </a:p>
          <a:p>
            <a:pPr indent="0" algn="l">
              <a:lnSpc>
                <a:spcPct val="108000"/>
              </a:lnSpc>
            </a:pPr>
            <a:r>
              <a:rPr lang="en-US" sz="1400" b="0" i="0" u="none" strike="noStrike">
                <a:solidFill>
                  <a:srgbClr val="DCDFE4"/>
                </a:solidFill>
                <a:latin typeface="Roboto"/>
                <a:ea typeface="Roboto"/>
                <a:cs typeface="Roboto"/>
                <a:sym typeface="Roboto"/>
              </a:rPr>
              <a:t>        dashscope_api_key=dash_scope_api_key</a:t>
            </a:r>
            <a:endParaRPr lang="en-US" sz="1400" b="0" i="0" u="none" strike="noStrike">
              <a:solidFill>
                <a:srgbClr val="DCDFE4"/>
              </a:solidFill>
              <a:latin typeface="Roboto"/>
              <a:ea typeface="Roboto"/>
              <a:cs typeface="Roboto"/>
              <a:sym typeface="Roboto"/>
            </a:endParaRPr>
          </a:p>
          <a:p>
            <a:pPr indent="0" algn="l">
              <a:lnSpc>
                <a:spcPct val="108000"/>
              </a:lnSpc>
            </a:pPr>
            <a:r>
              <a:rPr lang="en-US" sz="1400" b="0" i="0" u="none" strike="noStrike">
                <a:solidFill>
                  <a:srgbClr val="DCDFE4"/>
                </a:solidFill>
                <a:latin typeface="Roboto"/>
                <a:ea typeface="Roboto"/>
                <a:cs typeface="Roboto"/>
                <a:sym typeface="Roboto"/>
              </a:rPr>
              <a:t>    )</a:t>
            </a:r>
            <a:endParaRPr lang="en-US" sz="1400" b="0" i="0" u="none" strike="noStrike">
              <a:solidFill>
                <a:srgbClr val="DCDFE4"/>
              </a:solidFill>
              <a:latin typeface="Roboto"/>
              <a:ea typeface="Roboto"/>
              <a:cs typeface="Roboto"/>
              <a:sym typeface="Roboto"/>
            </a:endParaRPr>
          </a:p>
          <a:p>
            <a:pPr indent="0" algn="l">
              <a:lnSpc>
                <a:spcPct val="108000"/>
              </a:lnSpc>
            </a:pPr>
            <a:r>
              <a:rPr lang="en-US" sz="1400" b="0" i="0" u="none" strike="noStrike">
                <a:solidFill>
                  <a:srgbClr val="DCDFE4"/>
                </a:solidFill>
                <a:latin typeface="Roboto"/>
                <a:ea typeface="Roboto"/>
                <a:cs typeface="Roboto"/>
                <a:sym typeface="Roboto"/>
              </a:rPr>
              <a:t>    </a:t>
            </a:r>
            <a:r>
              <a:rPr lang="en-US" sz="1400" b="0" i="0" u="none" strike="noStrike">
                <a:solidFill>
                  <a:srgbClr val="C678DD"/>
                </a:solidFill>
                <a:latin typeface="Roboto"/>
                <a:ea typeface="Roboto"/>
                <a:cs typeface="Roboto"/>
                <a:sym typeface="Roboto"/>
              </a:rPr>
              <a:t>return</a:t>
            </a:r>
            <a:r>
              <a:rPr lang="en-US" sz="1400" b="0" i="0" u="none" strike="noStrike">
                <a:solidFill>
                  <a:srgbClr val="DCDFE4"/>
                </a:solidFill>
                <a:latin typeface="Roboto"/>
                <a:ea typeface="Roboto"/>
                <a:cs typeface="Roboto"/>
                <a:sym typeface="Roboto"/>
              </a:rPr>
              <a:t>embeddings</a:t>
            </a:r>
            <a:endParaRPr lang="en-US" sz="1400" b="0" i="0" u="none" strike="noStrike">
              <a:solidFill>
                <a:srgbClr val="DCDFE4"/>
              </a:solidFill>
              <a:latin typeface="Roboto"/>
              <a:ea typeface="Roboto"/>
              <a:cs typeface="Roboto"/>
              <a:sym typeface="Roboto"/>
            </a:endParaRPr>
          </a:p>
        </p:txBody>
      </p:sp>
      <p:sp>
        <p:nvSpPr>
          <p:cNvPr id="6" name="AutoShape 6"/>
          <p:cNvSpPr/>
          <p:nvPr/>
        </p:nvSpPr>
        <p:spPr>
          <a:xfrm>
            <a:off x="6350000" y="1524000"/>
            <a:ext cx="5080000" cy="3302000"/>
          </a:xfrm>
          <a:prstGeom prst="roundRect">
            <a:avLst>
              <a:gd name="adj" fmla="val 3846"/>
            </a:avLst>
          </a:prstGeom>
          <a:solidFill>
            <a:srgbClr val="FFFFFF">
              <a:alpha val="100000"/>
            </a:srgbClr>
          </a:solidFill>
          <a:ln w="25400" cap="flat" cmpd="sng">
            <a:noFill/>
            <a:prstDash val="solid"/>
            <a:round/>
          </a:ln>
          <a:effectLst>
            <a:outerShdw blurRad="127000" dist="50800" dir="5400000" algn="tl" rotWithShape="0">
              <a:srgbClr val="000000">
                <a:alpha val="10000"/>
              </a:srgbClr>
            </a:outerShdw>
          </a:effectLst>
        </p:spPr>
        <p:txBody>
          <a:bodyPr vert="horz" wrap="square" lIns="63500" tIns="63500" rIns="63500" bIns="63500" rtlCol="0" anchor="ctr"/>
          <a:lstStyle/>
          <a:p>
            <a:pPr algn="ctr">
              <a:defRPr/>
            </a:pPr>
          </a:p>
        </p:txBody>
      </p:sp>
      <p:sp>
        <p:nvSpPr>
          <p:cNvPr id="7" name="AutoShape 7"/>
          <p:cNvSpPr/>
          <p:nvPr/>
        </p:nvSpPr>
        <p:spPr>
          <a:xfrm>
            <a:off x="6604000" y="1714500"/>
            <a:ext cx="4572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0288D1"/>
                </a:solidFill>
                <a:latin typeface="Noto Sans SC"/>
                <a:ea typeface="Noto Sans SC"/>
                <a:cs typeface="Noto Sans SC"/>
                <a:sym typeface="Noto Sans SC"/>
              </a:rPr>
              <a:t>核心逻辑解析</a:t>
            </a:r>
            <a:endParaRPr lang="en-US" sz="1100"/>
          </a:p>
        </p:txBody>
      </p:sp>
      <p:sp>
        <p:nvSpPr>
          <p:cNvPr id="8" name="AutoShape 8"/>
          <p:cNvSpPr/>
          <p:nvPr/>
        </p:nvSpPr>
        <p:spPr>
          <a:xfrm>
            <a:off x="6604000" y="2222500"/>
            <a:ext cx="4572000" cy="2286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0" i="0" u="none" strike="noStrike">
                <a:solidFill>
                  <a:srgbClr val="757575"/>
                </a:solidFill>
                <a:latin typeface="Noto Sans SC"/>
                <a:ea typeface="Noto Sans SC"/>
                <a:cs typeface="Noto Sans SC"/>
                <a:sym typeface="Noto Sans SC"/>
              </a:rPr>
              <a:t>在线查询阶段，我们需要使用与离线构建知识库时完全相同的词嵌入模型。</a:t>
            </a:r>
            <a:endParaRPr lang="en-US" sz="1100"/>
          </a:p>
          <a:p>
            <a:pPr indent="0" algn="l">
              <a:lnSpc>
                <a:spcPct val="125000"/>
              </a:lnSpc>
            </a:pPr>
            <a:r>
              <a:rPr lang="en-US" sz="1600" b="0" i="0" u="none" strike="noStrike">
                <a:solidFill>
                  <a:srgbClr val="757575"/>
                </a:solidFill>
                <a:latin typeface="Noto Sans SC"/>
                <a:ea typeface="Noto Sans SC"/>
                <a:cs typeface="Noto Sans SC"/>
                <a:sym typeface="Noto Sans SC"/>
              </a:rPr>
              <a:t>这是为了确保查询向量和文档向量处于同一向量空间，从而保证语义匹配的准确性。</a:t>
            </a:r>
            <a:endParaRPr lang="en-US" sz="1600" b="0" i="0" u="none" strike="noStrike">
              <a:solidFill>
                <a:srgbClr val="757575"/>
              </a:solidFill>
              <a:latin typeface="Noto Sans SC"/>
              <a:ea typeface="Noto Sans SC"/>
              <a:cs typeface="Noto Sans SC"/>
              <a:sym typeface="Noto Sans SC"/>
            </a:endParaRPr>
          </a:p>
          <a:p>
            <a:pPr indent="0" algn="l">
              <a:lnSpc>
                <a:spcPct val="125000"/>
              </a:lnSpc>
            </a:pPr>
            <a:r>
              <a:rPr lang="en-US" sz="1600" b="0" i="0" u="none" strike="noStrike">
                <a:solidFill>
                  <a:srgbClr val="757575"/>
                </a:solidFill>
                <a:latin typeface="Noto Sans SC"/>
                <a:ea typeface="Noto Sans SC"/>
                <a:cs typeface="Noto Sans SC"/>
                <a:sym typeface="Noto Sans SC"/>
              </a:rPr>
              <a:t>因此，这里我们复用了之前定义的</a:t>
            </a:r>
            <a:r>
              <a:rPr lang="en-US" sz="1600" b="1" i="0" u="none" strike="noStrike">
                <a:solidFill>
                  <a:srgbClr val="0288D1"/>
                </a:solidFill>
                <a:latin typeface="Roboto"/>
                <a:ea typeface="Roboto"/>
                <a:cs typeface="Roboto"/>
                <a:sym typeface="Roboto"/>
              </a:rPr>
              <a:t>get_embedding_model</a:t>
            </a:r>
            <a:r>
              <a:rPr lang="en-US" sz="1600" b="0" i="0" u="none" strike="noStrike">
                <a:solidFill>
                  <a:srgbClr val="757575"/>
                </a:solidFill>
                <a:latin typeface="Noto Sans SC"/>
                <a:ea typeface="Noto Sans SC"/>
                <a:cs typeface="Noto Sans SC"/>
                <a:sym typeface="Noto Sans SC"/>
              </a:rPr>
              <a:t>函数。</a:t>
            </a:r>
            <a:endParaRPr lang="en-US" sz="1600" b="0" i="0" u="none" strike="noStrike">
              <a:solidFill>
                <a:srgbClr val="757575"/>
              </a:solidFill>
              <a:latin typeface="Noto Sans SC"/>
              <a:ea typeface="Noto Sans SC"/>
              <a:cs typeface="Noto Sans SC"/>
              <a:sym typeface="Noto Sans SC"/>
            </a:endParaRPr>
          </a:p>
        </p:txBody>
      </p:sp>
      <p:sp>
        <p:nvSpPr>
          <p:cNvPr id="9" name="AutoShape 9"/>
          <p:cNvSpPr/>
          <p:nvPr/>
        </p:nvSpPr>
        <p:spPr>
          <a:xfrm>
            <a:off x="0" y="6350000"/>
            <a:ext cx="12192000" cy="508000"/>
          </a:xfrm>
          <a:prstGeom prst="roundRect">
            <a:avLst>
              <a:gd name="adj" fmla="val 0"/>
            </a:avLst>
          </a:prstGeom>
          <a:solidFill>
            <a:srgbClr val="0288D1">
              <a:alpha val="100000"/>
            </a:srgbClr>
          </a:solidFill>
          <a:ln w="25400" cap="flat" cmpd="sng">
            <a:noFill/>
            <a:prstDash val="solid"/>
            <a:round/>
          </a:ln>
        </p:spPr>
        <p:txBody>
          <a:bodyPr vert="horz" wrap="square" lIns="63500" tIns="63500" rIns="63500" bIns="63500" rtlCol="0" anchor="ctr"/>
          <a:lstStyle/>
          <a:p>
            <a:pPr algn="ctr">
              <a:defRPr/>
            </a:pPr>
          </a:p>
        </p:txBody>
      </p:sp>
      <p:sp>
        <p:nvSpPr>
          <p:cNvPr id="10" name="AutoShape 10"/>
          <p:cNvSpPr/>
          <p:nvPr/>
        </p:nvSpPr>
        <p:spPr>
          <a:xfrm>
            <a:off x="762000" y="6413500"/>
            <a:ext cx="10668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0" i="0" u="none" strike="noStrike">
                <a:solidFill>
                  <a:srgbClr val="FFFFFF"/>
                </a:solidFill>
                <a:latin typeface="Noto Sans SC"/>
                <a:ea typeface="Noto Sans SC"/>
                <a:cs typeface="Noto Sans SC"/>
                <a:sym typeface="Noto Sans SC"/>
              </a:rPr>
              <a:t>技术要点：模型一致性检查 | 向量空间对齐 | API Key 安全管理</a:t>
            </a:r>
            <a:endParaRPr lang="en-US" sz="110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E0F7FA">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508000"/>
            <a:ext cx="10668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0288D1"/>
                </a:solidFill>
                <a:latin typeface="Noto Sans SC"/>
                <a:ea typeface="Noto Sans SC"/>
                <a:cs typeface="Noto Sans SC"/>
                <a:sym typeface="Noto Sans SC"/>
              </a:rPr>
              <a:t>在线实时查询：相似度检索与提示词工程</a:t>
            </a:r>
            <a:endParaRPr lang="en-US" sz="1100"/>
          </a:p>
        </p:txBody>
      </p:sp>
      <p:sp>
        <p:nvSpPr>
          <p:cNvPr id="3" name="AutoShape 3"/>
          <p:cNvSpPr/>
          <p:nvPr/>
        </p:nvSpPr>
        <p:spPr>
          <a:xfrm>
            <a:off x="762000" y="1270000"/>
            <a:ext cx="10668000" cy="1397000"/>
          </a:xfrm>
          <a:prstGeom prst="roundRect">
            <a:avLst>
              <a:gd name="adj" fmla="val 9090"/>
            </a:avLst>
          </a:prstGeom>
          <a:solidFill>
            <a:srgbClr val="FFFFFF">
              <a:alpha val="100000"/>
            </a:srgbClr>
          </a:solidFill>
          <a:ln w="25400" cap="flat" cmpd="sng">
            <a:noFill/>
            <a:prstDash val="solid"/>
            <a:round/>
          </a:ln>
          <a:effectLst>
            <a:outerShdw blurRad="127000" dist="50800" dir="5400000" algn="tl" rotWithShape="0">
              <a:srgbClr val="0288D1">
                <a:alpha val="15000"/>
              </a:srgbClr>
            </a:outerShdw>
          </a:effectLst>
        </p:spPr>
        <p:txBody>
          <a:bodyPr vert="horz" wrap="square" lIns="63500" tIns="63500" rIns="63500" bIns="63500" rtlCol="0" anchor="ctr"/>
          <a:lstStyle/>
          <a:p>
            <a:pPr algn="ctr">
              <a:defRPr/>
            </a:pPr>
          </a:p>
        </p:txBody>
      </p:sp>
      <p:pic>
        <p:nvPicPr>
          <p:cNvPr id="4" name="Picture 4"/>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016000" y="1524000"/>
            <a:ext cx="406400" cy="406400"/>
          </a:xfrm>
          <a:prstGeom prst="rect">
            <a:avLst/>
          </a:prstGeom>
        </p:spPr>
      </p:pic>
      <p:sp>
        <p:nvSpPr>
          <p:cNvPr id="5" name="AutoShape 5"/>
          <p:cNvSpPr/>
          <p:nvPr/>
        </p:nvSpPr>
        <p:spPr>
          <a:xfrm>
            <a:off x="1524000" y="1498600"/>
            <a:ext cx="2540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0288D1"/>
                </a:solidFill>
                <a:latin typeface="Noto Sans SC"/>
                <a:ea typeface="Noto Sans SC"/>
                <a:cs typeface="Noto Sans SC"/>
                <a:sym typeface="Noto Sans SC"/>
              </a:rPr>
              <a:t>相似度检索代码</a:t>
            </a:r>
            <a:endParaRPr lang="en-US" sz="1100"/>
          </a:p>
        </p:txBody>
      </p:sp>
      <p:sp>
        <p:nvSpPr>
          <p:cNvPr id="6" name="AutoShape 6"/>
          <p:cNvSpPr/>
          <p:nvPr/>
        </p:nvSpPr>
        <p:spPr>
          <a:xfrm>
            <a:off x="1524000" y="1879600"/>
            <a:ext cx="9525000" cy="508000"/>
          </a:xfrm>
          <a:prstGeom prst="roundRect">
            <a:avLst>
              <a:gd name="adj" fmla="val 12500"/>
            </a:avLst>
          </a:prstGeom>
          <a:solidFill>
            <a:srgbClr val="F5F5F5">
              <a:alpha val="100000"/>
            </a:srgbClr>
          </a:solidFill>
          <a:ln w="25400" cap="flat" cmpd="sng">
            <a:noFill/>
            <a:prstDash val="solid"/>
            <a:round/>
          </a:ln>
        </p:spPr>
        <p:txBody>
          <a:bodyPr vert="horz" wrap="square" lIns="127000" tIns="101600" rIns="0" bIns="0" rtlCol="0" anchor="ctr" anchorCtr="0"/>
          <a:lstStyle/>
          <a:p>
            <a:pPr indent="0" algn="ctr">
              <a:lnSpc>
                <a:spcPct val="125000"/>
              </a:lnSpc>
              <a:defRPr/>
            </a:pPr>
            <a:r>
              <a:rPr lang="en-US" sz="1400" b="0" i="0" u="none" strike="noStrike">
                <a:solidFill>
                  <a:srgbClr val="424242"/>
                </a:solidFill>
                <a:latin typeface="Roboto"/>
                <a:ea typeface="Roboto"/>
                <a:cs typeface="Roboto"/>
                <a:sym typeface="Roboto"/>
              </a:rPr>
              <a:t>top_k_contents = vec_db.similarity_search_with_score(question, k=top_k)</a:t>
            </a:r>
            <a:endParaRPr lang="en-US" sz="1100"/>
          </a:p>
        </p:txBody>
      </p:sp>
      <p:sp>
        <p:nvSpPr>
          <p:cNvPr id="7" name="AutoShape 7"/>
          <p:cNvSpPr/>
          <p:nvPr/>
        </p:nvSpPr>
        <p:spPr>
          <a:xfrm>
            <a:off x="762000" y="2921000"/>
            <a:ext cx="10668000" cy="2413000"/>
          </a:xfrm>
          <a:prstGeom prst="roundRect">
            <a:avLst>
              <a:gd name="adj" fmla="val 5263"/>
            </a:avLst>
          </a:prstGeom>
          <a:solidFill>
            <a:srgbClr val="FFFFFF">
              <a:alpha val="100000"/>
            </a:srgbClr>
          </a:solidFill>
          <a:ln w="25400" cap="flat" cmpd="sng">
            <a:noFill/>
            <a:prstDash val="solid"/>
            <a:round/>
          </a:ln>
          <a:effectLst>
            <a:outerShdw blurRad="127000" dist="50800" dir="5400000" algn="tl" rotWithShape="0">
              <a:srgbClr val="0288D1">
                <a:alpha val="15000"/>
              </a:srgbClr>
            </a:outerShdw>
          </a:effectLst>
        </p:spPr>
        <p:txBody>
          <a:bodyPr vert="horz" wrap="square" lIns="63500" tIns="63500" rIns="63500" bIns="63500" rtlCol="0" anchor="ctr"/>
          <a:lstStyle/>
          <a:p>
            <a:pPr algn="ctr">
              <a:defRPr/>
            </a:pPr>
          </a:p>
        </p:txBody>
      </p:sp>
      <p:pic>
        <p:nvPicPr>
          <p:cNvPr id="8" name="Picture 8"/>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16000" y="3175000"/>
            <a:ext cx="406400" cy="406400"/>
          </a:xfrm>
          <a:prstGeom prst="rect">
            <a:avLst/>
          </a:prstGeom>
        </p:spPr>
      </p:pic>
      <p:sp>
        <p:nvSpPr>
          <p:cNvPr id="9" name="AutoShape 9"/>
          <p:cNvSpPr/>
          <p:nvPr/>
        </p:nvSpPr>
        <p:spPr>
          <a:xfrm>
            <a:off x="1524000" y="3149600"/>
            <a:ext cx="2540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0288D1"/>
                </a:solidFill>
                <a:latin typeface="Noto Sans SC"/>
                <a:ea typeface="Noto Sans SC"/>
                <a:cs typeface="Noto Sans SC"/>
                <a:sym typeface="Noto Sans SC"/>
              </a:rPr>
              <a:t>提示词模板定义</a:t>
            </a:r>
            <a:endParaRPr lang="en-US" sz="1100"/>
          </a:p>
        </p:txBody>
      </p:sp>
      <p:sp>
        <p:nvSpPr>
          <p:cNvPr id="10" name="AutoShape 10"/>
          <p:cNvSpPr/>
          <p:nvPr/>
        </p:nvSpPr>
        <p:spPr>
          <a:xfrm>
            <a:off x="1524000" y="3530600"/>
            <a:ext cx="9525000" cy="1524000"/>
          </a:xfrm>
          <a:prstGeom prst="roundRect">
            <a:avLst>
              <a:gd name="adj" fmla="val 4166"/>
            </a:avLst>
          </a:prstGeom>
          <a:solidFill>
            <a:srgbClr val="F5F5F5">
              <a:alpha val="100000"/>
            </a:srgbClr>
          </a:solidFill>
          <a:ln w="25400" cap="flat" cmpd="sng">
            <a:noFill/>
            <a:prstDash val="solid"/>
            <a:round/>
          </a:ln>
        </p:spPr>
        <p:txBody>
          <a:bodyPr vert="horz" wrap="square" lIns="127000" tIns="101600" rIns="127000" bIns="101600" rtlCol="0" anchor="ctr" anchorCtr="0"/>
          <a:lstStyle/>
          <a:p>
            <a:pPr indent="0" algn="ctr">
              <a:lnSpc>
                <a:spcPct val="100000"/>
              </a:lnSpc>
              <a:defRPr/>
            </a:pPr>
            <a:r>
              <a:rPr lang="en-US" sz="1400" b="0" i="0" u="none" strike="noStrike">
                <a:solidFill>
                  <a:srgbClr val="424242"/>
                </a:solidFill>
                <a:latin typeface="Roboto"/>
                <a:ea typeface="Roboto"/>
                <a:cs typeface="Roboto"/>
                <a:sym typeface="Roboto"/>
              </a:rPr>
              <a:t>template = """</a:t>
            </a:r>
            <a:endParaRPr lang="en-US" sz="1100"/>
          </a:p>
          <a:p>
            <a:pPr indent="0" algn="ctr">
              <a:lnSpc>
                <a:spcPct val="100000"/>
              </a:lnSpc>
            </a:pPr>
            <a:r>
              <a:rPr lang="en-US" sz="1400" b="0" i="0" u="none" strike="noStrike">
                <a:solidFill>
                  <a:srgbClr val="424242"/>
                </a:solidFill>
                <a:latin typeface="Roboto"/>
                <a:ea typeface="Roboto"/>
                <a:cs typeface="Roboto"/>
                <a:sym typeface="Roboto"/>
              </a:rPr>
              <a:t>你是资深AI助理，根据用户问题{question}和检索上下文{context}，</a:t>
            </a:r>
            <a:endParaRPr lang="en-US" sz="1400" b="0" i="0" u="none" strike="noStrike">
              <a:solidFill>
                <a:srgbClr val="424242"/>
              </a:solidFill>
              <a:latin typeface="Roboto"/>
              <a:ea typeface="Roboto"/>
              <a:cs typeface="Roboto"/>
              <a:sym typeface="Roboto"/>
            </a:endParaRPr>
          </a:p>
          <a:p>
            <a:pPr indent="0" algn="ctr">
              <a:lnSpc>
                <a:spcPct val="100000"/>
              </a:lnSpc>
            </a:pPr>
            <a:r>
              <a:rPr lang="en-US" sz="1400" b="0" i="0" u="none" strike="noStrike">
                <a:solidFill>
                  <a:srgbClr val="424242"/>
                </a:solidFill>
                <a:latin typeface="Roboto"/>
                <a:ea typeface="Roboto"/>
                <a:cs typeface="Roboto"/>
                <a:sym typeface="Roboto"/>
              </a:rPr>
              <a:t>结合知识库进行回答，输出不超过200字。</a:t>
            </a:r>
            <a:endParaRPr lang="en-US" sz="1400" b="0" i="0" u="none" strike="noStrike">
              <a:solidFill>
                <a:srgbClr val="424242"/>
              </a:solidFill>
              <a:latin typeface="Roboto"/>
              <a:ea typeface="Roboto"/>
              <a:cs typeface="Roboto"/>
              <a:sym typeface="Roboto"/>
            </a:endParaRPr>
          </a:p>
          <a:p>
            <a:pPr indent="0" algn="ctr">
              <a:lnSpc>
                <a:spcPct val="100000"/>
              </a:lnSpc>
            </a:pPr>
            <a:r>
              <a:rPr lang="en-US" sz="1400" b="0" i="0" u="none" strike="noStrike">
                <a:solidFill>
                  <a:srgbClr val="424242"/>
                </a:solidFill>
                <a:latin typeface="Roboto"/>
                <a:ea typeface="Roboto"/>
                <a:cs typeface="Roboto"/>
                <a:sym typeface="Roboto"/>
              </a:rPr>
              <a:t>"""</a:t>
            </a:r>
            <a:endParaRPr lang="en-US" sz="1400" b="0" i="0" u="none" strike="noStrike">
              <a:solidFill>
                <a:srgbClr val="424242"/>
              </a:solidFill>
              <a:latin typeface="Roboto"/>
              <a:ea typeface="Roboto"/>
              <a:cs typeface="Roboto"/>
              <a:sym typeface="Roboto"/>
            </a:endParaRPr>
          </a:p>
          <a:p>
            <a:pPr indent="0" algn="ctr">
              <a:lnSpc>
                <a:spcPct val="100000"/>
              </a:lnSpc>
            </a:pPr>
            <a:r>
              <a:rPr lang="en-US" sz="1400" b="0" i="0" u="none" strike="noStrike">
                <a:solidFill>
                  <a:srgbClr val="424242"/>
                </a:solidFill>
                <a:latin typeface="Roboto"/>
                <a:ea typeface="Roboto"/>
                <a:cs typeface="Roboto"/>
                <a:sym typeface="Roboto"/>
              </a:rPr>
              <a:t>prompt = PromptTemplate.from_template(template)</a:t>
            </a:r>
            <a:endParaRPr lang="en-US" sz="1400" b="0" i="0" u="none" strike="noStrike">
              <a:solidFill>
                <a:srgbClr val="424242"/>
              </a:solidFill>
              <a:latin typeface="Roboto"/>
              <a:ea typeface="Roboto"/>
              <a:cs typeface="Roboto"/>
              <a:sym typeface="Roboto"/>
            </a:endParaRPr>
          </a:p>
        </p:txBody>
      </p:sp>
      <p:sp>
        <p:nvSpPr>
          <p:cNvPr id="11" name="AutoShape 11"/>
          <p:cNvSpPr/>
          <p:nvPr/>
        </p:nvSpPr>
        <p:spPr>
          <a:xfrm>
            <a:off x="762000" y="5588000"/>
            <a:ext cx="10668000" cy="762000"/>
          </a:xfrm>
          <a:prstGeom prst="roundRect">
            <a:avLst>
              <a:gd name="adj" fmla="val 16666"/>
            </a:avLst>
          </a:prstGeom>
          <a:solidFill>
            <a:srgbClr val="0288D1">
              <a:alpha val="10000"/>
            </a:srgbClr>
          </a:solidFill>
          <a:ln w="12700" cap="flat" cmpd="sng">
            <a:solidFill>
              <a:srgbClr val="0288D1">
                <a:alpha val="100000"/>
              </a:srgbClr>
            </a:solidFill>
            <a:prstDash val="solid"/>
            <a:round/>
          </a:ln>
        </p:spPr>
        <p:txBody>
          <a:bodyPr vert="horz" wrap="square" lIns="63500" tIns="63500" rIns="63500" bIns="63500" rtlCol="0" anchor="ctr"/>
          <a:lstStyle/>
          <a:p>
            <a:pPr algn="ctr">
              <a:defRPr/>
            </a:pPr>
          </a:p>
        </p:txBody>
      </p:sp>
      <p:pic>
        <p:nvPicPr>
          <p:cNvPr id="12" name="Picture 12"/>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016000" y="5791200"/>
            <a:ext cx="304800" cy="304800"/>
          </a:xfrm>
          <a:prstGeom prst="rect">
            <a:avLst/>
          </a:prstGeom>
        </p:spPr>
      </p:pic>
      <p:sp>
        <p:nvSpPr>
          <p:cNvPr id="13" name="AutoShape 13"/>
          <p:cNvSpPr/>
          <p:nvPr/>
        </p:nvSpPr>
        <p:spPr>
          <a:xfrm>
            <a:off x="1460500" y="5651500"/>
            <a:ext cx="9779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0" i="0" u="none" strike="noStrike">
                <a:solidFill>
                  <a:srgbClr val="757575"/>
                </a:solidFill>
                <a:latin typeface="Noto Sans SC"/>
                <a:ea typeface="Noto Sans SC"/>
                <a:cs typeface="Noto Sans SC"/>
                <a:sym typeface="Noto Sans SC"/>
              </a:rPr>
              <a:t>代码解释：首先使用</a:t>
            </a:r>
            <a:r>
              <a:rPr lang="en-US" sz="1600" b="1" i="0" u="none" strike="noStrike">
                <a:solidFill>
                  <a:srgbClr val="0288D1"/>
                </a:solidFill>
                <a:latin typeface="Roboto"/>
                <a:ea typeface="Roboto"/>
                <a:cs typeface="Roboto"/>
                <a:sym typeface="Roboto"/>
              </a:rPr>
              <a:t>similarity_search_with_score</a:t>
            </a:r>
            <a:r>
              <a:rPr lang="en-US" sz="1600" b="0" i="0" u="none" strike="noStrike">
                <a:solidFill>
                  <a:srgbClr val="757575"/>
                </a:solidFill>
                <a:latin typeface="Noto Sans SC"/>
                <a:ea typeface="Noto Sans SC"/>
                <a:cs typeface="Noto Sans SC"/>
                <a:sym typeface="Noto Sans SC"/>
              </a:rPr>
              <a:t>检索Top-K文档，随后构建提示词模板，将用户问题与上下文信息注入，引导大模型生成精准回答。</a:t>
            </a:r>
            <a:endParaRPr lang="en-US" sz="110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E0F7FA">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635000"/>
            <a:ext cx="10668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0288D1"/>
                </a:solidFill>
                <a:latin typeface="Noto Sans SC"/>
                <a:ea typeface="Noto Sans SC"/>
                <a:cs typeface="Noto Sans SC"/>
                <a:sym typeface="Noto Sans SC"/>
              </a:rPr>
              <a:t>在线实时查询：大模型生成</a:t>
            </a:r>
            <a:endParaRPr lang="en-US" sz="1100"/>
          </a:p>
        </p:txBody>
      </p:sp>
      <p:sp>
        <p:nvSpPr>
          <p:cNvPr id="3" name="AutoShape 3"/>
          <p:cNvSpPr/>
          <p:nvPr/>
        </p:nvSpPr>
        <p:spPr>
          <a:xfrm>
            <a:off x="762000" y="1524000"/>
            <a:ext cx="5334000" cy="3556000"/>
          </a:xfrm>
          <a:prstGeom prst="roundRect">
            <a:avLst>
              <a:gd name="adj" fmla="val 3571"/>
            </a:avLst>
          </a:prstGeom>
          <a:solidFill>
            <a:srgbClr val="1E1E1E">
              <a:alpha val="100000"/>
            </a:srgbClr>
          </a:solidFill>
          <a:ln w="25400" cap="flat" cmpd="sng">
            <a:noFill/>
            <a:prstDash val="solid"/>
            <a:round/>
          </a:ln>
          <a:effectLst>
            <a:outerShdw blurRad="127000" dist="63500" dir="5400000" algn="tl" rotWithShape="0">
              <a:srgbClr val="000000">
                <a:alpha val="15000"/>
              </a:srgbClr>
            </a:outerShdw>
          </a:effectLst>
        </p:spPr>
        <p:txBody>
          <a:bodyPr vert="horz" wrap="square" lIns="63500" tIns="63500" rIns="63500" bIns="63500" rtlCol="0" anchor="ctr"/>
          <a:lstStyle/>
          <a:p>
            <a:pPr algn="ctr">
              <a:defRPr/>
            </a:pPr>
          </a:p>
        </p:txBody>
      </p:sp>
      <p:sp>
        <p:nvSpPr>
          <p:cNvPr id="4" name="AutoShape 4"/>
          <p:cNvSpPr/>
          <p:nvPr/>
        </p:nvSpPr>
        <p:spPr>
          <a:xfrm>
            <a:off x="1016000" y="1714500"/>
            <a:ext cx="4826000" cy="31750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400" b="0" i="0" u="none" strike="noStrike">
                <a:solidFill>
                  <a:srgbClr val="FF79C6"/>
                </a:solidFill>
                <a:latin typeface="Roboto Mono"/>
                <a:ea typeface="Roboto Mono"/>
                <a:cs typeface="Roboto Mono"/>
                <a:sym typeface="Roboto Mono"/>
              </a:rPr>
              <a:t>from</a:t>
            </a:r>
            <a:r>
              <a:rPr lang="en-US" sz="1400" b="0" i="0" u="none" strike="noStrike">
                <a:solidFill>
                  <a:srgbClr val="F8F8F2"/>
                </a:solidFill>
                <a:latin typeface="Roboto Mono"/>
                <a:ea typeface="Roboto Mono"/>
                <a:cs typeface="Roboto Mono"/>
                <a:sym typeface="Roboto Mono"/>
              </a:rPr>
              <a:t>langchain_community.chat_models</a:t>
            </a:r>
            <a:r>
              <a:rPr lang="en-US" sz="1400" b="0" i="0" u="none" strike="noStrike">
                <a:solidFill>
                  <a:srgbClr val="FF79C6"/>
                </a:solidFill>
                <a:latin typeface="Roboto Mono"/>
                <a:ea typeface="Roboto Mono"/>
                <a:cs typeface="Roboto Mono"/>
                <a:sym typeface="Roboto Mono"/>
              </a:rPr>
              <a:t>import</a:t>
            </a:r>
            <a:r>
              <a:rPr lang="en-US" sz="1400" b="0" i="0" u="none" strike="noStrike">
                <a:solidFill>
                  <a:srgbClr val="F8F8F2"/>
                </a:solidFill>
                <a:latin typeface="Roboto Mono"/>
                <a:ea typeface="Roboto Mono"/>
                <a:cs typeface="Roboto Mono"/>
                <a:sym typeface="Roboto Mono"/>
              </a:rPr>
              <a:t>ChatTongyi</a:t>
            </a:r>
            <a:endParaRPr lang="en-US" sz="1100"/>
          </a:p>
          <a:p>
            <a:pPr indent="0" algn="l">
              <a:lnSpc>
                <a:spcPct val="108000"/>
              </a:lnSpc>
            </a:pPr>
          </a:p>
          <a:p>
            <a:pPr indent="0" algn="l">
              <a:lnSpc>
                <a:spcPct val="108000"/>
              </a:lnSpc>
            </a:pPr>
            <a:r>
              <a:rPr lang="en-US" sz="1400" b="0" i="0" u="none" strike="noStrike">
                <a:solidFill>
                  <a:srgbClr val="FF79C6"/>
                </a:solidFill>
                <a:latin typeface="Roboto Mono"/>
                <a:ea typeface="Roboto Mono"/>
                <a:cs typeface="Roboto Mono"/>
                <a:sym typeface="Roboto Mono"/>
              </a:rPr>
              <a:t>def</a:t>
            </a:r>
            <a:r>
              <a:rPr lang="en-US" sz="1400" b="0" i="0" u="none" strike="noStrike">
                <a:solidFill>
                  <a:srgbClr val="50FA7B"/>
                </a:solidFill>
                <a:latin typeface="Roboto Mono"/>
                <a:ea typeface="Roboto Mono"/>
                <a:cs typeface="Roboto Mono"/>
                <a:sym typeface="Roboto Mono"/>
              </a:rPr>
              <a:t>generate_text</a:t>
            </a:r>
            <a:r>
              <a:rPr lang="en-US" sz="1400" b="0" i="0" u="none" strike="noStrike">
                <a:solidFill>
                  <a:srgbClr val="F8F8F2"/>
                </a:solidFill>
                <a:latin typeface="Roboto Mono"/>
                <a:ea typeface="Roboto Mono"/>
                <a:cs typeface="Roboto Mono"/>
                <a:sym typeface="Roboto Mono"/>
              </a:rPr>
              <a:t>(prompt, model=</a:t>
            </a:r>
            <a:r>
              <a:rPr lang="en-US" sz="1400" b="0" i="0" u="none" strike="noStrike">
                <a:solidFill>
                  <a:srgbClr val="F1FA8C"/>
                </a:solidFill>
                <a:latin typeface="Roboto Mono"/>
                <a:ea typeface="Roboto Mono"/>
                <a:cs typeface="Roboto Mono"/>
                <a:sym typeface="Roboto Mono"/>
              </a:rPr>
              <a:t>"qwen-long"</a:t>
            </a:r>
            <a:r>
              <a:rPr lang="en-US" sz="1400" b="0" i="0" u="none" strike="noStrike">
                <a:solidFill>
                  <a:srgbClr val="F8F8F2"/>
                </a:solidFill>
                <a:latin typeface="Roboto Mono"/>
                <a:ea typeface="Roboto Mono"/>
                <a:cs typeface="Roboto Mono"/>
                <a:sym typeface="Roboto Mono"/>
              </a:rPr>
              <a:t>, top_p=0.8, temperature=0.1, api_key=</a:t>
            </a:r>
            <a:r>
              <a:rPr lang="en-US" sz="1400" b="0" i="0" u="none" strike="noStrike">
                <a:solidFill>
                  <a:srgbClr val="FF79C6"/>
                </a:solidFill>
                <a:latin typeface="Roboto Mono"/>
                <a:ea typeface="Roboto Mono"/>
                <a:cs typeface="Roboto Mono"/>
                <a:sym typeface="Roboto Mono"/>
              </a:rPr>
              <a:t>None</a:t>
            </a:r>
            <a:r>
              <a:rPr lang="en-US" sz="1400" b="0" i="0" u="none" strike="noStrike">
                <a:solidFill>
                  <a:srgbClr val="F8F8F2"/>
                </a:solidFill>
                <a:latin typeface="Roboto Mono"/>
                <a:ea typeface="Roboto Mono"/>
                <a:cs typeface="Roboto Mono"/>
                <a:sym typeface="Roboto Mono"/>
              </a:rPr>
              <a:t>):</a:t>
            </a:r>
            <a:endParaRPr lang="en-US" sz="1400" b="0" i="0" u="none" strike="noStrike">
              <a:solidFill>
                <a:srgbClr val="F8F8F2"/>
              </a:solidFill>
              <a:latin typeface="Roboto Mono"/>
              <a:ea typeface="Roboto Mono"/>
              <a:cs typeface="Roboto Mono"/>
              <a:sym typeface="Roboto Mono"/>
            </a:endParaRPr>
          </a:p>
          <a:p>
            <a:pPr indent="0" algn="l">
              <a:lnSpc>
                <a:spcPct val="108000"/>
              </a:lnSpc>
            </a:pPr>
            <a:r>
              <a:rPr lang="en-US" sz="1400" b="0" i="0" u="none" strike="noStrike">
                <a:solidFill>
                  <a:srgbClr val="F8F8F2"/>
                </a:solidFill>
                <a:latin typeface="Roboto Mono"/>
                <a:ea typeface="Roboto Mono"/>
                <a:cs typeface="Roboto Mono"/>
                <a:sym typeface="Roboto Mono"/>
              </a:rPr>
              <a:t>chat = ChatTongyi(</a:t>
            </a:r>
            <a:endParaRPr lang="en-US" sz="1400" b="0" i="0" u="none" strike="noStrike">
              <a:solidFill>
                <a:srgbClr val="F8F8F2"/>
              </a:solidFill>
              <a:latin typeface="Roboto Mono"/>
              <a:ea typeface="Roboto Mono"/>
              <a:cs typeface="Roboto Mono"/>
              <a:sym typeface="Roboto Mono"/>
            </a:endParaRPr>
          </a:p>
          <a:p>
            <a:pPr indent="0" algn="l">
              <a:lnSpc>
                <a:spcPct val="108000"/>
              </a:lnSpc>
            </a:pPr>
            <a:r>
              <a:rPr lang="en-US" sz="1400" b="0" i="0" u="none" strike="noStrike">
                <a:solidFill>
                  <a:srgbClr val="F8F8F2"/>
                </a:solidFill>
                <a:latin typeface="Roboto Mono"/>
                <a:ea typeface="Roboto Mono"/>
                <a:cs typeface="Roboto Mono"/>
                <a:sym typeface="Roboto Mono"/>
              </a:rPr>
              <a:t>model=model, top_p=top_p, temperature=temperature, dashscope_api_key=api_key</a:t>
            </a:r>
            <a:endParaRPr lang="en-US" sz="1400" b="0" i="0" u="none" strike="noStrike">
              <a:solidFill>
                <a:srgbClr val="F8F8F2"/>
              </a:solidFill>
              <a:latin typeface="Roboto Mono"/>
              <a:ea typeface="Roboto Mono"/>
              <a:cs typeface="Roboto Mono"/>
              <a:sym typeface="Roboto Mono"/>
            </a:endParaRPr>
          </a:p>
          <a:p>
            <a:pPr indent="0" algn="l">
              <a:lnSpc>
                <a:spcPct val="108000"/>
              </a:lnSpc>
            </a:pPr>
            <a:r>
              <a:rPr lang="en-US" sz="1400" b="0" i="0" u="none" strike="noStrike">
                <a:solidFill>
                  <a:srgbClr val="F8F8F2"/>
                </a:solidFill>
                <a:latin typeface="Roboto Mono"/>
                <a:ea typeface="Roboto Mono"/>
                <a:cs typeface="Roboto Mono"/>
                <a:sym typeface="Roboto Mono"/>
              </a:rPr>
              <a:t>)</a:t>
            </a:r>
            <a:endParaRPr lang="en-US" sz="1400" b="0" i="0" u="none" strike="noStrike">
              <a:solidFill>
                <a:srgbClr val="F8F8F2"/>
              </a:solidFill>
              <a:latin typeface="Roboto Mono"/>
              <a:ea typeface="Roboto Mono"/>
              <a:cs typeface="Roboto Mono"/>
              <a:sym typeface="Roboto Mono"/>
            </a:endParaRPr>
          </a:p>
          <a:p>
            <a:pPr indent="0" algn="l">
              <a:lnSpc>
                <a:spcPct val="108000"/>
              </a:lnSpc>
            </a:pPr>
            <a:r>
              <a:rPr lang="en-US" sz="1400" b="0" i="0" u="none" strike="noStrike">
                <a:solidFill>
                  <a:srgbClr val="F8F8F2"/>
                </a:solidFill>
                <a:latin typeface="Roboto Mono"/>
                <a:ea typeface="Roboto Mono"/>
                <a:cs typeface="Roboto Mono"/>
                <a:sym typeface="Roboto Mono"/>
              </a:rPr>
              <a:t>text = chat.invoke(prompt)</a:t>
            </a:r>
            <a:endParaRPr lang="en-US" sz="1400" b="0" i="0" u="none" strike="noStrike">
              <a:solidFill>
                <a:srgbClr val="F8F8F2"/>
              </a:solidFill>
              <a:latin typeface="Roboto Mono"/>
              <a:ea typeface="Roboto Mono"/>
              <a:cs typeface="Roboto Mono"/>
              <a:sym typeface="Roboto Mono"/>
            </a:endParaRPr>
          </a:p>
          <a:p>
            <a:pPr indent="0" algn="l">
              <a:lnSpc>
                <a:spcPct val="108000"/>
              </a:lnSpc>
            </a:pPr>
            <a:r>
              <a:rPr lang="en-US" sz="1400" b="0" i="0" u="none" strike="noStrike">
                <a:solidFill>
                  <a:srgbClr val="FF79C6"/>
                </a:solidFill>
                <a:latin typeface="Roboto Mono"/>
                <a:ea typeface="Roboto Mono"/>
                <a:cs typeface="Roboto Mono"/>
                <a:sym typeface="Roboto Mono"/>
              </a:rPr>
              <a:t>return</a:t>
            </a:r>
            <a:r>
              <a:rPr lang="en-US" sz="1400" b="0" i="0" u="none" strike="noStrike">
                <a:solidFill>
                  <a:srgbClr val="F8F8F2"/>
                </a:solidFill>
                <a:latin typeface="Roboto Mono"/>
                <a:ea typeface="Roboto Mono"/>
                <a:cs typeface="Roboto Mono"/>
                <a:sym typeface="Roboto Mono"/>
              </a:rPr>
              <a:t>text.content</a:t>
            </a:r>
            <a:endParaRPr lang="en-US" sz="1400" b="0" i="0" u="none" strike="noStrike">
              <a:solidFill>
                <a:srgbClr val="F8F8F2"/>
              </a:solidFill>
              <a:latin typeface="Roboto Mono"/>
              <a:ea typeface="Roboto Mono"/>
              <a:cs typeface="Roboto Mono"/>
              <a:sym typeface="Roboto Mono"/>
            </a:endParaRPr>
          </a:p>
        </p:txBody>
      </p:sp>
      <p:sp>
        <p:nvSpPr>
          <p:cNvPr id="5" name="AutoShape 5"/>
          <p:cNvSpPr/>
          <p:nvPr/>
        </p:nvSpPr>
        <p:spPr>
          <a:xfrm>
            <a:off x="6350000" y="1524000"/>
            <a:ext cx="5080000" cy="3556000"/>
          </a:xfrm>
          <a:prstGeom prst="roundRect">
            <a:avLst>
              <a:gd name="adj" fmla="val 3571"/>
            </a:avLst>
          </a:prstGeom>
          <a:solidFill>
            <a:srgbClr val="FFFFFF">
              <a:alpha val="100000"/>
            </a:srgbClr>
          </a:solidFill>
          <a:ln w="25400" cap="flat" cmpd="sng">
            <a:noFill/>
            <a:prstDash val="solid"/>
            <a:round/>
          </a:ln>
          <a:effectLst>
            <a:outerShdw blurRad="127000" dist="63500" dir="5400000" algn="tl" rotWithShape="0">
              <a:srgbClr val="000000">
                <a:alpha val="10000"/>
              </a:srgbClr>
            </a:outerShdw>
          </a:effectLst>
        </p:spPr>
        <p:txBody>
          <a:bodyPr vert="horz" wrap="square" lIns="63500" tIns="63500" rIns="63500" bIns="63500" rtlCol="0" anchor="ctr"/>
          <a:lstStyle/>
          <a:p>
            <a:pPr algn="ctr">
              <a:defRPr/>
            </a:pPr>
          </a:p>
        </p:txBody>
      </p:sp>
      <p:sp>
        <p:nvSpPr>
          <p:cNvPr id="6" name="AutoShape 6"/>
          <p:cNvSpPr/>
          <p:nvPr/>
        </p:nvSpPr>
        <p:spPr>
          <a:xfrm>
            <a:off x="6604000" y="1714500"/>
            <a:ext cx="4572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0288D1"/>
                </a:solidFill>
                <a:latin typeface="Noto Sans SC"/>
                <a:ea typeface="Noto Sans SC"/>
                <a:cs typeface="Noto Sans SC"/>
                <a:sym typeface="Noto Sans SC"/>
              </a:rPr>
              <a:t>代码逻辑解析</a:t>
            </a:r>
            <a:endParaRPr lang="en-US" sz="1100"/>
          </a:p>
        </p:txBody>
      </p:sp>
      <p:sp>
        <p:nvSpPr>
          <p:cNvPr id="7" name="AutoShape 7"/>
          <p:cNvSpPr/>
          <p:nvPr/>
        </p:nvSpPr>
        <p:spPr>
          <a:xfrm>
            <a:off x="6604000" y="2159000"/>
            <a:ext cx="4572000" cy="2667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757575"/>
                </a:solidFill>
                <a:latin typeface="Noto Sans SC"/>
                <a:ea typeface="Noto Sans SC"/>
                <a:cs typeface="Noto Sans SC"/>
                <a:sym typeface="Noto Sans SC"/>
              </a:rPr>
              <a:t>核心功能：</a:t>
            </a:r>
            <a:endParaRPr lang="en-US" sz="1100"/>
          </a:p>
          <a:p>
            <a:pPr indent="0" algn="l">
              <a:lnSpc>
                <a:spcPct val="125000"/>
              </a:lnSpc>
            </a:pPr>
            <a:r>
              <a:rPr lang="en-US" sz="1600" b="0" i="0" u="none" strike="noStrike">
                <a:solidFill>
                  <a:srgbClr val="757575"/>
                </a:solidFill>
                <a:latin typeface="Noto Sans SC"/>
                <a:ea typeface="Noto Sans SC"/>
                <a:cs typeface="Noto Sans SC"/>
                <a:sym typeface="Noto Sans SC"/>
              </a:rPr>
              <a:t>函数</a:t>
            </a:r>
            <a:r>
              <a:rPr lang="en-US" sz="1600" b="0" i="0" u="none" strike="noStrike">
                <a:solidFill>
                  <a:srgbClr val="0288D1"/>
                </a:solidFill>
                <a:latin typeface="Roboto Mono"/>
                <a:ea typeface="Roboto Mono"/>
                <a:cs typeface="Roboto Mono"/>
                <a:sym typeface="Roboto Mono"/>
              </a:rPr>
              <a:t>generate_text</a:t>
            </a:r>
            <a:r>
              <a:rPr lang="en-US" sz="1600" b="0" i="0" u="none" strike="noStrike">
                <a:solidFill>
                  <a:srgbClr val="757575"/>
                </a:solidFill>
                <a:latin typeface="Noto Sans SC"/>
                <a:ea typeface="Noto Sans SC"/>
                <a:cs typeface="Noto Sans SC"/>
                <a:sym typeface="Noto Sans SC"/>
              </a:rPr>
              <a:t>封装了调用通义千问大模型的过程。</a:t>
            </a:r>
            <a:endParaRPr lang="en-US" sz="1600" b="0" i="0" u="none" strike="noStrike">
              <a:solidFill>
                <a:srgbClr val="757575"/>
              </a:solidFill>
              <a:latin typeface="Noto Sans SC"/>
              <a:ea typeface="Noto Sans SC"/>
              <a:cs typeface="Noto Sans SC"/>
              <a:sym typeface="Noto Sans SC"/>
            </a:endParaRPr>
          </a:p>
          <a:p>
            <a:pPr indent="0" algn="l">
              <a:lnSpc>
                <a:spcPct val="125000"/>
              </a:lnSpc>
            </a:pPr>
            <a:r>
              <a:rPr lang="en-US" sz="1600" b="1" i="0" u="none" strike="noStrike">
                <a:solidFill>
                  <a:srgbClr val="757575"/>
                </a:solidFill>
                <a:latin typeface="Noto Sans SC"/>
                <a:ea typeface="Noto Sans SC"/>
                <a:cs typeface="Noto Sans SC"/>
                <a:sym typeface="Noto Sans SC"/>
              </a:rPr>
              <a:t>关键参数：</a:t>
            </a:r>
            <a:endParaRPr lang="en-US" sz="1600" b="1" i="0" u="none" strike="noStrike">
              <a:solidFill>
                <a:srgbClr val="757575"/>
              </a:solidFill>
              <a:latin typeface="Noto Sans SC"/>
              <a:ea typeface="Noto Sans SC"/>
              <a:cs typeface="Noto Sans SC"/>
              <a:sym typeface="Noto Sans SC"/>
            </a:endParaRPr>
          </a:p>
          <a:p>
            <a:pPr marL="203200" indent="-203200" algn="l">
              <a:lnSpc>
                <a:spcPct val="108000"/>
              </a:lnSpc>
              <a:buClr>
                <a:srgbClr val="0288D1"/>
              </a:buClr>
              <a:buChar char="•"/>
            </a:pPr>
            <a:r>
              <a:rPr lang="en-US" sz="1600" b="0" i="0" u="none" strike="noStrike">
                <a:solidFill>
                  <a:srgbClr val="0288D1"/>
                </a:solidFill>
                <a:latin typeface="Roboto Mono"/>
                <a:ea typeface="Roboto Mono"/>
                <a:cs typeface="Roboto Mono"/>
                <a:sym typeface="Roboto Mono"/>
              </a:rPr>
              <a:t>model="qwen-long"</a:t>
            </a:r>
            <a:r>
              <a:rPr lang="en-US" sz="1600" b="0" i="0" u="none" strike="noStrike">
                <a:solidFill>
                  <a:srgbClr val="757575"/>
                </a:solidFill>
                <a:latin typeface="Noto Sans SC"/>
                <a:ea typeface="Noto Sans SC"/>
                <a:cs typeface="Noto Sans SC"/>
                <a:sym typeface="Noto Sans SC"/>
              </a:rPr>
              <a:t>：指定使用长上下文模型</a:t>
            </a:r>
            <a:endParaRPr lang="en-US" sz="1600" b="0" i="0" u="none" strike="noStrike">
              <a:solidFill>
                <a:srgbClr val="757575"/>
              </a:solidFill>
              <a:latin typeface="Noto Sans SC"/>
              <a:ea typeface="Noto Sans SC"/>
              <a:cs typeface="Noto Sans SC"/>
              <a:sym typeface="Noto Sans SC"/>
            </a:endParaRPr>
          </a:p>
          <a:p>
            <a:pPr marL="203200" indent="-203200" algn="l">
              <a:lnSpc>
                <a:spcPct val="108000"/>
              </a:lnSpc>
              <a:buClr>
                <a:srgbClr val="0288D1"/>
              </a:buClr>
              <a:buChar char="•"/>
            </a:pPr>
            <a:r>
              <a:rPr lang="en-US" sz="1600" b="0" i="0" u="none" strike="noStrike">
                <a:solidFill>
                  <a:srgbClr val="0288D1"/>
                </a:solidFill>
                <a:latin typeface="Roboto Mono"/>
                <a:ea typeface="Roboto Mono"/>
                <a:cs typeface="Roboto Mono"/>
                <a:sym typeface="Roboto Mono"/>
              </a:rPr>
              <a:t>top_p=0.8</a:t>
            </a:r>
            <a:r>
              <a:rPr lang="en-US" sz="1600" b="0" i="0" u="none" strike="noStrike">
                <a:solidFill>
                  <a:srgbClr val="757575"/>
                </a:solidFill>
                <a:latin typeface="Noto Sans SC"/>
                <a:ea typeface="Noto Sans SC"/>
                <a:cs typeface="Noto Sans SC"/>
                <a:sym typeface="Noto Sans SC"/>
              </a:rPr>
              <a:t>：控制生成的多样性</a:t>
            </a:r>
            <a:endParaRPr lang="en-US" sz="1600" b="0" i="0" u="none" strike="noStrike">
              <a:solidFill>
                <a:srgbClr val="757575"/>
              </a:solidFill>
              <a:latin typeface="Noto Sans SC"/>
              <a:ea typeface="Noto Sans SC"/>
              <a:cs typeface="Noto Sans SC"/>
              <a:sym typeface="Noto Sans SC"/>
            </a:endParaRPr>
          </a:p>
          <a:p>
            <a:pPr marL="203200" indent="-203200" algn="l">
              <a:lnSpc>
                <a:spcPct val="108000"/>
              </a:lnSpc>
              <a:buClr>
                <a:srgbClr val="0288D1"/>
              </a:buClr>
              <a:buChar char="•"/>
            </a:pPr>
            <a:r>
              <a:rPr lang="en-US" sz="1600" b="0" i="0" u="none" strike="noStrike">
                <a:solidFill>
                  <a:srgbClr val="0288D1"/>
                </a:solidFill>
                <a:latin typeface="Roboto Mono"/>
                <a:ea typeface="Roboto Mono"/>
                <a:cs typeface="Roboto Mono"/>
                <a:sym typeface="Roboto Mono"/>
              </a:rPr>
              <a:t>temperature=0.1</a:t>
            </a:r>
            <a:r>
              <a:rPr lang="en-US" sz="1600" b="0" i="0" u="none" strike="noStrike">
                <a:solidFill>
                  <a:srgbClr val="757575"/>
                </a:solidFill>
                <a:latin typeface="Noto Sans SC"/>
                <a:ea typeface="Noto Sans SC"/>
                <a:cs typeface="Noto Sans SC"/>
                <a:sym typeface="Noto Sans SC"/>
              </a:rPr>
              <a:t>：降低随机性，确保回答稳定</a:t>
            </a:r>
            <a:endParaRPr lang="en-US" sz="1600" b="0" i="0" u="none" strike="noStrike">
              <a:solidFill>
                <a:srgbClr val="757575"/>
              </a:solidFill>
              <a:latin typeface="Noto Sans SC"/>
              <a:ea typeface="Noto Sans SC"/>
              <a:cs typeface="Noto Sans SC"/>
              <a:sym typeface="Noto Sans SC"/>
            </a:endParaRPr>
          </a:p>
          <a:p>
            <a:pPr indent="0" algn="l">
              <a:lnSpc>
                <a:spcPct val="125000"/>
              </a:lnSpc>
            </a:pPr>
            <a:r>
              <a:rPr lang="en-US" sz="1600" b="1" i="0" u="none" strike="noStrike">
                <a:solidFill>
                  <a:srgbClr val="757575"/>
                </a:solidFill>
                <a:latin typeface="Noto Sans SC"/>
                <a:ea typeface="Noto Sans SC"/>
                <a:cs typeface="Noto Sans SC"/>
                <a:sym typeface="Noto Sans SC"/>
              </a:rPr>
              <a:t>执行流程：</a:t>
            </a:r>
            <a:endParaRPr lang="en-US" sz="1600" b="1" i="0" u="none" strike="noStrike">
              <a:solidFill>
                <a:srgbClr val="757575"/>
              </a:solidFill>
              <a:latin typeface="Noto Sans SC"/>
              <a:ea typeface="Noto Sans SC"/>
              <a:cs typeface="Noto Sans SC"/>
              <a:sym typeface="Noto Sans SC"/>
            </a:endParaRPr>
          </a:p>
          <a:p>
            <a:pPr indent="0" algn="l">
              <a:lnSpc>
                <a:spcPct val="125000"/>
              </a:lnSpc>
            </a:pPr>
            <a:r>
              <a:rPr lang="en-US" sz="1600" b="0" i="0" u="none" strike="noStrike">
                <a:solidFill>
                  <a:srgbClr val="757575"/>
                </a:solidFill>
                <a:latin typeface="Noto Sans SC"/>
                <a:ea typeface="Noto Sans SC"/>
                <a:cs typeface="Noto Sans SC"/>
                <a:sym typeface="Noto Sans SC"/>
              </a:rPr>
              <a:t>接收提示词输入 -&gt; 调用模型 -&gt; 返回生成内容。</a:t>
            </a:r>
            <a:endParaRPr lang="en-US" sz="1600" b="0" i="0" u="none" strike="noStrike">
              <a:solidFill>
                <a:srgbClr val="757575"/>
              </a:solidFill>
              <a:latin typeface="Noto Sans SC"/>
              <a:ea typeface="Noto Sans SC"/>
              <a:cs typeface="Noto Sans SC"/>
              <a:sym typeface="Noto Sans SC"/>
            </a:endParaRPr>
          </a:p>
        </p:txBody>
      </p:sp>
      <p:sp>
        <p:nvSpPr>
          <p:cNvPr id="8" name="AutoShape 8"/>
          <p:cNvSpPr/>
          <p:nvPr/>
        </p:nvSpPr>
        <p:spPr>
          <a:xfrm>
            <a:off x="0" y="6604000"/>
            <a:ext cx="12192000" cy="254000"/>
          </a:xfrm>
          <a:prstGeom prst="roundRect">
            <a:avLst>
              <a:gd name="adj" fmla="val 0"/>
            </a:avLst>
          </a:prstGeom>
          <a:solidFill>
            <a:srgbClr val="0288D1">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9" name="Picture 9"/>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0922000" y="698500"/>
            <a:ext cx="406400" cy="406400"/>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E0F7FA">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508000"/>
            <a:ext cx="8940800" cy="508000"/>
          </a:xfrm>
          <a:prstGeom prst="rect">
            <a:avLst/>
          </a:prstGeom>
          <a:noFill/>
          <a:ln w="12700" cap="flat" cmpd="sng">
            <a:noFill/>
            <a:prstDash val="solid"/>
            <a:round/>
          </a:ln>
        </p:spPr>
        <p:txBody>
          <a:bodyPr vert="horz" wrap="none" lIns="0" tIns="0" rIns="0" bIns="0" rtlCol="0" anchor="ctr" anchorCtr="0"/>
          <a:lstStyle/>
          <a:p>
            <a:pPr indent="0" algn="l">
              <a:lnSpc>
                <a:spcPct val="125000"/>
              </a:lnSpc>
              <a:defRPr/>
            </a:pPr>
            <a:r>
              <a:rPr lang="en-US" sz="3200" b="1" i="0" u="none" strike="noStrike">
                <a:solidFill>
                  <a:srgbClr val="0288D1"/>
                </a:solidFill>
                <a:latin typeface="Noto Sans SC"/>
                <a:ea typeface="Noto Sans SC"/>
                <a:cs typeface="Noto Sans SC"/>
                <a:sym typeface="Noto Sans SC"/>
              </a:rPr>
              <a:t>在线实时查询：主函数调用与运行示例</a:t>
            </a:r>
            <a:endParaRPr lang="en-US" sz="1100"/>
          </a:p>
        </p:txBody>
      </p:sp>
      <p:sp>
        <p:nvSpPr>
          <p:cNvPr id="3" name="AutoShape 3"/>
          <p:cNvSpPr/>
          <p:nvPr/>
        </p:nvSpPr>
        <p:spPr>
          <a:xfrm>
            <a:off x="762000" y="1270000"/>
            <a:ext cx="10668000" cy="2286000"/>
          </a:xfrm>
          <a:prstGeom prst="roundRect">
            <a:avLst>
              <a:gd name="adj" fmla="val 5555"/>
            </a:avLst>
          </a:prstGeom>
          <a:solidFill>
            <a:srgbClr val="FFFFFF">
              <a:alpha val="100000"/>
            </a:srgbClr>
          </a:solidFill>
          <a:ln w="25400" cap="flat" cmpd="sng">
            <a:noFill/>
            <a:prstDash val="solid"/>
            <a:round/>
          </a:ln>
          <a:effectLst>
            <a:outerShdw blurRad="127000" dist="50800" dir="5400000" algn="tl" rotWithShape="0">
              <a:srgbClr val="0288D1">
                <a:alpha val="15000"/>
              </a:srgbClr>
            </a:outerShdw>
          </a:effectLst>
        </p:spPr>
        <p:txBody>
          <a:bodyPr vert="horz" wrap="square" lIns="63500" tIns="63500" rIns="63500" bIns="63500" rtlCol="0" anchor="ctr"/>
          <a:lstStyle/>
          <a:p>
            <a:pPr algn="ctr">
              <a:defRPr/>
            </a:pPr>
          </a:p>
        </p:txBody>
      </p:sp>
      <p:sp>
        <p:nvSpPr>
          <p:cNvPr id="4" name="AutoShape 4"/>
          <p:cNvSpPr/>
          <p:nvPr/>
        </p:nvSpPr>
        <p:spPr>
          <a:xfrm>
            <a:off x="1016000" y="1397000"/>
            <a:ext cx="2540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0288D1"/>
                </a:solidFill>
                <a:latin typeface="Noto Sans SC"/>
                <a:ea typeface="Noto Sans SC"/>
                <a:cs typeface="Noto Sans SC"/>
                <a:sym typeface="Noto Sans SC"/>
              </a:rPr>
              <a:t>核心代码逻辑</a:t>
            </a:r>
            <a:endParaRPr lang="en-US" sz="1100"/>
          </a:p>
        </p:txBody>
      </p:sp>
      <p:sp>
        <p:nvSpPr>
          <p:cNvPr id="5" name="AutoShape 5"/>
          <p:cNvSpPr/>
          <p:nvPr/>
        </p:nvSpPr>
        <p:spPr>
          <a:xfrm>
            <a:off x="1016000" y="1778000"/>
            <a:ext cx="10160000" cy="16510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400" b="0" i="0" u="none" strike="noStrike">
                <a:solidFill>
                  <a:srgbClr val="757575"/>
                </a:solidFill>
                <a:latin typeface="Roboto"/>
                <a:ea typeface="Roboto"/>
                <a:cs typeface="Roboto"/>
                <a:sym typeface="Roboto"/>
              </a:rPr>
              <a:t>if __name__ == "__main__":</a:t>
            </a:r>
            <a:endParaRPr lang="en-US" sz="1100"/>
          </a:p>
          <a:p>
            <a:pPr indent="0" algn="l">
              <a:lnSpc>
                <a:spcPct val="100000"/>
              </a:lnSpc>
            </a:pPr>
            <a:r>
              <a:rPr lang="en-US" sz="1400" b="0" i="0" u="none" strike="noStrike">
                <a:solidFill>
                  <a:srgbClr val="757575"/>
                </a:solidFill>
                <a:latin typeface="Roboto"/>
                <a:ea typeface="Roboto"/>
                <a:cs typeface="Roboto"/>
                <a:sym typeface="Roboto"/>
              </a:rPr>
              <a:t>    dash_scope_api_key = "sk-3axxx" # 替换为你的API Key</a:t>
            </a:r>
            <a:endParaRPr lang="en-US" sz="1400" b="0" i="0" u="none" strike="noStrike">
              <a:solidFill>
                <a:srgbClr val="757575"/>
              </a:solidFill>
              <a:latin typeface="Roboto"/>
              <a:ea typeface="Roboto"/>
              <a:cs typeface="Roboto"/>
              <a:sym typeface="Roboto"/>
            </a:endParaRPr>
          </a:p>
          <a:p>
            <a:pPr indent="0" algn="l">
              <a:lnSpc>
                <a:spcPct val="100000"/>
              </a:lnSpc>
            </a:pPr>
            <a:r>
              <a:rPr lang="en-US" sz="1400" b="0" i="0" u="none" strike="noStrike">
                <a:solidFill>
                  <a:srgbClr val="757575"/>
                </a:solidFill>
                <a:latin typeface="Roboto"/>
                <a:ea typeface="Roboto"/>
                <a:cs typeface="Roboto"/>
                <a:sym typeface="Roboto"/>
              </a:rPr>
              <a:t>    embeddings = get_embedding_model(dash_scope_api_key)</a:t>
            </a:r>
            <a:endParaRPr lang="en-US" sz="1400" b="0" i="0" u="none" strike="noStrike">
              <a:solidFill>
                <a:srgbClr val="757575"/>
              </a:solidFill>
              <a:latin typeface="Roboto"/>
              <a:ea typeface="Roboto"/>
              <a:cs typeface="Roboto"/>
              <a:sym typeface="Roboto"/>
            </a:endParaRPr>
          </a:p>
          <a:p>
            <a:pPr indent="0" algn="l">
              <a:lnSpc>
                <a:spcPct val="100000"/>
              </a:lnSpc>
            </a:pPr>
            <a:r>
              <a:rPr lang="en-US" sz="1400" b="0" i="0" u="none" strike="noStrike">
                <a:solidFill>
                  <a:srgbClr val="757575"/>
                </a:solidFill>
                <a:latin typeface="Roboto"/>
                <a:ea typeface="Roboto"/>
                <a:cs typeface="Roboto"/>
                <a:sym typeface="Roboto"/>
              </a:rPr>
              <a:t>    vec_db = FAISS.load_local("vec.db", embeddings=embeddings)</a:t>
            </a:r>
            <a:endParaRPr lang="en-US" sz="1400" b="0" i="0" u="none" strike="noStrike">
              <a:solidFill>
                <a:srgbClr val="757575"/>
              </a:solidFill>
              <a:latin typeface="Roboto"/>
              <a:ea typeface="Roboto"/>
              <a:cs typeface="Roboto"/>
              <a:sym typeface="Roboto"/>
            </a:endParaRPr>
          </a:p>
          <a:p>
            <a:pPr indent="0" algn="l">
              <a:lnSpc>
                <a:spcPct val="100000"/>
              </a:lnSpc>
            </a:pPr>
            <a:r>
              <a:rPr lang="en-US" sz="1400" b="0" i="0" u="none" strike="noStrike">
                <a:solidFill>
                  <a:srgbClr val="757575"/>
                </a:solidFill>
                <a:latin typeface="Roboto"/>
                <a:ea typeface="Roboto"/>
                <a:cs typeface="Roboto"/>
                <a:sym typeface="Roboto"/>
              </a:rPr>
              <a:t>    while True:</a:t>
            </a:r>
            <a:endParaRPr lang="en-US" sz="1400" b="0" i="0" u="none" strike="noStrike">
              <a:solidFill>
                <a:srgbClr val="757575"/>
              </a:solidFill>
              <a:latin typeface="Roboto"/>
              <a:ea typeface="Roboto"/>
              <a:cs typeface="Roboto"/>
              <a:sym typeface="Roboto"/>
            </a:endParaRPr>
          </a:p>
          <a:p>
            <a:pPr indent="0" algn="l">
              <a:lnSpc>
                <a:spcPct val="100000"/>
              </a:lnSpc>
            </a:pPr>
            <a:r>
              <a:rPr lang="en-US" sz="1400" b="0" i="0" u="none" strike="noStrike">
                <a:solidFill>
                  <a:srgbClr val="757575"/>
                </a:solidFill>
                <a:latin typeface="Roboto"/>
                <a:ea typeface="Roboto"/>
                <a:cs typeface="Roboto"/>
                <a:sym typeface="Roboto"/>
              </a:rPr>
              <a:t>        question = input("请输入问题: ")</a:t>
            </a:r>
            <a:endParaRPr lang="en-US" sz="1400" b="0" i="0" u="none" strike="noStrike">
              <a:solidFill>
                <a:srgbClr val="757575"/>
              </a:solidFill>
              <a:latin typeface="Roboto"/>
              <a:ea typeface="Roboto"/>
              <a:cs typeface="Roboto"/>
              <a:sym typeface="Roboto"/>
            </a:endParaRPr>
          </a:p>
          <a:p>
            <a:pPr indent="0" algn="l">
              <a:lnSpc>
                <a:spcPct val="100000"/>
              </a:lnSpc>
            </a:pPr>
            <a:r>
              <a:rPr lang="en-US" sz="1400" b="0" i="0" u="none" strike="noStrike">
                <a:solidFill>
                  <a:srgbClr val="757575"/>
                </a:solidFill>
                <a:latin typeface="Roboto"/>
                <a:ea typeface="Roboto"/>
                <a:cs typeface="Roboto"/>
                <a:sym typeface="Roboto"/>
              </a:rPr>
              <a:t>        context = "\n".join([c[0].page_content for c in vec_db.similarity_search_with_score(question, k=5)])</a:t>
            </a:r>
            <a:endParaRPr lang="en-US" sz="1400" b="0" i="0" u="none" strike="noStrike">
              <a:solidFill>
                <a:srgbClr val="757575"/>
              </a:solidFill>
              <a:latin typeface="Roboto"/>
              <a:ea typeface="Roboto"/>
              <a:cs typeface="Roboto"/>
              <a:sym typeface="Roboto"/>
            </a:endParaRPr>
          </a:p>
          <a:p>
            <a:pPr indent="0" algn="l">
              <a:lnSpc>
                <a:spcPct val="100000"/>
              </a:lnSpc>
            </a:pPr>
            <a:r>
              <a:rPr lang="en-US" sz="1400" b="0" i="0" u="none" strike="noStrike">
                <a:solidFill>
                  <a:srgbClr val="757575"/>
                </a:solidFill>
                <a:latin typeface="Roboto"/>
                <a:ea typeface="Roboto"/>
                <a:cs typeface="Roboto"/>
                <a:sym typeface="Roboto"/>
              </a:rPr>
              <a:t>        answer = generate_text(prompt.format(question=question, context=context))</a:t>
            </a:r>
            <a:endParaRPr lang="en-US" sz="1400" b="0" i="0" u="none" strike="noStrike">
              <a:solidFill>
                <a:srgbClr val="757575"/>
              </a:solidFill>
              <a:latin typeface="Roboto"/>
              <a:ea typeface="Roboto"/>
              <a:cs typeface="Roboto"/>
              <a:sym typeface="Roboto"/>
            </a:endParaRPr>
          </a:p>
        </p:txBody>
      </p:sp>
      <p:sp>
        <p:nvSpPr>
          <p:cNvPr id="6" name="AutoShape 6"/>
          <p:cNvSpPr/>
          <p:nvPr/>
        </p:nvSpPr>
        <p:spPr>
          <a:xfrm>
            <a:off x="762000" y="3810000"/>
            <a:ext cx="2540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0288D1"/>
                </a:solidFill>
                <a:latin typeface="Noto Sans SC"/>
                <a:ea typeface="Noto Sans SC"/>
                <a:cs typeface="Noto Sans SC"/>
                <a:sym typeface="Noto Sans SC"/>
              </a:rPr>
              <a:t>运行示例演示</a:t>
            </a:r>
            <a:endParaRPr lang="en-US" sz="1100"/>
          </a:p>
        </p:txBody>
      </p:sp>
      <p:sp>
        <p:nvSpPr>
          <p:cNvPr id="7" name="AutoShape 7"/>
          <p:cNvSpPr/>
          <p:nvPr/>
        </p:nvSpPr>
        <p:spPr>
          <a:xfrm>
            <a:off x="762000" y="4254500"/>
            <a:ext cx="10668000" cy="889000"/>
          </a:xfrm>
          <a:prstGeom prst="roundRect">
            <a:avLst>
              <a:gd name="adj" fmla="val 14285"/>
            </a:avLst>
          </a:prstGeom>
          <a:solidFill>
            <a:srgbClr val="0288D1">
              <a:alpha val="10000"/>
            </a:srgbClr>
          </a:solidFill>
          <a:ln w="12700" cap="flat" cmpd="sng">
            <a:solidFill>
              <a:srgbClr val="0288D1">
                <a:alpha val="100000"/>
              </a:srgbClr>
            </a:solidFill>
            <a:prstDash val="solid"/>
            <a:round/>
          </a:ln>
        </p:spPr>
        <p:txBody>
          <a:bodyPr vert="horz" wrap="square" lIns="63500" tIns="63500" rIns="63500" bIns="63500" rtlCol="0" anchor="ctr"/>
          <a:lstStyle/>
          <a:p>
            <a:pPr algn="ctr">
              <a:defRPr/>
            </a:pPr>
          </a:p>
        </p:txBody>
      </p:sp>
      <p:pic>
        <p:nvPicPr>
          <p:cNvPr id="8" name="Picture 8"/>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952500" y="4445000"/>
            <a:ext cx="406400" cy="406400"/>
          </a:xfrm>
          <a:prstGeom prst="rect">
            <a:avLst/>
          </a:prstGeom>
        </p:spPr>
      </p:pic>
      <p:sp>
        <p:nvSpPr>
          <p:cNvPr id="9" name="AutoShape 9"/>
          <p:cNvSpPr/>
          <p:nvPr/>
        </p:nvSpPr>
        <p:spPr>
          <a:xfrm>
            <a:off x="1524000" y="4381500"/>
            <a:ext cx="9652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0288D1"/>
                </a:solidFill>
                <a:latin typeface="Noto Sans SC"/>
                <a:ea typeface="Noto Sans SC"/>
                <a:cs typeface="Noto Sans SC"/>
                <a:sym typeface="Noto Sans SC"/>
              </a:rPr>
              <a:t>用户提问：</a:t>
            </a:r>
            <a:r>
              <a:rPr lang="en-US" sz="1600" b="0" i="0" u="none" strike="noStrike">
                <a:solidFill>
                  <a:srgbClr val="424242"/>
                </a:solidFill>
                <a:latin typeface="Noto Sans SC"/>
                <a:ea typeface="Noto Sans SC"/>
                <a:cs typeface="Noto Sans SC"/>
                <a:sym typeface="Noto Sans SC"/>
              </a:rPr>
              <a:t>大模型训练的数据类型有哪些？</a:t>
            </a:r>
            <a:endParaRPr lang="en-US" sz="1100"/>
          </a:p>
        </p:txBody>
      </p:sp>
      <p:sp>
        <p:nvSpPr>
          <p:cNvPr id="10" name="AutoShape 10"/>
          <p:cNvSpPr/>
          <p:nvPr/>
        </p:nvSpPr>
        <p:spPr>
          <a:xfrm>
            <a:off x="762000" y="5270500"/>
            <a:ext cx="10668000" cy="1143000"/>
          </a:xfrm>
          <a:prstGeom prst="roundRect">
            <a:avLst>
              <a:gd name="adj" fmla="val 11111"/>
            </a:avLst>
          </a:prstGeom>
          <a:solidFill>
            <a:srgbClr val="FFFFFF">
              <a:alpha val="100000"/>
            </a:srgbClr>
          </a:solidFill>
          <a:ln w="25400" cap="flat" cmpd="sng">
            <a:noFill/>
            <a:prstDash val="solid"/>
            <a:round/>
          </a:ln>
          <a:effectLst>
            <a:outerShdw blurRad="63500" dist="25400" dir="5400000" algn="tl" rotWithShape="0">
              <a:srgbClr val="000000">
                <a:alpha val="5000"/>
              </a:srgbClr>
            </a:outerShdw>
          </a:effectLst>
        </p:spPr>
        <p:txBody>
          <a:bodyPr vert="horz" wrap="square" lIns="63500" tIns="63500" rIns="63500" bIns="63500" rtlCol="0" anchor="ctr"/>
          <a:lstStyle/>
          <a:p>
            <a:pPr algn="ctr">
              <a:defRPr/>
            </a:pPr>
          </a:p>
        </p:txBody>
      </p:sp>
      <p:pic>
        <p:nvPicPr>
          <p:cNvPr id="11" name="Picture 11"/>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952500" y="5588000"/>
            <a:ext cx="406400" cy="406400"/>
          </a:xfrm>
          <a:prstGeom prst="rect">
            <a:avLst/>
          </a:prstGeom>
        </p:spPr>
      </p:pic>
      <p:sp>
        <p:nvSpPr>
          <p:cNvPr id="12" name="AutoShape 12"/>
          <p:cNvSpPr/>
          <p:nvPr/>
        </p:nvSpPr>
        <p:spPr>
          <a:xfrm>
            <a:off x="1524000" y="5397500"/>
            <a:ext cx="9652000" cy="889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757575"/>
                </a:solidFill>
                <a:latin typeface="Noto Sans SC"/>
                <a:ea typeface="Noto Sans SC"/>
                <a:cs typeface="Noto Sans SC"/>
                <a:sym typeface="Noto Sans SC"/>
              </a:rPr>
              <a:t>模型输出：</a:t>
            </a:r>
            <a:r>
              <a:rPr lang="en-US" sz="1600" b="0" i="0" u="none" strike="noStrike">
                <a:solidFill>
                  <a:srgbClr val="424242"/>
                </a:solidFill>
                <a:latin typeface="Noto Sans SC"/>
                <a:ea typeface="Noto Sans SC"/>
                <a:cs typeface="Noto Sans SC"/>
                <a:sym typeface="Noto Sans SC"/>
              </a:rPr>
              <a:t>大模型训练的数据类型主要包括：预训练数据（大量文本数据）、监督微调数据（标注数据集）、强化学习数据（基于人类反馈的数据）。高质量的训练数据至关重要，公开数据如专利、财报等也是重要来源。</a:t>
            </a:r>
            <a:endParaRPr lang="en-US" sz="110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E0F7FA">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635000" y="2159000"/>
            <a:ext cx="10922000" cy="2540000"/>
          </a:xfrm>
          <a:prstGeom prst="roundRect">
            <a:avLst>
              <a:gd name="adj" fmla="val 5000"/>
            </a:avLst>
          </a:prstGeom>
          <a:solidFill>
            <a:srgbClr val="FFFFFF">
              <a:alpha val="100000"/>
            </a:srgbClr>
          </a:solidFill>
          <a:ln w="25400" cap="flat" cmpd="sng">
            <a:noFill/>
            <a:prstDash val="solid"/>
            <a:round/>
          </a:ln>
          <a:effectLst>
            <a:outerShdw blurRad="254000" dist="127000" dir="5400000" algn="tl" rotWithShape="0">
              <a:srgbClr val="0288D1">
                <a:alpha val="15000"/>
              </a:srgbClr>
            </a:outerShdw>
          </a:effectLst>
        </p:spPr>
        <p:txBody>
          <a:bodyPr vert="horz" wrap="square" lIns="63500" tIns="63500" rIns="63500" bIns="63500" rtlCol="0" anchor="ctr"/>
          <a:lstStyle/>
          <a:p>
            <a:pPr algn="ctr">
              <a:defRPr/>
            </a:pPr>
          </a:p>
        </p:txBody>
      </p:sp>
      <p:pic>
        <p:nvPicPr>
          <p:cNvPr id="3" name="Picture 3"/>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5791200" y="2413000"/>
            <a:ext cx="609600" cy="609600"/>
          </a:xfrm>
          <a:prstGeom prst="rect">
            <a:avLst/>
          </a:prstGeom>
        </p:spPr>
      </p:pic>
      <p:sp>
        <p:nvSpPr>
          <p:cNvPr id="4" name="AutoShape 4"/>
          <p:cNvSpPr/>
          <p:nvPr/>
        </p:nvSpPr>
        <p:spPr>
          <a:xfrm>
            <a:off x="63500" y="3111500"/>
            <a:ext cx="12065000" cy="762000"/>
          </a:xfrm>
          <a:prstGeom prst="rect">
            <a:avLst/>
          </a:prstGeom>
          <a:noFill/>
          <a:ln w="12700" cap="flat" cmpd="sng">
            <a:noFill/>
            <a:prstDash val="solid"/>
            <a:round/>
          </a:ln>
        </p:spPr>
        <p:txBody>
          <a:bodyPr vert="horz" wrap="none" lIns="0" tIns="0" rIns="0" bIns="0" rtlCol="0" anchor="ctr" anchorCtr="0"/>
          <a:lstStyle/>
          <a:p>
            <a:pPr indent="0" algn="ctr">
              <a:lnSpc>
                <a:spcPct val="125000"/>
              </a:lnSpc>
              <a:defRPr/>
            </a:pPr>
            <a:r>
              <a:rPr lang="en-US" sz="3200" b="1" i="0" u="none" strike="noStrike">
                <a:solidFill>
                  <a:srgbClr val="0288D1"/>
                </a:solidFill>
                <a:latin typeface="Noto Sans SC"/>
                <a:ea typeface="Noto Sans SC"/>
                <a:cs typeface="Noto Sans SC"/>
                <a:sym typeface="Noto Sans SC"/>
              </a:rPr>
              <a:t>3.2 多头检索增强生成（Multi-Head RAG）</a:t>
            </a:r>
            <a:endParaRPr lang="en-US" sz="1100"/>
          </a:p>
        </p:txBody>
      </p:sp>
      <p:sp>
        <p:nvSpPr>
          <p:cNvPr id="5" name="AutoShape 5"/>
          <p:cNvSpPr/>
          <p:nvPr/>
        </p:nvSpPr>
        <p:spPr>
          <a:xfrm>
            <a:off x="1016000" y="3873500"/>
            <a:ext cx="10160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600" b="0" i="0" u="none" strike="noStrike">
                <a:solidFill>
                  <a:srgbClr val="757575"/>
                </a:solidFill>
                <a:latin typeface="Noto Sans SC"/>
                <a:ea typeface="Noto Sans SC"/>
                <a:cs typeface="Noto Sans SC"/>
                <a:sym typeface="Noto Sans SC"/>
              </a:rPr>
              <a:t>针对复杂查询优化的高级RAG架构</a:t>
            </a:r>
            <a:endParaRPr lang="en-US" sz="1100"/>
          </a:p>
        </p:txBody>
      </p:sp>
      <p:sp>
        <p:nvSpPr>
          <p:cNvPr id="6" name="AutoShape 6"/>
          <p:cNvSpPr/>
          <p:nvPr/>
        </p:nvSpPr>
        <p:spPr>
          <a:xfrm>
            <a:off x="5715000" y="4381500"/>
            <a:ext cx="762000" cy="50800"/>
          </a:xfrm>
          <a:prstGeom prst="roundRect">
            <a:avLst>
              <a:gd name="adj" fmla="val 0"/>
            </a:avLst>
          </a:prstGeom>
          <a:solidFill>
            <a:srgbClr val="0288D1">
              <a:alpha val="100000"/>
            </a:srgbClr>
          </a:solidFill>
          <a:ln w="25400" cap="flat" cmpd="sng">
            <a:noFill/>
            <a:prstDash val="solid"/>
            <a:round/>
          </a:ln>
        </p:spPr>
        <p:txBody>
          <a:bodyPr vert="horz" wrap="square" lIns="63500" tIns="63500" rIns="63500" bIns="63500" rtlCol="0" anchor="ctr"/>
          <a:lstStyle/>
          <a:p>
            <a:pPr algn="ctr">
              <a:defRPr/>
            </a:p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E0F7FA">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635000"/>
            <a:ext cx="8051800" cy="508000"/>
          </a:xfrm>
          <a:prstGeom prst="rect">
            <a:avLst/>
          </a:prstGeom>
          <a:noFill/>
          <a:ln w="12700" cap="flat" cmpd="sng">
            <a:noFill/>
            <a:prstDash val="solid"/>
            <a:round/>
          </a:ln>
        </p:spPr>
        <p:txBody>
          <a:bodyPr vert="horz" wrap="none" lIns="0" tIns="0" rIns="0" bIns="0" rtlCol="0" anchor="ctr" anchorCtr="0"/>
          <a:lstStyle/>
          <a:p>
            <a:pPr indent="0" algn="l">
              <a:lnSpc>
                <a:spcPct val="125000"/>
              </a:lnSpc>
              <a:defRPr/>
            </a:pPr>
            <a:r>
              <a:rPr lang="en-US" sz="3200" b="1" i="0" u="none" strike="noStrike">
                <a:solidFill>
                  <a:srgbClr val="0288D1"/>
                </a:solidFill>
                <a:latin typeface="Noto Sans SC"/>
                <a:ea typeface="Noto Sans SC"/>
                <a:cs typeface="Noto Sans SC"/>
                <a:sym typeface="Noto Sans SC"/>
              </a:rPr>
              <a:t>3.2.1 多头RAG概述 - 问题提出</a:t>
            </a:r>
            <a:endParaRPr lang="en-US" sz="1100"/>
          </a:p>
        </p:txBody>
      </p:sp>
      <p:sp>
        <p:nvSpPr>
          <p:cNvPr id="3" name="AutoShape 3"/>
          <p:cNvSpPr/>
          <p:nvPr/>
        </p:nvSpPr>
        <p:spPr>
          <a:xfrm>
            <a:off x="762000" y="1397000"/>
            <a:ext cx="10668000" cy="889000"/>
          </a:xfrm>
          <a:prstGeom prst="roundRect">
            <a:avLst>
              <a:gd name="adj" fmla="val 14285"/>
            </a:avLst>
          </a:prstGeom>
          <a:solidFill>
            <a:srgbClr val="FFFFFF">
              <a:alpha val="100000"/>
            </a:srgbClr>
          </a:solidFill>
          <a:ln w="25400" cap="flat" cmpd="sng">
            <a:noFill/>
            <a:prstDash val="solid"/>
            <a:round/>
          </a:ln>
          <a:effectLst>
            <a:outerShdw blurRad="127000" dist="50800" dir="2700000" algn="tl" rotWithShape="0">
              <a:srgbClr val="0288D1">
                <a:alpha val="15000"/>
              </a:srgbClr>
            </a:outerShdw>
          </a:effectLst>
        </p:spPr>
        <p:txBody>
          <a:bodyPr vert="horz" wrap="square" lIns="63500" tIns="63500" rIns="63500" bIns="63500" rtlCol="0" anchor="ctr"/>
          <a:lstStyle/>
          <a:p>
            <a:pPr algn="ctr">
              <a:defRPr/>
            </a:pPr>
          </a:p>
        </p:txBody>
      </p:sp>
      <p:pic>
        <p:nvPicPr>
          <p:cNvPr id="4" name="Picture 4"/>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016000" y="1587500"/>
            <a:ext cx="508000" cy="508000"/>
          </a:xfrm>
          <a:prstGeom prst="rect">
            <a:avLst/>
          </a:prstGeom>
        </p:spPr>
      </p:pic>
      <p:sp>
        <p:nvSpPr>
          <p:cNvPr id="5" name="AutoShape 5"/>
          <p:cNvSpPr/>
          <p:nvPr/>
        </p:nvSpPr>
        <p:spPr>
          <a:xfrm>
            <a:off x="1651000" y="1587500"/>
            <a:ext cx="9525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212121"/>
                </a:solidFill>
                <a:latin typeface="Noto Sans SC"/>
                <a:ea typeface="Noto Sans SC"/>
                <a:cs typeface="Noto Sans SC"/>
                <a:sym typeface="Noto Sans SC"/>
              </a:rPr>
              <a:t>示例问题：“亚历山大大帝开了哪辆车？”</a:t>
            </a:r>
            <a:endParaRPr lang="en-US" sz="1100"/>
          </a:p>
        </p:txBody>
      </p:sp>
      <p:sp>
        <p:nvSpPr>
          <p:cNvPr id="6" name="AutoShape 6"/>
          <p:cNvSpPr/>
          <p:nvPr/>
        </p:nvSpPr>
        <p:spPr>
          <a:xfrm>
            <a:off x="762000" y="2540000"/>
            <a:ext cx="5207000" cy="1524000"/>
          </a:xfrm>
          <a:prstGeom prst="roundRect">
            <a:avLst>
              <a:gd name="adj" fmla="val 8333"/>
            </a:avLst>
          </a:prstGeom>
          <a:solidFill>
            <a:srgbClr val="FFFFFF">
              <a:alpha val="100000"/>
            </a:srgbClr>
          </a:solidFill>
          <a:ln w="25400" cap="flat" cmpd="sng">
            <a:noFill/>
            <a:prstDash val="solid"/>
            <a:round/>
          </a:ln>
          <a:effectLst>
            <a:outerShdw blurRad="101600" dist="50800" dir="2700000" algn="tl" rotWithShape="0">
              <a:srgbClr val="0288D1">
                <a:alpha val="10000"/>
              </a:srgbClr>
            </a:outerShdw>
          </a:effectLst>
        </p:spPr>
        <p:txBody>
          <a:bodyPr vert="horz" wrap="square" lIns="63500" tIns="63500" rIns="63500" bIns="63500" rtlCol="0" anchor="ctr"/>
          <a:lstStyle/>
          <a:p>
            <a:pPr algn="ctr">
              <a:defRPr/>
            </a:pPr>
          </a:p>
        </p:txBody>
      </p:sp>
      <p:pic>
        <p:nvPicPr>
          <p:cNvPr id="7" name="Picture 7"/>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16000" y="2794000"/>
            <a:ext cx="609600" cy="609600"/>
          </a:xfrm>
          <a:prstGeom prst="rect">
            <a:avLst/>
          </a:prstGeom>
        </p:spPr>
      </p:pic>
      <p:sp>
        <p:nvSpPr>
          <p:cNvPr id="8" name="AutoShape 8"/>
          <p:cNvSpPr/>
          <p:nvPr/>
        </p:nvSpPr>
        <p:spPr>
          <a:xfrm>
            <a:off x="1778000" y="2730500"/>
            <a:ext cx="3937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0288D1"/>
                </a:solidFill>
                <a:latin typeface="Noto Sans SC"/>
                <a:ea typeface="Noto Sans SC"/>
                <a:cs typeface="Noto Sans SC"/>
                <a:sym typeface="Noto Sans SC"/>
              </a:rPr>
              <a:t>所需文档 A：历史资料</a:t>
            </a:r>
            <a:endParaRPr lang="en-US" sz="1100"/>
          </a:p>
        </p:txBody>
      </p:sp>
      <p:sp>
        <p:nvSpPr>
          <p:cNvPr id="9" name="AutoShape 9"/>
          <p:cNvSpPr/>
          <p:nvPr/>
        </p:nvSpPr>
        <p:spPr>
          <a:xfrm>
            <a:off x="1778000" y="3111500"/>
            <a:ext cx="3937000" cy="762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0" i="0" u="none" strike="noStrike">
                <a:solidFill>
                  <a:srgbClr val="757575"/>
                </a:solidFill>
                <a:latin typeface="Noto Sans SC"/>
                <a:ea typeface="Noto Sans SC"/>
                <a:cs typeface="Noto Sans SC"/>
                <a:sym typeface="Noto Sans SC"/>
              </a:rPr>
              <a:t>描述亚历山大大帝生平的历史文档，不包含任何现代科技信息。</a:t>
            </a:r>
            <a:endParaRPr lang="en-US" sz="1100"/>
          </a:p>
        </p:txBody>
      </p:sp>
      <p:sp>
        <p:nvSpPr>
          <p:cNvPr id="10" name="AutoShape 10"/>
          <p:cNvSpPr/>
          <p:nvPr/>
        </p:nvSpPr>
        <p:spPr>
          <a:xfrm>
            <a:off x="6223000" y="2540000"/>
            <a:ext cx="5207000" cy="1524000"/>
          </a:xfrm>
          <a:prstGeom prst="roundRect">
            <a:avLst>
              <a:gd name="adj" fmla="val 8333"/>
            </a:avLst>
          </a:prstGeom>
          <a:solidFill>
            <a:srgbClr val="FFFFFF">
              <a:alpha val="100000"/>
            </a:srgbClr>
          </a:solidFill>
          <a:ln w="25400" cap="flat" cmpd="sng">
            <a:noFill/>
            <a:prstDash val="solid"/>
            <a:round/>
          </a:ln>
          <a:effectLst>
            <a:outerShdw blurRad="101600" dist="50800" dir="2700000" algn="tl" rotWithShape="0">
              <a:srgbClr val="0288D1">
                <a:alpha val="10000"/>
              </a:srgbClr>
            </a:outerShdw>
          </a:effectLst>
        </p:spPr>
        <p:txBody>
          <a:bodyPr vert="horz" wrap="square" lIns="63500" tIns="63500" rIns="63500" bIns="63500" rtlCol="0" anchor="ctr"/>
          <a:lstStyle/>
          <a:p>
            <a:pPr algn="ctr">
              <a:defRPr/>
            </a:pPr>
          </a:p>
        </p:txBody>
      </p:sp>
      <p:pic>
        <p:nvPicPr>
          <p:cNvPr id="11" name="Picture 11"/>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6477000" y="2794000"/>
            <a:ext cx="609600" cy="609600"/>
          </a:xfrm>
          <a:prstGeom prst="rect">
            <a:avLst/>
          </a:prstGeom>
        </p:spPr>
      </p:pic>
      <p:sp>
        <p:nvSpPr>
          <p:cNvPr id="12" name="AutoShape 12"/>
          <p:cNvSpPr/>
          <p:nvPr/>
        </p:nvSpPr>
        <p:spPr>
          <a:xfrm>
            <a:off x="7239000" y="2730500"/>
            <a:ext cx="3937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0288D1"/>
                </a:solidFill>
                <a:latin typeface="Noto Sans SC"/>
                <a:ea typeface="Noto Sans SC"/>
                <a:cs typeface="Noto Sans SC"/>
                <a:sym typeface="Noto Sans SC"/>
              </a:rPr>
              <a:t>所需文档 B：汽车制造史</a:t>
            </a:r>
            <a:endParaRPr lang="en-US" sz="1100"/>
          </a:p>
        </p:txBody>
      </p:sp>
      <p:sp>
        <p:nvSpPr>
          <p:cNvPr id="13" name="AutoShape 13"/>
          <p:cNvSpPr/>
          <p:nvPr/>
        </p:nvSpPr>
        <p:spPr>
          <a:xfrm>
            <a:off x="7239000" y="3111500"/>
            <a:ext cx="3937000" cy="762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0" i="0" u="none" strike="noStrike">
                <a:solidFill>
                  <a:srgbClr val="757575"/>
                </a:solidFill>
                <a:latin typeface="Noto Sans SC"/>
                <a:ea typeface="Noto Sans SC"/>
                <a:cs typeface="Noto Sans SC"/>
                <a:sym typeface="Noto Sans SC"/>
              </a:rPr>
              <a:t>概述汽车发明与制造历史的文档，与古代历史无关。</a:t>
            </a:r>
            <a:endParaRPr lang="en-US" sz="1100"/>
          </a:p>
        </p:txBody>
      </p:sp>
      <p:sp>
        <p:nvSpPr>
          <p:cNvPr id="14" name="AutoShape 14"/>
          <p:cNvSpPr/>
          <p:nvPr/>
        </p:nvSpPr>
        <p:spPr>
          <a:xfrm>
            <a:off x="762000" y="4318000"/>
            <a:ext cx="10668000" cy="1524000"/>
          </a:xfrm>
          <a:prstGeom prst="roundRect">
            <a:avLst>
              <a:gd name="adj" fmla="val 8333"/>
            </a:avLst>
          </a:prstGeom>
          <a:solidFill>
            <a:srgbClr val="0288D1">
              <a:alpha val="10000"/>
            </a:srgbClr>
          </a:solidFill>
          <a:ln w="12700" cap="flat" cmpd="sng">
            <a:solidFill>
              <a:srgbClr val="0288D1">
                <a:alpha val="100000"/>
              </a:srgbClr>
            </a:solidFill>
            <a:prstDash val="solid"/>
            <a:round/>
          </a:ln>
        </p:spPr>
        <p:txBody>
          <a:bodyPr vert="horz" wrap="square" lIns="63500" tIns="63500" rIns="63500" bIns="63500" rtlCol="0" anchor="ctr"/>
          <a:lstStyle/>
          <a:p>
            <a:pPr algn="ctr">
              <a:defRPr/>
            </a:pPr>
          </a:p>
        </p:txBody>
      </p:sp>
      <p:pic>
        <p:nvPicPr>
          <p:cNvPr id="15" name="Picture 15"/>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1016000" y="4635500"/>
            <a:ext cx="609600" cy="609600"/>
          </a:xfrm>
          <a:prstGeom prst="rect">
            <a:avLst/>
          </a:prstGeom>
        </p:spPr>
      </p:pic>
      <p:sp>
        <p:nvSpPr>
          <p:cNvPr id="16" name="AutoShape 16"/>
          <p:cNvSpPr/>
          <p:nvPr/>
        </p:nvSpPr>
        <p:spPr>
          <a:xfrm>
            <a:off x="1778000" y="4508500"/>
            <a:ext cx="9398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0288D1"/>
                </a:solidFill>
                <a:latin typeface="Noto Sans SC"/>
                <a:ea typeface="Noto Sans SC"/>
                <a:cs typeface="Noto Sans SC"/>
                <a:sym typeface="Noto Sans SC"/>
              </a:rPr>
              <a:t>经典RAG的核心困境</a:t>
            </a:r>
            <a:endParaRPr lang="en-US" sz="1100"/>
          </a:p>
        </p:txBody>
      </p:sp>
      <p:sp>
        <p:nvSpPr>
          <p:cNvPr id="17" name="AutoShape 17"/>
          <p:cNvSpPr/>
          <p:nvPr/>
        </p:nvSpPr>
        <p:spPr>
          <a:xfrm>
            <a:off x="1778000" y="4953000"/>
            <a:ext cx="9398000" cy="762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0" i="0" u="none" strike="noStrike">
                <a:solidFill>
                  <a:srgbClr val="424242"/>
                </a:solidFill>
                <a:latin typeface="Noto Sans SC"/>
                <a:ea typeface="Noto Sans SC"/>
                <a:cs typeface="Noto Sans SC"/>
                <a:sym typeface="Noto Sans SC"/>
              </a:rPr>
              <a:t>上述两份文档的嵌入向量在向量空间中距离非常遥远，经典RAG的单一检索头很难同时将它们都检索出来，导致无法准确回答此类复杂问题。</a:t>
            </a:r>
            <a:endParaRPr lang="en-US" sz="110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E0F7FA">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635000"/>
            <a:ext cx="10668000" cy="508000"/>
          </a:xfrm>
          <a:prstGeom prst="rect">
            <a:avLst/>
          </a:prstGeom>
          <a:noFill/>
          <a:ln w="12700" cap="flat" cmpd="sng">
            <a:noFill/>
            <a:prstDash val="solid"/>
            <a:round/>
          </a:ln>
        </p:spPr>
        <p:txBody>
          <a:bodyPr vert="horz" wrap="none" lIns="0" tIns="0" rIns="0" bIns="0" rtlCol="0" anchor="ctr" anchorCtr="0"/>
          <a:lstStyle/>
          <a:p>
            <a:pPr indent="0" algn="l">
              <a:lnSpc>
                <a:spcPct val="125000"/>
              </a:lnSpc>
              <a:defRPr/>
            </a:pPr>
            <a:r>
              <a:rPr lang="en-US" sz="3200" b="1" i="0" u="none" strike="noStrike">
                <a:solidFill>
                  <a:srgbClr val="0288D1"/>
                </a:solidFill>
                <a:latin typeface="Noto Sans SC"/>
                <a:ea typeface="Noto Sans SC"/>
                <a:cs typeface="Noto Sans SC"/>
                <a:sym typeface="Noto Sans SC"/>
              </a:rPr>
              <a:t>多头RAG的解决方案</a:t>
            </a:r>
            <a:endParaRPr lang="en-US" sz="1100"/>
          </a:p>
        </p:txBody>
      </p:sp>
      <p:sp>
        <p:nvSpPr>
          <p:cNvPr id="3" name="AutoShape 3"/>
          <p:cNvSpPr/>
          <p:nvPr/>
        </p:nvSpPr>
        <p:spPr>
          <a:xfrm>
            <a:off x="762000" y="1270000"/>
            <a:ext cx="10668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0" i="0" u="none" strike="noStrike">
                <a:solidFill>
                  <a:srgbClr val="757575"/>
                </a:solidFill>
                <a:latin typeface="Noto Sans SC"/>
                <a:ea typeface="Noto Sans SC"/>
                <a:cs typeface="Noto Sans SC"/>
                <a:sym typeface="Noto Sans SC"/>
              </a:rPr>
              <a:t>多头RAG（MRAG）通过引入</a:t>
            </a:r>
            <a:r>
              <a:rPr lang="en-US" sz="1800" b="1" i="0" u="none" strike="noStrike">
                <a:solidFill>
                  <a:srgbClr val="0288D1"/>
                </a:solidFill>
                <a:latin typeface="Noto Sans SC"/>
                <a:ea typeface="Noto Sans SC"/>
                <a:cs typeface="Noto Sans SC"/>
                <a:sym typeface="Noto Sans SC"/>
              </a:rPr>
              <a:t>多头注意力机制</a:t>
            </a:r>
            <a:r>
              <a:rPr lang="en-US" sz="1800" b="0" i="0" u="none" strike="noStrike">
                <a:solidFill>
                  <a:srgbClr val="757575"/>
                </a:solidFill>
                <a:latin typeface="Noto Sans SC"/>
                <a:ea typeface="Noto Sans SC"/>
                <a:cs typeface="Noto Sans SC"/>
                <a:sym typeface="Noto Sans SC"/>
              </a:rPr>
              <a:t>，解决复杂查询下的信息检索与整合难题。</a:t>
            </a:r>
            <a:endParaRPr lang="en-US" sz="1100"/>
          </a:p>
        </p:txBody>
      </p:sp>
      <p:sp>
        <p:nvSpPr>
          <p:cNvPr id="4" name="AutoShape 4"/>
          <p:cNvSpPr/>
          <p:nvPr/>
        </p:nvSpPr>
        <p:spPr>
          <a:xfrm>
            <a:off x="762000" y="1905000"/>
            <a:ext cx="5080000" cy="2286000"/>
          </a:xfrm>
          <a:prstGeom prst="roundRect">
            <a:avLst>
              <a:gd name="adj" fmla="val 5555"/>
            </a:avLst>
          </a:prstGeom>
          <a:solidFill>
            <a:srgbClr val="FFFFFF">
              <a:alpha val="100000"/>
            </a:srgbClr>
          </a:solidFill>
          <a:ln w="25400" cap="flat" cmpd="sng">
            <a:noFill/>
            <a:prstDash val="solid"/>
            <a:round/>
          </a:ln>
          <a:effectLst>
            <a:outerShdw blurRad="127000" dist="50800" dir="5400000" algn="tl" rotWithShape="0">
              <a:srgbClr val="0288D1">
                <a:alpha val="15000"/>
              </a:srgbClr>
            </a:outerShdw>
          </a:effectLst>
        </p:spPr>
        <p:txBody>
          <a:bodyPr vert="horz" wrap="square" lIns="63500" tIns="63500" rIns="63500" bIns="63500" rtlCol="0" anchor="ctr"/>
          <a:lstStyle/>
          <a:p>
            <a:pPr algn="ctr">
              <a:defRPr/>
            </a:pPr>
          </a:p>
        </p:txBody>
      </p:sp>
      <p:pic>
        <p:nvPicPr>
          <p:cNvPr id="5" name="Picture 5"/>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016000" y="2159000"/>
            <a:ext cx="406400" cy="406400"/>
          </a:xfrm>
          <a:prstGeom prst="rect">
            <a:avLst/>
          </a:prstGeom>
        </p:spPr>
      </p:pic>
      <p:sp>
        <p:nvSpPr>
          <p:cNvPr id="6" name="AutoShape 6"/>
          <p:cNvSpPr/>
          <p:nvPr/>
        </p:nvSpPr>
        <p:spPr>
          <a:xfrm>
            <a:off x="1524000" y="2133600"/>
            <a:ext cx="4064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0288D1"/>
                </a:solidFill>
                <a:latin typeface="Noto Sans SC"/>
                <a:ea typeface="Noto Sans SC"/>
                <a:cs typeface="Noto Sans SC"/>
                <a:sym typeface="Noto Sans SC"/>
              </a:rPr>
              <a:t>核心思想</a:t>
            </a:r>
            <a:endParaRPr lang="en-US" sz="1100"/>
          </a:p>
        </p:txBody>
      </p:sp>
      <p:sp>
        <p:nvSpPr>
          <p:cNvPr id="7" name="AutoShape 7"/>
          <p:cNvSpPr/>
          <p:nvPr/>
        </p:nvSpPr>
        <p:spPr>
          <a:xfrm>
            <a:off x="1016000" y="2667000"/>
            <a:ext cx="4572000" cy="12700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600" b="0" i="0" u="none" strike="noStrike">
                <a:solidFill>
                  <a:srgbClr val="424242"/>
                </a:solidFill>
                <a:latin typeface="Noto Sans SC"/>
                <a:ea typeface="Noto Sans SC"/>
                <a:cs typeface="Noto Sans SC"/>
                <a:sym typeface="Noto Sans SC"/>
              </a:rPr>
              <a:t>利用Transformer模型中的多头注意力层，替代传统解码器层激活，以获取多方面的文档信息，突破单一视角的局限。</a:t>
            </a:r>
            <a:endParaRPr lang="en-US" sz="1100"/>
          </a:p>
        </p:txBody>
      </p:sp>
      <p:sp>
        <p:nvSpPr>
          <p:cNvPr id="8" name="AutoShape 8"/>
          <p:cNvSpPr/>
          <p:nvPr/>
        </p:nvSpPr>
        <p:spPr>
          <a:xfrm>
            <a:off x="6350000" y="1905000"/>
            <a:ext cx="5080000" cy="2286000"/>
          </a:xfrm>
          <a:prstGeom prst="roundRect">
            <a:avLst>
              <a:gd name="adj" fmla="val 5555"/>
            </a:avLst>
          </a:prstGeom>
          <a:solidFill>
            <a:srgbClr val="FFFFFF">
              <a:alpha val="100000"/>
            </a:srgbClr>
          </a:solidFill>
          <a:ln w="25400" cap="flat" cmpd="sng">
            <a:noFill/>
            <a:prstDash val="solid"/>
            <a:round/>
          </a:ln>
          <a:effectLst>
            <a:outerShdw blurRad="127000" dist="50800" dir="5400000" algn="tl" rotWithShape="0">
              <a:srgbClr val="0288D1">
                <a:alpha val="15000"/>
              </a:srgbClr>
            </a:outerShdw>
          </a:effectLst>
        </p:spPr>
        <p:txBody>
          <a:bodyPr vert="horz" wrap="square" lIns="63500" tIns="63500" rIns="63500" bIns="63500" rtlCol="0" anchor="ctr"/>
          <a:lstStyle/>
          <a:p>
            <a:pPr algn="ctr">
              <a:defRPr/>
            </a:pPr>
          </a:p>
        </p:txBody>
      </p:sp>
      <p:pic>
        <p:nvPicPr>
          <p:cNvPr id="9" name="Picture 9"/>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604000" y="2159000"/>
            <a:ext cx="406400" cy="406400"/>
          </a:xfrm>
          <a:prstGeom prst="rect">
            <a:avLst/>
          </a:prstGeom>
        </p:spPr>
      </p:pic>
      <p:sp>
        <p:nvSpPr>
          <p:cNvPr id="10" name="AutoShape 10"/>
          <p:cNvSpPr/>
          <p:nvPr/>
        </p:nvSpPr>
        <p:spPr>
          <a:xfrm>
            <a:off x="7112000" y="2133600"/>
            <a:ext cx="4064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0288D1"/>
                </a:solidFill>
                <a:latin typeface="Noto Sans SC"/>
                <a:ea typeface="Noto Sans SC"/>
                <a:cs typeface="Noto Sans SC"/>
                <a:sym typeface="Noto Sans SC"/>
              </a:rPr>
              <a:t>工作方式</a:t>
            </a:r>
            <a:endParaRPr lang="en-US" sz="1100"/>
          </a:p>
        </p:txBody>
      </p:sp>
      <p:sp>
        <p:nvSpPr>
          <p:cNvPr id="11" name="AutoShape 11"/>
          <p:cNvSpPr/>
          <p:nvPr/>
        </p:nvSpPr>
        <p:spPr>
          <a:xfrm>
            <a:off x="6604000" y="2667000"/>
            <a:ext cx="4572000" cy="12700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600" b="0" i="0" u="none" strike="noStrike">
                <a:solidFill>
                  <a:srgbClr val="424242"/>
                </a:solidFill>
                <a:latin typeface="Noto Sans SC"/>
                <a:ea typeface="Noto Sans SC"/>
                <a:cs typeface="Noto Sans SC"/>
                <a:sym typeface="Noto Sans SC"/>
              </a:rPr>
              <a:t>每个注意力头学习不同权重矩阵，并行处理检索结果，全面关注不同信息源，提升对复杂、多维度查询的处理能力。</a:t>
            </a:r>
            <a:endParaRPr lang="en-US" sz="1100"/>
          </a:p>
        </p:txBody>
      </p:sp>
      <p:sp>
        <p:nvSpPr>
          <p:cNvPr id="12" name="AutoShape 12"/>
          <p:cNvSpPr/>
          <p:nvPr/>
        </p:nvSpPr>
        <p:spPr>
          <a:xfrm>
            <a:off x="762000" y="4445000"/>
            <a:ext cx="10668000" cy="1270000"/>
          </a:xfrm>
          <a:prstGeom prst="roundRect">
            <a:avLst>
              <a:gd name="adj" fmla="val 10000"/>
            </a:avLst>
          </a:prstGeom>
          <a:solidFill>
            <a:srgbClr val="0288D1">
              <a:alpha val="10000"/>
            </a:srgbClr>
          </a:solidFill>
          <a:ln w="12700" cap="flat" cmpd="sng">
            <a:solidFill>
              <a:srgbClr val="0288D1">
                <a:alpha val="100000"/>
              </a:srgbClr>
            </a:solidFill>
            <a:prstDash val="solid"/>
            <a:round/>
          </a:ln>
        </p:spPr>
        <p:txBody>
          <a:bodyPr vert="horz" wrap="square" lIns="63500" tIns="63500" rIns="63500" bIns="63500" rtlCol="0" anchor="ctr"/>
          <a:lstStyle/>
          <a:p>
            <a:pPr algn="ctr">
              <a:defRPr/>
            </a:pPr>
          </a:p>
        </p:txBody>
      </p:sp>
      <p:pic>
        <p:nvPicPr>
          <p:cNvPr id="13" name="Picture 13"/>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016000" y="4699000"/>
            <a:ext cx="406400" cy="406400"/>
          </a:xfrm>
          <a:prstGeom prst="rect">
            <a:avLst/>
          </a:prstGeom>
        </p:spPr>
      </p:pic>
      <p:sp>
        <p:nvSpPr>
          <p:cNvPr id="14" name="AutoShape 14"/>
          <p:cNvSpPr/>
          <p:nvPr/>
        </p:nvSpPr>
        <p:spPr>
          <a:xfrm>
            <a:off x="1524000" y="4635500"/>
            <a:ext cx="9652000" cy="8890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600" b="1" i="0" u="none" strike="noStrike">
                <a:solidFill>
                  <a:srgbClr val="212121"/>
                </a:solidFill>
                <a:latin typeface="Noto Sans SC"/>
                <a:ea typeface="Noto Sans SC"/>
                <a:cs typeface="Noto Sans SC"/>
                <a:sym typeface="Noto Sans SC"/>
              </a:rPr>
              <a:t>核心优势：</a:t>
            </a:r>
            <a:r>
              <a:rPr lang="en-US" sz="1600" b="0" i="0" u="none" strike="noStrike">
                <a:solidFill>
                  <a:srgbClr val="424242"/>
                </a:solidFill>
                <a:latin typeface="Noto Sans SC"/>
                <a:ea typeface="Noto Sans SC"/>
                <a:cs typeface="Noto Sans SC"/>
                <a:sym typeface="Noto Sans SC"/>
              </a:rPr>
              <a:t>通过多维度的信息捕捉与整合，MRAG能够有效应对信息分散、语义复杂的场景，显著提升问答系统的准确性和全面性。</a:t>
            </a:r>
            <a:endParaRPr lang="en-US" sz="110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E0F7FA">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635000"/>
            <a:ext cx="7150100" cy="508000"/>
          </a:xfrm>
          <a:prstGeom prst="rect">
            <a:avLst/>
          </a:prstGeom>
          <a:noFill/>
          <a:ln w="12700" cap="flat" cmpd="sng">
            <a:noFill/>
            <a:prstDash val="solid"/>
            <a:round/>
          </a:ln>
        </p:spPr>
        <p:txBody>
          <a:bodyPr vert="horz" wrap="none" lIns="0" tIns="0" rIns="0" bIns="0" rtlCol="0" anchor="ctr" anchorCtr="0"/>
          <a:lstStyle/>
          <a:p>
            <a:pPr indent="0" algn="l">
              <a:lnSpc>
                <a:spcPct val="125000"/>
              </a:lnSpc>
              <a:defRPr/>
            </a:pPr>
            <a:r>
              <a:rPr lang="en-US" sz="3200" b="1" i="0" u="none" strike="noStrike">
                <a:solidFill>
                  <a:srgbClr val="0288D1"/>
                </a:solidFill>
                <a:latin typeface="Noto Sans SC"/>
                <a:ea typeface="Noto Sans SC"/>
                <a:cs typeface="Noto Sans SC"/>
                <a:sym typeface="Noto Sans SC"/>
              </a:rPr>
              <a:t>3.2.2 多头RAG的架构 - 整体管道</a:t>
            </a:r>
            <a:endParaRPr lang="en-US" sz="1100"/>
          </a:p>
        </p:txBody>
      </p:sp>
      <p:pic>
        <p:nvPicPr>
          <p:cNvPr id="3" name="Picture 3"/>
          <p:cNvPicPr>
            <a:picLocks noChangeAspect="1"/>
          </p:cNvPicPr>
          <p:nvPr/>
        </p:nvPicPr>
        <p:blipFill>
          <a:blip r:embed="rId1"/>
          <a:srcRect l="32" r="32"/>
          <a:stretch>
            <a:fillRect/>
          </a:stretch>
        </p:blipFill>
        <p:spPr>
          <a:xfrm>
            <a:off x="762000" y="1397000"/>
            <a:ext cx="4432300" cy="3048000"/>
          </a:xfrm>
          <a:prstGeom prst="rect">
            <a:avLst/>
          </a:prstGeom>
          <a:noFill/>
          <a:ln w="50800" cap="flat" cmpd="sng">
            <a:solidFill>
              <a:srgbClr val="FFFFFF">
                <a:alpha val="100000"/>
              </a:srgbClr>
            </a:solidFill>
            <a:prstDash val="solid"/>
            <a:round/>
          </a:ln>
          <a:effectLst>
            <a:outerShdw blurRad="127000" dist="101600" dir="2700000" algn="tl" rotWithShape="0">
              <a:srgbClr val="0288D1">
                <a:alpha val="20000"/>
              </a:srgbClr>
            </a:outerShdw>
          </a:effectLst>
        </p:spPr>
      </p:pic>
      <p:sp>
        <p:nvSpPr>
          <p:cNvPr id="4" name="AutoShape 4"/>
          <p:cNvSpPr/>
          <p:nvPr/>
        </p:nvSpPr>
        <p:spPr>
          <a:xfrm>
            <a:off x="5461000" y="1397000"/>
            <a:ext cx="5969000" cy="889000"/>
          </a:xfrm>
          <a:prstGeom prst="roundRect">
            <a:avLst>
              <a:gd name="adj" fmla="val 14285"/>
            </a:avLst>
          </a:prstGeom>
          <a:solidFill>
            <a:srgbClr val="FFFFFF">
              <a:alpha val="80000"/>
            </a:srgbClr>
          </a:solidFill>
          <a:ln w="12700" cap="flat" cmpd="sng">
            <a:solidFill>
              <a:srgbClr val="0288D1">
                <a:alpha val="30000"/>
              </a:srgbClr>
            </a:solidFill>
            <a:prstDash val="solid"/>
            <a:round/>
          </a:ln>
        </p:spPr>
        <p:txBody>
          <a:bodyPr vert="horz" wrap="square" lIns="63500" tIns="63500" rIns="63500" bIns="63500" rtlCol="0" anchor="ctr"/>
          <a:lstStyle/>
          <a:p>
            <a:pPr algn="ctr">
              <a:defRPr/>
            </a:pPr>
          </a:p>
        </p:txBody>
      </p:sp>
      <p:pic>
        <p:nvPicPr>
          <p:cNvPr id="5" name="Picture 5"/>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5651500" y="1587500"/>
            <a:ext cx="406400" cy="406400"/>
          </a:xfrm>
          <a:prstGeom prst="rect">
            <a:avLst/>
          </a:prstGeom>
        </p:spPr>
      </p:pic>
      <p:sp>
        <p:nvSpPr>
          <p:cNvPr id="6" name="AutoShape 6"/>
          <p:cNvSpPr/>
          <p:nvPr/>
        </p:nvSpPr>
        <p:spPr>
          <a:xfrm>
            <a:off x="6223000" y="1460500"/>
            <a:ext cx="5080000" cy="762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0288D1"/>
                </a:solidFill>
                <a:latin typeface="Noto Sans SC"/>
                <a:ea typeface="Noto Sans SC"/>
                <a:cs typeface="Noto Sans SC"/>
                <a:sym typeface="Noto Sans SC"/>
              </a:rPr>
              <a:t>A. 数据准备：</a:t>
            </a:r>
            <a:r>
              <a:rPr lang="en-US" sz="1800" b="0" i="0" u="none" strike="noStrike">
                <a:solidFill>
                  <a:srgbClr val="757575"/>
                </a:solidFill>
                <a:latin typeface="Noto Sans SC"/>
                <a:ea typeface="Noto Sans SC"/>
                <a:cs typeface="Noto Sans SC"/>
                <a:sym typeface="Noto Sans SC"/>
              </a:rPr>
              <a:t>处理原始文档，生成多方面的嵌入。</a:t>
            </a:r>
            <a:endParaRPr lang="en-US" sz="1100"/>
          </a:p>
        </p:txBody>
      </p:sp>
      <p:sp>
        <p:nvSpPr>
          <p:cNvPr id="7" name="AutoShape 7"/>
          <p:cNvSpPr/>
          <p:nvPr/>
        </p:nvSpPr>
        <p:spPr>
          <a:xfrm>
            <a:off x="5461000" y="2413000"/>
            <a:ext cx="5969000" cy="889000"/>
          </a:xfrm>
          <a:prstGeom prst="roundRect">
            <a:avLst>
              <a:gd name="adj" fmla="val 14285"/>
            </a:avLst>
          </a:prstGeom>
          <a:solidFill>
            <a:srgbClr val="FFFFFF">
              <a:alpha val="80000"/>
            </a:srgbClr>
          </a:solidFill>
          <a:ln w="12700" cap="flat" cmpd="sng">
            <a:solidFill>
              <a:srgbClr val="0288D1">
                <a:alpha val="30000"/>
              </a:srgbClr>
            </a:solidFill>
            <a:prstDash val="solid"/>
            <a:round/>
          </a:ln>
        </p:spPr>
        <p:txBody>
          <a:bodyPr vert="horz" wrap="square" lIns="63500" tIns="63500" rIns="63500" bIns="63500" rtlCol="0" anchor="ctr"/>
          <a:lstStyle/>
          <a:p>
            <a:pPr algn="ctr">
              <a:defRPr/>
            </a:pPr>
          </a:p>
        </p:txBody>
      </p:sp>
      <p:pic>
        <p:nvPicPr>
          <p:cNvPr id="8" name="Picture 8"/>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5651500" y="2603500"/>
            <a:ext cx="406400" cy="406400"/>
          </a:xfrm>
          <a:prstGeom prst="rect">
            <a:avLst/>
          </a:prstGeom>
        </p:spPr>
      </p:pic>
      <p:sp>
        <p:nvSpPr>
          <p:cNvPr id="9" name="AutoShape 9"/>
          <p:cNvSpPr/>
          <p:nvPr/>
        </p:nvSpPr>
        <p:spPr>
          <a:xfrm>
            <a:off x="6223000" y="2476500"/>
            <a:ext cx="5080000" cy="762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0288D1"/>
                </a:solidFill>
                <a:latin typeface="Noto Sans SC"/>
                <a:ea typeface="Noto Sans SC"/>
                <a:cs typeface="Noto Sans SC"/>
                <a:sym typeface="Noto Sans SC"/>
              </a:rPr>
              <a:t>B. 查询执行：</a:t>
            </a:r>
            <a:r>
              <a:rPr lang="en-US" sz="1800" b="0" i="0" u="none" strike="noStrike">
                <a:solidFill>
                  <a:srgbClr val="757575"/>
                </a:solidFill>
                <a:latin typeface="Noto Sans SC"/>
                <a:ea typeface="Noto Sans SC"/>
                <a:cs typeface="Noto Sans SC"/>
                <a:sym typeface="Noto Sans SC"/>
              </a:rPr>
              <a:t>处理用户查询，进行多方面检索并生成回答。</a:t>
            </a:r>
            <a:endParaRPr lang="en-US" sz="1100"/>
          </a:p>
        </p:txBody>
      </p:sp>
      <p:sp>
        <p:nvSpPr>
          <p:cNvPr id="10" name="AutoShape 10"/>
          <p:cNvSpPr/>
          <p:nvPr/>
        </p:nvSpPr>
        <p:spPr>
          <a:xfrm>
            <a:off x="5461000" y="3429000"/>
            <a:ext cx="5969000" cy="889000"/>
          </a:xfrm>
          <a:prstGeom prst="roundRect">
            <a:avLst>
              <a:gd name="adj" fmla="val 14285"/>
            </a:avLst>
          </a:prstGeom>
          <a:solidFill>
            <a:srgbClr val="FFFFFF">
              <a:alpha val="80000"/>
            </a:srgbClr>
          </a:solidFill>
          <a:ln w="12700" cap="flat" cmpd="sng">
            <a:solidFill>
              <a:srgbClr val="0288D1">
                <a:alpha val="30000"/>
              </a:srgbClr>
            </a:solidFill>
            <a:prstDash val="solid"/>
            <a:round/>
          </a:ln>
        </p:spPr>
        <p:txBody>
          <a:bodyPr vert="horz" wrap="square" lIns="63500" tIns="63500" rIns="63500" bIns="63500" rtlCol="0" anchor="ctr"/>
          <a:lstStyle/>
          <a:p>
            <a:pPr algn="ctr">
              <a:defRPr/>
            </a:pPr>
          </a:p>
        </p:txBody>
      </p:sp>
      <p:pic>
        <p:nvPicPr>
          <p:cNvPr id="11" name="Picture 11"/>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5651500" y="3619500"/>
            <a:ext cx="406400" cy="406400"/>
          </a:xfrm>
          <a:prstGeom prst="rect">
            <a:avLst/>
          </a:prstGeom>
        </p:spPr>
      </p:pic>
      <p:sp>
        <p:nvSpPr>
          <p:cNvPr id="12" name="AutoShape 12"/>
          <p:cNvSpPr/>
          <p:nvPr/>
        </p:nvSpPr>
        <p:spPr>
          <a:xfrm>
            <a:off x="6223000" y="3492500"/>
            <a:ext cx="5080000" cy="762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0288D1"/>
                </a:solidFill>
                <a:latin typeface="Noto Sans SC"/>
                <a:ea typeface="Noto Sans SC"/>
                <a:cs typeface="Noto Sans SC"/>
                <a:sym typeface="Noto Sans SC"/>
              </a:rPr>
              <a:t>C. 嵌入模型：</a:t>
            </a:r>
            <a:r>
              <a:rPr lang="en-US" sz="1800" b="0" i="0" u="none" strike="noStrike">
                <a:solidFill>
                  <a:srgbClr val="757575"/>
                </a:solidFill>
                <a:latin typeface="Noto Sans SC"/>
                <a:ea typeface="Noto Sans SC"/>
                <a:cs typeface="Noto Sans SC"/>
                <a:sym typeface="Noto Sans SC"/>
              </a:rPr>
              <a:t>利用多头注意力机制生成多方面嵌入的核心组件。</a:t>
            </a:r>
            <a:endParaRPr lang="en-US" sz="1100"/>
          </a:p>
        </p:txBody>
      </p:sp>
      <p:sp>
        <p:nvSpPr>
          <p:cNvPr id="13" name="AutoShape 13"/>
          <p:cNvSpPr/>
          <p:nvPr/>
        </p:nvSpPr>
        <p:spPr>
          <a:xfrm>
            <a:off x="5461000" y="4445000"/>
            <a:ext cx="5969000" cy="889000"/>
          </a:xfrm>
          <a:prstGeom prst="roundRect">
            <a:avLst>
              <a:gd name="adj" fmla="val 14285"/>
            </a:avLst>
          </a:prstGeom>
          <a:solidFill>
            <a:srgbClr val="FFFFFF">
              <a:alpha val="80000"/>
            </a:srgbClr>
          </a:solidFill>
          <a:ln w="12700" cap="flat" cmpd="sng">
            <a:solidFill>
              <a:srgbClr val="0288D1">
                <a:alpha val="30000"/>
              </a:srgbClr>
            </a:solidFill>
            <a:prstDash val="solid"/>
            <a:round/>
          </a:ln>
        </p:spPr>
        <p:txBody>
          <a:bodyPr vert="horz" wrap="square" lIns="63500" tIns="63500" rIns="63500" bIns="63500" rtlCol="0" anchor="ctr"/>
          <a:lstStyle/>
          <a:p>
            <a:pPr algn="ctr">
              <a:defRPr/>
            </a:pPr>
          </a:p>
        </p:txBody>
      </p:sp>
      <p:pic>
        <p:nvPicPr>
          <p:cNvPr id="14" name="Picture 14"/>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5651500" y="4635500"/>
            <a:ext cx="406400" cy="406400"/>
          </a:xfrm>
          <a:prstGeom prst="rect">
            <a:avLst/>
          </a:prstGeom>
        </p:spPr>
      </p:pic>
      <p:sp>
        <p:nvSpPr>
          <p:cNvPr id="15" name="AutoShape 15"/>
          <p:cNvSpPr/>
          <p:nvPr/>
        </p:nvSpPr>
        <p:spPr>
          <a:xfrm>
            <a:off x="6223000" y="4508500"/>
            <a:ext cx="5080000" cy="762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0288D1"/>
                </a:solidFill>
                <a:latin typeface="Noto Sans SC"/>
                <a:ea typeface="Noto Sans SC"/>
                <a:cs typeface="Noto Sans SC"/>
                <a:sym typeface="Noto Sans SC"/>
              </a:rPr>
              <a:t>D. 向量数据库：</a:t>
            </a:r>
            <a:r>
              <a:rPr lang="en-US" sz="1800" b="0" i="0" u="none" strike="noStrike">
                <a:solidFill>
                  <a:srgbClr val="757575"/>
                </a:solidFill>
                <a:latin typeface="Noto Sans SC"/>
                <a:ea typeface="Noto Sans SC"/>
                <a:cs typeface="Noto Sans SC"/>
                <a:sym typeface="Noto Sans SC"/>
              </a:rPr>
              <a:t>存储多方面嵌入的数据库。</a:t>
            </a:r>
            <a:endParaRPr lang="en-US" sz="1100"/>
          </a:p>
        </p:txBody>
      </p:sp>
      <p:sp>
        <p:nvSpPr>
          <p:cNvPr id="16" name="AutoShape 16"/>
          <p:cNvSpPr/>
          <p:nvPr/>
        </p:nvSpPr>
        <p:spPr>
          <a:xfrm>
            <a:off x="762000" y="5588000"/>
            <a:ext cx="10668000" cy="635000"/>
          </a:xfrm>
          <a:prstGeom prst="roundRect">
            <a:avLst>
              <a:gd name="adj" fmla="val 20000"/>
            </a:avLst>
          </a:prstGeom>
          <a:solidFill>
            <a:srgbClr val="0288D1">
              <a:alpha val="10000"/>
            </a:srgbClr>
          </a:solidFill>
          <a:ln w="25400" cap="flat" cmpd="sng">
            <a:noFill/>
            <a:prstDash val="solid"/>
            <a:round/>
          </a:ln>
        </p:spPr>
        <p:txBody>
          <a:bodyPr vert="horz" wrap="square" lIns="63500" tIns="63500" rIns="63500" bIns="63500" rtlCol="0" anchor="ctr"/>
          <a:lstStyle/>
          <a:p>
            <a:pPr algn="ctr">
              <a:defRPr/>
            </a:pPr>
          </a:p>
        </p:txBody>
      </p:sp>
      <p:sp>
        <p:nvSpPr>
          <p:cNvPr id="17" name="AutoShape 17"/>
          <p:cNvSpPr/>
          <p:nvPr/>
        </p:nvSpPr>
        <p:spPr>
          <a:xfrm>
            <a:off x="889000" y="5588000"/>
            <a:ext cx="10414000" cy="635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600" b="1" i="0" u="none" strike="noStrike">
                <a:solidFill>
                  <a:srgbClr val="0288D1"/>
                </a:solidFill>
                <a:latin typeface="Noto Sans SC"/>
                <a:ea typeface="Noto Sans SC"/>
                <a:cs typeface="Noto Sans SC"/>
                <a:sym typeface="Noto Sans SC"/>
              </a:rPr>
              <a:t>核心区别：</a:t>
            </a:r>
            <a:r>
              <a:rPr lang="en-US" sz="1600" b="0" i="0" u="none" strike="noStrike">
                <a:solidFill>
                  <a:srgbClr val="757575"/>
                </a:solidFill>
                <a:latin typeface="Noto Sans SC"/>
                <a:ea typeface="Noto Sans SC"/>
                <a:cs typeface="Noto Sans SC"/>
                <a:sym typeface="Noto Sans SC"/>
              </a:rPr>
              <a:t>MRAG与经典RAG流程相似，但核心差异在于利用多头注意力机制的嵌入模型与多方面数据存储方式。</a:t>
            </a:r>
            <a:endParaRPr lang="en-US" sz="110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E0F7FA">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635000"/>
            <a:ext cx="2679700" cy="508000"/>
          </a:xfrm>
          <a:prstGeom prst="rect">
            <a:avLst/>
          </a:prstGeom>
          <a:noFill/>
          <a:ln w="12700" cap="flat" cmpd="sng">
            <a:noFill/>
            <a:prstDash val="solid"/>
            <a:round/>
          </a:ln>
        </p:spPr>
        <p:txBody>
          <a:bodyPr vert="horz" wrap="none" lIns="0" tIns="0" rIns="0" bIns="0" rtlCol="0" anchor="ctr" anchorCtr="0"/>
          <a:lstStyle/>
          <a:p>
            <a:pPr indent="0" algn="l">
              <a:lnSpc>
                <a:spcPct val="125000"/>
              </a:lnSpc>
              <a:defRPr/>
            </a:pPr>
            <a:r>
              <a:rPr lang="en-US" sz="3200" b="1" i="0" u="none" strike="noStrike">
                <a:solidFill>
                  <a:srgbClr val="0288D1"/>
                </a:solidFill>
                <a:latin typeface="Noto Sans SC"/>
                <a:ea typeface="Noto Sans SC"/>
                <a:cs typeface="Noto Sans SC"/>
                <a:sym typeface="Noto Sans SC"/>
              </a:rPr>
              <a:t>嵌入模型对比</a:t>
            </a:r>
            <a:endParaRPr lang="en-US" sz="1100"/>
          </a:p>
        </p:txBody>
      </p:sp>
      <p:pic>
        <p:nvPicPr>
          <p:cNvPr id="3" name="Picture 3"/>
          <p:cNvPicPr>
            <a:picLocks noChangeAspect="1"/>
          </p:cNvPicPr>
          <p:nvPr/>
        </p:nvPicPr>
        <p:blipFill>
          <a:blip r:embed="rId1"/>
          <a:srcRect t="62" b="62"/>
          <a:stretch>
            <a:fillRect/>
          </a:stretch>
        </p:blipFill>
        <p:spPr>
          <a:xfrm>
            <a:off x="762000" y="1397000"/>
            <a:ext cx="2794000" cy="3606800"/>
          </a:xfrm>
          <a:prstGeom prst="roundRect">
            <a:avLst>
              <a:gd name="adj" fmla="val 4545"/>
            </a:avLst>
          </a:prstGeom>
          <a:noFill/>
          <a:ln w="25400" cap="flat" cmpd="sng">
            <a:solidFill>
              <a:srgbClr val="FFFFFF">
                <a:alpha val="100000"/>
              </a:srgbClr>
            </a:solidFill>
            <a:prstDash val="solid"/>
            <a:round/>
          </a:ln>
          <a:effectLst>
            <a:outerShdw blurRad="101600" dist="50800" dir="2700000" algn="tl" rotWithShape="0">
              <a:srgbClr val="000000">
                <a:alpha val="15000"/>
              </a:srgbClr>
            </a:outerShdw>
          </a:effectLst>
        </p:spPr>
      </p:pic>
      <p:sp>
        <p:nvSpPr>
          <p:cNvPr id="4" name="AutoShape 4"/>
          <p:cNvSpPr/>
          <p:nvPr/>
        </p:nvSpPr>
        <p:spPr>
          <a:xfrm>
            <a:off x="3937000" y="1397000"/>
            <a:ext cx="7493000" cy="1714500"/>
          </a:xfrm>
          <a:prstGeom prst="roundRect">
            <a:avLst>
              <a:gd name="adj" fmla="val 7407"/>
            </a:avLst>
          </a:prstGeom>
          <a:solidFill>
            <a:srgbClr val="FFFFFF">
              <a:alpha val="100000"/>
            </a:srgbClr>
          </a:solidFill>
          <a:ln w="25400" cap="flat" cmpd="sng">
            <a:noFill/>
            <a:prstDash val="solid"/>
            <a:round/>
          </a:ln>
          <a:effectLst>
            <a:outerShdw blurRad="127000" dist="50800" dir="5400000" algn="tl" rotWithShape="0">
              <a:srgbClr val="0288D1">
                <a:alpha val="10000"/>
              </a:srgbClr>
            </a:outerShdw>
          </a:effectLst>
        </p:spPr>
        <p:txBody>
          <a:bodyPr vert="horz" wrap="square" lIns="63500" tIns="63500" rIns="63500" bIns="63500" rtlCol="0" anchor="ctr"/>
          <a:lstStyle/>
          <a:p>
            <a:pPr algn="ctr">
              <a:defRPr/>
            </a:pPr>
          </a:p>
        </p:txBody>
      </p:sp>
      <p:pic>
        <p:nvPicPr>
          <p:cNvPr id="5" name="Picture 5"/>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4191000" y="1587500"/>
            <a:ext cx="304800" cy="304800"/>
          </a:xfrm>
          <a:prstGeom prst="rect">
            <a:avLst/>
          </a:prstGeom>
        </p:spPr>
      </p:pic>
      <p:sp>
        <p:nvSpPr>
          <p:cNvPr id="6" name="AutoShape 6"/>
          <p:cNvSpPr/>
          <p:nvPr/>
        </p:nvSpPr>
        <p:spPr>
          <a:xfrm>
            <a:off x="4622800" y="1549400"/>
            <a:ext cx="6350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0288D1"/>
                </a:solidFill>
                <a:latin typeface="Noto Sans SC"/>
                <a:ea typeface="Noto Sans SC"/>
                <a:cs typeface="Noto Sans SC"/>
                <a:sym typeface="Noto Sans SC"/>
              </a:rPr>
              <a:t>标准 RAG (Standard RAG)</a:t>
            </a:r>
            <a:endParaRPr lang="en-US" sz="1100"/>
          </a:p>
        </p:txBody>
      </p:sp>
      <p:sp>
        <p:nvSpPr>
          <p:cNvPr id="7" name="AutoShape 7"/>
          <p:cNvSpPr/>
          <p:nvPr/>
        </p:nvSpPr>
        <p:spPr>
          <a:xfrm>
            <a:off x="4191000" y="1968500"/>
            <a:ext cx="6985000" cy="10160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800" b="0" i="0" u="none" strike="noStrike">
                <a:solidFill>
                  <a:srgbClr val="757575"/>
                </a:solidFill>
                <a:latin typeface="Noto Sans SC"/>
                <a:ea typeface="Noto Sans SC"/>
                <a:cs typeface="Noto Sans SC"/>
                <a:sym typeface="Noto Sans SC"/>
              </a:rPr>
              <a:t>通常使用模型解码器层的激活作为文本的单一嵌入表示，仅用一个向量来表征文本块的整体语义。</a:t>
            </a:r>
            <a:endParaRPr lang="en-US" sz="1100"/>
          </a:p>
        </p:txBody>
      </p:sp>
      <p:sp>
        <p:nvSpPr>
          <p:cNvPr id="8" name="AutoShape 8"/>
          <p:cNvSpPr/>
          <p:nvPr/>
        </p:nvSpPr>
        <p:spPr>
          <a:xfrm>
            <a:off x="3937000" y="3302000"/>
            <a:ext cx="7493000" cy="1905000"/>
          </a:xfrm>
          <a:prstGeom prst="roundRect">
            <a:avLst>
              <a:gd name="adj" fmla="val 6666"/>
            </a:avLst>
          </a:prstGeom>
          <a:solidFill>
            <a:srgbClr val="FFFFFF">
              <a:alpha val="100000"/>
            </a:srgbClr>
          </a:solidFill>
          <a:ln w="25400" cap="flat" cmpd="sng">
            <a:noFill/>
            <a:prstDash val="solid"/>
            <a:round/>
          </a:ln>
          <a:effectLst>
            <a:outerShdw blurRad="127000" dist="50800" dir="5400000" algn="tl" rotWithShape="0">
              <a:srgbClr val="0288D1">
                <a:alpha val="10000"/>
              </a:srgbClr>
            </a:outerShdw>
          </a:effectLst>
        </p:spPr>
        <p:txBody>
          <a:bodyPr vert="horz" wrap="square" lIns="63500" tIns="63500" rIns="63500" bIns="63500" rtlCol="0" anchor="ctr"/>
          <a:lstStyle/>
          <a:p>
            <a:pPr algn="ctr">
              <a:defRPr/>
            </a:pPr>
          </a:p>
        </p:txBody>
      </p:sp>
      <p:pic>
        <p:nvPicPr>
          <p:cNvPr id="9" name="Picture 9"/>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4191000" y="3492500"/>
            <a:ext cx="304800" cy="304800"/>
          </a:xfrm>
          <a:prstGeom prst="rect">
            <a:avLst/>
          </a:prstGeom>
        </p:spPr>
      </p:pic>
      <p:sp>
        <p:nvSpPr>
          <p:cNvPr id="10" name="AutoShape 10"/>
          <p:cNvSpPr/>
          <p:nvPr/>
        </p:nvSpPr>
        <p:spPr>
          <a:xfrm>
            <a:off x="4622800" y="3454400"/>
            <a:ext cx="6350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0288D1"/>
                </a:solidFill>
                <a:latin typeface="Noto Sans SC"/>
                <a:ea typeface="Noto Sans SC"/>
                <a:cs typeface="Noto Sans SC"/>
                <a:sym typeface="Noto Sans SC"/>
              </a:rPr>
              <a:t>MRAG (Multi-Head RAG)</a:t>
            </a:r>
            <a:endParaRPr lang="en-US" sz="1100"/>
          </a:p>
        </p:txBody>
      </p:sp>
      <p:sp>
        <p:nvSpPr>
          <p:cNvPr id="11" name="AutoShape 11"/>
          <p:cNvSpPr/>
          <p:nvPr/>
        </p:nvSpPr>
        <p:spPr>
          <a:xfrm>
            <a:off x="4191000" y="3873500"/>
            <a:ext cx="6985000" cy="12065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800" b="0" i="0" u="none" strike="noStrike">
                <a:solidFill>
                  <a:srgbClr val="757575"/>
                </a:solidFill>
                <a:latin typeface="Noto Sans SC"/>
                <a:ea typeface="Noto Sans SC"/>
                <a:cs typeface="Noto Sans SC"/>
                <a:sym typeface="Noto Sans SC"/>
              </a:rPr>
              <a:t>利用Transformer编码器的</a:t>
            </a:r>
            <a:r>
              <a:rPr lang="en-US" sz="1800" b="1" i="0" u="none" strike="noStrike">
                <a:solidFill>
                  <a:srgbClr val="0288D1"/>
                </a:solidFill>
                <a:latin typeface="Noto Sans SC"/>
                <a:ea typeface="Noto Sans SC"/>
                <a:cs typeface="Noto Sans SC"/>
                <a:sym typeface="Noto Sans SC"/>
              </a:rPr>
              <a:t>多头注意力层</a:t>
            </a:r>
            <a:r>
              <a:rPr lang="en-US" sz="1800" b="0" i="0" u="none" strike="noStrike">
                <a:solidFill>
                  <a:srgbClr val="757575"/>
                </a:solidFill>
                <a:latin typeface="Noto Sans SC"/>
                <a:ea typeface="Noto Sans SC"/>
                <a:cs typeface="Noto Sans SC"/>
                <a:sym typeface="Noto Sans SC"/>
              </a:rPr>
              <a:t>输出作为嵌入。每个注意力头捕捉不同语义，生成多个 single-aspect 嵌入，共同构成更全面的 multi-aspect 嵌入。</a:t>
            </a:r>
            <a:endParaRPr lang="en-US" sz="1100"/>
          </a:p>
        </p:txBody>
      </p:sp>
      <p:sp>
        <p:nvSpPr>
          <p:cNvPr id="12" name="AutoShape 12"/>
          <p:cNvSpPr/>
          <p:nvPr/>
        </p:nvSpPr>
        <p:spPr>
          <a:xfrm>
            <a:off x="762000" y="5461000"/>
            <a:ext cx="10668000" cy="762000"/>
          </a:xfrm>
          <a:prstGeom prst="roundRect">
            <a:avLst>
              <a:gd name="adj" fmla="val 16666"/>
            </a:avLst>
          </a:prstGeom>
          <a:solidFill>
            <a:srgbClr val="0288D1">
              <a:alpha val="10000"/>
            </a:srgbClr>
          </a:solidFill>
          <a:ln w="12700" cap="flat" cmpd="sng">
            <a:solidFill>
              <a:srgbClr val="0288D1">
                <a:alpha val="30000"/>
              </a:srgbClr>
            </a:solidFill>
            <a:prstDash val="solid"/>
            <a:round/>
          </a:ln>
        </p:spPr>
        <p:txBody>
          <a:bodyPr vert="horz" wrap="square" lIns="63500" tIns="63500" rIns="63500" bIns="63500" rtlCol="0" anchor="ctr"/>
          <a:lstStyle/>
          <a:p>
            <a:pPr algn="ctr">
              <a:defRPr/>
            </a:pPr>
          </a:p>
        </p:txBody>
      </p:sp>
      <p:pic>
        <p:nvPicPr>
          <p:cNvPr id="13" name="Picture 13"/>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1016000" y="5664200"/>
            <a:ext cx="304800" cy="304800"/>
          </a:xfrm>
          <a:prstGeom prst="rect">
            <a:avLst/>
          </a:prstGeom>
        </p:spPr>
      </p:pic>
      <p:sp>
        <p:nvSpPr>
          <p:cNvPr id="14" name="AutoShape 14"/>
          <p:cNvSpPr/>
          <p:nvPr/>
        </p:nvSpPr>
        <p:spPr>
          <a:xfrm>
            <a:off x="1447800" y="5562600"/>
            <a:ext cx="9779000" cy="558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0288D1"/>
                </a:solidFill>
                <a:latin typeface="Noto Sans SC"/>
                <a:ea typeface="Noto Sans SC"/>
                <a:cs typeface="Noto Sans SC"/>
                <a:sym typeface="Noto Sans SC"/>
              </a:rPr>
              <a:t>核心差异：</a:t>
            </a:r>
            <a:r>
              <a:rPr lang="en-US" sz="1800" b="0" i="0" u="none" strike="noStrike">
                <a:solidFill>
                  <a:srgbClr val="757575"/>
                </a:solidFill>
                <a:latin typeface="Noto Sans SC"/>
                <a:ea typeface="Noto Sans SC"/>
                <a:cs typeface="Noto Sans SC"/>
                <a:sym typeface="Noto Sans SC"/>
              </a:rPr>
              <a:t>标准RAG是“单一视角”的向量表示，而MRAG通过多头注意力实现了“多视角”的语义捕捉。</a:t>
            </a:r>
            <a:endParaRPr lang="en-US" sz="110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E0F7FA">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635000"/>
            <a:ext cx="44704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0288D1"/>
                </a:solidFill>
                <a:latin typeface="Noto Sans SC"/>
                <a:ea typeface="Noto Sans SC"/>
                <a:cs typeface="Noto Sans SC"/>
                <a:sym typeface="Noto Sans SC"/>
              </a:rPr>
              <a:t>数据存储与检索策略</a:t>
            </a:r>
            <a:endParaRPr lang="en-US" sz="1100"/>
          </a:p>
        </p:txBody>
      </p:sp>
      <p:sp>
        <p:nvSpPr>
          <p:cNvPr id="3" name="AutoShape 3"/>
          <p:cNvSpPr/>
          <p:nvPr/>
        </p:nvSpPr>
        <p:spPr>
          <a:xfrm>
            <a:off x="762000" y="1397000"/>
            <a:ext cx="5080000" cy="3556000"/>
          </a:xfrm>
          <a:prstGeom prst="roundRect">
            <a:avLst>
              <a:gd name="adj" fmla="val 3571"/>
            </a:avLst>
          </a:prstGeom>
          <a:solidFill>
            <a:srgbClr val="FFFFFF">
              <a:alpha val="100000"/>
            </a:srgbClr>
          </a:solidFill>
          <a:ln w="25400" cap="flat" cmpd="sng">
            <a:noFill/>
            <a:prstDash val="solid"/>
            <a:round/>
          </a:ln>
          <a:effectLst>
            <a:outerShdw blurRad="127000" dist="50800" dir="5400000" algn="tl" rotWithShape="0">
              <a:srgbClr val="0288D1">
                <a:alpha val="15000"/>
              </a:srgbClr>
            </a:outerShdw>
          </a:effectLst>
        </p:spPr>
        <p:txBody>
          <a:bodyPr vert="horz" wrap="square" lIns="63500" tIns="63500" rIns="63500" bIns="63500" rtlCol="0" anchor="ctr"/>
          <a:lstStyle/>
          <a:p>
            <a:pPr algn="ctr">
              <a:defRPr/>
            </a:pPr>
          </a:p>
        </p:txBody>
      </p:sp>
      <p:pic>
        <p:nvPicPr>
          <p:cNvPr id="4" name="Picture 4"/>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016000" y="1651000"/>
            <a:ext cx="355600" cy="355600"/>
          </a:xfrm>
          <a:prstGeom prst="rect">
            <a:avLst/>
          </a:prstGeom>
        </p:spPr>
      </p:pic>
      <p:sp>
        <p:nvSpPr>
          <p:cNvPr id="5" name="AutoShape 5"/>
          <p:cNvSpPr/>
          <p:nvPr/>
        </p:nvSpPr>
        <p:spPr>
          <a:xfrm>
            <a:off x="1473200" y="1600200"/>
            <a:ext cx="4064000" cy="4064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200" b="1" i="0" u="none" strike="noStrike">
                <a:solidFill>
                  <a:srgbClr val="0288D1"/>
                </a:solidFill>
                <a:latin typeface="Noto Sans SC"/>
                <a:ea typeface="Noto Sans SC"/>
                <a:cs typeface="Noto Sans SC"/>
                <a:sym typeface="Noto Sans SC"/>
              </a:rPr>
              <a:t>数据存储架构</a:t>
            </a:r>
            <a:endParaRPr lang="en-US" sz="1100"/>
          </a:p>
        </p:txBody>
      </p:sp>
      <p:sp>
        <p:nvSpPr>
          <p:cNvPr id="6" name="AutoShape 6"/>
          <p:cNvSpPr/>
          <p:nvPr/>
        </p:nvSpPr>
        <p:spPr>
          <a:xfrm>
            <a:off x="1016000" y="2159000"/>
            <a:ext cx="4572000" cy="2286000"/>
          </a:xfrm>
          <a:prstGeom prst="rect">
            <a:avLst/>
          </a:prstGeom>
          <a:noFill/>
          <a:ln w="12700" cap="flat" cmpd="sng">
            <a:noFill/>
            <a:prstDash val="solid"/>
            <a:round/>
          </a:ln>
        </p:spPr>
        <p:txBody>
          <a:bodyPr vert="horz" wrap="square" lIns="0" tIns="0" rIns="0" bIns="0" rtlCol="0" anchor="ctr" anchorCtr="0"/>
          <a:lstStyle/>
          <a:p>
            <a:pPr indent="0" algn="l">
              <a:lnSpc>
                <a:spcPct val="108000"/>
              </a:lnSpc>
              <a:spcAft>
                <a:spcPts val="1000"/>
              </a:spcAft>
              <a:defRPr/>
            </a:pPr>
            <a:r>
              <a:rPr lang="en-US" sz="1800" b="0" i="0" u="none" strike="noStrike">
                <a:solidFill>
                  <a:srgbClr val="757575"/>
                </a:solidFill>
                <a:latin typeface="Noto Sans SC"/>
                <a:ea typeface="Noto Sans SC"/>
                <a:cs typeface="Noto Sans SC"/>
                <a:sym typeface="Noto Sans SC"/>
              </a:rPr>
              <a:t>MRAG采用多空间存储机制，包含</a:t>
            </a:r>
            <a:r>
              <a:rPr lang="en-US" sz="1800" b="1" i="0" u="none" strike="noStrike">
                <a:solidFill>
                  <a:srgbClr val="0288D1"/>
                </a:solidFill>
                <a:latin typeface="Noto Sans SC"/>
                <a:ea typeface="Noto Sans SC"/>
                <a:cs typeface="Noto Sans SC"/>
                <a:sym typeface="Noto Sans SC"/>
              </a:rPr>
              <a:t>h个独立的嵌入空间</a:t>
            </a:r>
            <a:r>
              <a:rPr lang="en-US" sz="1800" b="0" i="0" u="none" strike="noStrike">
                <a:solidFill>
                  <a:srgbClr val="757575"/>
                </a:solidFill>
                <a:latin typeface="Noto Sans SC"/>
                <a:ea typeface="Noto Sans SC"/>
                <a:cs typeface="Noto Sans SC"/>
                <a:sym typeface="Noto Sans SC"/>
              </a:rPr>
              <a:t>。</a:t>
            </a:r>
            <a:endParaRPr lang="en-US" sz="1100"/>
          </a:p>
          <a:p>
            <a:pPr indent="0" algn="l">
              <a:lnSpc>
                <a:spcPct val="108000"/>
              </a:lnSpc>
            </a:pPr>
            <a:r>
              <a:rPr lang="en-US" sz="1800" b="0" i="0" u="none" strike="noStrike">
                <a:solidFill>
                  <a:srgbClr val="757575"/>
                </a:solidFill>
                <a:latin typeface="Noto Sans SC"/>
                <a:ea typeface="Noto Sans SC"/>
                <a:cs typeface="Noto Sans SC"/>
                <a:sym typeface="Noto Sans SC"/>
              </a:rPr>
              <a:t>每个空间对应一个注意力头生成的single-aspect嵌入。每个文本块在h个空间中都有一个对应的嵌入向量，实现多角度特征保存。</a:t>
            </a:r>
            <a:endParaRPr lang="en-US" sz="1800" b="0" i="0" u="none" strike="noStrike">
              <a:solidFill>
                <a:srgbClr val="757575"/>
              </a:solidFill>
              <a:latin typeface="Noto Sans SC"/>
              <a:ea typeface="Noto Sans SC"/>
              <a:cs typeface="Noto Sans SC"/>
              <a:sym typeface="Noto Sans SC"/>
            </a:endParaRPr>
          </a:p>
        </p:txBody>
      </p:sp>
      <p:sp>
        <p:nvSpPr>
          <p:cNvPr id="7" name="AutoShape 7"/>
          <p:cNvSpPr/>
          <p:nvPr/>
        </p:nvSpPr>
        <p:spPr>
          <a:xfrm>
            <a:off x="6350000" y="1397000"/>
            <a:ext cx="5080000" cy="3556000"/>
          </a:xfrm>
          <a:prstGeom prst="roundRect">
            <a:avLst>
              <a:gd name="adj" fmla="val 3571"/>
            </a:avLst>
          </a:prstGeom>
          <a:solidFill>
            <a:srgbClr val="FFFFFF">
              <a:alpha val="100000"/>
            </a:srgbClr>
          </a:solidFill>
          <a:ln w="25400" cap="flat" cmpd="sng">
            <a:noFill/>
            <a:prstDash val="solid"/>
            <a:round/>
          </a:ln>
          <a:effectLst>
            <a:outerShdw blurRad="127000" dist="50800" dir="5400000" algn="tl" rotWithShape="0">
              <a:srgbClr val="0288D1">
                <a:alpha val="15000"/>
              </a:srgbClr>
            </a:outerShdw>
          </a:effectLst>
        </p:spPr>
        <p:txBody>
          <a:bodyPr vert="horz" wrap="square" lIns="63500" tIns="63500" rIns="63500" bIns="63500" rtlCol="0" anchor="ctr"/>
          <a:lstStyle/>
          <a:p>
            <a:pPr algn="ctr">
              <a:defRPr/>
            </a:pPr>
          </a:p>
        </p:txBody>
      </p:sp>
      <p:pic>
        <p:nvPicPr>
          <p:cNvPr id="8" name="Picture 8"/>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604000" y="1651000"/>
            <a:ext cx="355600" cy="355600"/>
          </a:xfrm>
          <a:prstGeom prst="rect">
            <a:avLst/>
          </a:prstGeom>
        </p:spPr>
      </p:pic>
      <p:sp>
        <p:nvSpPr>
          <p:cNvPr id="9" name="AutoShape 9"/>
          <p:cNvSpPr/>
          <p:nvPr/>
        </p:nvSpPr>
        <p:spPr>
          <a:xfrm>
            <a:off x="7061200" y="1600200"/>
            <a:ext cx="4064000" cy="4064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200" b="1" i="0" u="none" strike="noStrike">
                <a:solidFill>
                  <a:srgbClr val="0288D1"/>
                </a:solidFill>
                <a:latin typeface="Noto Sans SC"/>
                <a:ea typeface="Noto Sans SC"/>
                <a:cs typeface="Noto Sans SC"/>
                <a:sym typeface="Noto Sans SC"/>
              </a:rPr>
              <a:t>三步检索策略</a:t>
            </a:r>
            <a:endParaRPr lang="en-US" sz="1100"/>
          </a:p>
        </p:txBody>
      </p:sp>
      <p:sp>
        <p:nvSpPr>
          <p:cNvPr id="10" name="AutoShape 10"/>
          <p:cNvSpPr/>
          <p:nvPr/>
        </p:nvSpPr>
        <p:spPr>
          <a:xfrm>
            <a:off x="6604000" y="2159000"/>
            <a:ext cx="4572000" cy="698500"/>
          </a:xfrm>
          <a:prstGeom prst="roundRect">
            <a:avLst>
              <a:gd name="adj" fmla="val 9090"/>
            </a:avLst>
          </a:prstGeom>
          <a:solidFill>
            <a:srgbClr val="0288D1">
              <a:alpha val="8000"/>
            </a:srgbClr>
          </a:solidFill>
          <a:ln w="25400" cap="flat" cmpd="sng">
            <a:noFill/>
            <a:prstDash val="solid"/>
            <a:round/>
          </a:ln>
        </p:spPr>
        <p:txBody>
          <a:bodyPr vert="horz" wrap="square" lIns="63500" tIns="63500" rIns="63500" bIns="63500" rtlCol="0" anchor="ctr"/>
          <a:lstStyle/>
          <a:p>
            <a:pPr algn="ctr">
              <a:defRPr/>
            </a:pPr>
          </a:p>
        </p:txBody>
      </p:sp>
      <p:pic>
        <p:nvPicPr>
          <p:cNvPr id="11" name="Picture 11"/>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6731000" y="2324100"/>
            <a:ext cx="355600" cy="355600"/>
          </a:xfrm>
          <a:prstGeom prst="rect">
            <a:avLst/>
          </a:prstGeom>
        </p:spPr>
      </p:pic>
      <p:sp>
        <p:nvSpPr>
          <p:cNvPr id="12" name="AutoShape 12"/>
          <p:cNvSpPr/>
          <p:nvPr/>
        </p:nvSpPr>
        <p:spPr>
          <a:xfrm>
            <a:off x="7175500" y="2222500"/>
            <a:ext cx="3873500" cy="5715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0288D1"/>
                </a:solidFill>
                <a:latin typeface="Noto Sans SC"/>
                <a:ea typeface="Noto Sans SC"/>
                <a:cs typeface="Noto Sans SC"/>
                <a:sym typeface="Noto Sans SC"/>
              </a:rPr>
              <a:t>1. 分配重要性分数</a:t>
            </a:r>
            <a:endParaRPr lang="en-US" sz="1100"/>
          </a:p>
          <a:p>
            <a:pPr indent="0" algn="l">
              <a:lnSpc>
                <a:spcPct val="125000"/>
              </a:lnSpc>
            </a:pPr>
            <a:r>
              <a:rPr lang="en-US" sz="1400" b="0" i="0" u="none" strike="noStrike">
                <a:solidFill>
                  <a:srgbClr val="757575"/>
                </a:solidFill>
                <a:latin typeface="Noto Sans SC"/>
                <a:ea typeface="Noto Sans SC"/>
                <a:cs typeface="Noto Sans SC"/>
                <a:sym typeface="Noto Sans SC"/>
              </a:rPr>
              <a:t>为每个嵌入空间分配权重分数</a:t>
            </a:r>
            <a:endParaRPr lang="en-US" sz="1400" b="0" i="0" u="none" strike="noStrike">
              <a:solidFill>
                <a:srgbClr val="757575"/>
              </a:solidFill>
              <a:latin typeface="Noto Sans SC"/>
              <a:ea typeface="Noto Sans SC"/>
              <a:cs typeface="Noto Sans SC"/>
              <a:sym typeface="Noto Sans SC"/>
            </a:endParaRPr>
          </a:p>
        </p:txBody>
      </p:sp>
      <p:sp>
        <p:nvSpPr>
          <p:cNvPr id="13" name="AutoShape 13"/>
          <p:cNvSpPr/>
          <p:nvPr/>
        </p:nvSpPr>
        <p:spPr>
          <a:xfrm>
            <a:off x="6604000" y="2946400"/>
            <a:ext cx="4572000" cy="698500"/>
          </a:xfrm>
          <a:prstGeom prst="roundRect">
            <a:avLst>
              <a:gd name="adj" fmla="val 9090"/>
            </a:avLst>
          </a:prstGeom>
          <a:solidFill>
            <a:srgbClr val="0288D1">
              <a:alpha val="8000"/>
            </a:srgbClr>
          </a:solidFill>
          <a:ln w="25400" cap="flat" cmpd="sng">
            <a:noFill/>
            <a:prstDash val="solid"/>
            <a:round/>
          </a:ln>
        </p:spPr>
        <p:txBody>
          <a:bodyPr vert="horz" wrap="square" lIns="63500" tIns="63500" rIns="63500" bIns="63500" rtlCol="0" anchor="ctr"/>
          <a:lstStyle/>
          <a:p>
            <a:pPr algn="ctr">
              <a:defRPr/>
            </a:pPr>
          </a:p>
        </p:txBody>
      </p:sp>
      <p:pic>
        <p:nvPicPr>
          <p:cNvPr id="14" name="Picture 14"/>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731000" y="3111500"/>
            <a:ext cx="355600" cy="355600"/>
          </a:xfrm>
          <a:prstGeom prst="rect">
            <a:avLst/>
          </a:prstGeom>
        </p:spPr>
      </p:pic>
      <p:sp>
        <p:nvSpPr>
          <p:cNvPr id="15" name="AutoShape 15"/>
          <p:cNvSpPr/>
          <p:nvPr/>
        </p:nvSpPr>
        <p:spPr>
          <a:xfrm>
            <a:off x="7175500" y="3009900"/>
            <a:ext cx="3873500" cy="5715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0288D1"/>
                </a:solidFill>
                <a:latin typeface="Noto Sans SC"/>
                <a:ea typeface="Noto Sans SC"/>
                <a:cs typeface="Noto Sans SC"/>
                <a:sym typeface="Noto Sans SC"/>
              </a:rPr>
              <a:t>2. 独立检索</a:t>
            </a:r>
            <a:endParaRPr lang="en-US" sz="1100"/>
          </a:p>
          <a:p>
            <a:pPr indent="0" algn="l">
              <a:lnSpc>
                <a:spcPct val="125000"/>
              </a:lnSpc>
            </a:pPr>
            <a:r>
              <a:rPr lang="en-US" sz="1400" b="0" i="0" u="none" strike="noStrike">
                <a:solidFill>
                  <a:srgbClr val="757575"/>
                </a:solidFill>
                <a:latin typeface="Noto Sans SC"/>
                <a:ea typeface="Noto Sans SC"/>
                <a:cs typeface="Noto Sans SC"/>
                <a:sym typeface="Noto Sans SC"/>
              </a:rPr>
              <a:t>在每个空间独立执行标准RAG检索，返回c个最近邻</a:t>
            </a:r>
            <a:endParaRPr lang="en-US" sz="1400" b="0" i="0" u="none" strike="noStrike">
              <a:solidFill>
                <a:srgbClr val="757575"/>
              </a:solidFill>
              <a:latin typeface="Noto Sans SC"/>
              <a:ea typeface="Noto Sans SC"/>
              <a:cs typeface="Noto Sans SC"/>
              <a:sym typeface="Noto Sans SC"/>
            </a:endParaRPr>
          </a:p>
        </p:txBody>
      </p:sp>
      <p:sp>
        <p:nvSpPr>
          <p:cNvPr id="16" name="AutoShape 16"/>
          <p:cNvSpPr/>
          <p:nvPr/>
        </p:nvSpPr>
        <p:spPr>
          <a:xfrm>
            <a:off x="6604000" y="3733800"/>
            <a:ext cx="4572000" cy="698500"/>
          </a:xfrm>
          <a:prstGeom prst="roundRect">
            <a:avLst>
              <a:gd name="adj" fmla="val 9090"/>
            </a:avLst>
          </a:prstGeom>
          <a:solidFill>
            <a:srgbClr val="0288D1">
              <a:alpha val="8000"/>
            </a:srgbClr>
          </a:solidFill>
          <a:ln w="25400" cap="flat" cmpd="sng">
            <a:noFill/>
            <a:prstDash val="solid"/>
            <a:round/>
          </a:ln>
        </p:spPr>
        <p:txBody>
          <a:bodyPr vert="horz" wrap="square" lIns="63500" tIns="63500" rIns="63500" bIns="63500" rtlCol="0" anchor="ctr"/>
          <a:lstStyle/>
          <a:p>
            <a:pPr algn="ctr">
              <a:defRPr/>
            </a:pPr>
          </a:p>
        </p:txBody>
      </p:sp>
      <p:pic>
        <p:nvPicPr>
          <p:cNvPr id="17" name="Picture 17"/>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6731000" y="3898900"/>
            <a:ext cx="355600" cy="355600"/>
          </a:xfrm>
          <a:prstGeom prst="rect">
            <a:avLst/>
          </a:prstGeom>
        </p:spPr>
      </p:pic>
      <p:sp>
        <p:nvSpPr>
          <p:cNvPr id="18" name="AutoShape 18"/>
          <p:cNvSpPr/>
          <p:nvPr/>
        </p:nvSpPr>
        <p:spPr>
          <a:xfrm>
            <a:off x="7175500" y="3797300"/>
            <a:ext cx="3873500" cy="5715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0288D1"/>
                </a:solidFill>
                <a:latin typeface="Noto Sans SC"/>
                <a:ea typeface="Noto Sans SC"/>
                <a:cs typeface="Noto Sans SC"/>
                <a:sym typeface="Noto Sans SC"/>
              </a:rPr>
              <a:t>3. 投票选择</a:t>
            </a:r>
            <a:endParaRPr lang="en-US" sz="1100"/>
          </a:p>
          <a:p>
            <a:pPr indent="0" algn="l">
              <a:lnSpc>
                <a:spcPct val="125000"/>
              </a:lnSpc>
            </a:pPr>
            <a:r>
              <a:rPr lang="en-US" sz="1400" b="0" i="0" u="none" strike="noStrike">
                <a:solidFill>
                  <a:srgbClr val="757575"/>
                </a:solidFill>
                <a:latin typeface="Noto Sans SC"/>
                <a:ea typeface="Noto Sans SC"/>
                <a:cs typeface="Noto Sans SC"/>
                <a:sym typeface="Noto Sans SC"/>
              </a:rPr>
              <a:t>结合分数投票选出总体Top-K个最相关文本块</a:t>
            </a:r>
            <a:endParaRPr lang="en-US" sz="1400" b="0" i="0" u="none" strike="noStrike">
              <a:solidFill>
                <a:srgbClr val="757575"/>
              </a:solidFill>
              <a:latin typeface="Noto Sans SC"/>
              <a:ea typeface="Noto Sans SC"/>
              <a:cs typeface="Noto Sans SC"/>
              <a:sym typeface="Noto Sans SC"/>
            </a:endParaRPr>
          </a:p>
        </p:txBody>
      </p:sp>
      <p:sp>
        <p:nvSpPr>
          <p:cNvPr id="19" name="AutoShape 19"/>
          <p:cNvSpPr/>
          <p:nvPr/>
        </p:nvSpPr>
        <p:spPr>
          <a:xfrm>
            <a:off x="762000" y="5207000"/>
            <a:ext cx="10668000" cy="1016000"/>
          </a:xfrm>
          <a:prstGeom prst="roundRect">
            <a:avLst>
              <a:gd name="adj" fmla="val 12500"/>
            </a:avLst>
          </a:prstGeom>
          <a:solidFill>
            <a:srgbClr val="FFFFFF">
              <a:alpha val="100000"/>
            </a:srgbClr>
          </a:solidFill>
          <a:ln w="12700" cap="flat" cmpd="sng">
            <a:solidFill>
              <a:srgbClr val="0288D1">
                <a:alpha val="100000"/>
              </a:srgbClr>
            </a:solidFill>
            <a:prstDash val="solid"/>
            <a:round/>
          </a:ln>
        </p:spPr>
        <p:txBody>
          <a:bodyPr vert="horz" wrap="square" lIns="63500" tIns="63500" rIns="63500" bIns="63500" rtlCol="0" anchor="ctr"/>
          <a:lstStyle/>
          <a:p>
            <a:pPr algn="ctr">
              <a:defRPr/>
            </a:pPr>
          </a:p>
        </p:txBody>
      </p:sp>
      <p:pic>
        <p:nvPicPr>
          <p:cNvPr id="20" name="Picture 20"/>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1016000" y="5461000"/>
            <a:ext cx="508000" cy="508000"/>
          </a:xfrm>
          <a:prstGeom prst="rect">
            <a:avLst/>
          </a:prstGeom>
        </p:spPr>
      </p:pic>
      <p:sp>
        <p:nvSpPr>
          <p:cNvPr id="21" name="AutoShape 21"/>
          <p:cNvSpPr/>
          <p:nvPr/>
        </p:nvSpPr>
        <p:spPr>
          <a:xfrm>
            <a:off x="1651000" y="5397500"/>
            <a:ext cx="9525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0" i="0" u="none" strike="noStrike">
                <a:solidFill>
                  <a:srgbClr val="757575"/>
                </a:solidFill>
                <a:latin typeface="Noto Sans SC"/>
                <a:ea typeface="Noto Sans SC"/>
                <a:cs typeface="Noto Sans SC"/>
                <a:sym typeface="Noto Sans SC"/>
              </a:rPr>
              <a:t>通过多空间存储与加权投票检索，MRAG能够综合多个注意力头的信息，显著提高检索的全面性与准确性。</a:t>
            </a:r>
            <a:endParaRPr lang="en-US" sz="110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E0F7FA">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635000"/>
            <a:ext cx="8051800" cy="508000"/>
          </a:xfrm>
          <a:prstGeom prst="rect">
            <a:avLst/>
          </a:prstGeom>
          <a:noFill/>
          <a:ln w="12700" cap="flat" cmpd="sng">
            <a:noFill/>
            <a:prstDash val="solid"/>
            <a:round/>
          </a:ln>
        </p:spPr>
        <p:txBody>
          <a:bodyPr vert="horz" wrap="none" lIns="0" tIns="0" rIns="0" bIns="0" rtlCol="0" anchor="ctr" anchorCtr="0"/>
          <a:lstStyle/>
          <a:p>
            <a:pPr indent="0" algn="l">
              <a:lnSpc>
                <a:spcPct val="125000"/>
              </a:lnSpc>
              <a:defRPr/>
            </a:pPr>
            <a:r>
              <a:rPr lang="en-US" sz="3200" b="1" i="0" u="none" strike="noStrike">
                <a:solidFill>
                  <a:srgbClr val="0288D1"/>
                </a:solidFill>
                <a:latin typeface="Noto Sans SC"/>
                <a:ea typeface="Noto Sans SC"/>
                <a:cs typeface="Noto Sans SC"/>
                <a:sym typeface="Noto Sans SC"/>
              </a:rPr>
              <a:t>3.2.3 多头RAG构建实战 - 环境准备</a:t>
            </a:r>
            <a:endParaRPr lang="en-US" sz="1100"/>
          </a:p>
        </p:txBody>
      </p:sp>
      <p:sp>
        <p:nvSpPr>
          <p:cNvPr id="3" name="AutoShape 3"/>
          <p:cNvSpPr/>
          <p:nvPr/>
        </p:nvSpPr>
        <p:spPr>
          <a:xfrm>
            <a:off x="762000" y="1524000"/>
            <a:ext cx="6096000" cy="3048000"/>
          </a:xfrm>
          <a:prstGeom prst="roundRect">
            <a:avLst>
              <a:gd name="adj" fmla="val 4166"/>
            </a:avLst>
          </a:prstGeom>
          <a:solidFill>
            <a:srgbClr val="21252B">
              <a:alpha val="100000"/>
            </a:srgbClr>
          </a:solidFill>
          <a:ln w="25400" cap="flat" cmpd="sng">
            <a:noFill/>
            <a:prstDash val="solid"/>
            <a:round/>
          </a:ln>
          <a:effectLst>
            <a:outerShdw blurRad="127000" dist="63500" dir="5400000" algn="tl" rotWithShape="0">
              <a:srgbClr val="000000">
                <a:alpha val="15000"/>
              </a:srgbClr>
            </a:outerShdw>
          </a:effectLst>
        </p:spPr>
        <p:txBody>
          <a:bodyPr vert="horz" wrap="square" lIns="63500" tIns="63500" rIns="63500" bIns="63500" rtlCol="0" anchor="ctr"/>
          <a:lstStyle/>
          <a:p>
            <a:pPr algn="ctr">
              <a:defRPr/>
            </a:pPr>
          </a:p>
        </p:txBody>
      </p:sp>
      <p:sp>
        <p:nvSpPr>
          <p:cNvPr id="4" name="AutoShape 4"/>
          <p:cNvSpPr/>
          <p:nvPr/>
        </p:nvSpPr>
        <p:spPr>
          <a:xfrm>
            <a:off x="762000" y="1524000"/>
            <a:ext cx="6096000" cy="381000"/>
          </a:xfrm>
          <a:prstGeom prst="roundRect">
            <a:avLst>
              <a:gd name="adj" fmla="val 0"/>
            </a:avLst>
          </a:prstGeom>
          <a:solidFill>
            <a:srgbClr val="30363D">
              <a:alpha val="100000"/>
            </a:srgbClr>
          </a:solidFill>
          <a:ln w="25400" cap="flat" cmpd="sng">
            <a:noFill/>
            <a:prstDash val="solid"/>
            <a:round/>
          </a:ln>
        </p:spPr>
        <p:txBody>
          <a:bodyPr vert="horz" wrap="square" lIns="63500" tIns="63500" rIns="63500" bIns="63500" rtlCol="0" anchor="ctr"/>
          <a:lstStyle/>
          <a:p>
            <a:pPr algn="ctr">
              <a:defRPr/>
            </a:pPr>
          </a:p>
        </p:txBody>
      </p:sp>
      <p:sp>
        <p:nvSpPr>
          <p:cNvPr id="5" name="AutoShape 5"/>
          <p:cNvSpPr/>
          <p:nvPr/>
        </p:nvSpPr>
        <p:spPr>
          <a:xfrm>
            <a:off x="952500" y="1651000"/>
            <a:ext cx="127000" cy="127000"/>
          </a:xfrm>
          <a:prstGeom prst="ellipse">
            <a:avLst/>
          </a:prstGeom>
          <a:solidFill>
            <a:srgbClr val="FF5F56">
              <a:alpha val="100000"/>
            </a:srgbClr>
          </a:solidFill>
          <a:ln w="25400" cap="flat" cmpd="sng">
            <a:noFill/>
            <a:prstDash val="solid"/>
            <a:round/>
          </a:ln>
        </p:spPr>
        <p:txBody>
          <a:bodyPr vert="horz" wrap="square" lIns="63500" tIns="63500" rIns="63500" bIns="63500" rtlCol="0" anchor="ctr"/>
          <a:lstStyle/>
          <a:p>
            <a:pPr algn="ctr">
              <a:defRPr/>
            </a:pPr>
          </a:p>
        </p:txBody>
      </p:sp>
      <p:sp>
        <p:nvSpPr>
          <p:cNvPr id="6" name="AutoShape 6"/>
          <p:cNvSpPr/>
          <p:nvPr/>
        </p:nvSpPr>
        <p:spPr>
          <a:xfrm>
            <a:off x="1206500" y="1651000"/>
            <a:ext cx="127000" cy="127000"/>
          </a:xfrm>
          <a:prstGeom prst="ellipse">
            <a:avLst/>
          </a:prstGeom>
          <a:solidFill>
            <a:srgbClr val="FFBD2E">
              <a:alpha val="100000"/>
            </a:srgbClr>
          </a:solidFill>
          <a:ln w="25400" cap="flat" cmpd="sng">
            <a:noFill/>
            <a:prstDash val="solid"/>
            <a:round/>
          </a:ln>
        </p:spPr>
        <p:txBody>
          <a:bodyPr vert="horz" wrap="square" lIns="63500" tIns="63500" rIns="63500" bIns="63500" rtlCol="0" anchor="ctr"/>
          <a:lstStyle/>
          <a:p>
            <a:pPr algn="ctr">
              <a:defRPr/>
            </a:pPr>
          </a:p>
        </p:txBody>
      </p:sp>
      <p:sp>
        <p:nvSpPr>
          <p:cNvPr id="7" name="AutoShape 7"/>
          <p:cNvSpPr/>
          <p:nvPr/>
        </p:nvSpPr>
        <p:spPr>
          <a:xfrm>
            <a:off x="1460500" y="1651000"/>
            <a:ext cx="127000" cy="127000"/>
          </a:xfrm>
          <a:prstGeom prst="ellipse">
            <a:avLst/>
          </a:prstGeom>
          <a:solidFill>
            <a:srgbClr val="27C93F">
              <a:alpha val="100000"/>
            </a:srgbClr>
          </a:solidFill>
          <a:ln w="25400" cap="flat" cmpd="sng">
            <a:noFill/>
            <a:prstDash val="solid"/>
            <a:round/>
          </a:ln>
        </p:spPr>
        <p:txBody>
          <a:bodyPr vert="horz" wrap="square" lIns="63500" tIns="63500" rIns="63500" bIns="63500" rtlCol="0" anchor="ctr"/>
          <a:lstStyle/>
          <a:p>
            <a:pPr algn="ctr">
              <a:defRPr/>
            </a:pPr>
          </a:p>
        </p:txBody>
      </p:sp>
      <p:sp>
        <p:nvSpPr>
          <p:cNvPr id="8" name="AutoShape 8"/>
          <p:cNvSpPr/>
          <p:nvPr/>
        </p:nvSpPr>
        <p:spPr>
          <a:xfrm>
            <a:off x="1778000" y="1574800"/>
            <a:ext cx="2540000" cy="254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200" b="0" i="0" u="none" strike="noStrike">
                <a:solidFill>
                  <a:srgbClr val="9DA5B4"/>
                </a:solidFill>
                <a:latin typeface="Roboto"/>
                <a:ea typeface="Roboto"/>
                <a:cs typeface="Roboto"/>
                <a:sym typeface="Roboto"/>
              </a:rPr>
              <a:t>bash — 80x24</a:t>
            </a:r>
            <a:endParaRPr lang="en-US" sz="1100"/>
          </a:p>
        </p:txBody>
      </p:sp>
      <p:sp>
        <p:nvSpPr>
          <p:cNvPr id="9" name="AutoShape 9"/>
          <p:cNvSpPr/>
          <p:nvPr/>
        </p:nvSpPr>
        <p:spPr>
          <a:xfrm>
            <a:off x="952500" y="2032000"/>
            <a:ext cx="5715000" cy="2413000"/>
          </a:xfrm>
          <a:prstGeom prst="rect">
            <a:avLst/>
          </a:prstGeom>
          <a:noFill/>
          <a:ln w="12700" cap="flat" cmpd="sng">
            <a:noFill/>
            <a:prstDash val="solid"/>
            <a:round/>
          </a:ln>
        </p:spPr>
        <p:txBody>
          <a:bodyPr vert="horz" wrap="square" lIns="0" tIns="0" rIns="0" bIns="0" rtlCol="0" anchor="t" anchorCtr="0"/>
          <a:lstStyle/>
          <a:p>
            <a:pPr indent="0" algn="l">
              <a:lnSpc>
                <a:spcPct val="108000"/>
              </a:lnSpc>
              <a:defRPr/>
            </a:pPr>
            <a:r>
              <a:rPr lang="en-US" sz="1400" b="0" i="0" u="none" strike="noStrike">
                <a:solidFill>
                  <a:srgbClr val="C678DD"/>
                </a:solidFill>
                <a:latin typeface="Roboto"/>
                <a:ea typeface="Roboto"/>
                <a:cs typeface="Roboto"/>
                <a:sym typeface="Roboto"/>
              </a:rPr>
              <a:t># 克隆项目仓库</a:t>
            </a:r>
            <a:endParaRPr lang="en-US" sz="1100"/>
          </a:p>
          <a:p>
            <a:pPr indent="0" algn="l">
              <a:lnSpc>
                <a:spcPct val="108000"/>
              </a:lnSpc>
            </a:pPr>
            <a:r>
              <a:rPr lang="en-US" sz="1400" b="0" i="0" u="none" strike="noStrike">
                <a:solidFill>
                  <a:srgbClr val="E5C07B"/>
                </a:solidFill>
                <a:latin typeface="Roboto"/>
                <a:ea typeface="Roboto"/>
                <a:cs typeface="Roboto"/>
                <a:sym typeface="Roboto"/>
              </a:rPr>
              <a:t>git clone</a:t>
            </a:r>
            <a:r>
              <a:rPr lang="en-US" sz="1400" b="0" i="0" u="none" strike="noStrike">
                <a:solidFill>
                  <a:srgbClr val="ABB2BF"/>
                </a:solidFill>
                <a:latin typeface="Roboto"/>
                <a:ea typeface="Roboto"/>
                <a:cs typeface="Roboto"/>
                <a:sym typeface="Roboto"/>
              </a:rPr>
              <a:t>https://github.com/spcl/MRAG.git</a:t>
            </a:r>
            <a:endParaRPr lang="en-US" sz="1400" b="0" i="0" u="none" strike="noStrike">
              <a:solidFill>
                <a:srgbClr val="ABB2BF"/>
              </a:solidFill>
              <a:latin typeface="Roboto"/>
              <a:ea typeface="Roboto"/>
              <a:cs typeface="Roboto"/>
              <a:sym typeface="Roboto"/>
            </a:endParaRPr>
          </a:p>
          <a:p>
            <a:pPr indent="0" algn="l">
              <a:lnSpc>
                <a:spcPct val="108000"/>
              </a:lnSpc>
            </a:pPr>
            <a:r>
              <a:rPr lang="en-US" sz="1400" b="0" i="0" u="none" strike="noStrike">
                <a:solidFill>
                  <a:srgbClr val="61AFEF"/>
                </a:solidFill>
                <a:latin typeface="Roboto"/>
                <a:ea typeface="Roboto"/>
                <a:cs typeface="Roboto"/>
                <a:sym typeface="Roboto"/>
              </a:rPr>
              <a:t>cd</a:t>
            </a:r>
            <a:r>
              <a:rPr lang="en-US" sz="1400" b="0" i="0" u="none" strike="noStrike">
                <a:solidFill>
                  <a:srgbClr val="ABB2BF"/>
                </a:solidFill>
                <a:latin typeface="Roboto"/>
                <a:ea typeface="Roboto"/>
                <a:cs typeface="Roboto"/>
                <a:sym typeface="Roboto"/>
              </a:rPr>
              <a:t>MRAG</a:t>
            </a:r>
            <a:endParaRPr lang="en-US" sz="1400" b="0" i="0" u="none" strike="noStrike">
              <a:solidFill>
                <a:srgbClr val="ABB2BF"/>
              </a:solidFill>
              <a:latin typeface="Roboto"/>
              <a:ea typeface="Roboto"/>
              <a:cs typeface="Roboto"/>
              <a:sym typeface="Roboto"/>
            </a:endParaRPr>
          </a:p>
          <a:p>
            <a:pPr indent="0" algn="l">
              <a:lnSpc>
                <a:spcPct val="108000"/>
              </a:lnSpc>
            </a:pPr>
          </a:p>
          <a:p>
            <a:pPr indent="0" algn="l">
              <a:lnSpc>
                <a:spcPct val="108000"/>
              </a:lnSpc>
            </a:pPr>
            <a:r>
              <a:rPr lang="en-US" sz="1400" b="0" i="0" u="none" strike="noStrike">
                <a:solidFill>
                  <a:srgbClr val="C678DD"/>
                </a:solidFill>
                <a:latin typeface="Roboto"/>
                <a:ea typeface="Roboto"/>
                <a:cs typeface="Roboto"/>
                <a:sym typeface="Roboto"/>
              </a:rPr>
              <a:t># 从源码安装MRAG</a:t>
            </a:r>
            <a:endParaRPr lang="en-US" sz="1400" b="0" i="0" u="none" strike="noStrike">
              <a:solidFill>
                <a:srgbClr val="C678DD"/>
              </a:solidFill>
              <a:latin typeface="Roboto"/>
              <a:ea typeface="Roboto"/>
              <a:cs typeface="Roboto"/>
              <a:sym typeface="Roboto"/>
            </a:endParaRPr>
          </a:p>
          <a:p>
            <a:pPr indent="0" algn="l">
              <a:lnSpc>
                <a:spcPct val="108000"/>
              </a:lnSpc>
            </a:pPr>
            <a:r>
              <a:rPr lang="en-US" sz="1400" b="0" i="0" u="none" strike="noStrike">
                <a:solidFill>
                  <a:srgbClr val="61AFEF"/>
                </a:solidFill>
                <a:latin typeface="Roboto"/>
                <a:ea typeface="Roboto"/>
                <a:cs typeface="Roboto"/>
                <a:sym typeface="Roboto"/>
              </a:rPr>
              <a:t>pip</a:t>
            </a:r>
            <a:r>
              <a:rPr lang="en-US" sz="1400" b="0" i="0" u="none" strike="noStrike">
                <a:solidFill>
                  <a:srgbClr val="ABB2BF"/>
                </a:solidFill>
                <a:latin typeface="Roboto"/>
                <a:ea typeface="Roboto"/>
                <a:cs typeface="Roboto"/>
                <a:sym typeface="Roboto"/>
              </a:rPr>
              <a:t>install .</a:t>
            </a:r>
            <a:endParaRPr lang="en-US" sz="1400" b="0" i="0" u="none" strike="noStrike">
              <a:solidFill>
                <a:srgbClr val="ABB2BF"/>
              </a:solidFill>
              <a:latin typeface="Roboto"/>
              <a:ea typeface="Roboto"/>
              <a:cs typeface="Roboto"/>
              <a:sym typeface="Roboto"/>
            </a:endParaRPr>
          </a:p>
          <a:p>
            <a:pPr indent="0" algn="l">
              <a:lnSpc>
                <a:spcPct val="108000"/>
              </a:lnSpc>
            </a:pPr>
          </a:p>
          <a:p>
            <a:pPr indent="0" algn="l">
              <a:lnSpc>
                <a:spcPct val="108000"/>
              </a:lnSpc>
            </a:pPr>
            <a:r>
              <a:rPr lang="en-US" sz="1400" b="0" i="0" u="none" strike="noStrike">
                <a:solidFill>
                  <a:srgbClr val="C678DD"/>
                </a:solidFill>
                <a:latin typeface="Roboto"/>
                <a:ea typeface="Roboto"/>
                <a:cs typeface="Roboto"/>
                <a:sym typeface="Roboto"/>
              </a:rPr>
              <a:t># 安装docker-compose（用于启动向量数据库）</a:t>
            </a:r>
            <a:endParaRPr lang="en-US" sz="1400" b="0" i="0" u="none" strike="noStrike">
              <a:solidFill>
                <a:srgbClr val="C678DD"/>
              </a:solidFill>
              <a:latin typeface="Roboto"/>
              <a:ea typeface="Roboto"/>
              <a:cs typeface="Roboto"/>
              <a:sym typeface="Roboto"/>
            </a:endParaRPr>
          </a:p>
          <a:p>
            <a:pPr indent="0" algn="l">
              <a:lnSpc>
                <a:spcPct val="108000"/>
              </a:lnSpc>
            </a:pPr>
            <a:r>
              <a:rPr lang="en-US" sz="1400" b="0" i="0" u="none" strike="noStrike">
                <a:solidFill>
                  <a:srgbClr val="61AFEF"/>
                </a:solidFill>
                <a:latin typeface="Roboto"/>
                <a:ea typeface="Roboto"/>
                <a:cs typeface="Roboto"/>
                <a:sym typeface="Roboto"/>
              </a:rPr>
              <a:t>apt-get</a:t>
            </a:r>
            <a:r>
              <a:rPr lang="en-US" sz="1400" b="0" i="0" u="none" strike="noStrike">
                <a:solidFill>
                  <a:srgbClr val="ABB2BF"/>
                </a:solidFill>
                <a:latin typeface="Roboto"/>
                <a:ea typeface="Roboto"/>
                <a:cs typeface="Roboto"/>
                <a:sym typeface="Roboto"/>
              </a:rPr>
              <a:t>install docker-compose</a:t>
            </a:r>
            <a:endParaRPr lang="en-US" sz="1400" b="0" i="0" u="none" strike="noStrike">
              <a:solidFill>
                <a:srgbClr val="ABB2BF"/>
              </a:solidFill>
              <a:latin typeface="Roboto"/>
              <a:ea typeface="Roboto"/>
              <a:cs typeface="Roboto"/>
              <a:sym typeface="Roboto"/>
            </a:endParaRPr>
          </a:p>
        </p:txBody>
      </p:sp>
      <p:sp>
        <p:nvSpPr>
          <p:cNvPr id="10" name="AutoShape 10"/>
          <p:cNvSpPr/>
          <p:nvPr/>
        </p:nvSpPr>
        <p:spPr>
          <a:xfrm>
            <a:off x="7112000" y="1524000"/>
            <a:ext cx="4318000" cy="3048000"/>
          </a:xfrm>
          <a:prstGeom prst="roundRect">
            <a:avLst>
              <a:gd name="adj" fmla="val 4166"/>
            </a:avLst>
          </a:prstGeom>
          <a:solidFill>
            <a:srgbClr val="FFFFFF">
              <a:alpha val="100000"/>
            </a:srgbClr>
          </a:solidFill>
          <a:ln w="25400" cap="flat" cmpd="sng">
            <a:noFill/>
            <a:prstDash val="solid"/>
            <a:round/>
          </a:ln>
          <a:effectLst>
            <a:outerShdw blurRad="101600" dist="50800" dir="5400000" algn="tl" rotWithShape="0">
              <a:srgbClr val="000000">
                <a:alpha val="5000"/>
              </a:srgbClr>
            </a:outerShdw>
          </a:effectLst>
        </p:spPr>
        <p:txBody>
          <a:bodyPr vert="horz" wrap="square" lIns="63500" tIns="63500" rIns="63500" bIns="63500" rtlCol="0" anchor="ctr"/>
          <a:lstStyle/>
          <a:p>
            <a:pPr algn="ctr">
              <a:defRPr/>
            </a:pPr>
          </a:p>
        </p:txBody>
      </p:sp>
      <p:pic>
        <p:nvPicPr>
          <p:cNvPr id="11" name="Picture 11"/>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7366000" y="1778000"/>
            <a:ext cx="304800" cy="304800"/>
          </a:xfrm>
          <a:prstGeom prst="rect">
            <a:avLst/>
          </a:prstGeom>
        </p:spPr>
      </p:pic>
      <p:sp>
        <p:nvSpPr>
          <p:cNvPr id="12" name="AutoShape 12"/>
          <p:cNvSpPr/>
          <p:nvPr/>
        </p:nvSpPr>
        <p:spPr>
          <a:xfrm>
            <a:off x="7810500" y="1752600"/>
            <a:ext cx="3429000" cy="3302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21252B"/>
                </a:solidFill>
                <a:latin typeface="Noto Sans SC"/>
                <a:ea typeface="Noto Sans SC"/>
                <a:cs typeface="Noto Sans SC"/>
                <a:sym typeface="Noto Sans SC"/>
              </a:rPr>
              <a:t>获取源码</a:t>
            </a:r>
            <a:endParaRPr lang="en-US" sz="1100"/>
          </a:p>
        </p:txBody>
      </p:sp>
      <p:sp>
        <p:nvSpPr>
          <p:cNvPr id="13" name="AutoShape 13"/>
          <p:cNvSpPr/>
          <p:nvPr/>
        </p:nvSpPr>
        <p:spPr>
          <a:xfrm>
            <a:off x="7810500" y="2082800"/>
            <a:ext cx="3429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0" i="0" u="none" strike="noStrike">
                <a:solidFill>
                  <a:srgbClr val="757575"/>
                </a:solidFill>
                <a:latin typeface="Noto Sans SC"/>
                <a:ea typeface="Noto Sans SC"/>
                <a:cs typeface="Noto Sans SC"/>
                <a:sym typeface="Noto Sans SC"/>
              </a:rPr>
              <a:t>通过Git命令克隆官方MRAG仓库到本地环境，确保获取最新代码。</a:t>
            </a:r>
            <a:endParaRPr lang="en-US" sz="1100"/>
          </a:p>
        </p:txBody>
      </p:sp>
      <p:pic>
        <p:nvPicPr>
          <p:cNvPr id="14" name="Picture 14"/>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7366000" y="2667000"/>
            <a:ext cx="304800" cy="304800"/>
          </a:xfrm>
          <a:prstGeom prst="rect">
            <a:avLst/>
          </a:prstGeom>
        </p:spPr>
      </p:pic>
      <p:sp>
        <p:nvSpPr>
          <p:cNvPr id="15" name="AutoShape 15"/>
          <p:cNvSpPr/>
          <p:nvPr/>
        </p:nvSpPr>
        <p:spPr>
          <a:xfrm>
            <a:off x="7810500" y="2641600"/>
            <a:ext cx="3429000" cy="3302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21252B"/>
                </a:solidFill>
                <a:latin typeface="Noto Sans SC"/>
                <a:ea typeface="Noto Sans SC"/>
                <a:cs typeface="Noto Sans SC"/>
                <a:sym typeface="Noto Sans SC"/>
              </a:rPr>
              <a:t>安装依赖</a:t>
            </a:r>
            <a:endParaRPr lang="en-US" sz="1100"/>
          </a:p>
        </p:txBody>
      </p:sp>
      <p:sp>
        <p:nvSpPr>
          <p:cNvPr id="16" name="AutoShape 16"/>
          <p:cNvSpPr/>
          <p:nvPr/>
        </p:nvSpPr>
        <p:spPr>
          <a:xfrm>
            <a:off x="7810500" y="2971800"/>
            <a:ext cx="3429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0" i="0" u="none" strike="noStrike">
                <a:solidFill>
                  <a:srgbClr val="757575"/>
                </a:solidFill>
                <a:latin typeface="Noto Sans SC"/>
                <a:ea typeface="Noto Sans SC"/>
                <a:cs typeface="Noto Sans SC"/>
                <a:sym typeface="Noto Sans SC"/>
              </a:rPr>
              <a:t>使用pip从源码安装MRAG包，解决所有Python依赖项。</a:t>
            </a:r>
            <a:endParaRPr lang="en-US" sz="1100"/>
          </a:p>
        </p:txBody>
      </p:sp>
      <p:pic>
        <p:nvPicPr>
          <p:cNvPr id="17" name="Picture 17"/>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7366000" y="3556000"/>
            <a:ext cx="304800" cy="304800"/>
          </a:xfrm>
          <a:prstGeom prst="rect">
            <a:avLst/>
          </a:prstGeom>
        </p:spPr>
      </p:pic>
      <p:sp>
        <p:nvSpPr>
          <p:cNvPr id="18" name="AutoShape 18"/>
          <p:cNvSpPr/>
          <p:nvPr/>
        </p:nvSpPr>
        <p:spPr>
          <a:xfrm>
            <a:off x="7810500" y="3530600"/>
            <a:ext cx="3429000" cy="3302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21252B"/>
                </a:solidFill>
                <a:latin typeface="Noto Sans SC"/>
                <a:ea typeface="Noto Sans SC"/>
                <a:cs typeface="Noto Sans SC"/>
                <a:sym typeface="Noto Sans SC"/>
              </a:rPr>
              <a:t>环境部署</a:t>
            </a:r>
            <a:endParaRPr lang="en-US" sz="1100"/>
          </a:p>
        </p:txBody>
      </p:sp>
      <p:sp>
        <p:nvSpPr>
          <p:cNvPr id="19" name="AutoShape 19"/>
          <p:cNvSpPr/>
          <p:nvPr/>
        </p:nvSpPr>
        <p:spPr>
          <a:xfrm>
            <a:off x="7810500" y="3860800"/>
            <a:ext cx="3429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0" i="0" u="none" strike="noStrike">
                <a:solidFill>
                  <a:srgbClr val="757575"/>
                </a:solidFill>
                <a:latin typeface="Noto Sans SC"/>
                <a:ea typeface="Noto Sans SC"/>
                <a:cs typeface="Noto Sans SC"/>
                <a:sym typeface="Noto Sans SC"/>
              </a:rPr>
              <a:t>安装Docker Compose，为后续启动向量数据库服务做好准备。</a:t>
            </a:r>
            <a:endParaRPr lang="en-US" sz="1100"/>
          </a:p>
        </p:txBody>
      </p:sp>
      <p:sp>
        <p:nvSpPr>
          <p:cNvPr id="20" name="AutoShape 20"/>
          <p:cNvSpPr/>
          <p:nvPr/>
        </p:nvSpPr>
        <p:spPr>
          <a:xfrm>
            <a:off x="762000" y="4953000"/>
            <a:ext cx="10668000" cy="762000"/>
          </a:xfrm>
          <a:prstGeom prst="roundRect">
            <a:avLst>
              <a:gd name="adj" fmla="val 16666"/>
            </a:avLst>
          </a:prstGeom>
          <a:solidFill>
            <a:srgbClr val="0288D1">
              <a:alpha val="10000"/>
            </a:srgbClr>
          </a:solidFill>
          <a:ln w="12700" cap="flat" cmpd="sng">
            <a:solidFill>
              <a:srgbClr val="0288D1">
                <a:alpha val="100000"/>
              </a:srgbClr>
            </a:solidFill>
            <a:prstDash val="dash"/>
            <a:round/>
          </a:ln>
        </p:spPr>
        <p:txBody>
          <a:bodyPr vert="horz" wrap="square" lIns="63500" tIns="63500" rIns="63500" bIns="63500" rtlCol="0" anchor="ctr"/>
          <a:lstStyle/>
          <a:p>
            <a:pPr algn="ctr">
              <a:defRPr/>
            </a:pPr>
          </a:p>
        </p:txBody>
      </p:sp>
      <p:pic>
        <p:nvPicPr>
          <p:cNvPr id="21" name="Picture 21"/>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1016000" y="5143500"/>
            <a:ext cx="381000" cy="381000"/>
          </a:xfrm>
          <a:prstGeom prst="rect">
            <a:avLst/>
          </a:prstGeom>
        </p:spPr>
      </p:pic>
      <p:sp>
        <p:nvSpPr>
          <p:cNvPr id="22" name="AutoShape 22"/>
          <p:cNvSpPr/>
          <p:nvPr/>
        </p:nvSpPr>
        <p:spPr>
          <a:xfrm>
            <a:off x="1524000" y="5105400"/>
            <a:ext cx="9652000" cy="4572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0288D1"/>
                </a:solidFill>
                <a:latin typeface="Noto Sans SC"/>
                <a:ea typeface="Noto Sans SC"/>
                <a:cs typeface="Noto Sans SC"/>
                <a:sym typeface="Noto Sans SC"/>
              </a:rPr>
              <a:t>环境要求：</a:t>
            </a:r>
            <a:r>
              <a:rPr lang="en-US" sz="1600" b="0" i="0" u="none" strike="noStrike">
                <a:solidFill>
                  <a:srgbClr val="757575"/>
                </a:solidFill>
                <a:latin typeface="Noto Sans SC"/>
                <a:ea typeface="Noto Sans SC"/>
                <a:cs typeface="Noto Sans SC"/>
                <a:sym typeface="Noto Sans SC"/>
              </a:rPr>
              <a:t>请确保您的系统已安装 Python 3.9 或更高版本，以保证MRAG及其依赖库的兼容性。</a:t>
            </a:r>
            <a:endParaRPr lang="en-US" sz="110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E0F7FA">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635000"/>
            <a:ext cx="3124200" cy="508000"/>
          </a:xfrm>
          <a:prstGeom prst="rect">
            <a:avLst/>
          </a:prstGeom>
          <a:noFill/>
          <a:ln w="12700" cap="flat" cmpd="sng">
            <a:noFill/>
            <a:prstDash val="solid"/>
            <a:round/>
          </a:ln>
        </p:spPr>
        <p:txBody>
          <a:bodyPr vert="horz" wrap="none" lIns="0" tIns="0" rIns="0" bIns="0" rtlCol="0" anchor="ctr" anchorCtr="0"/>
          <a:lstStyle/>
          <a:p>
            <a:pPr indent="0" algn="l">
              <a:lnSpc>
                <a:spcPct val="125000"/>
              </a:lnSpc>
              <a:defRPr/>
            </a:pPr>
            <a:r>
              <a:rPr lang="en-US" sz="3200" b="1" i="0" u="none" strike="noStrike">
                <a:solidFill>
                  <a:srgbClr val="0288D1"/>
                </a:solidFill>
                <a:latin typeface="Noto Sans SC"/>
                <a:ea typeface="Noto Sans SC"/>
                <a:cs typeface="Noto Sans SC"/>
                <a:sym typeface="Noto Sans SC"/>
              </a:rPr>
              <a:t>数据生成与嵌入</a:t>
            </a:r>
            <a:endParaRPr lang="en-US" sz="1100"/>
          </a:p>
        </p:txBody>
      </p:sp>
      <p:sp>
        <p:nvSpPr>
          <p:cNvPr id="3" name="AutoShape 3"/>
          <p:cNvSpPr/>
          <p:nvPr/>
        </p:nvSpPr>
        <p:spPr>
          <a:xfrm>
            <a:off x="762000" y="1397000"/>
            <a:ext cx="10668000" cy="1143000"/>
          </a:xfrm>
          <a:prstGeom prst="roundRect">
            <a:avLst>
              <a:gd name="adj" fmla="val 11111"/>
            </a:avLst>
          </a:prstGeom>
          <a:solidFill>
            <a:srgbClr val="FFFFFF">
              <a:alpha val="100000"/>
            </a:srgbClr>
          </a:solidFill>
          <a:ln w="25400" cap="flat" cmpd="sng">
            <a:noFill/>
            <a:prstDash val="solid"/>
            <a:round/>
          </a:ln>
          <a:effectLst>
            <a:outerShdw blurRad="127000" dist="50800" dir="5400000" algn="tl" rotWithShape="0">
              <a:srgbClr val="0288D1">
                <a:alpha val="15000"/>
              </a:srgbClr>
            </a:outerShdw>
          </a:effectLst>
        </p:spPr>
        <p:txBody>
          <a:bodyPr vert="horz" wrap="square" lIns="63500" tIns="63500" rIns="63500" bIns="63500" rtlCol="0" anchor="ctr"/>
          <a:lstStyle/>
          <a:p>
            <a:pPr algn="ctr">
              <a:defRPr/>
            </a:pPr>
          </a:p>
        </p:txBody>
      </p:sp>
      <p:pic>
        <p:nvPicPr>
          <p:cNvPr id="4" name="Picture 4"/>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016000" y="1714500"/>
            <a:ext cx="508000" cy="508000"/>
          </a:xfrm>
          <a:prstGeom prst="rect">
            <a:avLst/>
          </a:prstGeom>
        </p:spPr>
      </p:pic>
      <p:sp>
        <p:nvSpPr>
          <p:cNvPr id="5" name="AutoShape 5"/>
          <p:cNvSpPr/>
          <p:nvPr/>
        </p:nvSpPr>
        <p:spPr>
          <a:xfrm>
            <a:off x="1714500" y="1524000"/>
            <a:ext cx="9398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0288D1"/>
                </a:solidFill>
                <a:latin typeface="Noto Sans SC"/>
                <a:ea typeface="Noto Sans SC"/>
                <a:cs typeface="Noto Sans SC"/>
                <a:sym typeface="Noto Sans SC"/>
              </a:rPr>
              <a:t>生成合成数据与查询</a:t>
            </a:r>
            <a:endParaRPr lang="en-US" sz="1100"/>
          </a:p>
        </p:txBody>
      </p:sp>
      <p:sp>
        <p:nvSpPr>
          <p:cNvPr id="6" name="AutoShape 6"/>
          <p:cNvSpPr/>
          <p:nvPr/>
        </p:nvSpPr>
        <p:spPr>
          <a:xfrm>
            <a:off x="1714500" y="1879600"/>
            <a:ext cx="9398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1" i="0" u="none" strike="noStrike">
                <a:solidFill>
                  <a:srgbClr val="757575"/>
                </a:solidFill>
                <a:latin typeface="Roboto"/>
                <a:ea typeface="Roboto"/>
                <a:cs typeface="Roboto"/>
                <a:sym typeface="Roboto"/>
              </a:rPr>
              <a:t>multirag-cli datagen</a:t>
            </a:r>
            <a:r>
              <a:rPr lang="en-US" sz="1400" b="0" i="0" u="none" strike="noStrike">
                <a:solidFill>
                  <a:srgbClr val="757575"/>
                </a:solidFill>
                <a:latin typeface="Noto Sans SC"/>
                <a:ea typeface="Noto Sans SC"/>
                <a:cs typeface="Noto Sans SC"/>
                <a:sym typeface="Noto Sans SC"/>
              </a:rPr>
              <a:t>—— 使用MRAG命令行工具快速生成测试所需的合成数据集和查询样本。</a:t>
            </a:r>
            <a:endParaRPr lang="en-US" sz="1100"/>
          </a:p>
        </p:txBody>
      </p:sp>
      <p:sp>
        <p:nvSpPr>
          <p:cNvPr id="7" name="AutoShape 7"/>
          <p:cNvSpPr/>
          <p:nvPr/>
        </p:nvSpPr>
        <p:spPr>
          <a:xfrm>
            <a:off x="762000" y="2730500"/>
            <a:ext cx="10668000" cy="1143000"/>
          </a:xfrm>
          <a:prstGeom prst="roundRect">
            <a:avLst>
              <a:gd name="adj" fmla="val 11111"/>
            </a:avLst>
          </a:prstGeom>
          <a:solidFill>
            <a:srgbClr val="FFFFFF">
              <a:alpha val="100000"/>
            </a:srgbClr>
          </a:solidFill>
          <a:ln w="25400" cap="flat" cmpd="sng">
            <a:noFill/>
            <a:prstDash val="solid"/>
            <a:round/>
          </a:ln>
          <a:effectLst>
            <a:outerShdw blurRad="127000" dist="50800" dir="5400000" algn="tl" rotWithShape="0">
              <a:srgbClr val="0288D1">
                <a:alpha val="15000"/>
              </a:srgbClr>
            </a:outerShdw>
          </a:effectLst>
        </p:spPr>
        <p:txBody>
          <a:bodyPr vert="horz" wrap="square" lIns="63500" tIns="63500" rIns="63500" bIns="63500" rtlCol="0" anchor="ctr"/>
          <a:lstStyle/>
          <a:p>
            <a:pPr algn="ctr">
              <a:defRPr/>
            </a:pPr>
          </a:p>
        </p:txBody>
      </p:sp>
      <p:pic>
        <p:nvPicPr>
          <p:cNvPr id="8" name="Picture 8"/>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16000" y="3048000"/>
            <a:ext cx="508000" cy="508000"/>
          </a:xfrm>
          <a:prstGeom prst="rect">
            <a:avLst/>
          </a:prstGeom>
        </p:spPr>
      </p:pic>
      <p:sp>
        <p:nvSpPr>
          <p:cNvPr id="9" name="AutoShape 9"/>
          <p:cNvSpPr/>
          <p:nvPr/>
        </p:nvSpPr>
        <p:spPr>
          <a:xfrm>
            <a:off x="1714500" y="2857500"/>
            <a:ext cx="9398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0288D1"/>
                </a:solidFill>
                <a:latin typeface="Noto Sans SC"/>
                <a:ea typeface="Noto Sans SC"/>
                <a:cs typeface="Noto Sans SC"/>
                <a:sym typeface="Noto Sans SC"/>
              </a:rPr>
              <a:t>配置OpenAI API密钥</a:t>
            </a:r>
            <a:endParaRPr lang="en-US" sz="1100"/>
          </a:p>
        </p:txBody>
      </p:sp>
      <p:sp>
        <p:nvSpPr>
          <p:cNvPr id="10" name="AutoShape 10"/>
          <p:cNvSpPr/>
          <p:nvPr/>
        </p:nvSpPr>
        <p:spPr>
          <a:xfrm>
            <a:off x="1714500" y="3213100"/>
            <a:ext cx="9398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1" i="0" u="none" strike="noStrike">
                <a:solidFill>
                  <a:srgbClr val="757575"/>
                </a:solidFill>
                <a:latin typeface="Roboto"/>
                <a:ea typeface="Roboto"/>
                <a:cs typeface="Roboto"/>
                <a:sym typeface="Roboto"/>
              </a:rPr>
              <a:t>export OPENAI_API_KEY=&lt;your-api-key&gt;</a:t>
            </a:r>
            <a:r>
              <a:rPr lang="en-US" sz="1400" b="0" i="0" u="none" strike="noStrike">
                <a:solidFill>
                  <a:srgbClr val="757575"/>
                </a:solidFill>
                <a:latin typeface="Noto Sans SC"/>
                <a:ea typeface="Noto Sans SC"/>
                <a:cs typeface="Noto Sans SC"/>
                <a:sym typeface="Noto Sans SC"/>
              </a:rPr>
              <a:t>—— 设置环境变量，授权模型调用权限，用于后续生成嵌入向量。</a:t>
            </a:r>
            <a:endParaRPr lang="en-US" sz="1100"/>
          </a:p>
        </p:txBody>
      </p:sp>
      <p:sp>
        <p:nvSpPr>
          <p:cNvPr id="11" name="AutoShape 11"/>
          <p:cNvSpPr/>
          <p:nvPr/>
        </p:nvSpPr>
        <p:spPr>
          <a:xfrm>
            <a:off x="762000" y="4064000"/>
            <a:ext cx="10668000" cy="1143000"/>
          </a:xfrm>
          <a:prstGeom prst="roundRect">
            <a:avLst>
              <a:gd name="adj" fmla="val 11111"/>
            </a:avLst>
          </a:prstGeom>
          <a:solidFill>
            <a:srgbClr val="FFFFFF">
              <a:alpha val="100000"/>
            </a:srgbClr>
          </a:solidFill>
          <a:ln w="25400" cap="flat" cmpd="sng">
            <a:noFill/>
            <a:prstDash val="solid"/>
            <a:round/>
          </a:ln>
          <a:effectLst>
            <a:outerShdw blurRad="127000" dist="50800" dir="5400000" algn="tl" rotWithShape="0">
              <a:srgbClr val="0288D1">
                <a:alpha val="15000"/>
              </a:srgbClr>
            </a:outerShdw>
          </a:effectLst>
        </p:spPr>
        <p:txBody>
          <a:bodyPr vert="horz" wrap="square" lIns="63500" tIns="63500" rIns="63500" bIns="63500" rtlCol="0" anchor="ctr"/>
          <a:lstStyle/>
          <a:p>
            <a:pPr algn="ctr">
              <a:defRPr/>
            </a:pPr>
          </a:p>
        </p:txBody>
      </p:sp>
      <p:pic>
        <p:nvPicPr>
          <p:cNvPr id="12" name="Picture 12"/>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016000" y="4381500"/>
            <a:ext cx="508000" cy="508000"/>
          </a:xfrm>
          <a:prstGeom prst="rect">
            <a:avLst/>
          </a:prstGeom>
        </p:spPr>
      </p:pic>
      <p:sp>
        <p:nvSpPr>
          <p:cNvPr id="13" name="AutoShape 13"/>
          <p:cNvSpPr/>
          <p:nvPr/>
        </p:nvSpPr>
        <p:spPr>
          <a:xfrm>
            <a:off x="1714500" y="4191000"/>
            <a:ext cx="9398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0288D1"/>
                </a:solidFill>
                <a:latin typeface="Noto Sans SC"/>
                <a:ea typeface="Noto Sans SC"/>
                <a:cs typeface="Noto Sans SC"/>
                <a:sym typeface="Noto Sans SC"/>
              </a:rPr>
              <a:t>生成多方面嵌入向量</a:t>
            </a:r>
            <a:endParaRPr lang="en-US" sz="1100"/>
          </a:p>
        </p:txBody>
      </p:sp>
      <p:sp>
        <p:nvSpPr>
          <p:cNvPr id="14" name="AutoShape 14"/>
          <p:cNvSpPr/>
          <p:nvPr/>
        </p:nvSpPr>
        <p:spPr>
          <a:xfrm>
            <a:off x="1714500" y="4546600"/>
            <a:ext cx="9398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1" i="0" u="none" strike="noStrike">
                <a:solidFill>
                  <a:srgbClr val="757575"/>
                </a:solidFill>
                <a:latin typeface="Roboto"/>
                <a:ea typeface="Roboto"/>
                <a:cs typeface="Roboto"/>
                <a:sym typeface="Roboto"/>
              </a:rPr>
              <a:t>multirag-cli embed</a:t>
            </a:r>
            <a:r>
              <a:rPr lang="en-US" sz="1400" b="0" i="0" u="none" strike="noStrike">
                <a:solidFill>
                  <a:srgbClr val="757575"/>
                </a:solidFill>
                <a:latin typeface="Noto Sans SC"/>
                <a:ea typeface="Noto Sans SC"/>
                <a:cs typeface="Noto Sans SC"/>
                <a:sym typeface="Noto Sans SC"/>
              </a:rPr>
              <a:t>—— 基于Salesforce/SFR-Embedding-Mistral模型，为数据集和查询生成多方面的嵌入向量。</a:t>
            </a:r>
            <a:endParaRPr lang="en-US" sz="1100"/>
          </a:p>
        </p:txBody>
      </p:sp>
      <p:sp>
        <p:nvSpPr>
          <p:cNvPr id="15" name="AutoShape 15"/>
          <p:cNvSpPr/>
          <p:nvPr/>
        </p:nvSpPr>
        <p:spPr>
          <a:xfrm>
            <a:off x="762000" y="5461000"/>
            <a:ext cx="10668000" cy="762000"/>
          </a:xfrm>
          <a:prstGeom prst="roundRect">
            <a:avLst>
              <a:gd name="adj" fmla="val 16666"/>
            </a:avLst>
          </a:prstGeom>
          <a:solidFill>
            <a:srgbClr val="0288D1">
              <a:alpha val="10000"/>
            </a:srgbClr>
          </a:solidFill>
          <a:ln w="12700" cap="flat" cmpd="sng">
            <a:solidFill>
              <a:srgbClr val="0288D1">
                <a:alpha val="100000"/>
              </a:srgbClr>
            </a:solidFill>
            <a:prstDash val="dash"/>
            <a:round/>
          </a:ln>
        </p:spPr>
        <p:txBody>
          <a:bodyPr vert="horz" wrap="square" lIns="63500" tIns="63500" rIns="63500" bIns="63500" rtlCol="0" anchor="ctr"/>
          <a:lstStyle/>
          <a:p>
            <a:pPr algn="ctr">
              <a:defRPr/>
            </a:pPr>
          </a:p>
        </p:txBody>
      </p:sp>
      <p:pic>
        <p:nvPicPr>
          <p:cNvPr id="16" name="Picture 16"/>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1016000" y="5651500"/>
            <a:ext cx="381000" cy="381000"/>
          </a:xfrm>
          <a:prstGeom prst="rect">
            <a:avLst/>
          </a:prstGeom>
        </p:spPr>
      </p:pic>
      <p:sp>
        <p:nvSpPr>
          <p:cNvPr id="17" name="AutoShape 17"/>
          <p:cNvSpPr/>
          <p:nvPr/>
        </p:nvSpPr>
        <p:spPr>
          <a:xfrm>
            <a:off x="1524000" y="5588000"/>
            <a:ext cx="9652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0288D1"/>
                </a:solidFill>
                <a:latin typeface="Noto Sans SC"/>
                <a:ea typeface="Noto Sans SC"/>
                <a:cs typeface="Noto Sans SC"/>
                <a:sym typeface="Noto Sans SC"/>
              </a:rPr>
              <a:t>关键说明：</a:t>
            </a:r>
            <a:r>
              <a:rPr lang="en-US" sz="1600" b="0" i="0" u="none" strike="noStrike">
                <a:solidFill>
                  <a:srgbClr val="757575"/>
                </a:solidFill>
                <a:latin typeface="Noto Sans SC"/>
                <a:ea typeface="Noto Sans SC"/>
                <a:cs typeface="Noto Sans SC"/>
                <a:sym typeface="Noto Sans SC"/>
              </a:rPr>
              <a:t>执行</a:t>
            </a:r>
            <a:r>
              <a:rPr lang="en-US" sz="1600" b="1" i="0" u="none" strike="noStrike">
                <a:solidFill>
                  <a:srgbClr val="757575"/>
                </a:solidFill>
                <a:latin typeface="Roboto"/>
                <a:ea typeface="Roboto"/>
                <a:cs typeface="Roboto"/>
                <a:sym typeface="Roboto"/>
              </a:rPr>
              <a:t>multirag-cli embed</a:t>
            </a:r>
            <a:r>
              <a:rPr lang="en-US" sz="1600" b="0" i="0" u="none" strike="noStrike">
                <a:solidFill>
                  <a:srgbClr val="757575"/>
                </a:solidFill>
                <a:latin typeface="Noto Sans SC"/>
                <a:ea typeface="Noto Sans SC"/>
                <a:cs typeface="Noto Sans SC"/>
                <a:sym typeface="Noto Sans SC"/>
              </a:rPr>
              <a:t>命令时，系统会自动为每个文本块生成多方面的嵌入向量，这是MRAG实现高效检索的核心步骤。</a:t>
            </a:r>
            <a:endParaRPr lang="en-US" sz="110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E0F7FA">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635000"/>
            <a:ext cx="3581400" cy="508000"/>
          </a:xfrm>
          <a:prstGeom prst="rect">
            <a:avLst/>
          </a:prstGeom>
          <a:noFill/>
          <a:ln w="12700" cap="flat" cmpd="sng">
            <a:noFill/>
            <a:prstDash val="solid"/>
            <a:round/>
          </a:ln>
        </p:spPr>
        <p:txBody>
          <a:bodyPr vert="horz" wrap="none" lIns="0" tIns="0" rIns="0" bIns="0" rtlCol="0" anchor="ctr" anchorCtr="0"/>
          <a:lstStyle/>
          <a:p>
            <a:pPr indent="0" algn="l">
              <a:lnSpc>
                <a:spcPct val="125000"/>
              </a:lnSpc>
              <a:defRPr/>
            </a:pPr>
            <a:r>
              <a:rPr lang="en-US" sz="3200" b="1" i="0" u="none" strike="noStrike">
                <a:solidFill>
                  <a:srgbClr val="0288D1"/>
                </a:solidFill>
                <a:latin typeface="Noto Sans SC"/>
                <a:ea typeface="Noto Sans SC"/>
                <a:cs typeface="Noto Sans SC"/>
                <a:sym typeface="Noto Sans SC"/>
              </a:rPr>
              <a:t>数据库设置与评估</a:t>
            </a:r>
            <a:endParaRPr lang="en-US" sz="1100"/>
          </a:p>
        </p:txBody>
      </p:sp>
      <p:sp>
        <p:nvSpPr>
          <p:cNvPr id="3" name="AutoShape 3"/>
          <p:cNvSpPr/>
          <p:nvPr/>
        </p:nvSpPr>
        <p:spPr>
          <a:xfrm>
            <a:off x="762000" y="1524000"/>
            <a:ext cx="10668000" cy="1016000"/>
          </a:xfrm>
          <a:prstGeom prst="roundRect">
            <a:avLst>
              <a:gd name="adj" fmla="val 12500"/>
            </a:avLst>
          </a:prstGeom>
          <a:solidFill>
            <a:srgbClr val="FFFFFF">
              <a:alpha val="100000"/>
            </a:srgbClr>
          </a:solidFill>
          <a:ln w="25400" cap="flat" cmpd="sng">
            <a:noFill/>
            <a:prstDash val="solid"/>
            <a:round/>
          </a:ln>
          <a:effectLst>
            <a:outerShdw blurRad="101600" dist="50800" dir="5400000" algn="tl" rotWithShape="0">
              <a:srgbClr val="0288D1">
                <a:alpha val="15000"/>
              </a:srgbClr>
            </a:outerShdw>
          </a:effectLst>
        </p:spPr>
        <p:txBody>
          <a:bodyPr vert="horz" wrap="square" lIns="63500" tIns="63500" rIns="63500" bIns="63500" rtlCol="0" anchor="ctr"/>
          <a:lstStyle/>
          <a:p>
            <a:pPr algn="ctr">
              <a:defRPr/>
            </a:pPr>
          </a:p>
        </p:txBody>
      </p:sp>
      <p:pic>
        <p:nvPicPr>
          <p:cNvPr id="4" name="Picture 4"/>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016000" y="1778000"/>
            <a:ext cx="508000" cy="508000"/>
          </a:xfrm>
          <a:prstGeom prst="rect">
            <a:avLst/>
          </a:prstGeom>
        </p:spPr>
      </p:pic>
      <p:sp>
        <p:nvSpPr>
          <p:cNvPr id="5" name="AutoShape 5"/>
          <p:cNvSpPr/>
          <p:nvPr/>
        </p:nvSpPr>
        <p:spPr>
          <a:xfrm>
            <a:off x="1778000" y="1651000"/>
            <a:ext cx="9398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0288D1"/>
                </a:solidFill>
                <a:latin typeface="Noto Sans SC"/>
                <a:ea typeface="Noto Sans SC"/>
                <a:cs typeface="Noto Sans SC"/>
                <a:sym typeface="Noto Sans SC"/>
              </a:rPr>
              <a:t>启动向量数据库</a:t>
            </a:r>
            <a:endParaRPr lang="en-US" sz="1100"/>
          </a:p>
        </p:txBody>
      </p:sp>
      <p:sp>
        <p:nvSpPr>
          <p:cNvPr id="6" name="AutoShape 6"/>
          <p:cNvSpPr/>
          <p:nvPr/>
        </p:nvSpPr>
        <p:spPr>
          <a:xfrm>
            <a:off x="1778000" y="2006600"/>
            <a:ext cx="9398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1" i="0" u="none" strike="noStrike">
                <a:solidFill>
                  <a:srgbClr val="757575"/>
                </a:solidFill>
                <a:latin typeface="Roboto"/>
                <a:ea typeface="Roboto"/>
                <a:cs typeface="Roboto"/>
                <a:sym typeface="Roboto"/>
              </a:rPr>
              <a:t>multirag-cli db start</a:t>
            </a:r>
            <a:r>
              <a:rPr lang="en-US" sz="1400" b="0" i="0" u="none" strike="noStrike">
                <a:solidFill>
                  <a:srgbClr val="757575"/>
                </a:solidFill>
                <a:latin typeface="Noto Sans SC"/>
                <a:ea typeface="Noto Sans SC"/>
                <a:cs typeface="Noto Sans SC"/>
                <a:sym typeface="Noto Sans SC"/>
              </a:rPr>
              <a:t># 使用Docker快速启动数据库服务</a:t>
            </a:r>
            <a:endParaRPr lang="en-US" sz="1100"/>
          </a:p>
        </p:txBody>
      </p:sp>
      <p:sp>
        <p:nvSpPr>
          <p:cNvPr id="7" name="AutoShape 7"/>
          <p:cNvSpPr/>
          <p:nvPr/>
        </p:nvSpPr>
        <p:spPr>
          <a:xfrm>
            <a:off x="762000" y="2667000"/>
            <a:ext cx="10668000" cy="1016000"/>
          </a:xfrm>
          <a:prstGeom prst="roundRect">
            <a:avLst>
              <a:gd name="adj" fmla="val 12500"/>
            </a:avLst>
          </a:prstGeom>
          <a:solidFill>
            <a:srgbClr val="FFFFFF">
              <a:alpha val="100000"/>
            </a:srgbClr>
          </a:solidFill>
          <a:ln w="25400" cap="flat" cmpd="sng">
            <a:noFill/>
            <a:prstDash val="solid"/>
            <a:round/>
          </a:ln>
          <a:effectLst>
            <a:outerShdw blurRad="101600" dist="50800" dir="5400000" algn="tl" rotWithShape="0">
              <a:srgbClr val="0288D1">
                <a:alpha val="15000"/>
              </a:srgbClr>
            </a:outerShdw>
          </a:effectLst>
        </p:spPr>
        <p:txBody>
          <a:bodyPr vert="horz" wrap="square" lIns="63500" tIns="63500" rIns="63500" bIns="63500" rtlCol="0" anchor="ctr"/>
          <a:lstStyle/>
          <a:p>
            <a:pPr algn="ctr">
              <a:defRPr/>
            </a:pPr>
          </a:p>
        </p:txBody>
      </p:sp>
      <p:pic>
        <p:nvPicPr>
          <p:cNvPr id="8" name="Picture 8"/>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16000" y="2921000"/>
            <a:ext cx="508000" cy="508000"/>
          </a:xfrm>
          <a:prstGeom prst="rect">
            <a:avLst/>
          </a:prstGeom>
        </p:spPr>
      </p:pic>
      <p:sp>
        <p:nvSpPr>
          <p:cNvPr id="9" name="AutoShape 9"/>
          <p:cNvSpPr/>
          <p:nvPr/>
        </p:nvSpPr>
        <p:spPr>
          <a:xfrm>
            <a:off x="1778000" y="2794000"/>
            <a:ext cx="9398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0288D1"/>
                </a:solidFill>
                <a:latin typeface="Noto Sans SC"/>
                <a:ea typeface="Noto Sans SC"/>
                <a:cs typeface="Noto Sans SC"/>
                <a:sym typeface="Noto Sans SC"/>
              </a:rPr>
              <a:t>导入嵌入数据</a:t>
            </a:r>
            <a:endParaRPr lang="en-US" sz="1100"/>
          </a:p>
        </p:txBody>
      </p:sp>
      <p:sp>
        <p:nvSpPr>
          <p:cNvPr id="10" name="AutoShape 10"/>
          <p:cNvSpPr/>
          <p:nvPr/>
        </p:nvSpPr>
        <p:spPr>
          <a:xfrm>
            <a:off x="1778000" y="3149600"/>
            <a:ext cx="9398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1" i="0" u="none" strike="noStrike">
                <a:solidFill>
                  <a:srgbClr val="757575"/>
                </a:solidFill>
                <a:latin typeface="Roboto"/>
                <a:ea typeface="Roboto"/>
                <a:cs typeface="Roboto"/>
                <a:sym typeface="Roboto"/>
              </a:rPr>
              <a:t>multirag-cli db import</a:t>
            </a:r>
            <a:r>
              <a:rPr lang="en-US" sz="1400" b="0" i="0" u="none" strike="noStrike">
                <a:solidFill>
                  <a:srgbClr val="757575"/>
                </a:solidFill>
                <a:latin typeface="Noto Sans SC"/>
                <a:ea typeface="Noto Sans SC"/>
                <a:cs typeface="Noto Sans SC"/>
                <a:sym typeface="Noto Sans SC"/>
              </a:rPr>
              <a:t># 将生成的嵌入数据批量导入数据库</a:t>
            </a:r>
            <a:endParaRPr lang="en-US" sz="1100"/>
          </a:p>
        </p:txBody>
      </p:sp>
      <p:sp>
        <p:nvSpPr>
          <p:cNvPr id="11" name="AutoShape 11"/>
          <p:cNvSpPr/>
          <p:nvPr/>
        </p:nvSpPr>
        <p:spPr>
          <a:xfrm>
            <a:off x="762000" y="3810000"/>
            <a:ext cx="10668000" cy="1016000"/>
          </a:xfrm>
          <a:prstGeom prst="roundRect">
            <a:avLst>
              <a:gd name="adj" fmla="val 12500"/>
            </a:avLst>
          </a:prstGeom>
          <a:solidFill>
            <a:srgbClr val="FFFFFF">
              <a:alpha val="100000"/>
            </a:srgbClr>
          </a:solidFill>
          <a:ln w="25400" cap="flat" cmpd="sng">
            <a:noFill/>
            <a:prstDash val="solid"/>
            <a:round/>
          </a:ln>
          <a:effectLst>
            <a:outerShdw blurRad="101600" dist="50800" dir="5400000" algn="tl" rotWithShape="0">
              <a:srgbClr val="0288D1">
                <a:alpha val="15000"/>
              </a:srgbClr>
            </a:outerShdw>
          </a:effectLst>
        </p:spPr>
        <p:txBody>
          <a:bodyPr vert="horz" wrap="square" lIns="63500" tIns="63500" rIns="63500" bIns="63500" rtlCol="0" anchor="ctr"/>
          <a:lstStyle/>
          <a:p>
            <a:pPr algn="ctr">
              <a:defRPr/>
            </a:pPr>
          </a:p>
        </p:txBody>
      </p:sp>
      <p:pic>
        <p:nvPicPr>
          <p:cNvPr id="12" name="Picture 12"/>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016000" y="4064000"/>
            <a:ext cx="508000" cy="508000"/>
          </a:xfrm>
          <a:prstGeom prst="rect">
            <a:avLst/>
          </a:prstGeom>
        </p:spPr>
      </p:pic>
      <p:sp>
        <p:nvSpPr>
          <p:cNvPr id="13" name="AutoShape 13"/>
          <p:cNvSpPr/>
          <p:nvPr/>
        </p:nvSpPr>
        <p:spPr>
          <a:xfrm>
            <a:off x="1778000" y="3937000"/>
            <a:ext cx="9398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0288D1"/>
                </a:solidFill>
                <a:latin typeface="Noto Sans SC"/>
                <a:ea typeface="Noto Sans SC"/>
                <a:cs typeface="Noto Sans SC"/>
                <a:sym typeface="Noto Sans SC"/>
              </a:rPr>
              <a:t>运行检索策略评估</a:t>
            </a:r>
            <a:endParaRPr lang="en-US" sz="1100"/>
          </a:p>
        </p:txBody>
      </p:sp>
      <p:sp>
        <p:nvSpPr>
          <p:cNvPr id="14" name="AutoShape 14"/>
          <p:cNvSpPr/>
          <p:nvPr/>
        </p:nvSpPr>
        <p:spPr>
          <a:xfrm>
            <a:off x="1778000" y="4292600"/>
            <a:ext cx="9398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1" i="0" u="none" strike="noStrike">
                <a:solidFill>
                  <a:srgbClr val="757575"/>
                </a:solidFill>
                <a:latin typeface="Roboto"/>
                <a:ea typeface="Roboto"/>
                <a:cs typeface="Roboto"/>
                <a:sym typeface="Roboto"/>
              </a:rPr>
              <a:t>multirag-cli evaluate</a:t>
            </a:r>
            <a:r>
              <a:rPr lang="en-US" sz="1400" b="0" i="0" u="none" strike="noStrike">
                <a:solidFill>
                  <a:srgbClr val="757575"/>
                </a:solidFill>
                <a:latin typeface="Noto Sans SC"/>
                <a:ea typeface="Noto Sans SC"/>
                <a:cs typeface="Noto Sans SC"/>
                <a:sym typeface="Noto Sans SC"/>
              </a:rPr>
              <a:t># 对比MRAG与其他策略的性能表现</a:t>
            </a:r>
            <a:endParaRPr lang="en-US" sz="1100"/>
          </a:p>
        </p:txBody>
      </p:sp>
      <p:sp>
        <p:nvSpPr>
          <p:cNvPr id="15" name="AutoShape 15"/>
          <p:cNvSpPr/>
          <p:nvPr/>
        </p:nvSpPr>
        <p:spPr>
          <a:xfrm>
            <a:off x="762000" y="4953000"/>
            <a:ext cx="10668000" cy="1016000"/>
          </a:xfrm>
          <a:prstGeom prst="roundRect">
            <a:avLst>
              <a:gd name="adj" fmla="val 12500"/>
            </a:avLst>
          </a:prstGeom>
          <a:solidFill>
            <a:srgbClr val="FFFFFF">
              <a:alpha val="100000"/>
            </a:srgbClr>
          </a:solidFill>
          <a:ln w="25400" cap="flat" cmpd="sng">
            <a:noFill/>
            <a:prstDash val="solid"/>
            <a:round/>
          </a:ln>
          <a:effectLst>
            <a:outerShdw blurRad="101600" dist="50800" dir="5400000" algn="tl" rotWithShape="0">
              <a:srgbClr val="0288D1">
                <a:alpha val="15000"/>
              </a:srgbClr>
            </a:outerShdw>
          </a:effectLst>
        </p:spPr>
        <p:txBody>
          <a:bodyPr vert="horz" wrap="square" lIns="63500" tIns="63500" rIns="63500" bIns="63500" rtlCol="0" anchor="ctr"/>
          <a:lstStyle/>
          <a:p>
            <a:pPr algn="ctr">
              <a:defRPr/>
            </a:pPr>
          </a:p>
        </p:txBody>
      </p:sp>
      <p:pic>
        <p:nvPicPr>
          <p:cNvPr id="16" name="Picture 16"/>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1016000" y="5207000"/>
            <a:ext cx="508000" cy="508000"/>
          </a:xfrm>
          <a:prstGeom prst="rect">
            <a:avLst/>
          </a:prstGeom>
        </p:spPr>
      </p:pic>
      <p:sp>
        <p:nvSpPr>
          <p:cNvPr id="17" name="AutoShape 17"/>
          <p:cNvSpPr/>
          <p:nvPr/>
        </p:nvSpPr>
        <p:spPr>
          <a:xfrm>
            <a:off x="1778000" y="5080000"/>
            <a:ext cx="9398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0288D1"/>
                </a:solidFill>
                <a:latin typeface="Noto Sans SC"/>
                <a:ea typeface="Noto Sans SC"/>
                <a:cs typeface="Noto Sans SC"/>
                <a:sym typeface="Noto Sans SC"/>
              </a:rPr>
              <a:t>生成可视化图表</a:t>
            </a:r>
            <a:endParaRPr lang="en-US" sz="1100"/>
          </a:p>
        </p:txBody>
      </p:sp>
      <p:sp>
        <p:nvSpPr>
          <p:cNvPr id="18" name="AutoShape 18"/>
          <p:cNvSpPr/>
          <p:nvPr/>
        </p:nvSpPr>
        <p:spPr>
          <a:xfrm>
            <a:off x="1778000" y="5435600"/>
            <a:ext cx="9398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1" i="0" u="none" strike="noStrike">
                <a:solidFill>
                  <a:srgbClr val="757575"/>
                </a:solidFill>
                <a:latin typeface="Roboto"/>
                <a:ea typeface="Roboto"/>
                <a:cs typeface="Roboto"/>
                <a:sym typeface="Roboto"/>
              </a:rPr>
              <a:t>multirag-cli plot</a:t>
            </a:r>
            <a:r>
              <a:rPr lang="en-US" sz="1400" b="0" i="0" u="none" strike="noStrike">
                <a:solidFill>
                  <a:srgbClr val="757575"/>
                </a:solidFill>
                <a:latin typeface="Noto Sans SC"/>
                <a:ea typeface="Noto Sans SC"/>
                <a:cs typeface="Noto Sans SC"/>
                <a:sym typeface="Noto Sans SC"/>
              </a:rPr>
              <a:t># 生成直观的图表展示评估结果</a:t>
            </a:r>
            <a:endParaRPr lang="en-US" sz="110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E0F7FA">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635000"/>
            <a:ext cx="10668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0288D1"/>
                </a:solidFill>
                <a:latin typeface="Noto Sans SC"/>
                <a:ea typeface="Noto Sans SC"/>
                <a:cs typeface="Noto Sans SC"/>
                <a:sym typeface="Noto Sans SC"/>
              </a:rPr>
              <a:t>多头RAG的优势与应用</a:t>
            </a:r>
            <a:endParaRPr lang="en-US" sz="1100"/>
          </a:p>
        </p:txBody>
      </p:sp>
      <p:sp>
        <p:nvSpPr>
          <p:cNvPr id="3" name="AutoShape 3"/>
          <p:cNvSpPr/>
          <p:nvPr/>
        </p:nvSpPr>
        <p:spPr>
          <a:xfrm>
            <a:off x="762000" y="1524000"/>
            <a:ext cx="5080000" cy="4064000"/>
          </a:xfrm>
          <a:prstGeom prst="roundRect">
            <a:avLst>
              <a:gd name="adj" fmla="val 3125"/>
            </a:avLst>
          </a:prstGeom>
          <a:solidFill>
            <a:srgbClr val="FFFFFF">
              <a:alpha val="100000"/>
            </a:srgbClr>
          </a:solidFill>
          <a:ln w="25400" cap="flat" cmpd="sng">
            <a:noFill/>
            <a:prstDash val="solid"/>
            <a:round/>
          </a:ln>
          <a:effectLst>
            <a:outerShdw blurRad="127000" dist="50800" dir="5400000" algn="tl" rotWithShape="0">
              <a:srgbClr val="0288D1">
                <a:alpha val="15000"/>
              </a:srgbClr>
            </a:outerShdw>
          </a:effectLst>
        </p:spPr>
        <p:txBody>
          <a:bodyPr vert="horz" wrap="square" lIns="63500" tIns="63500" rIns="63500" bIns="63500" rtlCol="0" anchor="ctr"/>
          <a:lstStyle/>
          <a:p>
            <a:pPr algn="ctr">
              <a:defRPr/>
            </a:pPr>
          </a:p>
        </p:txBody>
      </p:sp>
      <p:sp>
        <p:nvSpPr>
          <p:cNvPr id="4" name="AutoShape 4"/>
          <p:cNvSpPr/>
          <p:nvPr/>
        </p:nvSpPr>
        <p:spPr>
          <a:xfrm>
            <a:off x="1016000" y="1714500"/>
            <a:ext cx="4572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200" b="1" i="0" u="none" strike="noStrike">
                <a:solidFill>
                  <a:srgbClr val="0288D1"/>
                </a:solidFill>
                <a:latin typeface="Noto Sans SC"/>
                <a:ea typeface="Noto Sans SC"/>
                <a:cs typeface="Noto Sans SC"/>
                <a:sym typeface="Noto Sans SC"/>
              </a:rPr>
              <a:t>核心优势</a:t>
            </a:r>
            <a:endParaRPr lang="en-US" sz="1100"/>
          </a:p>
        </p:txBody>
      </p:sp>
      <p:cxnSp>
        <p:nvCxnSpPr>
          <p:cNvPr id="5" name="Connector 5"/>
          <p:cNvCxnSpPr/>
          <p:nvPr/>
        </p:nvCxnSpPr>
        <p:spPr>
          <a:xfrm rot="-9549">
            <a:off x="1016009" y="2152650"/>
            <a:ext cx="4572000" cy="12700"/>
          </a:xfrm>
          <a:prstGeom prst="line">
            <a:avLst/>
          </a:prstGeom>
          <a:solidFill>
            <a:srgbClr val="DEE0E3">
              <a:alpha val="100000"/>
            </a:srgbClr>
          </a:solidFill>
          <a:ln w="12700" cap="flat" cmpd="sng">
            <a:solidFill>
              <a:srgbClr val="0288D1">
                <a:alpha val="20000"/>
              </a:srgbClr>
            </a:solidFill>
            <a:prstDash val="solid"/>
            <a:round/>
            <a:headEnd type="none" w="med" len="med"/>
            <a:tailEnd type="none" w="med" len="med"/>
          </a:ln>
        </p:spPr>
      </p:cxnSp>
      <p:pic>
        <p:nvPicPr>
          <p:cNvPr id="6" name="Picture 6"/>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016000" y="2413000"/>
            <a:ext cx="304800" cy="304800"/>
          </a:xfrm>
          <a:prstGeom prst="rect">
            <a:avLst/>
          </a:prstGeom>
        </p:spPr>
      </p:pic>
      <p:sp>
        <p:nvSpPr>
          <p:cNvPr id="7" name="AutoShape 7"/>
          <p:cNvSpPr/>
          <p:nvPr/>
        </p:nvSpPr>
        <p:spPr>
          <a:xfrm>
            <a:off x="1460500" y="2349500"/>
            <a:ext cx="4191000" cy="762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212121"/>
                </a:solidFill>
                <a:latin typeface="Noto Sans SC"/>
                <a:ea typeface="Noto Sans SC"/>
                <a:cs typeface="Noto Sans SC"/>
                <a:sym typeface="Noto Sans SC"/>
              </a:rPr>
              <a:t>多信息源整合</a:t>
            </a:r>
            <a:endParaRPr lang="en-US" sz="1100"/>
          </a:p>
          <a:p>
            <a:pPr indent="0" algn="l">
              <a:lnSpc>
                <a:spcPct val="125000"/>
              </a:lnSpc>
            </a:pPr>
            <a:r>
              <a:rPr lang="en-US" sz="1400" b="0" i="0" u="none" strike="noStrike">
                <a:solidFill>
                  <a:srgbClr val="757575"/>
                </a:solidFill>
                <a:latin typeface="Noto Sans SC"/>
                <a:ea typeface="Noto Sans SC"/>
                <a:cs typeface="Noto Sans SC"/>
                <a:sym typeface="Noto Sans SC"/>
              </a:rPr>
              <a:t>能够同时关注和整合来自不同信息源的内容，打破信息孤岛。</a:t>
            </a:r>
            <a:endParaRPr lang="en-US" sz="1400" b="0" i="0" u="none" strike="noStrike">
              <a:solidFill>
                <a:srgbClr val="757575"/>
              </a:solidFill>
              <a:latin typeface="Noto Sans SC"/>
              <a:ea typeface="Noto Sans SC"/>
              <a:cs typeface="Noto Sans SC"/>
              <a:sym typeface="Noto Sans SC"/>
            </a:endParaRPr>
          </a:p>
        </p:txBody>
      </p:sp>
      <p:pic>
        <p:nvPicPr>
          <p:cNvPr id="8" name="Picture 8"/>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16000" y="3302000"/>
            <a:ext cx="304800" cy="304800"/>
          </a:xfrm>
          <a:prstGeom prst="rect">
            <a:avLst/>
          </a:prstGeom>
        </p:spPr>
      </p:pic>
      <p:sp>
        <p:nvSpPr>
          <p:cNvPr id="9" name="AutoShape 9"/>
          <p:cNvSpPr/>
          <p:nvPr/>
        </p:nvSpPr>
        <p:spPr>
          <a:xfrm>
            <a:off x="1460500" y="3238500"/>
            <a:ext cx="4191000" cy="762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212121"/>
                </a:solidFill>
                <a:latin typeface="Noto Sans SC"/>
                <a:ea typeface="Noto Sans SC"/>
                <a:cs typeface="Noto Sans SC"/>
                <a:sym typeface="Noto Sans SC"/>
              </a:rPr>
              <a:t>灵活的数据组织</a:t>
            </a:r>
            <a:endParaRPr lang="en-US" sz="1100"/>
          </a:p>
          <a:p>
            <a:pPr indent="0" algn="l">
              <a:lnSpc>
                <a:spcPct val="125000"/>
              </a:lnSpc>
            </a:pPr>
            <a:r>
              <a:rPr lang="en-US" sz="1400" b="0" i="0" u="none" strike="noStrike">
                <a:solidFill>
                  <a:srgbClr val="757575"/>
                </a:solidFill>
                <a:latin typeface="Noto Sans SC"/>
                <a:ea typeface="Noto Sans SC"/>
                <a:cs typeface="Noto Sans SC"/>
                <a:sym typeface="Noto Sans SC"/>
              </a:rPr>
              <a:t>以更灵活的方式组织和利用多方面的嵌入数据，适应不同检索需求。</a:t>
            </a:r>
            <a:endParaRPr lang="en-US" sz="1400" b="0" i="0" u="none" strike="noStrike">
              <a:solidFill>
                <a:srgbClr val="757575"/>
              </a:solidFill>
              <a:latin typeface="Noto Sans SC"/>
              <a:ea typeface="Noto Sans SC"/>
              <a:cs typeface="Noto Sans SC"/>
              <a:sym typeface="Noto Sans SC"/>
            </a:endParaRPr>
          </a:p>
        </p:txBody>
      </p:sp>
      <p:pic>
        <p:nvPicPr>
          <p:cNvPr id="10" name="Picture 10"/>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016000" y="4191000"/>
            <a:ext cx="304800" cy="304800"/>
          </a:xfrm>
          <a:prstGeom prst="rect">
            <a:avLst/>
          </a:prstGeom>
        </p:spPr>
      </p:pic>
      <p:sp>
        <p:nvSpPr>
          <p:cNvPr id="11" name="AutoShape 11"/>
          <p:cNvSpPr/>
          <p:nvPr/>
        </p:nvSpPr>
        <p:spPr>
          <a:xfrm>
            <a:off x="1460500" y="4127500"/>
            <a:ext cx="4191000" cy="762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212121"/>
                </a:solidFill>
                <a:latin typeface="Noto Sans SC"/>
                <a:ea typeface="Noto Sans SC"/>
                <a:cs typeface="Noto Sans SC"/>
                <a:sym typeface="Noto Sans SC"/>
              </a:rPr>
              <a:t>复杂场景适应性</a:t>
            </a:r>
            <a:endParaRPr lang="en-US" sz="1100"/>
          </a:p>
          <a:p>
            <a:pPr indent="0" algn="l">
              <a:lnSpc>
                <a:spcPct val="125000"/>
              </a:lnSpc>
            </a:pPr>
            <a:r>
              <a:rPr lang="en-US" sz="1400" b="0" i="0" u="none" strike="noStrike">
                <a:solidFill>
                  <a:srgbClr val="757575"/>
                </a:solidFill>
                <a:latin typeface="Noto Sans SC"/>
                <a:ea typeface="Noto Sans SC"/>
                <a:cs typeface="Noto Sans SC"/>
                <a:sym typeface="Noto Sans SC"/>
              </a:rPr>
              <a:t>显著提升多维度、跨领域复杂查询的响应准确性和效率。</a:t>
            </a:r>
            <a:endParaRPr lang="en-US" sz="1400" b="0" i="0" u="none" strike="noStrike">
              <a:solidFill>
                <a:srgbClr val="757575"/>
              </a:solidFill>
              <a:latin typeface="Noto Sans SC"/>
              <a:ea typeface="Noto Sans SC"/>
              <a:cs typeface="Noto Sans SC"/>
              <a:sym typeface="Noto Sans SC"/>
            </a:endParaRPr>
          </a:p>
        </p:txBody>
      </p:sp>
      <p:sp>
        <p:nvSpPr>
          <p:cNvPr id="12" name="AutoShape 12"/>
          <p:cNvSpPr/>
          <p:nvPr/>
        </p:nvSpPr>
        <p:spPr>
          <a:xfrm>
            <a:off x="6350000" y="1524000"/>
            <a:ext cx="5080000" cy="4064000"/>
          </a:xfrm>
          <a:prstGeom prst="roundRect">
            <a:avLst>
              <a:gd name="adj" fmla="val 3125"/>
            </a:avLst>
          </a:prstGeom>
          <a:solidFill>
            <a:srgbClr val="FFFFFF">
              <a:alpha val="100000"/>
            </a:srgbClr>
          </a:solidFill>
          <a:ln w="25400" cap="flat" cmpd="sng">
            <a:noFill/>
            <a:prstDash val="solid"/>
            <a:round/>
          </a:ln>
          <a:effectLst>
            <a:outerShdw blurRad="127000" dist="50800" dir="5400000" algn="tl" rotWithShape="0">
              <a:srgbClr val="0288D1">
                <a:alpha val="15000"/>
              </a:srgbClr>
            </a:outerShdw>
          </a:effectLst>
        </p:spPr>
        <p:txBody>
          <a:bodyPr vert="horz" wrap="square" lIns="63500" tIns="63500" rIns="63500" bIns="63500" rtlCol="0" anchor="ctr"/>
          <a:lstStyle/>
          <a:p>
            <a:pPr algn="ctr">
              <a:defRPr/>
            </a:pPr>
          </a:p>
        </p:txBody>
      </p:sp>
      <p:sp>
        <p:nvSpPr>
          <p:cNvPr id="13" name="AutoShape 13"/>
          <p:cNvSpPr/>
          <p:nvPr/>
        </p:nvSpPr>
        <p:spPr>
          <a:xfrm>
            <a:off x="6604000" y="1714500"/>
            <a:ext cx="4572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200" b="1" i="0" u="none" strike="noStrike">
                <a:solidFill>
                  <a:srgbClr val="0288D1"/>
                </a:solidFill>
                <a:latin typeface="Noto Sans SC"/>
                <a:ea typeface="Noto Sans SC"/>
                <a:cs typeface="Noto Sans SC"/>
                <a:sym typeface="Noto Sans SC"/>
              </a:rPr>
              <a:t>应用场景</a:t>
            </a:r>
            <a:endParaRPr lang="en-US" sz="1100"/>
          </a:p>
        </p:txBody>
      </p:sp>
      <p:cxnSp>
        <p:nvCxnSpPr>
          <p:cNvPr id="14" name="Connector 14"/>
          <p:cNvCxnSpPr/>
          <p:nvPr/>
        </p:nvCxnSpPr>
        <p:spPr>
          <a:xfrm rot="-9549">
            <a:off x="6604009" y="2152650"/>
            <a:ext cx="4572000" cy="12700"/>
          </a:xfrm>
          <a:prstGeom prst="line">
            <a:avLst/>
          </a:prstGeom>
          <a:solidFill>
            <a:srgbClr val="DEE0E3">
              <a:alpha val="100000"/>
            </a:srgbClr>
          </a:solidFill>
          <a:ln w="12700" cap="flat" cmpd="sng">
            <a:solidFill>
              <a:srgbClr val="0288D1">
                <a:alpha val="20000"/>
              </a:srgbClr>
            </a:solidFill>
            <a:prstDash val="solid"/>
            <a:round/>
            <a:headEnd type="none" w="med" len="med"/>
            <a:tailEnd type="none" w="med" len="med"/>
          </a:ln>
        </p:spPr>
      </p:cxnSp>
      <p:pic>
        <p:nvPicPr>
          <p:cNvPr id="15" name="Picture 15"/>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6604000" y="2413000"/>
            <a:ext cx="304800" cy="304800"/>
          </a:xfrm>
          <a:prstGeom prst="rect">
            <a:avLst/>
          </a:prstGeom>
        </p:spPr>
      </p:pic>
      <p:sp>
        <p:nvSpPr>
          <p:cNvPr id="16" name="AutoShape 16"/>
          <p:cNvSpPr/>
          <p:nvPr/>
        </p:nvSpPr>
        <p:spPr>
          <a:xfrm>
            <a:off x="7048500" y="2349500"/>
            <a:ext cx="4191000" cy="762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212121"/>
                </a:solidFill>
                <a:latin typeface="Noto Sans SC"/>
                <a:ea typeface="Noto Sans SC"/>
                <a:cs typeface="Noto Sans SC"/>
                <a:sym typeface="Noto Sans SC"/>
              </a:rPr>
              <a:t>复杂用户交互</a:t>
            </a:r>
            <a:endParaRPr lang="en-US" sz="1100"/>
          </a:p>
          <a:p>
            <a:pPr indent="0" algn="l">
              <a:lnSpc>
                <a:spcPct val="125000"/>
              </a:lnSpc>
            </a:pPr>
            <a:r>
              <a:rPr lang="en-US" sz="1400" b="0" i="0" u="none" strike="noStrike">
                <a:solidFill>
                  <a:srgbClr val="757575"/>
                </a:solidFill>
                <a:latin typeface="Noto Sans SC"/>
                <a:ea typeface="Noto Sans SC"/>
                <a:cs typeface="Noto Sans SC"/>
                <a:sym typeface="Noto Sans SC"/>
              </a:rPr>
              <a:t>处理需要多轮对话和多方面信息的用户问题，提升交互体验。</a:t>
            </a:r>
            <a:endParaRPr lang="en-US" sz="1400" b="0" i="0" u="none" strike="noStrike">
              <a:solidFill>
                <a:srgbClr val="757575"/>
              </a:solidFill>
              <a:latin typeface="Noto Sans SC"/>
              <a:ea typeface="Noto Sans SC"/>
              <a:cs typeface="Noto Sans SC"/>
              <a:sym typeface="Noto Sans SC"/>
            </a:endParaRPr>
          </a:p>
        </p:txBody>
      </p:sp>
      <p:pic>
        <p:nvPicPr>
          <p:cNvPr id="17" name="Picture 17"/>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6604000" y="3302000"/>
            <a:ext cx="304800" cy="304800"/>
          </a:xfrm>
          <a:prstGeom prst="rect">
            <a:avLst/>
          </a:prstGeom>
        </p:spPr>
      </p:pic>
      <p:sp>
        <p:nvSpPr>
          <p:cNvPr id="18" name="AutoShape 18"/>
          <p:cNvSpPr/>
          <p:nvPr/>
        </p:nvSpPr>
        <p:spPr>
          <a:xfrm>
            <a:off x="7048500" y="3238500"/>
            <a:ext cx="4191000" cy="762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212121"/>
                </a:solidFill>
                <a:latin typeface="Noto Sans SC"/>
                <a:ea typeface="Noto Sans SC"/>
                <a:cs typeface="Noto Sans SC"/>
                <a:sym typeface="Noto Sans SC"/>
              </a:rPr>
              <a:t>跨学科信息查询</a:t>
            </a:r>
            <a:endParaRPr lang="en-US" sz="1100"/>
          </a:p>
          <a:p>
            <a:pPr indent="0" algn="l">
              <a:lnSpc>
                <a:spcPct val="125000"/>
              </a:lnSpc>
            </a:pPr>
            <a:r>
              <a:rPr lang="en-US" sz="1400" b="0" i="0" u="none" strike="noStrike">
                <a:solidFill>
                  <a:srgbClr val="757575"/>
                </a:solidFill>
                <a:latin typeface="Noto Sans SC"/>
                <a:ea typeface="Noto Sans SC"/>
                <a:cs typeface="Noto Sans SC"/>
                <a:sym typeface="Noto Sans SC"/>
              </a:rPr>
              <a:t>整合不同学科领域的知识来回答问题，提供全面的知识支持。</a:t>
            </a:r>
            <a:endParaRPr lang="en-US" sz="1400" b="0" i="0" u="none" strike="noStrike">
              <a:solidFill>
                <a:srgbClr val="757575"/>
              </a:solidFill>
              <a:latin typeface="Noto Sans SC"/>
              <a:ea typeface="Noto Sans SC"/>
              <a:cs typeface="Noto Sans SC"/>
              <a:sym typeface="Noto Sans SC"/>
            </a:endParaRPr>
          </a:p>
        </p:txBody>
      </p:sp>
      <p:pic>
        <p:nvPicPr>
          <p:cNvPr id="19" name="Picture 19"/>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6604000" y="4191000"/>
            <a:ext cx="304800" cy="304800"/>
          </a:xfrm>
          <a:prstGeom prst="rect">
            <a:avLst/>
          </a:prstGeom>
        </p:spPr>
      </p:pic>
      <p:sp>
        <p:nvSpPr>
          <p:cNvPr id="20" name="AutoShape 20"/>
          <p:cNvSpPr/>
          <p:nvPr/>
        </p:nvSpPr>
        <p:spPr>
          <a:xfrm>
            <a:off x="7048500" y="4127500"/>
            <a:ext cx="4191000" cy="762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212121"/>
                </a:solidFill>
                <a:latin typeface="Noto Sans SC"/>
                <a:ea typeface="Noto Sans SC"/>
                <a:cs typeface="Noto Sans SC"/>
                <a:sym typeface="Noto Sans SC"/>
              </a:rPr>
              <a:t>商业智能分析</a:t>
            </a:r>
            <a:endParaRPr lang="en-US" sz="1100"/>
          </a:p>
          <a:p>
            <a:pPr indent="0" algn="l">
              <a:lnSpc>
                <a:spcPct val="125000"/>
              </a:lnSpc>
            </a:pPr>
            <a:r>
              <a:rPr lang="en-US" sz="1400" b="0" i="0" u="none" strike="noStrike">
                <a:solidFill>
                  <a:srgbClr val="757575"/>
                </a:solidFill>
                <a:latin typeface="Noto Sans SC"/>
                <a:ea typeface="Noto Sans SC"/>
                <a:cs typeface="Noto Sans SC"/>
                <a:sym typeface="Noto Sans SC"/>
              </a:rPr>
              <a:t>结合多方数据进行综合分析和决策支持，辅助商业战略制定。</a:t>
            </a:r>
            <a:endParaRPr lang="en-US" sz="1400" b="0" i="0" u="none" strike="noStrike">
              <a:solidFill>
                <a:srgbClr val="757575"/>
              </a:solidFill>
              <a:latin typeface="Noto Sans SC"/>
              <a:ea typeface="Noto Sans SC"/>
              <a:cs typeface="Noto Sans SC"/>
              <a:sym typeface="Noto Sans SC"/>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E0F7FA">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0" y="0"/>
            <a:ext cx="12192000" cy="152400"/>
          </a:xfrm>
          <a:prstGeom prst="roundRect">
            <a:avLst>
              <a:gd name="adj" fmla="val 0"/>
            </a:avLst>
          </a:prstGeom>
          <a:solidFill>
            <a:srgbClr val="0288D1">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3" name="Picture 3"/>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5689600" y="1651000"/>
            <a:ext cx="812800" cy="812800"/>
          </a:xfrm>
          <a:prstGeom prst="rect">
            <a:avLst/>
          </a:prstGeom>
        </p:spPr>
      </p:pic>
      <p:sp>
        <p:nvSpPr>
          <p:cNvPr id="4" name="AutoShape 4"/>
          <p:cNvSpPr/>
          <p:nvPr/>
        </p:nvSpPr>
        <p:spPr>
          <a:xfrm>
            <a:off x="952500" y="2667000"/>
            <a:ext cx="10287000" cy="635000"/>
          </a:xfrm>
          <a:prstGeom prst="rect">
            <a:avLst/>
          </a:prstGeom>
          <a:noFill/>
          <a:ln w="12700" cap="flat" cmpd="sng">
            <a:noFill/>
            <a:prstDash val="solid"/>
            <a:round/>
          </a:ln>
        </p:spPr>
        <p:txBody>
          <a:bodyPr vert="horz" wrap="none" lIns="0" tIns="0" rIns="0" bIns="0" rtlCol="0" anchor="ctr" anchorCtr="0"/>
          <a:lstStyle/>
          <a:p>
            <a:pPr indent="0" algn="ctr">
              <a:lnSpc>
                <a:spcPct val="125000"/>
              </a:lnSpc>
              <a:defRPr/>
            </a:pPr>
            <a:r>
              <a:rPr lang="en-US" sz="3200" b="1" i="0" u="none" strike="noStrike">
                <a:solidFill>
                  <a:srgbClr val="0288D1"/>
                </a:solidFill>
                <a:latin typeface="Noto Sans SC"/>
                <a:ea typeface="Noto Sans SC"/>
                <a:cs typeface="Noto Sans SC"/>
                <a:sym typeface="Noto Sans SC"/>
              </a:rPr>
              <a:t>3.3 自反思检索增强生成（Self-RAG）</a:t>
            </a:r>
            <a:endParaRPr lang="en-US" sz="1100"/>
          </a:p>
        </p:txBody>
      </p:sp>
      <p:cxnSp>
        <p:nvCxnSpPr>
          <p:cNvPr id="5" name="Connector 5"/>
          <p:cNvCxnSpPr/>
          <p:nvPr/>
        </p:nvCxnSpPr>
        <p:spPr>
          <a:xfrm rot="-34376">
            <a:off x="5461032" y="3422650"/>
            <a:ext cx="1270000" cy="12700"/>
          </a:xfrm>
          <a:prstGeom prst="straightConnector1">
            <a:avLst/>
          </a:prstGeom>
          <a:solidFill>
            <a:srgbClr val="DEE0E3">
              <a:alpha val="100000"/>
            </a:srgbClr>
          </a:solidFill>
          <a:ln w="25400" cap="flat" cmpd="sng">
            <a:solidFill>
              <a:srgbClr val="0288D1">
                <a:alpha val="30000"/>
              </a:srgbClr>
            </a:solidFill>
            <a:prstDash val="solid"/>
            <a:round/>
            <a:headEnd type="none" w="lg" len="lg"/>
            <a:tailEnd type="none" w="lg" len="lg"/>
          </a:ln>
        </p:spPr>
      </p:cxnSp>
      <p:sp>
        <p:nvSpPr>
          <p:cNvPr id="6" name="AutoShape 6"/>
          <p:cNvSpPr/>
          <p:nvPr/>
        </p:nvSpPr>
        <p:spPr>
          <a:xfrm>
            <a:off x="1651000" y="3683000"/>
            <a:ext cx="8890000" cy="762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600" b="0" i="0" u="none" strike="noStrike">
                <a:solidFill>
                  <a:srgbClr val="757575"/>
                </a:solidFill>
                <a:latin typeface="Noto Sans SC"/>
                <a:ea typeface="Noto Sans SC"/>
                <a:cs typeface="Noto Sans SC"/>
                <a:sym typeface="Noto Sans SC"/>
              </a:rPr>
              <a:t>引入自我反思机制，让模型具备自我评估与优化能力的进阶架构</a:t>
            </a:r>
            <a:endParaRPr lang="en-US" sz="1100"/>
          </a:p>
        </p:txBody>
      </p:sp>
      <p:sp>
        <p:nvSpPr>
          <p:cNvPr id="7" name="AutoShape 7"/>
          <p:cNvSpPr/>
          <p:nvPr/>
        </p:nvSpPr>
        <p:spPr>
          <a:xfrm>
            <a:off x="6045200" y="6096000"/>
            <a:ext cx="101600" cy="101600"/>
          </a:xfrm>
          <a:prstGeom prst="ellipse">
            <a:avLst/>
          </a:prstGeom>
          <a:solidFill>
            <a:srgbClr val="0288D1">
              <a:alpha val="50000"/>
            </a:srgbClr>
          </a:solidFill>
          <a:ln w="25400" cap="flat" cmpd="sng">
            <a:noFill/>
            <a:prstDash val="solid"/>
            <a:round/>
          </a:ln>
        </p:spPr>
        <p:txBody>
          <a:bodyPr vert="horz" wrap="square" lIns="63500" tIns="63500" rIns="63500" bIns="63500" rtlCol="0" anchor="ctr"/>
          <a:lstStyle/>
          <a:p>
            <a:pPr algn="ctr">
              <a:defRPr/>
            </a:p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rgbClr val="E0F7FA">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635000"/>
            <a:ext cx="10668000" cy="508000"/>
          </a:xfrm>
          <a:prstGeom prst="rect">
            <a:avLst/>
          </a:prstGeom>
          <a:noFill/>
          <a:ln w="12700" cap="flat" cmpd="sng">
            <a:noFill/>
            <a:prstDash val="solid"/>
            <a:round/>
          </a:ln>
        </p:spPr>
        <p:txBody>
          <a:bodyPr vert="horz" wrap="none" lIns="0" tIns="0" rIns="0" bIns="0" rtlCol="0" anchor="ctr" anchorCtr="0"/>
          <a:lstStyle/>
          <a:p>
            <a:pPr indent="0" algn="l">
              <a:lnSpc>
                <a:spcPct val="125000"/>
              </a:lnSpc>
              <a:defRPr/>
            </a:pPr>
            <a:r>
              <a:rPr lang="en-US" sz="3200" b="1" i="0" u="none" strike="noStrike">
                <a:solidFill>
                  <a:srgbClr val="0288D1"/>
                </a:solidFill>
                <a:latin typeface="Noto Sans SC"/>
                <a:ea typeface="Noto Sans SC"/>
                <a:cs typeface="Noto Sans SC"/>
                <a:sym typeface="Noto Sans SC"/>
              </a:rPr>
              <a:t>3.3.1 自反思RAG概述 - 问题提出</a:t>
            </a:r>
            <a:endParaRPr lang="en-US" sz="1100"/>
          </a:p>
        </p:txBody>
      </p:sp>
      <p:sp>
        <p:nvSpPr>
          <p:cNvPr id="3" name="AutoShape 3"/>
          <p:cNvSpPr/>
          <p:nvPr/>
        </p:nvSpPr>
        <p:spPr>
          <a:xfrm>
            <a:off x="762000" y="1397000"/>
            <a:ext cx="10668000" cy="1270000"/>
          </a:xfrm>
          <a:prstGeom prst="roundRect">
            <a:avLst>
              <a:gd name="adj" fmla="val 10000"/>
            </a:avLst>
          </a:prstGeom>
          <a:solidFill>
            <a:srgbClr val="FFFFFF">
              <a:alpha val="100000"/>
            </a:srgbClr>
          </a:solidFill>
          <a:ln w="25400" cap="flat" cmpd="sng">
            <a:noFill/>
            <a:prstDash val="solid"/>
            <a:round/>
          </a:ln>
          <a:effectLst>
            <a:outerShdw blurRad="127000" dist="50800" dir="5400000" algn="tl" rotWithShape="0">
              <a:srgbClr val="0288D1">
                <a:alpha val="15000"/>
              </a:srgbClr>
            </a:outerShdw>
          </a:effectLst>
        </p:spPr>
        <p:txBody>
          <a:bodyPr vert="horz" wrap="square" lIns="63500" tIns="63500" rIns="63500" bIns="63500" rtlCol="0" anchor="ctr"/>
          <a:lstStyle/>
          <a:p>
            <a:pPr algn="ctr">
              <a:defRPr/>
            </a:pPr>
          </a:p>
        </p:txBody>
      </p:sp>
      <p:pic>
        <p:nvPicPr>
          <p:cNvPr id="4" name="Picture 4"/>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016000" y="1714500"/>
            <a:ext cx="609600" cy="609600"/>
          </a:xfrm>
          <a:prstGeom prst="rect">
            <a:avLst/>
          </a:prstGeom>
        </p:spPr>
      </p:pic>
      <p:sp>
        <p:nvSpPr>
          <p:cNvPr id="5" name="AutoShape 5"/>
          <p:cNvSpPr/>
          <p:nvPr/>
        </p:nvSpPr>
        <p:spPr>
          <a:xfrm>
            <a:off x="1778000" y="1587500"/>
            <a:ext cx="9398000" cy="889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0" i="0" u="none" strike="noStrike">
                <a:solidFill>
                  <a:srgbClr val="757575"/>
                </a:solidFill>
                <a:latin typeface="Noto Sans SC"/>
                <a:ea typeface="Noto Sans SC"/>
                <a:cs typeface="Noto Sans SC"/>
                <a:sym typeface="Noto Sans SC"/>
              </a:rPr>
              <a:t>经典RAG在生成回答时，通常会</a:t>
            </a:r>
            <a:r>
              <a:rPr lang="en-US" sz="1800" b="1" i="0" u="none" strike="noStrike">
                <a:solidFill>
                  <a:srgbClr val="0288D1"/>
                </a:solidFill>
                <a:latin typeface="Noto Sans SC"/>
                <a:ea typeface="Noto Sans SC"/>
                <a:cs typeface="Noto Sans SC"/>
                <a:sym typeface="Noto Sans SC"/>
              </a:rPr>
              <a:t>不加选择地使用固定数量（Top-K）的检索结果</a:t>
            </a:r>
            <a:r>
              <a:rPr lang="en-US" sz="1800" b="0" i="0" u="none" strike="noStrike">
                <a:solidFill>
                  <a:srgbClr val="757575"/>
                </a:solidFill>
                <a:latin typeface="Noto Sans SC"/>
                <a:ea typeface="Noto Sans SC"/>
                <a:cs typeface="Noto Sans SC"/>
                <a:sym typeface="Noto Sans SC"/>
              </a:rPr>
              <a:t>，而不评估这些结果的质量和相关性。</a:t>
            </a:r>
            <a:endParaRPr lang="en-US" sz="1100"/>
          </a:p>
        </p:txBody>
      </p:sp>
      <p:sp>
        <p:nvSpPr>
          <p:cNvPr id="6" name="AutoShape 6"/>
          <p:cNvSpPr/>
          <p:nvPr/>
        </p:nvSpPr>
        <p:spPr>
          <a:xfrm>
            <a:off x="762000" y="2921000"/>
            <a:ext cx="10668000" cy="1524000"/>
          </a:xfrm>
          <a:prstGeom prst="roundRect">
            <a:avLst>
              <a:gd name="adj" fmla="val 8333"/>
            </a:avLst>
          </a:prstGeom>
          <a:solidFill>
            <a:srgbClr val="FFFFFF">
              <a:alpha val="100000"/>
            </a:srgbClr>
          </a:solidFill>
          <a:ln w="25400" cap="flat" cmpd="sng">
            <a:noFill/>
            <a:prstDash val="solid"/>
            <a:round/>
          </a:ln>
          <a:effectLst>
            <a:outerShdw blurRad="127000" dist="50800" dir="5400000" algn="tl" rotWithShape="0">
              <a:srgbClr val="0288D1">
                <a:alpha val="15000"/>
              </a:srgbClr>
            </a:outerShdw>
          </a:effectLst>
        </p:spPr>
        <p:txBody>
          <a:bodyPr vert="horz" wrap="square" lIns="63500" tIns="63500" rIns="63500" bIns="63500" rtlCol="0" anchor="ctr"/>
          <a:lstStyle/>
          <a:p>
            <a:pPr algn="ctr">
              <a:defRPr/>
            </a:pPr>
          </a:p>
        </p:txBody>
      </p:sp>
      <p:pic>
        <p:nvPicPr>
          <p:cNvPr id="7" name="Picture 7"/>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16000" y="3238500"/>
            <a:ext cx="609600" cy="609600"/>
          </a:xfrm>
          <a:prstGeom prst="rect">
            <a:avLst/>
          </a:prstGeom>
        </p:spPr>
      </p:pic>
      <p:sp>
        <p:nvSpPr>
          <p:cNvPr id="8" name="AutoShape 8"/>
          <p:cNvSpPr/>
          <p:nvPr/>
        </p:nvSpPr>
        <p:spPr>
          <a:xfrm>
            <a:off x="1778000" y="3048000"/>
            <a:ext cx="9398000" cy="1270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0288D1"/>
                </a:solidFill>
                <a:latin typeface="Noto Sans SC"/>
                <a:ea typeface="Noto Sans SC"/>
                <a:cs typeface="Noto Sans SC"/>
                <a:sym typeface="Noto Sans SC"/>
              </a:rPr>
              <a:t>问题：</a:t>
            </a:r>
            <a:r>
              <a:rPr lang="en-US" sz="1800" b="0" i="0" u="none" strike="noStrike">
                <a:solidFill>
                  <a:srgbClr val="757575"/>
                </a:solidFill>
                <a:latin typeface="Noto Sans SC"/>
                <a:ea typeface="Noto Sans SC"/>
                <a:cs typeface="Noto Sans SC"/>
                <a:sym typeface="Noto Sans SC"/>
              </a:rPr>
              <a:t>如果检索结果中包含低质量、不相关甚至错误的信息，这些信息会被直接输入到生成模型中，可能导致生成的回答不准确、不可靠，甚至产生有害内容。</a:t>
            </a:r>
            <a:endParaRPr lang="en-US" sz="1100"/>
          </a:p>
        </p:txBody>
      </p:sp>
      <p:sp>
        <p:nvSpPr>
          <p:cNvPr id="9" name="AutoShape 9"/>
          <p:cNvSpPr/>
          <p:nvPr/>
        </p:nvSpPr>
        <p:spPr>
          <a:xfrm>
            <a:off x="762000" y="4699000"/>
            <a:ext cx="10668000" cy="1270000"/>
          </a:xfrm>
          <a:prstGeom prst="roundRect">
            <a:avLst>
              <a:gd name="adj" fmla="val 10000"/>
            </a:avLst>
          </a:prstGeom>
          <a:solidFill>
            <a:srgbClr val="FFFFFF">
              <a:alpha val="100000"/>
            </a:srgbClr>
          </a:solidFill>
          <a:ln w="25400" cap="flat" cmpd="sng">
            <a:noFill/>
            <a:prstDash val="solid"/>
            <a:round/>
          </a:ln>
          <a:effectLst>
            <a:outerShdw blurRad="127000" dist="50800" dir="5400000" algn="tl" rotWithShape="0">
              <a:srgbClr val="0288D1">
                <a:alpha val="15000"/>
              </a:srgbClr>
            </a:outerShdw>
          </a:effectLst>
        </p:spPr>
        <p:txBody>
          <a:bodyPr vert="horz" wrap="square" lIns="63500" tIns="63500" rIns="63500" bIns="63500" rtlCol="0" anchor="ctr"/>
          <a:lstStyle/>
          <a:p>
            <a:pPr algn="ctr">
              <a:defRPr/>
            </a:pPr>
          </a:p>
        </p:txBody>
      </p:sp>
      <p:pic>
        <p:nvPicPr>
          <p:cNvPr id="10" name="Picture 10"/>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016000" y="5016500"/>
            <a:ext cx="609600" cy="609600"/>
          </a:xfrm>
          <a:prstGeom prst="rect">
            <a:avLst/>
          </a:prstGeom>
        </p:spPr>
      </p:pic>
      <p:sp>
        <p:nvSpPr>
          <p:cNvPr id="11" name="AutoShape 11"/>
          <p:cNvSpPr/>
          <p:nvPr/>
        </p:nvSpPr>
        <p:spPr>
          <a:xfrm>
            <a:off x="1778000" y="4826000"/>
            <a:ext cx="9398000" cy="1016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0288D1"/>
                </a:solidFill>
                <a:latin typeface="Noto Sans SC"/>
                <a:ea typeface="Noto Sans SC"/>
                <a:cs typeface="Noto Sans SC"/>
                <a:sym typeface="Noto Sans SC"/>
              </a:rPr>
              <a:t>场景：</a:t>
            </a:r>
            <a:r>
              <a:rPr lang="en-US" sz="1800" b="0" i="0" u="none" strike="noStrike">
                <a:solidFill>
                  <a:srgbClr val="757575"/>
                </a:solidFill>
                <a:latin typeface="Noto Sans SC"/>
                <a:ea typeface="Noto Sans SC"/>
                <a:cs typeface="Noto Sans SC"/>
                <a:sym typeface="Noto Sans SC"/>
              </a:rPr>
              <a:t>在处理复杂、开放性或存在大量噪声信息的任务时，这种问题尤为突出。</a:t>
            </a:r>
            <a:endParaRPr lang="en-US" sz="110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rgbClr val="E0F7FA">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635000"/>
            <a:ext cx="10668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0288D1"/>
                </a:solidFill>
                <a:latin typeface="Noto Sans SC"/>
                <a:ea typeface="Noto Sans SC"/>
                <a:cs typeface="Noto Sans SC"/>
                <a:sym typeface="Noto Sans SC"/>
              </a:rPr>
              <a:t>自反思RAG的解决方案</a:t>
            </a:r>
            <a:endParaRPr lang="en-US" sz="1100"/>
          </a:p>
        </p:txBody>
      </p:sp>
      <p:sp>
        <p:nvSpPr>
          <p:cNvPr id="3" name="AutoShape 3"/>
          <p:cNvSpPr/>
          <p:nvPr/>
        </p:nvSpPr>
        <p:spPr>
          <a:xfrm>
            <a:off x="762000" y="1397000"/>
            <a:ext cx="10668000" cy="889000"/>
          </a:xfrm>
          <a:prstGeom prst="roundRect">
            <a:avLst>
              <a:gd name="adj" fmla="val 14285"/>
            </a:avLst>
          </a:prstGeom>
          <a:solidFill>
            <a:srgbClr val="FFFFFF">
              <a:alpha val="80000"/>
            </a:srgbClr>
          </a:solidFill>
          <a:ln cap="flat" cmpd="sng">
            <a:solidFill>
              <a:srgbClr val="E6CFCF">
                <a:alpha val="80000"/>
              </a:srgbClr>
            </a:solidFill>
            <a:prstDash val="solid"/>
            <a:round/>
          </a:ln>
          <a:effectLst>
            <a:outerShdw blurRad="127000" dist="50800" dir="2700000" algn="tl" rotWithShape="0">
              <a:srgbClr val="0288D1">
                <a:alpha val="15000"/>
              </a:srgbClr>
            </a:outerShdw>
          </a:effectLst>
        </p:spPr>
        <p:txBody>
          <a:bodyPr vert="horz" wrap="square" lIns="63500" tIns="63500" rIns="63500" bIns="63500" rtlCol="0" anchor="ctr"/>
          <a:lstStyle/>
          <a:p>
            <a:pPr algn="ctr">
              <a:defRPr/>
            </a:pPr>
          </a:p>
        </p:txBody>
      </p:sp>
      <p:sp>
        <p:nvSpPr>
          <p:cNvPr id="4" name="AutoShape 4"/>
          <p:cNvSpPr/>
          <p:nvPr/>
        </p:nvSpPr>
        <p:spPr>
          <a:xfrm>
            <a:off x="1016000" y="1524000"/>
            <a:ext cx="10160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0" i="0" u="none" strike="noStrike">
                <a:solidFill>
                  <a:srgbClr val="757575"/>
                </a:solidFill>
                <a:latin typeface="Noto Sans SC"/>
                <a:ea typeface="Noto Sans SC"/>
                <a:cs typeface="Noto Sans SC"/>
                <a:sym typeface="Noto Sans SC"/>
              </a:rPr>
              <a:t>Self-RAG通过引入</a:t>
            </a:r>
            <a:r>
              <a:rPr lang="en-US" sz="1800" b="1" i="0" u="none" strike="noStrike">
                <a:solidFill>
                  <a:srgbClr val="0288D1"/>
                </a:solidFill>
                <a:latin typeface="Noto Sans SC"/>
                <a:ea typeface="Noto Sans SC"/>
                <a:cs typeface="Noto Sans SC"/>
                <a:sym typeface="Noto Sans SC"/>
              </a:rPr>
              <a:t>自我反思机制</a:t>
            </a:r>
            <a:r>
              <a:rPr lang="en-US" sz="1800" b="0" i="0" u="none" strike="noStrike">
                <a:solidFill>
                  <a:srgbClr val="757575"/>
                </a:solidFill>
                <a:latin typeface="Noto Sans SC"/>
                <a:ea typeface="Noto Sans SC"/>
                <a:cs typeface="Noto Sans SC"/>
                <a:sym typeface="Noto Sans SC"/>
              </a:rPr>
              <a:t>，让模型能够在生成过程中对检索到的信息进行评估和筛选，提升回答的准确性。</a:t>
            </a:r>
            <a:endParaRPr lang="en-US" sz="1100"/>
          </a:p>
        </p:txBody>
      </p:sp>
      <p:sp>
        <p:nvSpPr>
          <p:cNvPr id="5" name="AutoShape 5"/>
          <p:cNvSpPr/>
          <p:nvPr/>
        </p:nvSpPr>
        <p:spPr>
          <a:xfrm>
            <a:off x="762000" y="2540000"/>
            <a:ext cx="5143500" cy="2286000"/>
          </a:xfrm>
          <a:prstGeom prst="roundRect">
            <a:avLst>
              <a:gd name="adj" fmla="val 5555"/>
            </a:avLst>
          </a:prstGeom>
          <a:solidFill>
            <a:srgbClr val="FFFFFF">
              <a:alpha val="100000"/>
            </a:srgbClr>
          </a:solidFill>
          <a:ln cap="flat" cmpd="sng">
            <a:solidFill>
              <a:srgbClr val="E6CFCF">
                <a:alpha val="100000"/>
              </a:srgbClr>
            </a:solidFill>
            <a:prstDash val="solid"/>
            <a:round/>
          </a:ln>
          <a:effectLst>
            <a:outerShdw blurRad="101600" dist="50800" dir="2700000" algn="tl" rotWithShape="0">
              <a:srgbClr val="000000">
                <a:alpha val="5000"/>
              </a:srgbClr>
            </a:outerShdw>
          </a:effectLst>
        </p:spPr>
        <p:txBody>
          <a:bodyPr vert="horz" wrap="square" lIns="63500" tIns="63500" rIns="63500" bIns="63500" rtlCol="0" anchor="ctr"/>
          <a:lstStyle/>
          <a:p>
            <a:pPr algn="ctr">
              <a:defRPr/>
            </a:pPr>
          </a:p>
        </p:txBody>
      </p:sp>
      <p:pic>
        <p:nvPicPr>
          <p:cNvPr id="6" name="Picture 6"/>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016000" y="2794000"/>
            <a:ext cx="406400" cy="406400"/>
          </a:xfrm>
          <a:prstGeom prst="rect">
            <a:avLst/>
          </a:prstGeom>
        </p:spPr>
      </p:pic>
      <p:sp>
        <p:nvSpPr>
          <p:cNvPr id="7" name="AutoShape 7"/>
          <p:cNvSpPr/>
          <p:nvPr/>
        </p:nvSpPr>
        <p:spPr>
          <a:xfrm>
            <a:off x="1524000" y="2743200"/>
            <a:ext cx="4064000" cy="4064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0288D1"/>
                </a:solidFill>
                <a:latin typeface="Noto Sans SC"/>
                <a:ea typeface="Noto Sans SC"/>
                <a:cs typeface="Noto Sans SC"/>
                <a:sym typeface="Noto Sans SC"/>
              </a:rPr>
              <a:t>核心思想：动态决策</a:t>
            </a:r>
            <a:endParaRPr lang="en-US" sz="1100"/>
          </a:p>
        </p:txBody>
      </p:sp>
      <p:sp>
        <p:nvSpPr>
          <p:cNvPr id="8" name="AutoShape 8"/>
          <p:cNvSpPr/>
          <p:nvPr/>
        </p:nvSpPr>
        <p:spPr>
          <a:xfrm>
            <a:off x="1016000" y="3238500"/>
            <a:ext cx="4635500" cy="1397000"/>
          </a:xfrm>
          <a:prstGeom prst="rect">
            <a:avLst/>
          </a:prstGeom>
          <a:noFill/>
          <a:ln w="12700" cap="flat" cmpd="sng">
            <a:noFill/>
            <a:prstDash val="solid"/>
            <a:round/>
          </a:ln>
        </p:spPr>
        <p:txBody>
          <a:bodyPr vert="horz" wrap="square" lIns="0" tIns="0" rIns="0" bIns="0" rtlCol="0" anchor="t" anchorCtr="0"/>
          <a:lstStyle/>
          <a:p>
            <a:pPr indent="0" algn="l">
              <a:lnSpc>
                <a:spcPct val="108000"/>
              </a:lnSpc>
              <a:defRPr/>
            </a:pPr>
            <a:r>
              <a:rPr lang="en-US" sz="1600" b="0" i="0" u="none" strike="noStrike">
                <a:solidFill>
                  <a:srgbClr val="757575"/>
                </a:solidFill>
                <a:latin typeface="Noto Sans SC"/>
                <a:ea typeface="Noto Sans SC"/>
                <a:cs typeface="Noto Sans SC"/>
                <a:sym typeface="Noto Sans SC"/>
              </a:rPr>
              <a:t>训练具备反思能力的大语言模型，使其能够根据任务需求动态决定：</a:t>
            </a:r>
            <a:endParaRPr lang="en-US" sz="1100"/>
          </a:p>
          <a:p>
            <a:pPr marL="203200" indent="-203200" algn="l">
              <a:lnSpc>
                <a:spcPct val="108000"/>
              </a:lnSpc>
              <a:buClr>
                <a:srgbClr val="757575"/>
              </a:buClr>
              <a:buChar char="•"/>
            </a:pPr>
            <a:r>
              <a:rPr lang="en-US" sz="1600" b="0" i="0" u="none" strike="noStrike">
                <a:solidFill>
                  <a:srgbClr val="757575"/>
                </a:solidFill>
                <a:latin typeface="Noto Sans SC"/>
                <a:ea typeface="Noto Sans SC"/>
                <a:cs typeface="Noto Sans SC"/>
                <a:sym typeface="Noto Sans SC"/>
              </a:rPr>
              <a:t>是否需要进行检索</a:t>
            </a:r>
            <a:endParaRPr lang="en-US" sz="1600" b="0" i="0" u="none" strike="noStrike">
              <a:solidFill>
                <a:srgbClr val="757575"/>
              </a:solidFill>
              <a:latin typeface="Noto Sans SC"/>
              <a:ea typeface="Noto Sans SC"/>
              <a:cs typeface="Noto Sans SC"/>
              <a:sym typeface="Noto Sans SC"/>
            </a:endParaRPr>
          </a:p>
          <a:p>
            <a:pPr marL="203200" indent="-203200" algn="l">
              <a:lnSpc>
                <a:spcPct val="108000"/>
              </a:lnSpc>
              <a:buClr>
                <a:srgbClr val="757575"/>
              </a:buClr>
              <a:buChar char="•"/>
            </a:pPr>
            <a:r>
              <a:rPr lang="en-US" sz="1600" b="0" i="0" u="none" strike="noStrike">
                <a:solidFill>
                  <a:srgbClr val="757575"/>
                </a:solidFill>
                <a:latin typeface="Noto Sans SC"/>
                <a:ea typeface="Noto Sans SC"/>
                <a:cs typeface="Noto Sans SC"/>
                <a:sym typeface="Noto Sans SC"/>
              </a:rPr>
              <a:t>如何有效利用检索到的信息</a:t>
            </a:r>
            <a:endParaRPr lang="en-US" sz="1600" b="0" i="0" u="none" strike="noStrike">
              <a:solidFill>
                <a:srgbClr val="757575"/>
              </a:solidFill>
              <a:latin typeface="Noto Sans SC"/>
              <a:ea typeface="Noto Sans SC"/>
              <a:cs typeface="Noto Sans SC"/>
              <a:sym typeface="Noto Sans SC"/>
            </a:endParaRPr>
          </a:p>
        </p:txBody>
      </p:sp>
      <p:sp>
        <p:nvSpPr>
          <p:cNvPr id="9" name="AutoShape 9"/>
          <p:cNvSpPr/>
          <p:nvPr/>
        </p:nvSpPr>
        <p:spPr>
          <a:xfrm>
            <a:off x="6286500" y="2540000"/>
            <a:ext cx="5143500" cy="2286000"/>
          </a:xfrm>
          <a:prstGeom prst="roundRect">
            <a:avLst>
              <a:gd name="adj" fmla="val 5555"/>
            </a:avLst>
          </a:prstGeom>
          <a:solidFill>
            <a:srgbClr val="FFFFFF">
              <a:alpha val="100000"/>
            </a:srgbClr>
          </a:solidFill>
          <a:ln cap="flat" cmpd="sng">
            <a:solidFill>
              <a:srgbClr val="E6CFCF">
                <a:alpha val="100000"/>
              </a:srgbClr>
            </a:solidFill>
            <a:prstDash val="solid"/>
            <a:round/>
          </a:ln>
          <a:effectLst>
            <a:outerShdw blurRad="101600" dist="50800" dir="2700000" algn="tl" rotWithShape="0">
              <a:srgbClr val="000000">
                <a:alpha val="5000"/>
              </a:srgbClr>
            </a:outerShdw>
          </a:effectLst>
        </p:spPr>
        <p:txBody>
          <a:bodyPr vert="horz" wrap="square" lIns="63500" tIns="63500" rIns="63500" bIns="63500" rtlCol="0" anchor="ctr"/>
          <a:lstStyle/>
          <a:p>
            <a:pPr algn="ctr">
              <a:defRPr/>
            </a:pPr>
          </a:p>
        </p:txBody>
      </p:sp>
      <p:pic>
        <p:nvPicPr>
          <p:cNvPr id="10" name="Picture 10"/>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540500" y="2794000"/>
            <a:ext cx="406400" cy="406400"/>
          </a:xfrm>
          <a:prstGeom prst="rect">
            <a:avLst/>
          </a:prstGeom>
        </p:spPr>
      </p:pic>
      <p:sp>
        <p:nvSpPr>
          <p:cNvPr id="11" name="AutoShape 11"/>
          <p:cNvSpPr/>
          <p:nvPr/>
        </p:nvSpPr>
        <p:spPr>
          <a:xfrm>
            <a:off x="7048500" y="2743200"/>
            <a:ext cx="4064000" cy="4064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0288D1"/>
                </a:solidFill>
                <a:latin typeface="Noto Sans SC"/>
                <a:ea typeface="Noto Sans SC"/>
                <a:cs typeface="Noto Sans SC"/>
                <a:sym typeface="Noto Sans SC"/>
              </a:rPr>
              <a:t>实现方式：反思标记</a:t>
            </a:r>
            <a:endParaRPr lang="en-US" sz="1100"/>
          </a:p>
        </p:txBody>
      </p:sp>
      <p:sp>
        <p:nvSpPr>
          <p:cNvPr id="12" name="AutoShape 12"/>
          <p:cNvSpPr/>
          <p:nvPr/>
        </p:nvSpPr>
        <p:spPr>
          <a:xfrm>
            <a:off x="6540500" y="3238500"/>
            <a:ext cx="4635500" cy="1397000"/>
          </a:xfrm>
          <a:prstGeom prst="rect">
            <a:avLst/>
          </a:prstGeom>
          <a:noFill/>
          <a:ln w="12700" cap="flat" cmpd="sng">
            <a:noFill/>
            <a:prstDash val="solid"/>
            <a:round/>
          </a:ln>
        </p:spPr>
        <p:txBody>
          <a:bodyPr vert="horz" wrap="square" lIns="0" tIns="0" rIns="0" bIns="0" rtlCol="0" anchor="t" anchorCtr="0"/>
          <a:lstStyle/>
          <a:p>
            <a:pPr indent="0" algn="l">
              <a:lnSpc>
                <a:spcPct val="108000"/>
              </a:lnSpc>
              <a:defRPr/>
            </a:pPr>
            <a:r>
              <a:rPr lang="en-US" sz="1600" b="0" i="0" u="none" strike="noStrike">
                <a:solidFill>
                  <a:srgbClr val="757575"/>
                </a:solidFill>
                <a:latin typeface="Noto Sans SC"/>
                <a:ea typeface="Noto Sans SC"/>
                <a:cs typeface="Noto Sans SC"/>
                <a:sym typeface="Noto Sans SC"/>
              </a:rPr>
              <a:t>模型生成特殊的“反思标记”（Reflection Tokens）来指示：</a:t>
            </a:r>
            <a:endParaRPr lang="en-US" sz="1100"/>
          </a:p>
          <a:p>
            <a:pPr marL="203200" indent="-203200" algn="l">
              <a:lnSpc>
                <a:spcPct val="108000"/>
              </a:lnSpc>
              <a:buClr>
                <a:srgbClr val="757575"/>
              </a:buClr>
              <a:buChar char="•"/>
            </a:pPr>
            <a:r>
              <a:rPr lang="en-US" sz="1600" b="0" i="0" u="none" strike="noStrike">
                <a:solidFill>
                  <a:srgbClr val="757575"/>
                </a:solidFill>
                <a:latin typeface="Noto Sans SC"/>
                <a:ea typeface="Noto Sans SC"/>
                <a:cs typeface="Noto Sans SC"/>
                <a:sym typeface="Noto Sans SC"/>
              </a:rPr>
              <a:t>何时检索及检索内容</a:t>
            </a:r>
            <a:endParaRPr lang="en-US" sz="1600" b="0" i="0" u="none" strike="noStrike">
              <a:solidFill>
                <a:srgbClr val="757575"/>
              </a:solidFill>
              <a:latin typeface="Noto Sans SC"/>
              <a:ea typeface="Noto Sans SC"/>
              <a:cs typeface="Noto Sans SC"/>
              <a:sym typeface="Noto Sans SC"/>
            </a:endParaRPr>
          </a:p>
          <a:p>
            <a:pPr marL="203200" indent="-203200" algn="l">
              <a:lnSpc>
                <a:spcPct val="108000"/>
              </a:lnSpc>
              <a:buClr>
                <a:srgbClr val="757575"/>
              </a:buClr>
              <a:buChar char="•"/>
            </a:pPr>
            <a:r>
              <a:rPr lang="en-US" sz="1600" b="0" i="0" u="none" strike="noStrike">
                <a:solidFill>
                  <a:srgbClr val="757575"/>
                </a:solidFill>
                <a:latin typeface="Noto Sans SC"/>
                <a:ea typeface="Noto Sans SC"/>
                <a:cs typeface="Noto Sans SC"/>
                <a:sym typeface="Noto Sans SC"/>
              </a:rPr>
              <a:t>是否信任当前检索结果并过滤低质量信息</a:t>
            </a:r>
            <a:endParaRPr lang="en-US" sz="1600" b="0" i="0" u="none" strike="noStrike">
              <a:solidFill>
                <a:srgbClr val="757575"/>
              </a:solidFill>
              <a:latin typeface="Noto Sans SC"/>
              <a:ea typeface="Noto Sans SC"/>
              <a:cs typeface="Noto Sans SC"/>
              <a:sym typeface="Noto Sans SC"/>
            </a:endParaRPr>
          </a:p>
        </p:txBody>
      </p:sp>
      <p:sp>
        <p:nvSpPr>
          <p:cNvPr id="13" name="AutoShape 13"/>
          <p:cNvSpPr/>
          <p:nvPr/>
        </p:nvSpPr>
        <p:spPr>
          <a:xfrm>
            <a:off x="762000" y="5080000"/>
            <a:ext cx="10668000" cy="889000"/>
          </a:xfrm>
          <a:prstGeom prst="roundRect">
            <a:avLst>
              <a:gd name="adj" fmla="val 14285"/>
            </a:avLst>
          </a:prstGeom>
          <a:solidFill>
            <a:srgbClr val="0288D1">
              <a:alpha val="10000"/>
            </a:srgbClr>
          </a:solidFill>
          <a:ln w="12700" cap="flat" cmpd="sng">
            <a:solidFill>
              <a:srgbClr val="0288D1">
                <a:alpha val="30000"/>
              </a:srgbClr>
            </a:solidFill>
            <a:prstDash val="solid"/>
            <a:round/>
          </a:ln>
        </p:spPr>
        <p:txBody>
          <a:bodyPr vert="horz" wrap="square" lIns="63500" tIns="63500" rIns="63500" bIns="63500" rtlCol="0" anchor="ctr"/>
          <a:lstStyle/>
          <a:p>
            <a:pPr algn="ctr">
              <a:defRPr/>
            </a:pPr>
          </a:p>
        </p:txBody>
      </p:sp>
      <p:pic>
        <p:nvPicPr>
          <p:cNvPr id="14" name="Picture 14"/>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016000" y="5321300"/>
            <a:ext cx="406400" cy="406400"/>
          </a:xfrm>
          <a:prstGeom prst="rect">
            <a:avLst/>
          </a:prstGeom>
        </p:spPr>
      </p:pic>
      <p:sp>
        <p:nvSpPr>
          <p:cNvPr id="15" name="AutoShape 15"/>
          <p:cNvSpPr/>
          <p:nvPr/>
        </p:nvSpPr>
        <p:spPr>
          <a:xfrm>
            <a:off x="1524000" y="5207000"/>
            <a:ext cx="9652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0288D1"/>
                </a:solidFill>
                <a:latin typeface="Noto Sans SC"/>
                <a:ea typeface="Noto Sans SC"/>
                <a:cs typeface="Noto Sans SC"/>
                <a:sym typeface="Noto Sans SC"/>
              </a:rPr>
              <a:t>核心价值：</a:t>
            </a:r>
            <a:r>
              <a:rPr lang="en-US" sz="1800" b="0" i="0" u="none" strike="noStrike">
                <a:solidFill>
                  <a:srgbClr val="757575"/>
                </a:solidFill>
                <a:latin typeface="Noto Sans SC"/>
                <a:ea typeface="Noto Sans SC"/>
                <a:cs typeface="Noto Sans SC"/>
                <a:sym typeface="Noto Sans SC"/>
              </a:rPr>
              <a:t>通过主动过滤和自我评估，显著提升回答的可靠性与质量。</a:t>
            </a:r>
            <a:endParaRPr lang="en-US" sz="110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rgbClr val="E0F7FA">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635000"/>
            <a:ext cx="10668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0288D1"/>
                </a:solidFill>
                <a:latin typeface="Noto Sans SC"/>
                <a:ea typeface="Noto Sans SC"/>
                <a:cs typeface="Noto Sans SC"/>
                <a:sym typeface="Noto Sans SC"/>
              </a:rPr>
              <a:t>Self-RAG的核心创新</a:t>
            </a:r>
            <a:endParaRPr lang="en-US" sz="1100"/>
          </a:p>
        </p:txBody>
      </p:sp>
      <p:sp>
        <p:nvSpPr>
          <p:cNvPr id="3" name="AutoShape 3"/>
          <p:cNvSpPr/>
          <p:nvPr/>
        </p:nvSpPr>
        <p:spPr>
          <a:xfrm>
            <a:off x="762000" y="1524000"/>
            <a:ext cx="5207000" cy="2032000"/>
          </a:xfrm>
          <a:prstGeom prst="roundRect">
            <a:avLst>
              <a:gd name="adj" fmla="val 6250"/>
            </a:avLst>
          </a:prstGeom>
          <a:solidFill>
            <a:srgbClr val="FFFFFF">
              <a:alpha val="100000"/>
            </a:srgbClr>
          </a:solidFill>
          <a:ln w="25400" cap="flat" cmpd="sng">
            <a:noFill/>
            <a:prstDash val="solid"/>
            <a:round/>
          </a:ln>
          <a:effectLst>
            <a:outerShdw blurRad="127000" dist="50800" dir="5400000" algn="tl" rotWithShape="0">
              <a:srgbClr val="0288D1">
                <a:alpha val="15000"/>
              </a:srgbClr>
            </a:outerShdw>
          </a:effectLst>
        </p:spPr>
        <p:txBody>
          <a:bodyPr vert="horz" wrap="square" lIns="63500" tIns="63500" rIns="63500" bIns="63500" rtlCol="0" anchor="ctr"/>
          <a:lstStyle/>
          <a:p>
            <a:pPr algn="ctr">
              <a:defRPr/>
            </a:pPr>
          </a:p>
        </p:txBody>
      </p:sp>
      <p:pic>
        <p:nvPicPr>
          <p:cNvPr id="4" name="Picture 4"/>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016000" y="1778000"/>
            <a:ext cx="406400" cy="406400"/>
          </a:xfrm>
          <a:prstGeom prst="rect">
            <a:avLst/>
          </a:prstGeom>
        </p:spPr>
      </p:pic>
      <p:sp>
        <p:nvSpPr>
          <p:cNvPr id="5" name="AutoShape 5"/>
          <p:cNvSpPr/>
          <p:nvPr/>
        </p:nvSpPr>
        <p:spPr>
          <a:xfrm>
            <a:off x="1524000" y="1727200"/>
            <a:ext cx="4191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0288D1"/>
                </a:solidFill>
                <a:latin typeface="Noto Sans SC"/>
                <a:ea typeface="Noto Sans SC"/>
                <a:cs typeface="Noto Sans SC"/>
                <a:sym typeface="Noto Sans SC"/>
              </a:rPr>
              <a:t>检索与生成的深度融合</a:t>
            </a:r>
            <a:endParaRPr lang="en-US" sz="1100"/>
          </a:p>
        </p:txBody>
      </p:sp>
      <p:sp>
        <p:nvSpPr>
          <p:cNvPr id="6" name="AutoShape 6"/>
          <p:cNvSpPr/>
          <p:nvPr/>
        </p:nvSpPr>
        <p:spPr>
          <a:xfrm>
            <a:off x="1016000" y="2286000"/>
            <a:ext cx="4699000" cy="10160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800" b="0" i="0" u="none" strike="noStrike">
                <a:solidFill>
                  <a:srgbClr val="757575"/>
                </a:solidFill>
                <a:latin typeface="Noto Sans SC"/>
                <a:ea typeface="Noto Sans SC"/>
                <a:cs typeface="Noto Sans SC"/>
                <a:sym typeface="Noto Sans SC"/>
              </a:rPr>
              <a:t>将检索过程深度集成到大语言模型的生成过程中，而非作为一个独立的前置步骤。</a:t>
            </a:r>
            <a:endParaRPr lang="en-US" sz="1100"/>
          </a:p>
        </p:txBody>
      </p:sp>
      <p:sp>
        <p:nvSpPr>
          <p:cNvPr id="7" name="AutoShape 7"/>
          <p:cNvSpPr/>
          <p:nvPr/>
        </p:nvSpPr>
        <p:spPr>
          <a:xfrm>
            <a:off x="6223000" y="1524000"/>
            <a:ext cx="5207000" cy="2032000"/>
          </a:xfrm>
          <a:prstGeom prst="roundRect">
            <a:avLst>
              <a:gd name="adj" fmla="val 6250"/>
            </a:avLst>
          </a:prstGeom>
          <a:solidFill>
            <a:srgbClr val="FFFFFF">
              <a:alpha val="100000"/>
            </a:srgbClr>
          </a:solidFill>
          <a:ln w="25400" cap="flat" cmpd="sng">
            <a:noFill/>
            <a:prstDash val="solid"/>
            <a:round/>
          </a:ln>
          <a:effectLst>
            <a:outerShdw blurRad="127000" dist="50800" dir="5400000" algn="tl" rotWithShape="0">
              <a:srgbClr val="0288D1">
                <a:alpha val="15000"/>
              </a:srgbClr>
            </a:outerShdw>
          </a:effectLst>
        </p:spPr>
        <p:txBody>
          <a:bodyPr vert="horz" wrap="square" lIns="63500" tIns="63500" rIns="63500" bIns="63500" rtlCol="0" anchor="ctr"/>
          <a:lstStyle/>
          <a:p>
            <a:pPr algn="ctr">
              <a:defRPr/>
            </a:pPr>
          </a:p>
        </p:txBody>
      </p:sp>
      <p:pic>
        <p:nvPicPr>
          <p:cNvPr id="8" name="Picture 8"/>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477000" y="1778000"/>
            <a:ext cx="406400" cy="406400"/>
          </a:xfrm>
          <a:prstGeom prst="rect">
            <a:avLst/>
          </a:prstGeom>
        </p:spPr>
      </p:pic>
      <p:sp>
        <p:nvSpPr>
          <p:cNvPr id="9" name="AutoShape 9"/>
          <p:cNvSpPr/>
          <p:nvPr/>
        </p:nvSpPr>
        <p:spPr>
          <a:xfrm>
            <a:off x="6985000" y="1727200"/>
            <a:ext cx="4191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0288D1"/>
                </a:solidFill>
                <a:latin typeface="Noto Sans SC"/>
                <a:ea typeface="Noto Sans SC"/>
                <a:cs typeface="Noto Sans SC"/>
                <a:sym typeface="Noto Sans SC"/>
              </a:rPr>
              <a:t>动态检索决策</a:t>
            </a:r>
            <a:endParaRPr lang="en-US" sz="1100"/>
          </a:p>
        </p:txBody>
      </p:sp>
      <p:sp>
        <p:nvSpPr>
          <p:cNvPr id="10" name="AutoShape 10"/>
          <p:cNvSpPr/>
          <p:nvPr/>
        </p:nvSpPr>
        <p:spPr>
          <a:xfrm>
            <a:off x="6477000" y="2286000"/>
            <a:ext cx="4699000" cy="10160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800" b="0" i="0" u="none" strike="noStrike">
                <a:solidFill>
                  <a:srgbClr val="757575"/>
                </a:solidFill>
                <a:latin typeface="Noto Sans SC"/>
                <a:ea typeface="Noto Sans SC"/>
                <a:cs typeface="Noto Sans SC"/>
                <a:sym typeface="Noto Sans SC"/>
              </a:rPr>
              <a:t>模型能够根据当前生成的内容和任务需求，动态决定是否需要进行检索，以及检索的时机和内容。</a:t>
            </a:r>
            <a:endParaRPr lang="en-US" sz="1100"/>
          </a:p>
        </p:txBody>
      </p:sp>
      <p:sp>
        <p:nvSpPr>
          <p:cNvPr id="11" name="AutoShape 11"/>
          <p:cNvSpPr/>
          <p:nvPr/>
        </p:nvSpPr>
        <p:spPr>
          <a:xfrm>
            <a:off x="762000" y="3810000"/>
            <a:ext cx="5207000" cy="2032000"/>
          </a:xfrm>
          <a:prstGeom prst="roundRect">
            <a:avLst>
              <a:gd name="adj" fmla="val 6250"/>
            </a:avLst>
          </a:prstGeom>
          <a:solidFill>
            <a:srgbClr val="FFFFFF">
              <a:alpha val="100000"/>
            </a:srgbClr>
          </a:solidFill>
          <a:ln w="25400" cap="flat" cmpd="sng">
            <a:noFill/>
            <a:prstDash val="solid"/>
            <a:round/>
          </a:ln>
          <a:effectLst>
            <a:outerShdw blurRad="127000" dist="50800" dir="5400000" algn="tl" rotWithShape="0">
              <a:srgbClr val="0288D1">
                <a:alpha val="15000"/>
              </a:srgbClr>
            </a:outerShdw>
          </a:effectLst>
        </p:spPr>
        <p:txBody>
          <a:bodyPr vert="horz" wrap="square" lIns="63500" tIns="63500" rIns="63500" bIns="63500" rtlCol="0" anchor="ctr"/>
          <a:lstStyle/>
          <a:p>
            <a:pPr algn="ctr">
              <a:defRPr/>
            </a:pPr>
          </a:p>
        </p:txBody>
      </p:sp>
      <p:pic>
        <p:nvPicPr>
          <p:cNvPr id="12" name="Picture 12"/>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016000" y="4064000"/>
            <a:ext cx="406400" cy="406400"/>
          </a:xfrm>
          <a:prstGeom prst="rect">
            <a:avLst/>
          </a:prstGeom>
        </p:spPr>
      </p:pic>
      <p:sp>
        <p:nvSpPr>
          <p:cNvPr id="13" name="AutoShape 13"/>
          <p:cNvSpPr/>
          <p:nvPr/>
        </p:nvSpPr>
        <p:spPr>
          <a:xfrm>
            <a:off x="1524000" y="4013200"/>
            <a:ext cx="4191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0288D1"/>
                </a:solidFill>
                <a:latin typeface="Noto Sans SC"/>
                <a:ea typeface="Noto Sans SC"/>
                <a:cs typeface="Noto Sans SC"/>
                <a:sym typeface="Noto Sans SC"/>
              </a:rPr>
              <a:t>内置信息评估机制</a:t>
            </a:r>
            <a:endParaRPr lang="en-US" sz="1100"/>
          </a:p>
        </p:txBody>
      </p:sp>
      <p:sp>
        <p:nvSpPr>
          <p:cNvPr id="14" name="AutoShape 14"/>
          <p:cNvSpPr/>
          <p:nvPr/>
        </p:nvSpPr>
        <p:spPr>
          <a:xfrm>
            <a:off x="1016000" y="4572000"/>
            <a:ext cx="4699000" cy="10160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800" b="0" i="0" u="none" strike="noStrike">
                <a:solidFill>
                  <a:srgbClr val="757575"/>
                </a:solidFill>
                <a:latin typeface="Noto Sans SC"/>
                <a:ea typeface="Noto Sans SC"/>
                <a:cs typeface="Noto Sans SC"/>
                <a:sym typeface="Noto Sans SC"/>
              </a:rPr>
              <a:t>通过生成“反思标记”，模型能够对检索结果的质量和相关性进行自我评估，从而决定是否采纳或忽略。</a:t>
            </a:r>
            <a:endParaRPr lang="en-US" sz="1100"/>
          </a:p>
        </p:txBody>
      </p:sp>
      <p:sp>
        <p:nvSpPr>
          <p:cNvPr id="15" name="AutoShape 15"/>
          <p:cNvSpPr/>
          <p:nvPr/>
        </p:nvSpPr>
        <p:spPr>
          <a:xfrm>
            <a:off x="6223000" y="3810000"/>
            <a:ext cx="5207000" cy="2032000"/>
          </a:xfrm>
          <a:prstGeom prst="roundRect">
            <a:avLst>
              <a:gd name="adj" fmla="val 6250"/>
            </a:avLst>
          </a:prstGeom>
          <a:solidFill>
            <a:srgbClr val="FFFFFF">
              <a:alpha val="100000"/>
            </a:srgbClr>
          </a:solidFill>
          <a:ln w="25400" cap="flat" cmpd="sng">
            <a:noFill/>
            <a:prstDash val="solid"/>
            <a:round/>
          </a:ln>
          <a:effectLst>
            <a:outerShdw blurRad="127000" dist="50800" dir="5400000" algn="tl" rotWithShape="0">
              <a:srgbClr val="0288D1">
                <a:alpha val="15000"/>
              </a:srgbClr>
            </a:outerShdw>
          </a:effectLst>
        </p:spPr>
        <p:txBody>
          <a:bodyPr vert="horz" wrap="square" lIns="63500" tIns="63500" rIns="63500" bIns="63500" rtlCol="0" anchor="ctr"/>
          <a:lstStyle/>
          <a:p>
            <a:pPr algn="ctr">
              <a:defRPr/>
            </a:pPr>
          </a:p>
        </p:txBody>
      </p:sp>
      <p:pic>
        <p:nvPicPr>
          <p:cNvPr id="16" name="Picture 16"/>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6477000" y="4064000"/>
            <a:ext cx="406400" cy="406400"/>
          </a:xfrm>
          <a:prstGeom prst="rect">
            <a:avLst/>
          </a:prstGeom>
        </p:spPr>
      </p:pic>
      <p:sp>
        <p:nvSpPr>
          <p:cNvPr id="17" name="AutoShape 17"/>
          <p:cNvSpPr/>
          <p:nvPr/>
        </p:nvSpPr>
        <p:spPr>
          <a:xfrm>
            <a:off x="6985000" y="4013200"/>
            <a:ext cx="4191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0288D1"/>
                </a:solidFill>
                <a:latin typeface="Noto Sans SC"/>
                <a:ea typeface="Noto Sans SC"/>
                <a:cs typeface="Noto Sans SC"/>
                <a:sym typeface="Noto Sans SC"/>
              </a:rPr>
              <a:t>提升复杂任务处理能力</a:t>
            </a:r>
            <a:endParaRPr lang="en-US" sz="1100"/>
          </a:p>
        </p:txBody>
      </p:sp>
      <p:sp>
        <p:nvSpPr>
          <p:cNvPr id="18" name="AutoShape 18"/>
          <p:cNvSpPr/>
          <p:nvPr/>
        </p:nvSpPr>
        <p:spPr>
          <a:xfrm>
            <a:off x="6477000" y="4572000"/>
            <a:ext cx="4699000" cy="10160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800" b="0" i="0" u="none" strike="noStrike">
                <a:solidFill>
                  <a:srgbClr val="757575"/>
                </a:solidFill>
                <a:latin typeface="Noto Sans SC"/>
                <a:ea typeface="Noto Sans SC"/>
                <a:cs typeface="Noto Sans SC"/>
                <a:sym typeface="Noto Sans SC"/>
              </a:rPr>
              <a:t>能够更好地处理需要精确信息、逻辑推理或涉及长尾知识的复杂任务，显著降低生成“幻觉”的概率。</a:t>
            </a:r>
            <a:endParaRPr lang="en-US" sz="110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rgbClr val="E0F7FA">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635000"/>
            <a:ext cx="10668000" cy="508000"/>
          </a:xfrm>
          <a:prstGeom prst="rect">
            <a:avLst/>
          </a:prstGeom>
          <a:noFill/>
          <a:ln w="12700" cap="flat" cmpd="sng">
            <a:noFill/>
            <a:prstDash val="solid"/>
            <a:round/>
          </a:ln>
        </p:spPr>
        <p:txBody>
          <a:bodyPr vert="horz" wrap="none" lIns="0" tIns="0" rIns="0" bIns="0" rtlCol="0" anchor="ctr" anchorCtr="0"/>
          <a:lstStyle/>
          <a:p>
            <a:pPr indent="0" algn="l">
              <a:lnSpc>
                <a:spcPct val="125000"/>
              </a:lnSpc>
              <a:defRPr/>
            </a:pPr>
            <a:r>
              <a:rPr lang="en-US" sz="3200" b="1" i="0" u="none" strike="noStrike">
                <a:solidFill>
                  <a:srgbClr val="0288D1"/>
                </a:solidFill>
                <a:latin typeface="Noto Sans SC"/>
                <a:ea typeface="Noto Sans SC"/>
                <a:cs typeface="Noto Sans SC"/>
                <a:sym typeface="Noto Sans SC"/>
              </a:rPr>
              <a:t>Self-RAG vs 传统RAG</a:t>
            </a:r>
            <a:endParaRPr lang="en-US" sz="1100"/>
          </a:p>
        </p:txBody>
      </p:sp>
      <p:graphicFrame>
        <p:nvGraphicFramePr>
          <p:cNvPr id="3" name="Table 3"/>
          <p:cNvGraphicFramePr>
            <a:graphicFrameLocks noGrp="1"/>
          </p:cNvGraphicFramePr>
          <p:nvPr/>
        </p:nvGraphicFramePr>
        <p:xfrm>
          <a:off x="762000" y="1524000"/>
          <a:ext cx="10668000" cy="4381500"/>
        </p:xfrm>
        <a:graphic>
          <a:graphicData uri="http://schemas.openxmlformats.org/drawingml/2006/table">
            <a:tbl>
              <a:tblPr>
                <a:effectLst/>
              </a:tblPr>
              <a:tblGrid>
                <a:gridCol w="2032000"/>
                <a:gridCol w="4318000"/>
                <a:gridCol w="4318000"/>
              </a:tblGrid>
              <a:tr h="571500">
                <a:tc>
                  <a:txBody>
                    <a:bodyPr rtlCol="0"/>
                    <a:lstStyle/>
                    <a:p>
                      <a:pPr indent="0" algn="ctr">
                        <a:lnSpc>
                          <a:spcPct val="100000"/>
                        </a:lnSpc>
                        <a:defRPr/>
                      </a:pPr>
                      <a:r>
                        <a:rPr lang="en-US" sz="1800" b="1" i="0" u="none" strike="noStrike">
                          <a:solidFill>
                            <a:srgbClr val="FFFFFF"/>
                          </a:solidFill>
                          <a:latin typeface="Noto Sans SC"/>
                          <a:ea typeface="Noto Sans SC"/>
                          <a:cs typeface="Noto Sans SC"/>
                          <a:sym typeface="Noto Sans SC"/>
                        </a:rPr>
                        <a:t>特性</a:t>
                      </a:r>
                      <a:endParaRPr lang="en-US" sz="1100"/>
                    </a:p>
                  </a:txBody>
                  <a:tcPr marL="101600" marR="101600" marT="101600" marB="101600" anchor="t" anchorCtr="0">
                    <a:lnL>
                      <a:noFill/>
                    </a:lnL>
                    <a:lnR>
                      <a:noFill/>
                    </a:lnR>
                    <a:lnT>
                      <a:noFill/>
                    </a:lnT>
                    <a:lnB>
                      <a:noFill/>
                    </a:lnB>
                    <a:solidFill>
                      <a:srgbClr val="0288D1">
                        <a:alpha val="100000"/>
                      </a:srgbClr>
                    </a:solidFill>
                  </a:tcPr>
                </a:tc>
                <a:tc>
                  <a:txBody>
                    <a:bodyPr rtlCol="0"/>
                    <a:lstStyle/>
                    <a:p>
                      <a:pPr indent="0" algn="ctr">
                        <a:lnSpc>
                          <a:spcPct val="100000"/>
                        </a:lnSpc>
                        <a:defRPr/>
                      </a:pPr>
                      <a:r>
                        <a:rPr lang="en-US" sz="1800" b="1" i="0" u="none" strike="noStrike">
                          <a:solidFill>
                            <a:srgbClr val="FFFFFF"/>
                          </a:solidFill>
                          <a:latin typeface="Noto Sans SC"/>
                          <a:ea typeface="Noto Sans SC"/>
                          <a:cs typeface="Noto Sans SC"/>
                          <a:sym typeface="Noto Sans SC"/>
                        </a:rPr>
                        <a:t>传统RAG</a:t>
                      </a:r>
                      <a:endParaRPr lang="en-US" sz="1100"/>
                    </a:p>
                  </a:txBody>
                  <a:tcPr marL="101600" marR="101600" marT="101600" marB="101600" anchor="t" anchorCtr="0">
                    <a:lnL>
                      <a:noFill/>
                    </a:lnL>
                    <a:lnR>
                      <a:noFill/>
                    </a:lnR>
                    <a:lnT>
                      <a:noFill/>
                    </a:lnT>
                    <a:lnB>
                      <a:noFill/>
                    </a:lnB>
                    <a:solidFill>
                      <a:srgbClr val="0288D1">
                        <a:alpha val="100000"/>
                      </a:srgbClr>
                    </a:solidFill>
                  </a:tcPr>
                </a:tc>
                <a:tc>
                  <a:txBody>
                    <a:bodyPr rtlCol="0"/>
                    <a:lstStyle/>
                    <a:p>
                      <a:pPr indent="0" algn="ctr">
                        <a:lnSpc>
                          <a:spcPct val="100000"/>
                        </a:lnSpc>
                        <a:defRPr/>
                      </a:pPr>
                      <a:r>
                        <a:rPr lang="en-US" sz="1800" b="1" i="0" u="none" strike="noStrike">
                          <a:solidFill>
                            <a:srgbClr val="FFFFFF"/>
                          </a:solidFill>
                          <a:latin typeface="Noto Sans SC"/>
                          <a:ea typeface="Noto Sans SC"/>
                          <a:cs typeface="Noto Sans SC"/>
                          <a:sym typeface="Noto Sans SC"/>
                        </a:rPr>
                        <a:t>Self-RAG</a:t>
                      </a:r>
                      <a:endParaRPr lang="en-US" sz="1100"/>
                    </a:p>
                  </a:txBody>
                  <a:tcPr marL="101600" marR="101600" marT="101600" marB="101600" anchor="t" anchorCtr="0">
                    <a:lnL>
                      <a:noFill/>
                    </a:lnL>
                    <a:lnR>
                      <a:noFill/>
                    </a:lnR>
                    <a:lnT>
                      <a:noFill/>
                    </a:lnT>
                    <a:lnB>
                      <a:noFill/>
                    </a:lnB>
                    <a:solidFill>
                      <a:srgbClr val="0288D1">
                        <a:alpha val="100000"/>
                      </a:srgbClr>
                    </a:solidFill>
                  </a:tcPr>
                </a:tc>
              </a:tr>
              <a:tr h="762000">
                <a:tc>
                  <a:txBody>
                    <a:bodyPr rtlCol="0"/>
                    <a:lstStyle/>
                    <a:p>
                      <a:pPr indent="0" algn="ctr">
                        <a:lnSpc>
                          <a:spcPct val="100000"/>
                        </a:lnSpc>
                        <a:defRPr/>
                      </a:pPr>
                      <a:r>
                        <a:rPr lang="en-US" sz="1600" b="1" i="0" u="none" strike="noStrike">
                          <a:solidFill>
                            <a:srgbClr val="0288D1"/>
                          </a:solidFill>
                          <a:latin typeface="Noto Sans SC"/>
                          <a:ea typeface="Noto Sans SC"/>
                          <a:cs typeface="Noto Sans SC"/>
                          <a:sym typeface="Noto Sans SC"/>
                        </a:rPr>
                        <a:t>检索策略</a:t>
                      </a:r>
                      <a:endParaRPr lang="en-US" sz="1100"/>
                    </a:p>
                  </a:txBody>
                  <a:tcPr marL="101600" marR="101600" marT="101600" marB="101600" anchor="t" anchorCtr="0">
                    <a:lnL>
                      <a:noFill/>
                    </a:lnL>
                    <a:lnR>
                      <a:noFill/>
                    </a:lnR>
                    <a:lnT>
                      <a:noFill/>
                    </a:lnT>
                    <a:lnB w="12700" cap="flat" cmpd="sng" algn="ctr">
                      <a:solidFill>
                        <a:srgbClr val="E0F7FA"/>
                      </a:solidFill>
                      <a:prstDash val="solid"/>
                      <a:round/>
                      <a:headEnd type="none" w="med" len="med"/>
                      <a:tailEnd type="none" w="med" len="med"/>
                    </a:lnB>
                    <a:solidFill>
                      <a:srgbClr val="FFFFFF">
                        <a:alpha val="100000"/>
                      </a:srgbClr>
                    </a:solidFill>
                  </a:tcPr>
                </a:tc>
                <a:tc>
                  <a:txBody>
                    <a:bodyPr rtlCol="0"/>
                    <a:lstStyle/>
                    <a:p>
                      <a:pPr indent="0" algn="l">
                        <a:lnSpc>
                          <a:spcPct val="100000"/>
                        </a:lnSpc>
                        <a:defRPr/>
                      </a:pPr>
                      <a:r>
                        <a:rPr lang="en-US" sz="1600" b="0" i="0" u="none" strike="noStrike">
                          <a:solidFill>
                            <a:srgbClr val="757575"/>
                          </a:solidFill>
                          <a:latin typeface="Noto Sans SC"/>
                          <a:ea typeface="Noto Sans SC"/>
                          <a:cs typeface="Noto Sans SC"/>
                          <a:sym typeface="Noto Sans SC"/>
                        </a:rPr>
                        <a:t>静态，固定Top-K检索</a:t>
                      </a:r>
                      <a:endParaRPr lang="en-US" sz="1100"/>
                    </a:p>
                  </a:txBody>
                  <a:tcPr marL="190500" marR="101600" marT="101600" marB="101600" anchor="t" anchorCtr="0">
                    <a:lnL>
                      <a:noFill/>
                    </a:lnL>
                    <a:lnR>
                      <a:noFill/>
                    </a:lnR>
                    <a:lnT>
                      <a:noFill/>
                    </a:lnT>
                    <a:lnB w="12700" cap="flat" cmpd="sng" algn="ctr">
                      <a:solidFill>
                        <a:srgbClr val="E0F7FA"/>
                      </a:solidFill>
                      <a:prstDash val="solid"/>
                      <a:round/>
                      <a:headEnd type="none" w="med" len="med"/>
                      <a:tailEnd type="none" w="med" len="med"/>
                    </a:lnB>
                    <a:solidFill>
                      <a:srgbClr val="FFFFFF">
                        <a:alpha val="100000"/>
                      </a:srgbClr>
                    </a:solidFill>
                  </a:tcPr>
                </a:tc>
                <a:tc>
                  <a:txBody>
                    <a:bodyPr rtlCol="0"/>
                    <a:lstStyle/>
                    <a:p>
                      <a:pPr indent="0" algn="l">
                        <a:lnSpc>
                          <a:spcPct val="100000"/>
                        </a:lnSpc>
                        <a:defRPr/>
                      </a:pPr>
                      <a:r>
                        <a:rPr lang="en-US" sz="1600" b="0" i="0" u="none" strike="noStrike">
                          <a:solidFill>
                            <a:srgbClr val="757575"/>
                          </a:solidFill>
                          <a:latin typeface="Noto Sans SC"/>
                          <a:ea typeface="Noto Sans SC"/>
                          <a:cs typeface="Noto Sans SC"/>
                          <a:sym typeface="Noto Sans SC"/>
                        </a:rPr>
                        <a:t>动态，按需检索</a:t>
                      </a:r>
                      <a:endParaRPr lang="en-US" sz="1100"/>
                    </a:p>
                  </a:txBody>
                  <a:tcPr marL="190500" marR="101600" marT="101600" marB="101600" anchor="t" anchorCtr="0">
                    <a:lnL>
                      <a:noFill/>
                    </a:lnL>
                    <a:lnR>
                      <a:noFill/>
                    </a:lnR>
                    <a:lnT>
                      <a:noFill/>
                    </a:lnT>
                    <a:lnB w="12700" cap="flat" cmpd="sng" algn="ctr">
                      <a:solidFill>
                        <a:srgbClr val="E0F7FA"/>
                      </a:solidFill>
                      <a:prstDash val="solid"/>
                      <a:round/>
                      <a:headEnd type="none" w="med" len="med"/>
                      <a:tailEnd type="none" w="med" len="med"/>
                    </a:lnB>
                    <a:solidFill>
                      <a:srgbClr val="FFFFFF">
                        <a:alpha val="100000"/>
                      </a:srgbClr>
                    </a:solidFill>
                  </a:tcPr>
                </a:tc>
              </a:tr>
              <a:tr h="762000">
                <a:tc>
                  <a:txBody>
                    <a:bodyPr rtlCol="0"/>
                    <a:lstStyle/>
                    <a:p>
                      <a:pPr indent="0" algn="ctr">
                        <a:lnSpc>
                          <a:spcPct val="100000"/>
                        </a:lnSpc>
                        <a:defRPr/>
                      </a:pPr>
                      <a:r>
                        <a:rPr lang="en-US" sz="1600" b="1" i="0" u="none" strike="noStrike">
                          <a:solidFill>
                            <a:srgbClr val="0288D1"/>
                          </a:solidFill>
                          <a:latin typeface="Noto Sans SC"/>
                          <a:ea typeface="Noto Sans SC"/>
                          <a:cs typeface="Noto Sans SC"/>
                          <a:sym typeface="Noto Sans SC"/>
                        </a:rPr>
                        <a:t>信息过滤</a:t>
                      </a:r>
                      <a:endParaRPr lang="en-US" sz="1100"/>
                    </a:p>
                  </a:txBody>
                  <a:tcPr marL="101600" marR="101600" marT="101600" marB="101600" anchor="t" anchorCtr="0">
                    <a:lnL>
                      <a:noFill/>
                    </a:lnL>
                    <a:lnR>
                      <a:noFill/>
                    </a:lnR>
                    <a:lnT w="12700" cap="flat" cmpd="sng" algn="ctr">
                      <a:solidFill>
                        <a:srgbClr val="E0F7FA"/>
                      </a:solidFill>
                      <a:prstDash val="solid"/>
                      <a:round/>
                      <a:headEnd type="none" w="med" len="med"/>
                      <a:tailEnd type="none" w="med" len="med"/>
                    </a:lnT>
                    <a:lnB w="12700" cap="flat" cmpd="sng" algn="ctr">
                      <a:solidFill>
                        <a:srgbClr val="E0F7FA"/>
                      </a:solidFill>
                      <a:prstDash val="solid"/>
                      <a:round/>
                      <a:headEnd type="none" w="med" len="med"/>
                      <a:tailEnd type="none" w="med" len="med"/>
                    </a:lnB>
                    <a:solidFill>
                      <a:srgbClr val="F0F9FF">
                        <a:alpha val="100000"/>
                      </a:srgbClr>
                    </a:solidFill>
                  </a:tcPr>
                </a:tc>
                <a:tc>
                  <a:txBody>
                    <a:bodyPr rtlCol="0"/>
                    <a:lstStyle/>
                    <a:p>
                      <a:pPr indent="0" algn="l">
                        <a:lnSpc>
                          <a:spcPct val="100000"/>
                        </a:lnSpc>
                        <a:defRPr/>
                      </a:pPr>
                      <a:r>
                        <a:rPr lang="en-US" sz="1600" b="0" i="0" u="none" strike="noStrike">
                          <a:solidFill>
                            <a:srgbClr val="757575"/>
                          </a:solidFill>
                          <a:latin typeface="Noto Sans SC"/>
                          <a:ea typeface="Noto Sans SC"/>
                          <a:cs typeface="Noto Sans SC"/>
                          <a:sym typeface="Noto Sans SC"/>
                        </a:rPr>
                        <a:t>无，直接使用所有检索结果</a:t>
                      </a:r>
                      <a:endParaRPr lang="en-US" sz="1100"/>
                    </a:p>
                  </a:txBody>
                  <a:tcPr marL="190500" marR="101600" marT="101600" marB="101600" anchor="t" anchorCtr="0">
                    <a:lnL>
                      <a:noFill/>
                    </a:lnL>
                    <a:lnR>
                      <a:noFill/>
                    </a:lnR>
                    <a:lnT w="12700" cap="flat" cmpd="sng" algn="ctr">
                      <a:solidFill>
                        <a:srgbClr val="E0F7FA"/>
                      </a:solidFill>
                      <a:prstDash val="solid"/>
                      <a:round/>
                      <a:headEnd type="none" w="med" len="med"/>
                      <a:tailEnd type="none" w="med" len="med"/>
                    </a:lnT>
                    <a:lnB w="12700" cap="flat" cmpd="sng" algn="ctr">
                      <a:solidFill>
                        <a:srgbClr val="E0F7FA"/>
                      </a:solidFill>
                      <a:prstDash val="solid"/>
                      <a:round/>
                      <a:headEnd type="none" w="med" len="med"/>
                      <a:tailEnd type="none" w="med" len="med"/>
                    </a:lnB>
                    <a:solidFill>
                      <a:srgbClr val="F0F9FF">
                        <a:alpha val="100000"/>
                      </a:srgbClr>
                    </a:solidFill>
                  </a:tcPr>
                </a:tc>
                <a:tc>
                  <a:txBody>
                    <a:bodyPr rtlCol="0"/>
                    <a:lstStyle/>
                    <a:p>
                      <a:pPr indent="0" algn="l">
                        <a:lnSpc>
                          <a:spcPct val="100000"/>
                        </a:lnSpc>
                        <a:defRPr/>
                      </a:pPr>
                      <a:r>
                        <a:rPr lang="en-US" sz="1600" b="0" i="0" u="none" strike="noStrike">
                          <a:solidFill>
                            <a:srgbClr val="757575"/>
                          </a:solidFill>
                          <a:latin typeface="Noto Sans SC"/>
                          <a:ea typeface="Noto Sans SC"/>
                          <a:cs typeface="Noto Sans SC"/>
                          <a:sym typeface="Noto Sans SC"/>
                        </a:rPr>
                        <a:t>有，通过自我反思评估并过滤信息</a:t>
                      </a:r>
                      <a:endParaRPr lang="en-US" sz="1100"/>
                    </a:p>
                  </a:txBody>
                  <a:tcPr marL="190500" marR="101600" marT="101600" marB="101600" anchor="t" anchorCtr="0">
                    <a:lnL>
                      <a:noFill/>
                    </a:lnL>
                    <a:lnR>
                      <a:noFill/>
                    </a:lnR>
                    <a:lnT w="12700" cap="flat" cmpd="sng" algn="ctr">
                      <a:solidFill>
                        <a:srgbClr val="E0F7FA"/>
                      </a:solidFill>
                      <a:prstDash val="solid"/>
                      <a:round/>
                      <a:headEnd type="none" w="med" len="med"/>
                      <a:tailEnd type="none" w="med" len="med"/>
                    </a:lnT>
                    <a:lnB w="12700" cap="flat" cmpd="sng" algn="ctr">
                      <a:solidFill>
                        <a:srgbClr val="E0F7FA"/>
                      </a:solidFill>
                      <a:prstDash val="solid"/>
                      <a:round/>
                      <a:headEnd type="none" w="med" len="med"/>
                      <a:tailEnd type="none" w="med" len="med"/>
                    </a:lnB>
                    <a:solidFill>
                      <a:srgbClr val="F0F9FF">
                        <a:alpha val="100000"/>
                      </a:srgbClr>
                    </a:solidFill>
                  </a:tcPr>
                </a:tc>
              </a:tr>
              <a:tr h="762000">
                <a:tc>
                  <a:txBody>
                    <a:bodyPr rtlCol="0"/>
                    <a:lstStyle/>
                    <a:p>
                      <a:pPr indent="0" algn="ctr">
                        <a:lnSpc>
                          <a:spcPct val="100000"/>
                        </a:lnSpc>
                        <a:defRPr/>
                      </a:pPr>
                      <a:r>
                        <a:rPr lang="en-US" sz="1600" b="1" i="0" u="none" strike="noStrike">
                          <a:solidFill>
                            <a:srgbClr val="0288D1"/>
                          </a:solidFill>
                          <a:latin typeface="Noto Sans SC"/>
                          <a:ea typeface="Noto Sans SC"/>
                          <a:cs typeface="Noto Sans SC"/>
                          <a:sym typeface="Noto Sans SC"/>
                        </a:rPr>
                        <a:t>灵活性</a:t>
                      </a:r>
                      <a:endParaRPr lang="en-US" sz="1100"/>
                    </a:p>
                  </a:txBody>
                  <a:tcPr marL="101600" marR="101600" marT="101600" marB="101600" anchor="t" anchorCtr="0">
                    <a:lnL>
                      <a:noFill/>
                    </a:lnL>
                    <a:lnR>
                      <a:noFill/>
                    </a:lnR>
                    <a:lnT w="12700" cap="flat" cmpd="sng" algn="ctr">
                      <a:solidFill>
                        <a:srgbClr val="E0F7FA"/>
                      </a:solidFill>
                      <a:prstDash val="solid"/>
                      <a:round/>
                      <a:headEnd type="none" w="med" len="med"/>
                      <a:tailEnd type="none" w="med" len="med"/>
                    </a:lnT>
                    <a:lnB w="12700" cap="flat" cmpd="sng" algn="ctr">
                      <a:solidFill>
                        <a:srgbClr val="E0F7FA"/>
                      </a:solidFill>
                      <a:prstDash val="solid"/>
                      <a:round/>
                      <a:headEnd type="none" w="med" len="med"/>
                      <a:tailEnd type="none" w="med" len="med"/>
                    </a:lnB>
                    <a:solidFill>
                      <a:srgbClr val="FFFFFF">
                        <a:alpha val="100000"/>
                      </a:srgbClr>
                    </a:solidFill>
                  </a:tcPr>
                </a:tc>
                <a:tc>
                  <a:txBody>
                    <a:bodyPr rtlCol="0"/>
                    <a:lstStyle/>
                    <a:p>
                      <a:pPr indent="0" algn="l">
                        <a:lnSpc>
                          <a:spcPct val="100000"/>
                        </a:lnSpc>
                        <a:defRPr/>
                      </a:pPr>
                      <a:r>
                        <a:rPr lang="en-US" sz="1600" b="0" i="0" u="none" strike="noStrike">
                          <a:solidFill>
                            <a:srgbClr val="757575"/>
                          </a:solidFill>
                          <a:latin typeface="Noto Sans SC"/>
                          <a:ea typeface="Noto Sans SC"/>
                          <a:cs typeface="Noto Sans SC"/>
                          <a:sym typeface="Noto Sans SC"/>
                        </a:rPr>
                        <a:t>较低，流程固定</a:t>
                      </a:r>
                      <a:endParaRPr lang="en-US" sz="1100"/>
                    </a:p>
                  </a:txBody>
                  <a:tcPr marL="190500" marR="101600" marT="101600" marB="101600" anchor="t" anchorCtr="0">
                    <a:lnL>
                      <a:noFill/>
                    </a:lnL>
                    <a:lnR>
                      <a:noFill/>
                    </a:lnR>
                    <a:lnT w="12700" cap="flat" cmpd="sng" algn="ctr">
                      <a:solidFill>
                        <a:srgbClr val="E0F7FA"/>
                      </a:solidFill>
                      <a:prstDash val="solid"/>
                      <a:round/>
                      <a:headEnd type="none" w="med" len="med"/>
                      <a:tailEnd type="none" w="med" len="med"/>
                    </a:lnT>
                    <a:lnB w="12700" cap="flat" cmpd="sng" algn="ctr">
                      <a:solidFill>
                        <a:srgbClr val="E0F7FA"/>
                      </a:solidFill>
                      <a:prstDash val="solid"/>
                      <a:round/>
                      <a:headEnd type="none" w="med" len="med"/>
                      <a:tailEnd type="none" w="med" len="med"/>
                    </a:lnB>
                    <a:solidFill>
                      <a:srgbClr val="FFFFFF">
                        <a:alpha val="100000"/>
                      </a:srgbClr>
                    </a:solidFill>
                  </a:tcPr>
                </a:tc>
                <a:tc>
                  <a:txBody>
                    <a:bodyPr rtlCol="0"/>
                    <a:lstStyle/>
                    <a:p>
                      <a:pPr indent="0" algn="l">
                        <a:lnSpc>
                          <a:spcPct val="100000"/>
                        </a:lnSpc>
                        <a:defRPr/>
                      </a:pPr>
                      <a:r>
                        <a:rPr lang="en-US" sz="1600" b="0" i="0" u="none" strike="noStrike">
                          <a:solidFill>
                            <a:srgbClr val="757575"/>
                          </a:solidFill>
                          <a:latin typeface="Noto Sans SC"/>
                          <a:ea typeface="Noto Sans SC"/>
                          <a:cs typeface="Noto Sans SC"/>
                          <a:sym typeface="Noto Sans SC"/>
                        </a:rPr>
                        <a:t>较高，可根据任务动态调整</a:t>
                      </a:r>
                      <a:endParaRPr lang="en-US" sz="1100"/>
                    </a:p>
                  </a:txBody>
                  <a:tcPr marL="190500" marR="101600" marT="101600" marB="101600" anchor="t" anchorCtr="0">
                    <a:lnL>
                      <a:noFill/>
                    </a:lnL>
                    <a:lnR>
                      <a:noFill/>
                    </a:lnR>
                    <a:lnT w="12700" cap="flat" cmpd="sng" algn="ctr">
                      <a:solidFill>
                        <a:srgbClr val="E0F7FA"/>
                      </a:solidFill>
                      <a:prstDash val="solid"/>
                      <a:round/>
                      <a:headEnd type="none" w="med" len="med"/>
                      <a:tailEnd type="none" w="med" len="med"/>
                    </a:lnT>
                    <a:lnB w="12700" cap="flat" cmpd="sng" algn="ctr">
                      <a:solidFill>
                        <a:srgbClr val="E0F7FA"/>
                      </a:solidFill>
                      <a:prstDash val="solid"/>
                      <a:round/>
                      <a:headEnd type="none" w="med" len="med"/>
                      <a:tailEnd type="none" w="med" len="med"/>
                    </a:lnB>
                    <a:solidFill>
                      <a:srgbClr val="FFFFFF">
                        <a:alpha val="100000"/>
                      </a:srgbClr>
                    </a:solidFill>
                  </a:tcPr>
                </a:tc>
              </a:tr>
              <a:tr h="762000">
                <a:tc>
                  <a:txBody>
                    <a:bodyPr rtlCol="0"/>
                    <a:lstStyle/>
                    <a:p>
                      <a:pPr indent="0" algn="ctr">
                        <a:lnSpc>
                          <a:spcPct val="100000"/>
                        </a:lnSpc>
                        <a:defRPr/>
                      </a:pPr>
                      <a:r>
                        <a:rPr lang="en-US" sz="1600" b="1" i="0" u="none" strike="noStrike">
                          <a:solidFill>
                            <a:srgbClr val="0288D1"/>
                          </a:solidFill>
                          <a:latin typeface="Noto Sans SC"/>
                          <a:ea typeface="Noto Sans SC"/>
                          <a:cs typeface="Noto Sans SC"/>
                          <a:sym typeface="Noto Sans SC"/>
                        </a:rPr>
                        <a:t>复杂任务处理</a:t>
                      </a:r>
                      <a:endParaRPr lang="en-US" sz="1100"/>
                    </a:p>
                  </a:txBody>
                  <a:tcPr marL="101600" marR="101600" marT="101600" marB="101600" anchor="t" anchorCtr="0">
                    <a:lnL>
                      <a:noFill/>
                    </a:lnL>
                    <a:lnR>
                      <a:noFill/>
                    </a:lnR>
                    <a:lnT w="12700" cap="flat" cmpd="sng" algn="ctr">
                      <a:solidFill>
                        <a:srgbClr val="E0F7FA"/>
                      </a:solidFill>
                      <a:prstDash val="solid"/>
                      <a:round/>
                      <a:headEnd type="none" w="med" len="med"/>
                      <a:tailEnd type="none" w="med" len="med"/>
                    </a:lnT>
                    <a:lnB w="12700" cap="flat" cmpd="sng" algn="ctr">
                      <a:solidFill>
                        <a:srgbClr val="E0F7FA"/>
                      </a:solidFill>
                      <a:prstDash val="solid"/>
                      <a:round/>
                      <a:headEnd type="none" w="med" len="med"/>
                      <a:tailEnd type="none" w="med" len="med"/>
                    </a:lnB>
                    <a:solidFill>
                      <a:srgbClr val="F0F9FF">
                        <a:alpha val="100000"/>
                      </a:srgbClr>
                    </a:solidFill>
                  </a:tcPr>
                </a:tc>
                <a:tc>
                  <a:txBody>
                    <a:bodyPr rtlCol="0"/>
                    <a:lstStyle/>
                    <a:p>
                      <a:pPr indent="0" algn="l">
                        <a:lnSpc>
                          <a:spcPct val="100000"/>
                        </a:lnSpc>
                        <a:defRPr/>
                      </a:pPr>
                      <a:r>
                        <a:rPr lang="en-US" sz="1600" b="0" i="0" u="none" strike="noStrike">
                          <a:solidFill>
                            <a:srgbClr val="757575"/>
                          </a:solidFill>
                          <a:latin typeface="Noto Sans SC"/>
                          <a:ea typeface="Noto Sans SC"/>
                          <a:cs typeface="Noto Sans SC"/>
                          <a:sym typeface="Noto Sans SC"/>
                        </a:rPr>
                        <a:t>较弱，易受低质量信息干扰</a:t>
                      </a:r>
                      <a:endParaRPr lang="en-US" sz="1100"/>
                    </a:p>
                  </a:txBody>
                  <a:tcPr marL="190500" marR="101600" marT="101600" marB="101600" anchor="t" anchorCtr="0">
                    <a:lnL>
                      <a:noFill/>
                    </a:lnL>
                    <a:lnR>
                      <a:noFill/>
                    </a:lnR>
                    <a:lnT w="12700" cap="flat" cmpd="sng" algn="ctr">
                      <a:solidFill>
                        <a:srgbClr val="E0F7FA"/>
                      </a:solidFill>
                      <a:prstDash val="solid"/>
                      <a:round/>
                      <a:headEnd type="none" w="med" len="med"/>
                      <a:tailEnd type="none" w="med" len="med"/>
                    </a:lnT>
                    <a:lnB w="12700" cap="flat" cmpd="sng" algn="ctr">
                      <a:solidFill>
                        <a:srgbClr val="E0F7FA"/>
                      </a:solidFill>
                      <a:prstDash val="solid"/>
                      <a:round/>
                      <a:headEnd type="none" w="med" len="med"/>
                      <a:tailEnd type="none" w="med" len="med"/>
                    </a:lnB>
                    <a:solidFill>
                      <a:srgbClr val="F0F9FF">
                        <a:alpha val="100000"/>
                      </a:srgbClr>
                    </a:solidFill>
                  </a:tcPr>
                </a:tc>
                <a:tc>
                  <a:txBody>
                    <a:bodyPr rtlCol="0"/>
                    <a:lstStyle/>
                    <a:p>
                      <a:pPr indent="0" algn="l">
                        <a:lnSpc>
                          <a:spcPct val="100000"/>
                        </a:lnSpc>
                        <a:defRPr/>
                      </a:pPr>
                      <a:r>
                        <a:rPr lang="en-US" sz="1600" b="0" i="0" u="none" strike="noStrike">
                          <a:solidFill>
                            <a:srgbClr val="757575"/>
                          </a:solidFill>
                          <a:latin typeface="Noto Sans SC"/>
                          <a:ea typeface="Noto Sans SC"/>
                          <a:cs typeface="Noto Sans SC"/>
                          <a:sym typeface="Noto Sans SC"/>
                        </a:rPr>
                        <a:t>较强，能有效处理复杂推理和长尾问题</a:t>
                      </a:r>
                      <a:endParaRPr lang="en-US" sz="1100"/>
                    </a:p>
                  </a:txBody>
                  <a:tcPr marL="190500" marR="101600" marT="101600" marB="101600" anchor="t" anchorCtr="0">
                    <a:lnL>
                      <a:noFill/>
                    </a:lnL>
                    <a:lnR>
                      <a:noFill/>
                    </a:lnR>
                    <a:lnT w="12700" cap="flat" cmpd="sng" algn="ctr">
                      <a:solidFill>
                        <a:srgbClr val="E0F7FA"/>
                      </a:solidFill>
                      <a:prstDash val="solid"/>
                      <a:round/>
                      <a:headEnd type="none" w="med" len="med"/>
                      <a:tailEnd type="none" w="med" len="med"/>
                    </a:lnT>
                    <a:lnB w="12700" cap="flat" cmpd="sng" algn="ctr">
                      <a:solidFill>
                        <a:srgbClr val="E0F7FA"/>
                      </a:solidFill>
                      <a:prstDash val="solid"/>
                      <a:round/>
                      <a:headEnd type="none" w="med" len="med"/>
                      <a:tailEnd type="none" w="med" len="med"/>
                    </a:lnB>
                    <a:solidFill>
                      <a:srgbClr val="F0F9FF">
                        <a:alpha val="100000"/>
                      </a:srgbClr>
                    </a:solidFill>
                  </a:tcPr>
                </a:tc>
              </a:tr>
              <a:tr h="762000">
                <a:tc>
                  <a:txBody>
                    <a:bodyPr rtlCol="0"/>
                    <a:lstStyle/>
                    <a:p>
                      <a:pPr indent="0" algn="ctr">
                        <a:lnSpc>
                          <a:spcPct val="100000"/>
                        </a:lnSpc>
                        <a:defRPr/>
                      </a:pPr>
                      <a:r>
                        <a:rPr lang="en-US" sz="1600" b="1" i="0" u="none" strike="noStrike">
                          <a:solidFill>
                            <a:srgbClr val="0288D1"/>
                          </a:solidFill>
                          <a:latin typeface="Noto Sans SC"/>
                          <a:ea typeface="Noto Sans SC"/>
                          <a:cs typeface="Noto Sans SC"/>
                          <a:sym typeface="Noto Sans SC"/>
                        </a:rPr>
                        <a:t>生成可靠性</a:t>
                      </a:r>
                      <a:endParaRPr lang="en-US" sz="1100"/>
                    </a:p>
                  </a:txBody>
                  <a:tcPr marL="101600" marR="101600" marT="101600" marB="101600" anchor="t" anchorCtr="0">
                    <a:lnL>
                      <a:noFill/>
                    </a:lnL>
                    <a:lnR>
                      <a:noFill/>
                    </a:lnR>
                    <a:lnT w="12700" cap="flat" cmpd="sng" algn="ctr">
                      <a:solidFill>
                        <a:srgbClr val="E0F7FA"/>
                      </a:solidFill>
                      <a:prstDash val="solid"/>
                      <a:round/>
                      <a:headEnd type="none" w="med" len="med"/>
                      <a:tailEnd type="none" w="med" len="med"/>
                    </a:lnT>
                    <a:lnB>
                      <a:noFill/>
                    </a:lnB>
                    <a:solidFill>
                      <a:srgbClr val="FFFFFF">
                        <a:alpha val="100000"/>
                      </a:srgbClr>
                    </a:solidFill>
                  </a:tcPr>
                </a:tc>
                <a:tc>
                  <a:txBody>
                    <a:bodyPr rtlCol="0"/>
                    <a:lstStyle/>
                    <a:p>
                      <a:pPr indent="0" algn="l">
                        <a:lnSpc>
                          <a:spcPct val="100000"/>
                        </a:lnSpc>
                        <a:defRPr/>
                      </a:pPr>
                      <a:r>
                        <a:rPr lang="en-US" sz="1600" b="0" i="0" u="none" strike="noStrike">
                          <a:solidFill>
                            <a:srgbClr val="757575"/>
                          </a:solidFill>
                          <a:latin typeface="Noto Sans SC"/>
                          <a:ea typeface="Noto Sans SC"/>
                          <a:cs typeface="Noto Sans SC"/>
                          <a:sym typeface="Noto Sans SC"/>
                        </a:rPr>
                        <a:t>依赖检索结果质量</a:t>
                      </a:r>
                      <a:endParaRPr lang="en-US" sz="1100"/>
                    </a:p>
                  </a:txBody>
                  <a:tcPr marL="190500" marR="101600" marT="101600" marB="101600" anchor="t" anchorCtr="0">
                    <a:lnL>
                      <a:noFill/>
                    </a:lnL>
                    <a:lnR>
                      <a:noFill/>
                    </a:lnR>
                    <a:lnT w="12700" cap="flat" cmpd="sng" algn="ctr">
                      <a:solidFill>
                        <a:srgbClr val="E0F7FA"/>
                      </a:solidFill>
                      <a:prstDash val="solid"/>
                      <a:round/>
                      <a:headEnd type="none" w="med" len="med"/>
                      <a:tailEnd type="none" w="med" len="med"/>
                    </a:lnT>
                    <a:lnB>
                      <a:noFill/>
                    </a:lnB>
                    <a:solidFill>
                      <a:srgbClr val="FFFFFF">
                        <a:alpha val="100000"/>
                      </a:srgbClr>
                    </a:solidFill>
                  </a:tcPr>
                </a:tc>
                <a:tc>
                  <a:txBody>
                    <a:bodyPr rtlCol="0"/>
                    <a:lstStyle/>
                    <a:p>
                      <a:pPr indent="0" algn="l">
                        <a:lnSpc>
                          <a:spcPct val="100000"/>
                        </a:lnSpc>
                        <a:defRPr/>
                      </a:pPr>
                      <a:r>
                        <a:rPr lang="en-US" sz="1600" b="0" i="0" u="none" strike="noStrike">
                          <a:solidFill>
                            <a:srgbClr val="757575"/>
                          </a:solidFill>
                          <a:latin typeface="Noto Sans SC"/>
                          <a:ea typeface="Noto Sans SC"/>
                          <a:cs typeface="Noto Sans SC"/>
                          <a:sym typeface="Noto Sans SC"/>
                        </a:rPr>
                        <a:t>更高，内置信息评估机制</a:t>
                      </a:r>
                      <a:endParaRPr lang="en-US" sz="1100"/>
                    </a:p>
                  </a:txBody>
                  <a:tcPr marL="190500" marR="101600" marT="101600" marB="101600" anchor="t" anchorCtr="0">
                    <a:lnL>
                      <a:noFill/>
                    </a:lnL>
                    <a:lnR>
                      <a:noFill/>
                    </a:lnR>
                    <a:lnT w="12700" cap="flat" cmpd="sng" algn="ctr">
                      <a:solidFill>
                        <a:srgbClr val="E0F7FA"/>
                      </a:solidFill>
                      <a:prstDash val="solid"/>
                      <a:round/>
                      <a:headEnd type="none" w="med" len="med"/>
                      <a:tailEnd type="none" w="med" len="med"/>
                    </a:lnT>
                    <a:lnB>
                      <a:noFill/>
                    </a:lnB>
                    <a:solidFill>
                      <a:srgbClr val="FFFFFF">
                        <a:alpha val="100000"/>
                      </a:srgbClr>
                    </a:solidFill>
                  </a:tcPr>
                </a:tc>
              </a:tr>
            </a:tbl>
          </a:graphicData>
        </a:graphic>
      </p:graphicFrame>
      <p:sp>
        <p:nvSpPr>
          <p:cNvPr id="4" name="AutoShape 4"/>
          <p:cNvSpPr/>
          <p:nvPr/>
        </p:nvSpPr>
        <p:spPr>
          <a:xfrm>
            <a:off x="762000" y="6223000"/>
            <a:ext cx="10668000" cy="50800"/>
          </a:xfrm>
          <a:prstGeom prst="roundRect">
            <a:avLst>
              <a:gd name="adj" fmla="val 0"/>
            </a:avLst>
          </a:prstGeom>
          <a:solidFill>
            <a:srgbClr val="0288D1">
              <a:alpha val="100000"/>
            </a:srgbClr>
          </a:solidFill>
          <a:ln w="25400" cap="flat" cmpd="sng">
            <a:noFill/>
            <a:prstDash val="solid"/>
            <a:round/>
          </a:ln>
        </p:spPr>
        <p:txBody>
          <a:bodyPr vert="horz" wrap="square" lIns="63500" tIns="63500" rIns="63500" bIns="63500" rtlCol="0" anchor="ctr"/>
          <a:lstStyle/>
          <a:p>
            <a:pPr algn="ctr">
              <a:defRPr/>
            </a:p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rgbClr val="E0F7FA">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635000"/>
            <a:ext cx="1778000" cy="508000"/>
          </a:xfrm>
          <a:prstGeom prst="rect">
            <a:avLst/>
          </a:prstGeom>
          <a:noFill/>
          <a:ln w="12700" cap="flat" cmpd="sng">
            <a:noFill/>
            <a:prstDash val="solid"/>
            <a:round/>
          </a:ln>
        </p:spPr>
        <p:txBody>
          <a:bodyPr vert="horz" wrap="none" lIns="0" tIns="0" rIns="0" bIns="0" rtlCol="0" anchor="ctr" anchorCtr="0"/>
          <a:lstStyle/>
          <a:p>
            <a:pPr indent="0" algn="l">
              <a:lnSpc>
                <a:spcPct val="125000"/>
              </a:lnSpc>
              <a:defRPr/>
            </a:pPr>
            <a:r>
              <a:rPr lang="en-US" sz="3200" b="1" i="0" u="none" strike="noStrike">
                <a:solidFill>
                  <a:srgbClr val="0288D1"/>
                </a:solidFill>
                <a:latin typeface="Noto Sans SC"/>
                <a:ea typeface="Noto Sans SC"/>
                <a:cs typeface="Noto Sans SC"/>
                <a:sym typeface="Noto Sans SC"/>
              </a:rPr>
              <a:t>本章总结</a:t>
            </a:r>
            <a:endParaRPr lang="en-US" sz="1100"/>
          </a:p>
        </p:txBody>
      </p:sp>
      <p:sp>
        <p:nvSpPr>
          <p:cNvPr id="3" name="AutoShape 3"/>
          <p:cNvSpPr/>
          <p:nvPr/>
        </p:nvSpPr>
        <p:spPr>
          <a:xfrm>
            <a:off x="762000" y="1524000"/>
            <a:ext cx="3302000" cy="2286000"/>
          </a:xfrm>
          <a:prstGeom prst="roundRect">
            <a:avLst>
              <a:gd name="adj" fmla="val 5555"/>
            </a:avLst>
          </a:prstGeom>
          <a:solidFill>
            <a:srgbClr val="FFFFFF">
              <a:alpha val="100000"/>
            </a:srgbClr>
          </a:solidFill>
          <a:ln w="25400" cap="flat" cmpd="sng">
            <a:noFill/>
            <a:prstDash val="solid"/>
            <a:round/>
          </a:ln>
          <a:effectLst>
            <a:outerShdw blurRad="127000" dist="50800" dir="5400000" algn="tl" rotWithShape="0">
              <a:srgbClr val="0288D1">
                <a:alpha val="15000"/>
              </a:srgbClr>
            </a:outerShdw>
          </a:effectLst>
        </p:spPr>
        <p:txBody>
          <a:bodyPr vert="horz" wrap="square" lIns="63500" tIns="63500" rIns="63500" bIns="63500" rtlCol="0" anchor="ctr"/>
          <a:lstStyle/>
          <a:p>
            <a:pPr algn="ctr">
              <a:defRPr/>
            </a:pPr>
          </a:p>
        </p:txBody>
      </p:sp>
      <p:pic>
        <p:nvPicPr>
          <p:cNvPr id="4" name="Picture 4"/>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016000" y="1778000"/>
            <a:ext cx="406400" cy="406400"/>
          </a:xfrm>
          <a:prstGeom prst="rect">
            <a:avLst/>
          </a:prstGeom>
        </p:spPr>
      </p:pic>
      <p:sp>
        <p:nvSpPr>
          <p:cNvPr id="5" name="AutoShape 5"/>
          <p:cNvSpPr/>
          <p:nvPr/>
        </p:nvSpPr>
        <p:spPr>
          <a:xfrm>
            <a:off x="1524000" y="1727200"/>
            <a:ext cx="2286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0288D1"/>
                </a:solidFill>
                <a:latin typeface="Noto Sans SC"/>
                <a:ea typeface="Noto Sans SC"/>
                <a:cs typeface="Noto Sans SC"/>
                <a:sym typeface="Noto Sans SC"/>
              </a:rPr>
              <a:t>经典RAG</a:t>
            </a:r>
            <a:endParaRPr lang="en-US" sz="1100"/>
          </a:p>
        </p:txBody>
      </p:sp>
      <p:sp>
        <p:nvSpPr>
          <p:cNvPr id="6" name="AutoShape 6"/>
          <p:cNvSpPr/>
          <p:nvPr/>
        </p:nvSpPr>
        <p:spPr>
          <a:xfrm>
            <a:off x="1016000" y="2286000"/>
            <a:ext cx="2794000" cy="12700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600" b="0" i="0" u="none" strike="noStrike">
                <a:solidFill>
                  <a:srgbClr val="757575"/>
                </a:solidFill>
                <a:latin typeface="Noto Sans SC"/>
                <a:ea typeface="Noto Sans SC"/>
                <a:cs typeface="Noto Sans SC"/>
                <a:sym typeface="Noto Sans SC"/>
              </a:rPr>
              <a:t>作为基础架构，实现了“检索+生成”的基本范式，有效提升了大模型回答的准确性。</a:t>
            </a:r>
            <a:endParaRPr lang="en-US" sz="1100"/>
          </a:p>
        </p:txBody>
      </p:sp>
      <p:sp>
        <p:nvSpPr>
          <p:cNvPr id="7" name="AutoShape 7"/>
          <p:cNvSpPr/>
          <p:nvPr/>
        </p:nvSpPr>
        <p:spPr>
          <a:xfrm>
            <a:off x="4445000" y="1524000"/>
            <a:ext cx="3302000" cy="2286000"/>
          </a:xfrm>
          <a:prstGeom prst="roundRect">
            <a:avLst>
              <a:gd name="adj" fmla="val 5555"/>
            </a:avLst>
          </a:prstGeom>
          <a:solidFill>
            <a:srgbClr val="FFFFFF">
              <a:alpha val="100000"/>
            </a:srgbClr>
          </a:solidFill>
          <a:ln w="25400" cap="flat" cmpd="sng">
            <a:noFill/>
            <a:prstDash val="solid"/>
            <a:round/>
          </a:ln>
          <a:effectLst>
            <a:outerShdw blurRad="127000" dist="50800" dir="5400000" algn="tl" rotWithShape="0">
              <a:srgbClr val="0288D1">
                <a:alpha val="15000"/>
              </a:srgbClr>
            </a:outerShdw>
          </a:effectLst>
        </p:spPr>
        <p:txBody>
          <a:bodyPr vert="horz" wrap="square" lIns="63500" tIns="63500" rIns="63500" bIns="63500" rtlCol="0" anchor="ctr"/>
          <a:lstStyle/>
          <a:p>
            <a:pPr algn="ctr">
              <a:defRPr/>
            </a:pPr>
          </a:p>
        </p:txBody>
      </p:sp>
      <p:pic>
        <p:nvPicPr>
          <p:cNvPr id="8" name="Picture 8"/>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4699000" y="1778000"/>
            <a:ext cx="406400" cy="406400"/>
          </a:xfrm>
          <a:prstGeom prst="rect">
            <a:avLst/>
          </a:prstGeom>
        </p:spPr>
      </p:pic>
      <p:sp>
        <p:nvSpPr>
          <p:cNvPr id="9" name="AutoShape 9"/>
          <p:cNvSpPr/>
          <p:nvPr/>
        </p:nvSpPr>
        <p:spPr>
          <a:xfrm>
            <a:off x="5207000" y="1727200"/>
            <a:ext cx="2286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0288D1"/>
                </a:solidFill>
                <a:latin typeface="Noto Sans SC"/>
                <a:ea typeface="Noto Sans SC"/>
                <a:cs typeface="Noto Sans SC"/>
                <a:sym typeface="Noto Sans SC"/>
              </a:rPr>
              <a:t>多头RAG</a:t>
            </a:r>
            <a:endParaRPr lang="en-US" sz="1100"/>
          </a:p>
        </p:txBody>
      </p:sp>
      <p:sp>
        <p:nvSpPr>
          <p:cNvPr id="10" name="AutoShape 10"/>
          <p:cNvSpPr/>
          <p:nvPr/>
        </p:nvSpPr>
        <p:spPr>
          <a:xfrm>
            <a:off x="4699000" y="2286000"/>
            <a:ext cx="2794000" cy="12700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600" b="0" i="0" u="none" strike="noStrike">
                <a:solidFill>
                  <a:srgbClr val="757575"/>
                </a:solidFill>
                <a:latin typeface="Noto Sans SC"/>
                <a:ea typeface="Noto Sans SC"/>
                <a:cs typeface="Noto Sans SC"/>
                <a:sym typeface="Noto Sans SC"/>
              </a:rPr>
              <a:t>针对复杂查询优化，通过多头注意力机制，增强了模型对多方面、跨领域信息的整合能力。</a:t>
            </a:r>
            <a:endParaRPr lang="en-US" sz="1100"/>
          </a:p>
        </p:txBody>
      </p:sp>
      <p:sp>
        <p:nvSpPr>
          <p:cNvPr id="11" name="AutoShape 11"/>
          <p:cNvSpPr/>
          <p:nvPr/>
        </p:nvSpPr>
        <p:spPr>
          <a:xfrm>
            <a:off x="8128000" y="1524000"/>
            <a:ext cx="3302000" cy="2286000"/>
          </a:xfrm>
          <a:prstGeom prst="roundRect">
            <a:avLst>
              <a:gd name="adj" fmla="val 5555"/>
            </a:avLst>
          </a:prstGeom>
          <a:solidFill>
            <a:srgbClr val="FFFFFF">
              <a:alpha val="100000"/>
            </a:srgbClr>
          </a:solidFill>
          <a:ln w="25400" cap="flat" cmpd="sng">
            <a:noFill/>
            <a:prstDash val="solid"/>
            <a:round/>
          </a:ln>
          <a:effectLst>
            <a:outerShdw blurRad="127000" dist="50800" dir="5400000" algn="tl" rotWithShape="0">
              <a:srgbClr val="0288D1">
                <a:alpha val="15000"/>
              </a:srgbClr>
            </a:outerShdw>
          </a:effectLst>
        </p:spPr>
        <p:txBody>
          <a:bodyPr vert="horz" wrap="square" lIns="63500" tIns="63500" rIns="63500" bIns="63500" rtlCol="0" anchor="ctr"/>
          <a:lstStyle/>
          <a:p>
            <a:pPr algn="ctr">
              <a:defRPr/>
            </a:pPr>
          </a:p>
        </p:txBody>
      </p:sp>
      <p:pic>
        <p:nvPicPr>
          <p:cNvPr id="12" name="Picture 12"/>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8382000" y="1778000"/>
            <a:ext cx="406400" cy="406400"/>
          </a:xfrm>
          <a:prstGeom prst="rect">
            <a:avLst/>
          </a:prstGeom>
        </p:spPr>
      </p:pic>
      <p:sp>
        <p:nvSpPr>
          <p:cNvPr id="13" name="AutoShape 13"/>
          <p:cNvSpPr/>
          <p:nvPr/>
        </p:nvSpPr>
        <p:spPr>
          <a:xfrm>
            <a:off x="8890000" y="1727200"/>
            <a:ext cx="2286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0288D1"/>
                </a:solidFill>
                <a:latin typeface="Noto Sans SC"/>
                <a:ea typeface="Noto Sans SC"/>
                <a:cs typeface="Noto Sans SC"/>
                <a:sym typeface="Noto Sans SC"/>
              </a:rPr>
              <a:t>自反思RAG</a:t>
            </a:r>
            <a:endParaRPr lang="en-US" sz="1100"/>
          </a:p>
        </p:txBody>
      </p:sp>
      <p:sp>
        <p:nvSpPr>
          <p:cNvPr id="14" name="AutoShape 14"/>
          <p:cNvSpPr/>
          <p:nvPr/>
        </p:nvSpPr>
        <p:spPr>
          <a:xfrm>
            <a:off x="8382000" y="2286000"/>
            <a:ext cx="2794000" cy="12700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600" b="0" i="0" u="none" strike="noStrike">
                <a:solidFill>
                  <a:srgbClr val="757575"/>
                </a:solidFill>
                <a:latin typeface="Noto Sans SC"/>
                <a:ea typeface="Noto Sans SC"/>
                <a:cs typeface="Noto Sans SC"/>
                <a:sym typeface="Noto Sans SC"/>
              </a:rPr>
              <a:t>引入自我反思机制，动态评估和筛选信息，显著提升生成内容的可靠性和处理复杂任务的能力。</a:t>
            </a:r>
            <a:endParaRPr lang="en-US" sz="1100"/>
          </a:p>
        </p:txBody>
      </p:sp>
      <p:sp>
        <p:nvSpPr>
          <p:cNvPr id="15" name="AutoShape 15"/>
          <p:cNvSpPr/>
          <p:nvPr/>
        </p:nvSpPr>
        <p:spPr>
          <a:xfrm>
            <a:off x="762000" y="4191000"/>
            <a:ext cx="10668000" cy="1397000"/>
          </a:xfrm>
          <a:prstGeom prst="roundRect">
            <a:avLst>
              <a:gd name="adj" fmla="val 9090"/>
            </a:avLst>
          </a:prstGeom>
          <a:solidFill>
            <a:srgbClr val="0288D1">
              <a:alpha val="10000"/>
            </a:srgbClr>
          </a:solidFill>
          <a:ln w="12700" cap="flat" cmpd="sng">
            <a:solidFill>
              <a:srgbClr val="0288D1">
                <a:alpha val="100000"/>
              </a:srgbClr>
            </a:solidFill>
            <a:prstDash val="solid"/>
            <a:round/>
          </a:ln>
        </p:spPr>
        <p:txBody>
          <a:bodyPr vert="horz" wrap="square" lIns="63500" tIns="63500" rIns="63500" bIns="63500" rtlCol="0" anchor="ctr"/>
          <a:lstStyle/>
          <a:p>
            <a:pPr algn="ctr">
              <a:defRPr/>
            </a:pPr>
          </a:p>
        </p:txBody>
      </p:sp>
      <p:pic>
        <p:nvPicPr>
          <p:cNvPr id="16" name="Picture 16"/>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1016000" y="4508500"/>
            <a:ext cx="355600" cy="355600"/>
          </a:xfrm>
          <a:prstGeom prst="rect">
            <a:avLst/>
          </a:prstGeom>
        </p:spPr>
      </p:pic>
      <p:sp>
        <p:nvSpPr>
          <p:cNvPr id="17" name="AutoShape 17"/>
          <p:cNvSpPr/>
          <p:nvPr/>
        </p:nvSpPr>
        <p:spPr>
          <a:xfrm>
            <a:off x="1524000" y="4381500"/>
            <a:ext cx="9652000" cy="1016000"/>
          </a:xfrm>
          <a:prstGeom prst="rect">
            <a:avLst/>
          </a:prstGeom>
          <a:noFill/>
          <a:ln w="12700" cap="flat" cmpd="sng">
            <a:noFill/>
            <a:prstDash val="solid"/>
            <a:round/>
          </a:ln>
        </p:spPr>
        <p:txBody>
          <a:bodyPr vert="horz" wrap="square" lIns="0" tIns="0" rIns="0" bIns="0" rtlCol="0" anchor="ctr" anchorCtr="0"/>
          <a:lstStyle/>
          <a:p>
            <a:pPr indent="0" algn="l">
              <a:lnSpc>
                <a:spcPct val="117000"/>
              </a:lnSpc>
              <a:defRPr/>
            </a:pPr>
            <a:r>
              <a:rPr lang="en-US" sz="1800" b="1" i="0" u="none" strike="noStrike">
                <a:solidFill>
                  <a:srgbClr val="0288D1"/>
                </a:solidFill>
                <a:latin typeface="Noto Sans SC"/>
                <a:ea typeface="Noto Sans SC"/>
                <a:cs typeface="Noto Sans SC"/>
                <a:sym typeface="Noto Sans SC"/>
              </a:rPr>
              <a:t>总结：</a:t>
            </a:r>
            <a:r>
              <a:rPr lang="en-US" sz="1800" b="0" i="0" u="none" strike="noStrike">
                <a:solidFill>
                  <a:srgbClr val="424242"/>
                </a:solidFill>
                <a:latin typeface="Noto Sans SC"/>
                <a:ea typeface="Noto Sans SC"/>
                <a:cs typeface="Noto Sans SC"/>
                <a:sym typeface="Noto Sans SC"/>
              </a:rPr>
              <a:t>RAG技术正朝着更智能、更灵活、更可靠的方向不断发展，从简单的信息拼接，逐步演变为具备自主决策和评估能力的智能系统。</a:t>
            </a:r>
            <a:endParaRPr lang="en-US" sz="110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rgbClr val="E0F7FA">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635000"/>
            <a:ext cx="1333500" cy="508000"/>
          </a:xfrm>
          <a:prstGeom prst="rect">
            <a:avLst/>
          </a:prstGeom>
          <a:noFill/>
          <a:ln w="12700" cap="flat" cmpd="sng">
            <a:noFill/>
            <a:prstDash val="solid"/>
            <a:round/>
          </a:ln>
        </p:spPr>
        <p:txBody>
          <a:bodyPr vert="horz" wrap="none" lIns="0" tIns="0" rIns="0" bIns="0" rtlCol="0" anchor="ctr" anchorCtr="0"/>
          <a:lstStyle/>
          <a:p>
            <a:pPr indent="0" algn="l">
              <a:lnSpc>
                <a:spcPct val="125000"/>
              </a:lnSpc>
              <a:defRPr/>
            </a:pPr>
            <a:r>
              <a:rPr lang="en-US" sz="3200" b="1" i="0" u="none" strike="noStrike">
                <a:solidFill>
                  <a:srgbClr val="0288D1"/>
                </a:solidFill>
                <a:latin typeface="Noto Sans SC"/>
                <a:ea typeface="Noto Sans SC"/>
                <a:cs typeface="Noto Sans SC"/>
                <a:sym typeface="Noto Sans SC"/>
              </a:rPr>
              <a:t>思考题</a:t>
            </a:r>
            <a:endParaRPr lang="en-US" sz="1100"/>
          </a:p>
        </p:txBody>
      </p:sp>
      <p:sp>
        <p:nvSpPr>
          <p:cNvPr id="3" name="AutoShape 3"/>
          <p:cNvSpPr/>
          <p:nvPr/>
        </p:nvSpPr>
        <p:spPr>
          <a:xfrm>
            <a:off x="762000" y="1219200"/>
            <a:ext cx="508000" cy="50800"/>
          </a:xfrm>
          <a:prstGeom prst="roundRect">
            <a:avLst>
              <a:gd name="adj" fmla="val 0"/>
            </a:avLst>
          </a:prstGeom>
          <a:solidFill>
            <a:srgbClr val="0288D1">
              <a:alpha val="100000"/>
            </a:srgbClr>
          </a:solidFill>
          <a:ln w="25400" cap="flat" cmpd="sng">
            <a:noFill/>
            <a:prstDash val="solid"/>
            <a:round/>
          </a:ln>
        </p:spPr>
        <p:txBody>
          <a:bodyPr vert="horz" wrap="square" lIns="63500" tIns="63500" rIns="63500" bIns="63500" rtlCol="0" anchor="ctr"/>
          <a:lstStyle/>
          <a:p>
            <a:pPr algn="ctr">
              <a:defRPr/>
            </a:pPr>
          </a:p>
        </p:txBody>
      </p:sp>
      <p:sp>
        <p:nvSpPr>
          <p:cNvPr id="4" name="AutoShape 4"/>
          <p:cNvSpPr/>
          <p:nvPr/>
        </p:nvSpPr>
        <p:spPr>
          <a:xfrm>
            <a:off x="762000" y="1651000"/>
            <a:ext cx="10668000" cy="1270000"/>
          </a:xfrm>
          <a:prstGeom prst="roundRect">
            <a:avLst>
              <a:gd name="adj" fmla="val 10000"/>
            </a:avLst>
          </a:prstGeom>
          <a:solidFill>
            <a:srgbClr val="FFFFFF">
              <a:alpha val="100000"/>
            </a:srgbClr>
          </a:solidFill>
          <a:ln w="25400" cap="flat" cmpd="sng">
            <a:noFill/>
            <a:prstDash val="solid"/>
            <a:round/>
          </a:ln>
          <a:effectLst>
            <a:outerShdw blurRad="127000" dist="50800" dir="5400000" algn="tl" rotWithShape="0">
              <a:srgbClr val="0288D1">
                <a:alpha val="15000"/>
              </a:srgbClr>
            </a:outerShdw>
          </a:effectLst>
        </p:spPr>
        <p:txBody>
          <a:bodyPr vert="horz" wrap="square" lIns="63500" tIns="63500" rIns="63500" bIns="63500" rtlCol="0" anchor="ctr"/>
          <a:lstStyle/>
          <a:p>
            <a:pPr algn="ctr">
              <a:defRPr/>
            </a:pPr>
          </a:p>
        </p:txBody>
      </p:sp>
      <p:pic>
        <p:nvPicPr>
          <p:cNvPr id="5" name="Picture 5"/>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016000" y="1968500"/>
            <a:ext cx="508000" cy="508000"/>
          </a:xfrm>
          <a:prstGeom prst="rect">
            <a:avLst/>
          </a:prstGeom>
        </p:spPr>
      </p:pic>
      <p:sp>
        <p:nvSpPr>
          <p:cNvPr id="6" name="AutoShape 6"/>
          <p:cNvSpPr/>
          <p:nvPr/>
        </p:nvSpPr>
        <p:spPr>
          <a:xfrm>
            <a:off x="1778000" y="1778000"/>
            <a:ext cx="9398000" cy="1016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0288D1"/>
                </a:solidFill>
                <a:latin typeface="Noto Sans SC"/>
                <a:ea typeface="Noto Sans SC"/>
                <a:cs typeface="Noto Sans SC"/>
                <a:sym typeface="Noto Sans SC"/>
              </a:rPr>
              <a:t>架构选型对比</a:t>
            </a:r>
            <a:endParaRPr lang="en-US" sz="1100"/>
          </a:p>
          <a:p>
            <a:pPr indent="0" algn="l">
              <a:lnSpc>
                <a:spcPct val="125000"/>
              </a:lnSpc>
            </a:pPr>
            <a:r>
              <a:rPr lang="en-US" sz="1800" b="0" i="0" u="none" strike="noStrike">
                <a:solidFill>
                  <a:srgbClr val="757575"/>
                </a:solidFill>
                <a:latin typeface="Noto Sans SC"/>
                <a:ea typeface="Noto Sans SC"/>
                <a:cs typeface="Noto Sans SC"/>
                <a:sym typeface="Noto Sans SC"/>
              </a:rPr>
              <a:t>对比经典RAG、多头RAG和自反思RAG的优缺点，思考在不同的应用场景下，你会如何选择合适的RAG架构？</a:t>
            </a:r>
            <a:endParaRPr lang="en-US" sz="1800" b="0" i="0" u="none" strike="noStrike">
              <a:solidFill>
                <a:srgbClr val="757575"/>
              </a:solidFill>
              <a:latin typeface="Noto Sans SC"/>
              <a:ea typeface="Noto Sans SC"/>
              <a:cs typeface="Noto Sans SC"/>
              <a:sym typeface="Noto Sans SC"/>
            </a:endParaRPr>
          </a:p>
        </p:txBody>
      </p:sp>
      <p:sp>
        <p:nvSpPr>
          <p:cNvPr id="7" name="AutoShape 7"/>
          <p:cNvSpPr/>
          <p:nvPr/>
        </p:nvSpPr>
        <p:spPr>
          <a:xfrm>
            <a:off x="762000" y="3111500"/>
            <a:ext cx="10668000" cy="1270000"/>
          </a:xfrm>
          <a:prstGeom prst="roundRect">
            <a:avLst>
              <a:gd name="adj" fmla="val 10000"/>
            </a:avLst>
          </a:prstGeom>
          <a:solidFill>
            <a:srgbClr val="FFFFFF">
              <a:alpha val="100000"/>
            </a:srgbClr>
          </a:solidFill>
          <a:ln w="25400" cap="flat" cmpd="sng">
            <a:noFill/>
            <a:prstDash val="solid"/>
            <a:round/>
          </a:ln>
          <a:effectLst>
            <a:outerShdw blurRad="127000" dist="50800" dir="5400000" algn="tl" rotWithShape="0">
              <a:srgbClr val="0288D1">
                <a:alpha val="15000"/>
              </a:srgbClr>
            </a:outerShdw>
          </a:effectLst>
        </p:spPr>
        <p:txBody>
          <a:bodyPr vert="horz" wrap="square" lIns="63500" tIns="63500" rIns="63500" bIns="63500" rtlCol="0" anchor="ctr"/>
          <a:lstStyle/>
          <a:p>
            <a:pPr algn="ctr">
              <a:defRPr/>
            </a:pPr>
          </a:p>
        </p:txBody>
      </p:sp>
      <p:pic>
        <p:nvPicPr>
          <p:cNvPr id="8" name="Picture 8"/>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16000" y="3429000"/>
            <a:ext cx="508000" cy="508000"/>
          </a:xfrm>
          <a:prstGeom prst="rect">
            <a:avLst/>
          </a:prstGeom>
        </p:spPr>
      </p:pic>
      <p:sp>
        <p:nvSpPr>
          <p:cNvPr id="9" name="AutoShape 9"/>
          <p:cNvSpPr/>
          <p:nvPr/>
        </p:nvSpPr>
        <p:spPr>
          <a:xfrm>
            <a:off x="1778000" y="3238500"/>
            <a:ext cx="9398000" cy="1016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0288D1"/>
                </a:solidFill>
                <a:latin typeface="Noto Sans SC"/>
                <a:ea typeface="Noto Sans SC"/>
                <a:cs typeface="Noto Sans SC"/>
                <a:sym typeface="Noto Sans SC"/>
              </a:rPr>
              <a:t>Self-RAG 反思机制</a:t>
            </a:r>
            <a:endParaRPr lang="en-US" sz="1100"/>
          </a:p>
          <a:p>
            <a:pPr indent="0" algn="l">
              <a:lnSpc>
                <a:spcPct val="125000"/>
              </a:lnSpc>
            </a:pPr>
            <a:r>
              <a:rPr lang="en-US" sz="1800" b="0" i="0" u="none" strike="noStrike">
                <a:solidFill>
                  <a:srgbClr val="757575"/>
                </a:solidFill>
                <a:latin typeface="Noto Sans SC"/>
                <a:ea typeface="Noto Sans SC"/>
                <a:cs typeface="Noto Sans SC"/>
                <a:sym typeface="Noto Sans SC"/>
              </a:rPr>
              <a:t>Self-RAG的“反思机制”是如何实现的？它对模型的性能和效率有何影响？</a:t>
            </a:r>
            <a:endParaRPr lang="en-US" sz="1800" b="0" i="0" u="none" strike="noStrike">
              <a:solidFill>
                <a:srgbClr val="757575"/>
              </a:solidFill>
              <a:latin typeface="Noto Sans SC"/>
              <a:ea typeface="Noto Sans SC"/>
              <a:cs typeface="Noto Sans SC"/>
              <a:sym typeface="Noto Sans SC"/>
            </a:endParaRPr>
          </a:p>
        </p:txBody>
      </p:sp>
      <p:sp>
        <p:nvSpPr>
          <p:cNvPr id="10" name="AutoShape 10"/>
          <p:cNvSpPr/>
          <p:nvPr/>
        </p:nvSpPr>
        <p:spPr>
          <a:xfrm>
            <a:off x="762000" y="4572000"/>
            <a:ext cx="10668000" cy="1270000"/>
          </a:xfrm>
          <a:prstGeom prst="roundRect">
            <a:avLst>
              <a:gd name="adj" fmla="val 10000"/>
            </a:avLst>
          </a:prstGeom>
          <a:solidFill>
            <a:srgbClr val="FFFFFF">
              <a:alpha val="100000"/>
            </a:srgbClr>
          </a:solidFill>
          <a:ln w="25400" cap="flat" cmpd="sng">
            <a:noFill/>
            <a:prstDash val="solid"/>
            <a:round/>
          </a:ln>
          <a:effectLst>
            <a:outerShdw blurRad="127000" dist="50800" dir="5400000" algn="tl" rotWithShape="0">
              <a:srgbClr val="0288D1">
                <a:alpha val="15000"/>
              </a:srgbClr>
            </a:outerShdw>
          </a:effectLst>
        </p:spPr>
        <p:txBody>
          <a:bodyPr vert="horz" wrap="square" lIns="63500" tIns="63500" rIns="63500" bIns="63500" rtlCol="0" anchor="ctr"/>
          <a:lstStyle/>
          <a:p>
            <a:pPr algn="ctr">
              <a:defRPr/>
            </a:pPr>
          </a:p>
        </p:txBody>
      </p:sp>
      <p:pic>
        <p:nvPicPr>
          <p:cNvPr id="11" name="Picture 11"/>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016000" y="4889500"/>
            <a:ext cx="508000" cy="508000"/>
          </a:xfrm>
          <a:prstGeom prst="rect">
            <a:avLst/>
          </a:prstGeom>
        </p:spPr>
      </p:pic>
      <p:sp>
        <p:nvSpPr>
          <p:cNvPr id="12" name="AutoShape 12"/>
          <p:cNvSpPr/>
          <p:nvPr/>
        </p:nvSpPr>
        <p:spPr>
          <a:xfrm>
            <a:off x="1778000" y="4699000"/>
            <a:ext cx="9398000" cy="1016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0288D1"/>
                </a:solidFill>
                <a:latin typeface="Noto Sans SC"/>
                <a:ea typeface="Noto Sans SC"/>
                <a:cs typeface="Noto Sans SC"/>
                <a:sym typeface="Noto Sans SC"/>
              </a:rPr>
              <a:t>系统构建关键因素</a:t>
            </a:r>
            <a:endParaRPr lang="en-US" sz="1100"/>
          </a:p>
          <a:p>
            <a:pPr indent="0" algn="l">
              <a:lnSpc>
                <a:spcPct val="125000"/>
              </a:lnSpc>
            </a:pPr>
            <a:r>
              <a:rPr lang="en-US" sz="1800" b="0" i="0" u="none" strike="noStrike">
                <a:solidFill>
                  <a:srgbClr val="757575"/>
                </a:solidFill>
                <a:latin typeface="Noto Sans SC"/>
                <a:ea typeface="Noto Sans SC"/>
                <a:cs typeface="Noto Sans SC"/>
                <a:sym typeface="Noto Sans SC"/>
              </a:rPr>
              <a:t>在实际项目中，构建一个RAG系统需要考虑哪些关键因素（如数据处理、模型选择、性能优化等）？</a:t>
            </a:r>
            <a:endParaRPr lang="en-US" sz="1800" b="0" i="0" u="none" strike="noStrike">
              <a:solidFill>
                <a:srgbClr val="757575"/>
              </a:solidFill>
              <a:latin typeface="Noto Sans SC"/>
              <a:ea typeface="Noto Sans SC"/>
              <a:cs typeface="Noto Sans SC"/>
              <a:sym typeface="Noto Sans SC"/>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rgbClr val="E0F7FA">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635000" y="-635000"/>
            <a:ext cx="2540000" cy="2540000"/>
          </a:xfrm>
          <a:prstGeom prst="ellipse">
            <a:avLst/>
          </a:prstGeom>
          <a:solidFill>
            <a:srgbClr val="0288D1">
              <a:alpha val="5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9652000" y="4318000"/>
            <a:ext cx="3810000" cy="3810000"/>
          </a:xfrm>
          <a:prstGeom prst="ellipse">
            <a:avLst/>
          </a:prstGeom>
          <a:solidFill>
            <a:srgbClr val="0288D1">
              <a:alpha val="5000"/>
            </a:srgbClr>
          </a:solidFill>
          <a:ln w="25400" cap="flat" cmpd="sng">
            <a:noFill/>
            <a:prstDash val="solid"/>
            <a:round/>
          </a:ln>
        </p:spPr>
        <p:txBody>
          <a:bodyPr vert="horz" wrap="square" lIns="63500" tIns="63500" rIns="63500" bIns="63500" rtlCol="0" anchor="ctr"/>
          <a:lstStyle/>
          <a:p>
            <a:pPr algn="ctr">
              <a:defRPr/>
            </a:pPr>
          </a:p>
        </p:txBody>
      </p:sp>
      <p:pic>
        <p:nvPicPr>
          <p:cNvPr id="4" name="Picture 4"/>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5689600" y="1778000"/>
            <a:ext cx="812800" cy="812800"/>
          </a:xfrm>
          <a:prstGeom prst="rect">
            <a:avLst/>
          </a:prstGeom>
        </p:spPr>
      </p:pic>
      <p:sp>
        <p:nvSpPr>
          <p:cNvPr id="5" name="AutoShape 5"/>
          <p:cNvSpPr/>
          <p:nvPr/>
        </p:nvSpPr>
        <p:spPr>
          <a:xfrm>
            <a:off x="4749800" y="2794000"/>
            <a:ext cx="2679700" cy="762000"/>
          </a:xfrm>
          <a:prstGeom prst="rect">
            <a:avLst/>
          </a:prstGeom>
          <a:noFill/>
          <a:ln w="12700" cap="flat" cmpd="sng">
            <a:noFill/>
            <a:prstDash val="solid"/>
            <a:round/>
          </a:ln>
        </p:spPr>
        <p:txBody>
          <a:bodyPr vert="horz" wrap="none" lIns="0" tIns="0" rIns="0" bIns="0" rtlCol="0" anchor="ctr" anchorCtr="0"/>
          <a:lstStyle/>
          <a:p>
            <a:pPr indent="0" algn="ctr">
              <a:lnSpc>
                <a:spcPct val="125000"/>
              </a:lnSpc>
              <a:defRPr/>
            </a:pPr>
            <a:r>
              <a:rPr lang="en-US" sz="4800" b="1" i="0" u="none" strike="noStrike">
                <a:solidFill>
                  <a:srgbClr val="0288D1"/>
                </a:solidFill>
                <a:latin typeface="Noto Sans SC"/>
                <a:ea typeface="Noto Sans SC"/>
                <a:cs typeface="Noto Sans SC"/>
                <a:sym typeface="Noto Sans SC"/>
              </a:rPr>
              <a:t>感谢聆听</a:t>
            </a:r>
            <a:endParaRPr lang="en-US" sz="1100"/>
          </a:p>
        </p:txBody>
      </p:sp>
      <p:sp>
        <p:nvSpPr>
          <p:cNvPr id="6" name="AutoShape 6"/>
          <p:cNvSpPr/>
          <p:nvPr/>
        </p:nvSpPr>
        <p:spPr>
          <a:xfrm>
            <a:off x="2286000" y="3683000"/>
            <a:ext cx="7620000" cy="508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800" b="0" i="0" u="none" strike="noStrike">
                <a:solidFill>
                  <a:srgbClr val="757575"/>
                </a:solidFill>
                <a:latin typeface="Noto Sans SC"/>
                <a:ea typeface="Noto Sans SC"/>
                <a:cs typeface="Noto Sans SC"/>
                <a:sym typeface="Noto Sans SC"/>
              </a:rPr>
              <a:t>欢迎随时交流与提问</a:t>
            </a:r>
            <a:endParaRPr lang="en-US" sz="1100"/>
          </a:p>
        </p:txBody>
      </p:sp>
      <p:sp>
        <p:nvSpPr>
          <p:cNvPr id="7" name="AutoShape 7"/>
          <p:cNvSpPr/>
          <p:nvPr/>
        </p:nvSpPr>
        <p:spPr>
          <a:xfrm>
            <a:off x="5715000" y="4445000"/>
            <a:ext cx="762000" cy="50800"/>
          </a:xfrm>
          <a:prstGeom prst="roundRect">
            <a:avLst>
              <a:gd name="adj" fmla="val 0"/>
            </a:avLst>
          </a:prstGeom>
          <a:solidFill>
            <a:srgbClr val="0288D1">
              <a:alpha val="100000"/>
            </a:srgbClr>
          </a:solidFill>
          <a:ln w="25400" cap="flat" cmpd="sng">
            <a:noFill/>
            <a:prstDash val="solid"/>
            <a:round/>
          </a:ln>
        </p:spPr>
        <p:txBody>
          <a:bodyPr vert="horz" wrap="square" lIns="63500" tIns="63500" rIns="63500" bIns="63500" rtlCol="0" anchor="ctr"/>
          <a:lstStyle/>
          <a:p>
            <a:pPr algn="ctr">
              <a:defRPr/>
            </a:pPr>
          </a:p>
        </p:txBody>
      </p:sp>
    </p:spTree>
  </p:cSld>
  <p:clrMapOvr>
    <a:masterClrMapping/>
  </p:clrMapOvr>
</p:sld>
</file>

<file path=ppt/theme/theme1.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9754</Words>
  <Application>WPS 演示</Application>
  <PresentationFormat/>
  <Paragraphs>659</Paragraphs>
  <Slides>40</Slides>
  <Notes>0</Notes>
  <HiddenSlides>0</HiddenSlides>
  <MMClips>0</MMClips>
  <ScaleCrop>false</ScaleCrop>
  <HeadingPairs>
    <vt:vector size="6" baseType="variant">
      <vt:variant>
        <vt:lpstr>已用的字体</vt:lpstr>
      </vt:variant>
      <vt:variant>
        <vt:i4>17</vt:i4>
      </vt:variant>
      <vt:variant>
        <vt:lpstr>主题</vt:lpstr>
      </vt:variant>
      <vt:variant>
        <vt:i4>2</vt:i4>
      </vt:variant>
      <vt:variant>
        <vt:lpstr>幻灯片标题</vt:lpstr>
      </vt:variant>
      <vt:variant>
        <vt:i4>40</vt:i4>
      </vt:variant>
    </vt:vector>
  </HeadingPairs>
  <TitlesOfParts>
    <vt:vector size="59" baseType="lpstr">
      <vt:lpstr>Arial</vt:lpstr>
      <vt:lpstr>宋体</vt:lpstr>
      <vt:lpstr>Wingdings</vt:lpstr>
      <vt:lpstr>Arial</vt:lpstr>
      <vt:lpstr>Noto Sans SC</vt:lpstr>
      <vt:lpstr>Thonburi</vt:lpstr>
      <vt:lpstr>宋体</vt:lpstr>
      <vt:lpstr>汉仪书宋二KW</vt:lpstr>
      <vt:lpstr>微软雅黑</vt:lpstr>
      <vt:lpstr>汉仪旗黑</vt:lpstr>
      <vt:lpstr>Arial Unicode MS</vt:lpstr>
      <vt:lpstr>Roboto Mono</vt:lpstr>
      <vt:lpstr>Roboto</vt:lpstr>
      <vt:lpstr>Noto Sans SC</vt:lpstr>
      <vt:lpstr>Roboto</vt:lpstr>
      <vt:lpstr>Roboto Mono</vt:lpstr>
      <vt:lpstr>苹方-简</vt:lpstr>
      <vt:lpstr>Office 主题​​</vt:lpstr>
      <vt:lpstr>默认主题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Soyoger</cp:lastModifiedBy>
  <cp:revision>1</cp:revision>
  <dcterms:created xsi:type="dcterms:W3CDTF">2026-03-15T03:44:32Z</dcterms:created>
  <dcterms:modified xsi:type="dcterms:W3CDTF">2026-03-15T03:44:32Z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B9B3DA3455285BCC1F2BB669D01C55AE_42</vt:lpwstr>
  </property>
  <property fmtid="{D5CDD505-2E9C-101B-9397-08002B2CF9AE}" pid="3" name="KSOProductBuildVer">
    <vt:lpwstr>2052-7.2.1.8947</vt:lpwstr>
  </property>
</Properties>
</file>
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5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6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6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5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大家好，欢迎来到本次课程。今天我们将学习第五章的内容——RAG的评估。在大型语言模型广泛应用的今天，如何确保其回答的准确性和可靠性至关重要，这正是我们本章要探讨的核心问题。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本次课程将分为六个部分。首先，我们会概述RAG评估的背景和重要性；接着，详细介绍评估的核心指标；然后，探讨具体的评估方法和工具；之后，通过实践案例加深理解；最后进行总结与展望。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现在，我们进入第一部分：RAG评估概述。在这一部分，我们将了解为什么需要对RAG系统进行评估，以及评估的目的和要解决的问题。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从一个真实的案例开始。2024年，加拿大航空公司的客服聊天机器人因错误解读退款政策，导致公司不得不进行赔偿。这个案例虽然金额不大，但影响深远，它让我们看到了RAG系统在实际应用中可能存在的风险，也凸显了对其进行评估的必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这个案例中，我们可以总结出RAG系统可能带来的三类风险：法律风险、经济风险和声誉风险。这些风险不仅会给企业带来直接损失，还会影响其长期发展。因此，建立一套有效的评估体系来防范这些风险，已经成为当务之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RAG系统具体存在哪些问题呢？主要有四个方面：首先是信息检索环节可能出现的问题；其次是答案生成环节的不足；再次是各个模块之间协作可能出现的偏差；最后，也是最关键的一点，就是缺乏一套有效的评估体系来发现和解决这些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信息检索问题。检索模块的任务是从海量知识库中找到与用户问题最相关的信息。但如果检索算法不够精准，就可能找错信息，或者找到的信息不完整、不相关，这就为后续的错误回答埋下了伏笔。加拿大航空的案例很可能就是检索环节出了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第二个问题是答案生成问题。即使检索到了正确的信息，如果生成模块理解有误，或者语言模型本身存在“幻觉”问题，也可能输出错误的答案。这就好比拿到了正确的材料，但厨师却做出了错误的菜肴。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问题是模块协作问题。RAG系统不是简单的检索加生成，它还涉及文档分块、词嵌入、向量存储等多个环节。这些环节环环相扣，任何一个环节出错，都可能影响最终的结果。这就像一条生产线，任何一个工序出问题，都会导致产品不合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也是最根本的问题，就是缺乏有效的评估体系。很多系统上线后，就缺乏持续的监控和评估，导致问题无法被及时发现和修复，系统性能也无法得到持续优化。这就像一辆车，只知道开，却从不保养和检修，迟早会出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了解了问题所在，我们再来看看评估的目的是什么。简单来说，评估就是为了确保系统合规、提高回答准确性、保障用户体验，同时优化成本和效率。这四个目的相辅相成，共同构成了评估工作的核心价值。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第一个目的是确保业务合规性。通过评估，我们可以确保系统的回答符合企业的政策和相关法律法规，避免因错误回答给企业带来法律诉讼或经济赔偿，这是企业应用AI技术的底线要求。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第二个目的是提高回答准确性。评估可以帮助我们找到系统中影响回答准确性的瓶颈，无论是检索环节还是生成环节，都可以通过评估结果进行针对性优化，从而提升整体回答质量。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第三个目的是保障用户体验。准确、可靠的回答是良好用户体验的基础。通过评估和优化，减少错误回答，能够增强用户对系统的信任，提升用户的使用满意度，这对于产品的推广和用户留存至关重要。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最后一个目的是优化成本与效率。评估可以帮助我们发现系统的性能瓶颈，比如响应速度慢、资源消耗大等问题。通过针对性的优化，可以提升系统运行效率，降低硬件和人力成本，实现更经济的AI应用。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明确了评估的目的，我们再来看看评估后需要解决哪些具体问题。总结起来有六个方面：定位错误来源、增强领域知识、适应动态场景、降低运营风险、改进系统可靠性，以及实现数据驱动的持续优化。这些问题的解决将直接提升RAG系统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要解决的问题是定位错误的来源。评估的一个重要作用就是“诊断”，通过分别评估检索和生成模块，我们可以搞清楚错误到底出在哪里，是检索到了错误的信息，还是生成环节理解错了信息。只有找准病根，才能对症下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第二个问题是增强领域知识理解。通用大模型在专业领域往往存在知识盲区。通过评估，我们可以发现模型在哪些专业领域回答不准确，然后通过补充领域知识库或微调模型等方式，来增强模型的领域理解能力。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第三个问题是适应动态场景。现实世界的数据是不断变化的，用户的问题也是多种多样的。评估需要检验系统是否能适应这种动态变化，比如知识库更新后，系统能否及时获取最新信息并给出正确回答。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第四个问题是降低运营风险。这与我们前面提到的评估目的相呼应。通过持续的评估和优化，可以将风险扼杀在摇篮里，避免像加拿大航空那样的事件再次发生，保护企业的经济利益和品牌声誉。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第五个问题是改进系统可靠性。评估不仅要发现问题，还要指导我们优化系统的各个模块，特别是它们之间的协作方式，从而提高系统整体的稳定性和一致性，让系统在各种情况下都能稳定输出高质量的回答。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最后一个问题是实现数据驱动的优化。评估过程会产生大量数据，这些数据是宝贵的财富。我们可以利用这些数据来科学地指导模型的改进和迭代，让系统在不断的学习和优化中变得越来越强大。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接下来，我们进入第二部分，详细探讨RAG评估的核心指标。一套科学的评估指标是衡量RAG系统性能的关键。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目前，业界广泛认可的一个评估框架是Truera提出的RAG Triad框架。这个框架将评估分为三个核心维度：上下文相关性、忠实度和答案相关性。这张图直观地展示了这个框架的结构，我们接下来会逐一讲解这三个维度。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维度是上下文相关性，它衡量的是检索模块的性能，即系统是否找到了与用户问题真正相关的信息。影响这个指标的因素有很多，比如我们如何把文档分成小块、一次返回多少个结果（Top-K）、以及使用的嵌入模型的好坏。优化这些参数可以显著提升检索的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维度是答案相关性，它衡量的是生成的回答是否真正回答了用户的问题。随着大模型能力的提升，这个指标的好坏越来越取决于我们如何设计提示词（Prompt）。一个好的提示词模板能引导模型生成更相关、更准确的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维度是忠实度，这是评估RAG系统是否“说实话”的关键指标。它衡量生成的回答是否忠实于检索到的上下文信息，有没有产生“幻觉”。如果忠实度低，可能意味着我们需要调整模型参数，或者更换一个更可靠的大语言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深入探讨检索模块的具体评估指标。除了上下文相关性这个宏观维度，我们还有一些更具体的量化指标，主要包括精确度、召回率、F1分数和文档相关性。这些指标能帮助我们更精细地评估检索模块的性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第一个指标是精确度，它关注的是“准不准”。也就是说，在系统返回的所有结果中，有多少是和用户问题相关的。精确度越高，说明检索结果的质量越好，噪音越少。这里是它的计算公式。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第二个指标是召回率，它关注的是“全不全”。也就是说，在所有相关的文档中，系统成功找到了多少。召回率越高，说明系统越不容易遗漏重要信息。这是它的计算公式。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精确度和召回率常常是一对矛盾体，提高一个可能会降低另一个。为了综合评估，我们引入了F1分数，它是精确度和召回率的调和平均。F1分数能很好地反映检索系统在“准”和“全”之间的平衡能力，是一个非常重要的综合指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第四个指标是文档相关性，它更侧重于定性分析，判断检索到的文档内容是否真的能回答用户的问题。这不仅要看关键词匹配，更要看语义理解和业务场景的适配性，是对检索结果质量的更深入评估。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了解了检索模块的指标，我们再来看看生成模块的评估指标。由于生成的是自然语言，评估起来更复杂，需要结合定量和定性方法。主要关注准确性、流畅性、事实性和一致性这四个方面。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第一个指标是准确性，它衡量生成的回答是否正确回答了用户的问题，并且内容是真实的。这需要我们检查回答是否忠实于检索到的信息，有没有编造内容，同时也要看回答是否准确理解了用户的问题意图。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第二个指标是流畅性。一个好的回答不仅要准确，还要通顺、自然，符合人类的语言习惯。如果回答内容正确，但读起来拗口、不通顺，用户体验也会很差。所以流畅性是衡量生成模块输出质量的重要维度。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第三个指标是事实性，它和我们之前提到的忠实度很相似，核心都是要求回答必须基于检索到的信息，不能凭空捏造。事实性是确保回答可靠、避免“幻觉”的关键，是生成模块评估中不可忽视的一环。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最后一个指标是一致性。它要求系统在不同的提问方式或不同的对话阶段，对于相同的事实或概念，给出的回答应该是一致的，不能自相矛盾。这反映了系统的逻辑严谨性和稳定性。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由于时间关系，关于评估方法、工具和案例的部分我们将在后续课程中继续讲解。这里先预留一个章节标题页。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现在我们来总结一下本章的内容。我们首先通过案例了解了RAG评估的重要性和目的，然后学习了核心的RAG Triad评估框架，最后详细介绍了检索和生成两个模块各自的关键评估指标。这些知识为我们后续进行实际的RAG系统评估和优化打下了坚实的基础。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image" Target="../media/image12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sv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39.png"/><Relationship Id="rId4" Type="http://schemas.openxmlformats.org/officeDocument/2006/relationships/image" Target="../media/image18.svg"/><Relationship Id="rId3" Type="http://schemas.openxmlformats.org/officeDocument/2006/relationships/image" Target="../media/image38.png"/><Relationship Id="rId2" Type="http://schemas.openxmlformats.org/officeDocument/2006/relationships/image" Target="../media/image31.svg"/><Relationship Id="rId1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2.svg"/><Relationship Id="rId1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9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16.svg"/><Relationship Id="rId1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sv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Relationship Id="rId3" Type="http://schemas.openxmlformats.org/officeDocument/2006/relationships/image" Target="../media/image65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" Type="http://schemas.openxmlformats.org/officeDocument/2006/relationships/image" Target="../media/image69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7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4.svg"/><Relationship Id="rId3" Type="http://schemas.openxmlformats.org/officeDocument/2006/relationships/image" Target="../media/image74.png"/><Relationship Id="rId2" Type="http://schemas.openxmlformats.org/officeDocument/2006/relationships/image" Target="../media/image60.sv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6.svg"/><Relationship Id="rId11" Type="http://schemas.openxmlformats.org/officeDocument/2006/relationships/image" Target="../media/image54.png"/><Relationship Id="rId10" Type="http://schemas.openxmlformats.org/officeDocument/2006/relationships/image" Target="../media/image78.svg"/><Relationship Id="rId1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80.svg"/><Relationship Id="rId3" Type="http://schemas.openxmlformats.org/officeDocument/2006/relationships/image" Target="../media/image79.png"/><Relationship Id="rId2" Type="http://schemas.openxmlformats.org/officeDocument/2006/relationships/image" Target="../media/image31.svg"/><Relationship Id="rId1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16.svg"/><Relationship Id="rId3" Type="http://schemas.openxmlformats.org/officeDocument/2006/relationships/image" Target="../media/image54.png"/><Relationship Id="rId2" Type="http://schemas.openxmlformats.org/officeDocument/2006/relationships/image" Target="../media/image82.svg"/><Relationship Id="rId1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png"/><Relationship Id="rId8" Type="http://schemas.openxmlformats.org/officeDocument/2006/relationships/image" Target="../media/image90.svg"/><Relationship Id="rId7" Type="http://schemas.openxmlformats.org/officeDocument/2006/relationships/image" Target="../media/image89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88.svg"/><Relationship Id="rId3" Type="http://schemas.openxmlformats.org/officeDocument/2006/relationships/image" Target="../media/image87.png"/><Relationship Id="rId2" Type="http://schemas.openxmlformats.org/officeDocument/2006/relationships/image" Target="../media/image86.sv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2.svg"/><Relationship Id="rId1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7.svg"/><Relationship Id="rId7" Type="http://schemas.openxmlformats.org/officeDocument/2006/relationships/image" Target="../media/image96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24.svg"/><Relationship Id="rId3" Type="http://schemas.openxmlformats.org/officeDocument/2006/relationships/image" Target="../media/image93.png"/><Relationship Id="rId2" Type="http://schemas.openxmlformats.org/officeDocument/2006/relationships/image" Target="../media/image88.svg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0.svg"/><Relationship Id="rId5" Type="http://schemas.openxmlformats.org/officeDocument/2006/relationships/image" Target="../media/image99.png"/><Relationship Id="rId4" Type="http://schemas.openxmlformats.org/officeDocument/2006/relationships/image" Target="../media/image49.svg"/><Relationship Id="rId3" Type="http://schemas.openxmlformats.org/officeDocument/2006/relationships/image" Target="../media/image98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" Type="http://schemas.openxmlformats.org/officeDocument/2006/relationships/image" Target="../media/image31.svg"/><Relationship Id="rId1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svg"/><Relationship Id="rId1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2.svg"/><Relationship Id="rId7" Type="http://schemas.openxmlformats.org/officeDocument/2006/relationships/image" Target="../media/image81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47.svg"/><Relationship Id="rId3" Type="http://schemas.openxmlformats.org/officeDocument/2006/relationships/image" Target="../media/image106.png"/><Relationship Id="rId2" Type="http://schemas.openxmlformats.org/officeDocument/2006/relationships/image" Target="../media/image105.sv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10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0.svg"/><Relationship Id="rId5" Type="http://schemas.openxmlformats.org/officeDocument/2006/relationships/image" Target="../media/image109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16.svg"/><Relationship Id="rId1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71.png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31.svg"/><Relationship Id="rId3" Type="http://schemas.openxmlformats.org/officeDocument/2006/relationships/image" Target="../media/image37.png"/><Relationship Id="rId2" Type="http://schemas.openxmlformats.org/officeDocument/2006/relationships/image" Target="../media/image60.svg"/><Relationship Id="rId10" Type="http://schemas.openxmlformats.org/officeDocument/2006/relationships/notesSlide" Target="../notesSlides/notesSlide28.xml"/><Relationship Id="rId1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3.png"/><Relationship Id="rId2" Type="http://schemas.openxmlformats.org/officeDocument/2006/relationships/image" Target="../media/image16.svg"/><Relationship Id="rId1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4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7.sv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1.svg"/><Relationship Id="rId5" Type="http://schemas.openxmlformats.org/officeDocument/2006/relationships/image" Target="../media/image120.png"/><Relationship Id="rId4" Type="http://schemas.openxmlformats.org/officeDocument/2006/relationships/image" Target="../media/image119.svg"/><Relationship Id="rId3" Type="http://schemas.openxmlformats.org/officeDocument/2006/relationships/image" Target="../media/image118.png"/><Relationship Id="rId2" Type="http://schemas.openxmlformats.org/officeDocument/2006/relationships/image" Target="../media/image105.svg"/><Relationship Id="rId1" Type="http://schemas.openxmlformats.org/officeDocument/2006/relationships/image" Target="../media/image104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5.svg"/><Relationship Id="rId7" Type="http://schemas.openxmlformats.org/officeDocument/2006/relationships/image" Target="../media/image71.png"/><Relationship Id="rId6" Type="http://schemas.openxmlformats.org/officeDocument/2006/relationships/image" Target="../media/image12.svg"/><Relationship Id="rId5" Type="http://schemas.openxmlformats.org/officeDocument/2006/relationships/image" Target="../media/image124.png"/><Relationship Id="rId4" Type="http://schemas.openxmlformats.org/officeDocument/2006/relationships/image" Target="../media/image123.svg"/><Relationship Id="rId3" Type="http://schemas.openxmlformats.org/officeDocument/2006/relationships/image" Target="../media/image122.png"/><Relationship Id="rId2" Type="http://schemas.openxmlformats.org/officeDocument/2006/relationships/image" Target="../media/image92.svg"/><Relationship Id="rId10" Type="http://schemas.openxmlformats.org/officeDocument/2006/relationships/notesSlide" Target="../notesSlides/notesSlide33.xml"/><Relationship Id="rId1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119.svg"/><Relationship Id="rId1" Type="http://schemas.openxmlformats.org/officeDocument/2006/relationships/image" Target="../media/image118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35.svg"/><Relationship Id="rId5" Type="http://schemas.openxmlformats.org/officeDocument/2006/relationships/image" Target="../media/image71.png"/><Relationship Id="rId4" Type="http://schemas.openxmlformats.org/officeDocument/2006/relationships/image" Target="../media/image28.svg"/><Relationship Id="rId3" Type="http://schemas.openxmlformats.org/officeDocument/2006/relationships/image" Target="../media/image127.png"/><Relationship Id="rId2" Type="http://schemas.openxmlformats.org/officeDocument/2006/relationships/image" Target="../media/image126.svg"/><Relationship Id="rId10" Type="http://schemas.openxmlformats.org/officeDocument/2006/relationships/notesSlide" Target="../notesSlides/notesSlide35.xml"/><Relationship Id="rId1" Type="http://schemas.openxmlformats.org/officeDocument/2006/relationships/image" Target="../media/image125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20.svg"/><Relationship Id="rId5" Type="http://schemas.openxmlformats.org/officeDocument/2006/relationships/image" Target="../media/image39.png"/><Relationship Id="rId4" Type="http://schemas.openxmlformats.org/officeDocument/2006/relationships/image" Target="../media/image129.svg"/><Relationship Id="rId3" Type="http://schemas.openxmlformats.org/officeDocument/2006/relationships/image" Target="../media/image128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36.xml"/><Relationship Id="rId1" Type="http://schemas.openxmlformats.org/officeDocument/2006/relationships/image" Target="../media/image12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Relationship Id="rId3" Type="http://schemas.openxmlformats.org/officeDocument/2006/relationships/image" Target="../media/image130.png"/><Relationship Id="rId2" Type="http://schemas.openxmlformats.org/officeDocument/2006/relationships/image" Target="../media/image35.svg"/><Relationship Id="rId1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3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36.png"/><Relationship Id="rId4" Type="http://schemas.openxmlformats.org/officeDocument/2006/relationships/image" Target="../media/image49.svg"/><Relationship Id="rId3" Type="http://schemas.openxmlformats.org/officeDocument/2006/relationships/image" Target="../media/image98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6.svg"/><Relationship Id="rId1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016000"/>
            <a:ext cx="812800" cy="8128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016000" y="203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大学教学课件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第5章 RAG的评估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主讲人：XXX教授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058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6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96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RAG评估指标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96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540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RAG评估方法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3873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RAG评估工具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937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207000" y="3873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99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RAG评估实践案例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3683000"/>
            <a:ext cx="330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937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90000" y="3873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41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5.1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60800" y="2857500"/>
            <a:ext cx="4470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RAG评估概述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7290">
            <a:off x="5715053" y="3803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288D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06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000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探索评估目的，明确核心问题，构建高质量检索增强生成系统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21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5.1.1 加拿大航空的故事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828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17780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事件回顾：AI客服的失误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349500"/>
            <a:ext cx="4470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2024年，加拿大航空客服聊天机器人因错误解读退款政策，误判旅客资格，导致公司不得不进行全额退款赔偿。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4800" y="1828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62800" y="1778000"/>
            <a:ext cx="4013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风险警示：RAG系统的隐患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54800" y="2349500"/>
            <a:ext cx="4470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此事件暴露了AI驱动客服在复杂场景下的法律与经济风险，揭示了RAG系统在部署后缺乏持续性能评估和优化可能带来的重大缺陷。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07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016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核心启示：</a:t>
            </a: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AI不是万能的，部署后的持续监控与评估至关重要。企业在享受AI红利的同时，必须建立完善的风险防控机制。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案例反思：RAG系统的潜在风险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841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法律风险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错误回答可能违反法律法规，引发法律纠纷。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841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经济风险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错误的赔偿承诺或服务升级会导致直接经济损失。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8415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声誉风险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048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负面事件在社交媒体传播，损害企业品牌形象和用户信任。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635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5085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这一案例并非个例，随着RAG技术在客服领域的普及，类似问题日益增多，凸显了建立有效评估体系的紧迫性。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5.1.2 RAG存在的问题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信息检索问题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检索算法局限导致信息片面化、语义缺失或误解，影响后续生成质量。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84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答案生成问题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349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语言模型局限或上下文理解不准确，可能导致生成误导性或错误回答。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模块协作问题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81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文档分块、词嵌入、向量存储等环节的偏差可能导致输出不符合预期。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683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3873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缺乏有效的评估体系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381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系统建成后缺乏系统化评估手段，导致无法及时发现问题，实际应用效果不佳。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问题1：信息检索问题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核心挑战：检索算法局限性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由于检索算法或技术的局限性，检索模块可能无法找到完全准确且相关的信息，从而导致信息的片面化或语义的缺失与误解。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302000"/>
            <a:ext cx="939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典型案例：加拿大航空事件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聊天机器人误检索到错误的政策条款信息，直接导致后续生成的回答偏离事实，引发了严重的信誉危机。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2070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警示：检索环节的准确性直接决定了生成内容的质量与可信度。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问题2：答案生成问题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41500" y="1778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核心功能：信息转化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41500" y="2222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生成模块负责将检索到的信息转化为自然语言回答，是连接数据与用户的关键桥梁。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524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841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29500" y="1778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7C0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潜在风险：幻觉与误判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429500" y="22225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受限于语言模型的局限性或语义理解偏差，可能生成误导性或与事实不符的“幻觉”回答。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88D1">
              <a:alpha val="8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191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841500" y="4064000"/>
            <a:ext cx="927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37474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总结：即使拥有准确的检索信息，如果生成模块对上下文理解出现偏差，依然可能导致输出错误的答案。这是当前AI问答系统中一个需要重点攻克的难题。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问题3：模块协作问题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RAG系统涉及多个关键模块，任何环节的偏差都可能导致输出不符合预期，影响准确性与一致性。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6400" y="2667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文档分块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873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合理切分文档，确保上下文完整性，避免信息割裂。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2413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6900" y="2667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6195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词嵌入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3873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将文本转化为高维向量，决定语义匹配的精确度。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413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667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向量存储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73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高效存储海量向量数据，支持快速的相似度检索。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2413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67900" y="2667000"/>
            <a:ext cx="635000" cy="635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80500" y="3429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检索与生成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80500" y="38735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结合检索结果与大模型生成，保障回答的准确性。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270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关键挑战：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这些模块环环相扣，任何一个环节出现偏差，都可能导致最终的系统输出不符合预期，影响回答的准确性和一致性。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问题4：缺乏有效的评估体系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7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缺乏系统化评估手段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RAG系统建设完成后，往往缺乏全面的评估体系来衡量其实际性能和应用价值，导致系统运行状态处于“黑盒”状态。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239000" y="1879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性能与价值难以保障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41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缺乏评估导致问题无法及时发现，系统表现往往低于预期，严重影响了在实际业务场景中的有效性和用户信任度。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815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核心痛点总结：</a:t>
            </a: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缺乏评估体系不仅阻碍了系统迭代，更让业务价值难以量化。建立持续的监控与评估机制是保障RAG系统长期稳定运行的关键。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5.1.3 RAG评估的目的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确保业务合规性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234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避免因错误回答引发法律或经济纠纷，建立安全防线。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68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提高回答准确性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234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精准定位系统薄弱环节，持续优化回答质量与可靠性。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27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06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保障用户体验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4508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降低错误频率，增强用户对系统的信任与满意度。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27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06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优化成本与效率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4508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定位性能瓶颈，提升运行效率，有效降低运营成本。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目的1：确保业务合规性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确保系统生成的回答严格遵循企业政策和法规，是保障企业运营合规性的重要前提。通过全面的评估，RAG系统能够有效避免因错误回答引发的法律或经济纠纷，降低企业的运营风险，提升用户对系统的信任度。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0100" y="419100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5080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规避法律风险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3937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2300" y="4191000"/>
            <a:ext cx="762000" cy="762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394200" y="5080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降低经济损失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3937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4191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026400" y="5080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提升用户信任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45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目的2：提高回答准确性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8415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通过评估，可以确定检索与生成模块中的薄弱环节，从而有效优化系统回答的准确性和一致性。这确保了检索模块能提供更相关的信息，同时使生成模块更准确地理解和呈现内容。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0100" y="4064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4953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定位薄弱环节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2300" y="4064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94200" y="4953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优化准确性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3810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4064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026400" y="4953000"/>
            <a:ext cx="337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提升一致性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目的3：保障用户体验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032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降低错误频率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通过精准评估与优化，大幅减少错误回答，构建可靠的交互基础。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32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增强用户信任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稳定的回答质量能够显著增强用户对系统的信任感，提升使用信心。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32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提升整体满意度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323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优化交互体验，提升用户整体满意度，为业务推广奠定坚实基础。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系统评估不仅优化了用户的交互体验，还有效提升了整体使用满意度，为其在实际业务中的广泛应用奠定了坚实基础。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2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目的4：优化成本与效率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905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精准定位性能瓶颈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05000" y="23495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全面评估系统运行状态，精准识别响应速度慢、资源消耗大等潜在瓶颈，为针对性优化提供数据支撑。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195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3429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显著提升运行效率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905000" y="38735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通过优化响应速度并减少服务器负载，大幅提升系统整体运行效率，确保用户体验流畅。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953000"/>
            <a:ext cx="927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有效降低运营成本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5397500"/>
            <a:ext cx="927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优化资源配置，减少不必要的硬件开销，为企业提供更加经济高效的智能化解决方案。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5.1.4 RAG要解决的问题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定位错误来源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明确错误是来自检索模块还是生成模块，精准定位问题源头。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增强领域知识理解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弥补LLM在特定专业领域的知识短板，提升回答准确性。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适应动态场景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确保系统能处理实时更新的数据和多样化的用户问题。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降低运营风险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避免因错误回答导致的经济损失和企业声誉受损。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改进系统可靠性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优化各模块协作流程，确保回答的稳定性和一致性。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937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数据驱动优化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利用评估数据持续迭代，不断升级系统性能。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问题1：定位错误的来源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检索模块评估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54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验证信息检索的准确性，排查是否未能准确获取到相关信息。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968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生成模块评估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67500" y="254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分析上下文理解能力，确认是否因逻辑错误导致输出偏差。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381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19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核心价值：精准诊断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通过独立评估检索与生成模块，我们可以深入分析并明确错误回答的根本原因，从而精准定位系统漏洞，为后续修复提供方向。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50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问题2：增强领域知识理解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841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解决大语言模型在特定领域知识理解不足的问题，是提升RAG系统回答专业性和准确性的关键。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175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42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精确评估与识别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通过对RAG系统进行精确评估，识别并定位领域知识的短板与盲区。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175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3429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342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知识库集成与参数优化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064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集成更多领域特定的知识库，或调整模型参数配置，以弥补知识短板。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核心策略：评估识别短板 → 针对性补充知识库 → 优化模型配置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问题3：适应动态场景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核心评估目标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评估RAG系统对实时更新的知识库及多样化用户问题的适应能力，确保系统在动态场景下持续提供高质量回答。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00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评估关键价值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识别系统应对实时数据和多样化问题的处理能力，确保其能够持续提供准确、相关且上下文一致的回答。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动态场景适应机制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349500"/>
            <a:ext cx="431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590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2476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实时数据感知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快速捕捉知识库更新，保持信息时效性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3365500"/>
            <a:ext cx="431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3606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75500" y="3492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多样化问题处理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灵活应对不同角度提问，不局限于固定模式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4381500"/>
            <a:ext cx="431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622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4508500"/>
            <a:ext cx="342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回答质量稳定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无论场景如何变化，保持高相关性与准确性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问题4：降低运营风险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200" y="1905000"/>
            <a:ext cx="863600" cy="863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风险识别与规避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通过有效评估及时发现问题，避免因错误回答引发的经济赔偿或声誉损失。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19050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法律合规保障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减少潜在的法律纠纷，确保企业在使用生成式AI技术时能提供合规的技术支持。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1905000"/>
            <a:ext cx="863600" cy="863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信誉与品牌提升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3365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提升企业在客户和公众中的信誉，建立可靠、专业的品牌形象。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207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通过持续的评估和优化，可以将风险扼杀在摇篮里，保护企业的经济利益和品牌声誉，实现技术应用的稳健发展。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50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问题5：改进系统可靠性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1016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检索与生成模块的协作效率，确保系统能够准确地生成符合业务需求的回答。这有助于提高系统的稳定性和一致性，减少因错误回答或不一致性导致的用户不满和业务偏差，从而提升系统的整体可靠性和企业的运营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450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系统稳定性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51000" y="4953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减少错误回答，提升系统运行的稳定性与抗风险能力。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4572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83200" y="450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输出一致性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83200" y="4953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确保回答符合业务标准，消除不一致性带来的业务偏差。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4318000"/>
            <a:ext cx="33782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4572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915400" y="4508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运营效率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15400" y="4953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降低用户不满，通过高效协作提升企业整体运营效率。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问题6：数据驱动优化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评估收集的数据，提供科学依据以指导模型的改进。这种数据驱动的方法不仅帮助识别系统中的薄弱环节，还能推动技术的持续迭代和应用的全面升级，从而提升RAG系统的性能，增强其在实际应用中的适应性和效果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0100" y="3683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4572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识别薄弱环节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3429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2300" y="3683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21200" y="4572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推动技术迭代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26400" y="3429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3683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153400" y="4572000"/>
            <a:ext cx="3124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提升系统性能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0" y="4445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778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2667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17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5.2 RAG评估指标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科学衡量系统性能的关键维度与标准体系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69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5.2.1 RAG Triad框架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Truera提出的RAG Triad框架旨在全面评估大语言模型响应的可靠性。该框架通过开源项目TruLens将评估技术系统化整合，围绕三个关键评估维度展开：上下文相关性、忠实度和答案相关性。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84" b="84"/>
          <a:stretch>
            <a:fillRect/>
          </a:stretch>
        </p:blipFill>
        <p:spPr>
          <a:xfrm>
            <a:off x="2095500" y="2603500"/>
            <a:ext cx="8001000" cy="3886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维度1：上下文相关性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评估RAG系统检索模块能否精准检索到与用户输入高度相关的文本片段，是衡量检索准确性的关键指标。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3100" y="3302000"/>
            <a:ext cx="1016000" cy="1016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4445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文本片段大小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合理切分，筛选核心内容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94200" y="3048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5300" y="3302000"/>
            <a:ext cx="1016000" cy="1016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21200" y="4445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Top-K参数设置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控制返回数量，平衡相关性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26400" y="3048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07500" y="3302000"/>
            <a:ext cx="1016000" cy="101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153400" y="4445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嵌入模型选择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确保语义相似，提升召回率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588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优化策略：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通过组合优化片段大小、Top-K值及嵌入模型，最大化检索结果的语义相似度与准确性。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维度2：答案相关性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841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651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衡量生成内容与用户查询的相关程度，是评估RAG系统生成答案质量的重要指标。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36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175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评估重点转变：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随着大模型推理能力提升，评估重点已从模型本身转向提示模板的设计和优化。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6990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优化策略：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当答案相关性得分较低时，表明需要对提示词模版进行针对性的改进和优化。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维度3：忠实度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159000" y="1778000"/>
            <a:ext cx="876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忠实度指标衡量RAG系统生成的答案中基于事实的内容比例，以及潜在幻觉的程度。这一指标与LLM的性能密切相关。如果系统生成的答案未能充分利用检索到的上下文信息而偏离事实，则表明忠实度存在不足。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0288D1">
              <a:alpha val="8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6101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4381500"/>
            <a:ext cx="876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应对策略：在此情况下，可能需要调整LLM的超参数，优化生成逻辑，甚至更换为性能更优的LLM。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54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5.2.2 检索模块的评估指标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检索模块的性能直接影响最终生成回答的质量，其核心评估指标主要包括以下四个维度：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159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精确度 (Precision)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检索到的相关文档占所有检索到文档的比例，衡量检索结果的准确性。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05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(Recall)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检索到的相关文档占数据库中所有相关文档的比例，衡量检索结果的全面性。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25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F1分数 (F1-Score)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26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精确度和召回率的调和平均值，用于平衡两者，提供综合性能评估。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318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254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文档相关性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评估检索到的文档与用户问题的语义匹配度和业务场景适配性。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685800"/>
            <a:ext cx="406400" cy="4064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1270000" y="635000"/>
            <a:ext cx="955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指标1：精确度 (Precision)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精确度衡量的是检索结果的“纯度”，即检索到的文档中有多少是真正相关的。其计算公式为：精确度 = 检索到的相关文档数 / 检索到的文档总数。值越接近1，说明检索结果越精准，无关信息越少。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378200" y="2921000"/>
            <a:ext cx="54356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32200" y="3048000"/>
            <a:ext cx="4927600" cy="165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指标2：召回率 (Recall)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14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召回率衡量的是检索结果的“全面性”，即系统是否找到了所有相关的文档。值越接近1，说明检索越全面，漏检的信息越少。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计算公式：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78200" y="3873500"/>
            <a:ext cx="5435600" cy="1803400"/>
          </a:xfrm>
          <a:prstGeom prst="roundRect">
            <a:avLst>
              <a:gd name="adj" fmla="val 70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505200" y="4000500"/>
            <a:ext cx="5181600" cy="1549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指标3：F1分数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143000" y="1778000"/>
            <a:ext cx="990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精确度和召回率往往需要权衡。F1分数是它们的调和平均值，用于综合评估检索性能。F1分数越高，说明检索性能越平衡、越优秀。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140200" y="4521200"/>
            <a:ext cx="3911600" cy="1117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0" y="7620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指标4：文档相关性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文档相关性是一个更偏向定性的指标，用于评估检索到的文档是否与用户问题直接相关。常用的评估方法包括：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3600" y="26670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语义匹配度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937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评估检索文档与用户问题在语义上的相似性。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2413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667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339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上下文一致性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3937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确保检索到的文档能够回答用户问题。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2413000"/>
            <a:ext cx="33782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3400" y="2667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178800" y="3429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业务适配性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42300" y="3937000"/>
            <a:ext cx="299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检索到的文档需与实际业务需求高度契合。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88D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52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核心价值：不仅看关键词匹配，更要看语义理解和业务场景的适配性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5.2.3 生成模块的评估指标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生成模块的输出是非结构化的自然语言文本，其评估需要结合定性和定量指标，核心指标包括：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67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47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准确性 (Accuracy)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921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回答是否与用户查询相关且基于事实，确保信息的正确性。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286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667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247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流畅性 (Fluency)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39000" y="2921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回答是否符合自然语言表达习惯，具有良好的连贯性和易读性。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25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事实性 (Factuality)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4699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回答是否严格基于检索到的上下文信息，避免产生幻觉或虚构内容。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445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39000" y="425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 (Consistency)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0" y="4699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回答在不同上下文或多轮对话中是否保持逻辑一致，避免自相矛盾。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指标1：准确性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79500" y="19050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100" y="2006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1930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事实检查 (Fact Checking)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603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确保回答与检索到的上下文信息一致，没有引入虚假信息或编造内容。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08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67500" y="19050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9100" y="2006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29500" y="1930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语义匹配 (Semantic Matching)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67500" y="2603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确保回答正确理解并精准回应了用户的查询意图，不偏离主题。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5085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核心定义：</a:t>
            </a: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准确性用于评估生成的回答是否与用户查询相关并且基于事实。它是衡量生成内容质量的基石。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1752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指标2：流畅性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286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159000" y="2032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定义与核心价值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540000"/>
            <a:ext cx="889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流畅性旨在衡量系统生成的回答是否符合自然语言表达的标准，具有连贯性和易读性。即使回答内容准确，如果语言表达生硬、不连贯，也会严重影响用户体验。因此，流畅性是评估生成模块用户体验的重要指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953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207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514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自然表达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符合人类语言习惯，无生硬感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94200" y="4953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520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514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逻辑连贯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上下文衔接顺畅，易于阅读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26400" y="4953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5207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88400" y="5143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体验优化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避免表达拗口，提升交互体验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指标3：事实性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2032000"/>
            <a:ext cx="9017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事实性与忠实度密切相关，它专门评估生成的回答是否严格基于检索到的上下文信息，没有引入外部的、未在上下文中提及的信息，也就是避免“幻觉”的产生。高事实性是保证回答可靠性的基础。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318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35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508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基于上下文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严格依据检索信息，不编造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94200" y="4318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8200" y="463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56200" y="4508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拒绝幻觉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避免引入未提及的外部信息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26400" y="4318000"/>
            <a:ext cx="33782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80400" y="4635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4508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可靠性基础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确保回答真实可信，值得信赖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指标4：一致性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19304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26670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一致性评估关注生成的回答在不同上下文、不同表述方式或不同对话轮次中是否保持逻辑连贯，避免出现前后矛盾的情况。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1905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9304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评估方法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26670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通过对比系统在不同输入条件（如同一问题的不同问法）下的输出结果，验证系统回答的稳定性和逻辑严谨性。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642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56134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关键价值：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确保系统输出的逻辑自洽，提升用户对系统的信任度。</a:t>
            </a:r>
            <a:endParaRPr lang="en-US"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32000" y="1778000"/>
            <a:ext cx="81280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159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581400" y="2921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5.3 RAG评估方法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2540000" y="39370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构建高效、准确的检索增强生成系统的关键环节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09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288D1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RAG Evaluation Methods &amp; Best Practices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058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54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评估的重要性与目的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必要性：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揭示系统潜在风险，确保业务安全可控。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合规保障、提升准确性、优化用户体验与成本。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854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核心评估框架 (RAG Triad)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上下文相关性：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检索内容与用户问题的匹配程度。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答案相关性：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生成答案对用户问题的回答有效性。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6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忠实度：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生成内容是否严格基于检索到的上下文。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1402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关键评估指标体系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699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43000" y="476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检索模块指标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43000" y="5143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关注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精确度 (Precision)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召回率 (Recall)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F1分数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，确保检索质量。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096000" y="4699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762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生成模块指标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5143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衡量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准确性、流畅性、事实性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及</a:t>
            </a:r>
            <a:r>
              <a:rPr lang="en-US" sz="14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</a:t>
            </a: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，保障输出内容的高质量。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0" y="1524000"/>
            <a:ext cx="1219200" cy="1219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749800" y="2921000"/>
            <a:ext cx="269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556000" y="3810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288D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本次课程到此结束，期待与您再次相遇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4565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5705</Words>
  <Application>WPS 演示</Application>
  <PresentationFormat/>
  <Paragraphs>520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55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Noto Sans SC</vt:lpstr>
      <vt:lpstr>苹方-简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2026-03-15T04:22:31Z</dcterms:created>
  <dcterms:modified xsi:type="dcterms:W3CDTF">2026-03-15T04:22:31Z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9203744310EB77E30734B669123EBAF7_42</vt:lpwstr>
  </property>
  <property fmtid="{D5CDD505-2E9C-101B-9397-08002B2CF9AE}" pid="3" name="KSOProductBuildVer">
    <vt:lpwstr>2052-7.2.1.8947</vt:lpwstr>
  </property>
</Properties>
</file>